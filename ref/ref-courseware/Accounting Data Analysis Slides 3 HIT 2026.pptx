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4" r:id="rId2"/>
  </p:sldMasterIdLst>
  <p:notesMasterIdLst>
    <p:notesMasterId r:id="rId117"/>
  </p:notesMasterIdLst>
  <p:sldIdLst>
    <p:sldId id="392" r:id="rId3"/>
    <p:sldId id="395" r:id="rId4"/>
    <p:sldId id="396" r:id="rId5"/>
    <p:sldId id="397" r:id="rId6"/>
    <p:sldId id="398" r:id="rId7"/>
    <p:sldId id="399" r:id="rId8"/>
    <p:sldId id="400" r:id="rId9"/>
    <p:sldId id="401" r:id="rId10"/>
    <p:sldId id="402" r:id="rId11"/>
    <p:sldId id="403" r:id="rId12"/>
    <p:sldId id="404" r:id="rId13"/>
    <p:sldId id="405" r:id="rId14"/>
    <p:sldId id="406" r:id="rId15"/>
    <p:sldId id="311" r:id="rId16"/>
    <p:sldId id="407" r:id="rId17"/>
    <p:sldId id="409" r:id="rId18"/>
    <p:sldId id="410" r:id="rId19"/>
    <p:sldId id="327" r:id="rId20"/>
    <p:sldId id="412" r:id="rId21"/>
    <p:sldId id="413" r:id="rId22"/>
    <p:sldId id="339" r:id="rId23"/>
    <p:sldId id="359" r:id="rId24"/>
    <p:sldId id="415" r:id="rId25"/>
    <p:sldId id="416" r:id="rId26"/>
    <p:sldId id="417" r:id="rId27"/>
    <p:sldId id="418" r:id="rId28"/>
    <p:sldId id="419" r:id="rId29"/>
    <p:sldId id="420" r:id="rId30"/>
    <p:sldId id="421" r:id="rId31"/>
    <p:sldId id="422" r:id="rId32"/>
    <p:sldId id="361" r:id="rId33"/>
    <p:sldId id="423" r:id="rId34"/>
    <p:sldId id="380" r:id="rId35"/>
    <p:sldId id="424" r:id="rId36"/>
    <p:sldId id="425" r:id="rId37"/>
    <p:sldId id="426" r:id="rId38"/>
    <p:sldId id="427" r:id="rId39"/>
    <p:sldId id="430" r:id="rId40"/>
    <p:sldId id="431" r:id="rId41"/>
    <p:sldId id="433" r:id="rId42"/>
    <p:sldId id="434" r:id="rId43"/>
    <p:sldId id="435" r:id="rId44"/>
    <p:sldId id="436" r:id="rId45"/>
    <p:sldId id="437" r:id="rId46"/>
    <p:sldId id="438" r:id="rId47"/>
    <p:sldId id="439" r:id="rId48"/>
    <p:sldId id="357" r:id="rId49"/>
    <p:sldId id="338" r:id="rId50"/>
    <p:sldId id="440" r:id="rId51"/>
    <p:sldId id="358" r:id="rId52"/>
    <p:sldId id="340" r:id="rId53"/>
    <p:sldId id="366" r:id="rId54"/>
    <p:sldId id="441" r:id="rId55"/>
    <p:sldId id="442" r:id="rId56"/>
    <p:sldId id="443" r:id="rId57"/>
    <p:sldId id="444" r:id="rId58"/>
    <p:sldId id="445" r:id="rId59"/>
    <p:sldId id="446" r:id="rId60"/>
    <p:sldId id="447" r:id="rId61"/>
    <p:sldId id="448" r:id="rId62"/>
    <p:sldId id="449" r:id="rId63"/>
    <p:sldId id="450" r:id="rId64"/>
    <p:sldId id="451" r:id="rId65"/>
    <p:sldId id="452" r:id="rId66"/>
    <p:sldId id="453" r:id="rId67"/>
    <p:sldId id="454" r:id="rId68"/>
    <p:sldId id="455" r:id="rId69"/>
    <p:sldId id="362" r:id="rId70"/>
    <p:sldId id="456" r:id="rId71"/>
    <p:sldId id="476" r:id="rId72"/>
    <p:sldId id="479" r:id="rId73"/>
    <p:sldId id="480" r:id="rId74"/>
    <p:sldId id="481" r:id="rId75"/>
    <p:sldId id="482" r:id="rId76"/>
    <p:sldId id="483" r:id="rId77"/>
    <p:sldId id="484" r:id="rId78"/>
    <p:sldId id="485" r:id="rId79"/>
    <p:sldId id="347" r:id="rId80"/>
    <p:sldId id="486" r:id="rId81"/>
    <p:sldId id="487" r:id="rId82"/>
    <p:sldId id="488" r:id="rId83"/>
    <p:sldId id="341" r:id="rId84"/>
    <p:sldId id="342" r:id="rId85"/>
    <p:sldId id="343" r:id="rId86"/>
    <p:sldId id="344" r:id="rId87"/>
    <p:sldId id="489" r:id="rId88"/>
    <p:sldId id="490" r:id="rId89"/>
    <p:sldId id="322" r:id="rId90"/>
    <p:sldId id="319" r:id="rId91"/>
    <p:sldId id="320" r:id="rId92"/>
    <p:sldId id="491" r:id="rId93"/>
    <p:sldId id="323" r:id="rId94"/>
    <p:sldId id="325" r:id="rId95"/>
    <p:sldId id="326" r:id="rId96"/>
    <p:sldId id="492" r:id="rId97"/>
    <p:sldId id="493" r:id="rId98"/>
    <p:sldId id="384" r:id="rId99"/>
    <p:sldId id="385" r:id="rId100"/>
    <p:sldId id="329" r:id="rId101"/>
    <p:sldId id="494" r:id="rId102"/>
    <p:sldId id="388" r:id="rId103"/>
    <p:sldId id="495" r:id="rId104"/>
    <p:sldId id="330" r:id="rId105"/>
    <p:sldId id="331" r:id="rId106"/>
    <p:sldId id="332" r:id="rId107"/>
    <p:sldId id="335" r:id="rId108"/>
    <p:sldId id="336" r:id="rId109"/>
    <p:sldId id="337" r:id="rId110"/>
    <p:sldId id="496" r:id="rId111"/>
    <p:sldId id="497" r:id="rId112"/>
    <p:sldId id="334" r:id="rId113"/>
    <p:sldId id="498" r:id="rId114"/>
    <p:sldId id="318" r:id="rId115"/>
    <p:sldId id="321" r:id="rId1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9" d="100"/>
          <a:sy n="49" d="100"/>
        </p:scale>
        <p:origin x="864" y="3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notesMaster" Target="notesMasters/notesMaster1.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presProps" Target="presProps.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viewProps" Target="viewProps.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tableStyles" Target="tableStyles.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8EC19E-DD58-4F53-BEE7-6A88B4B09D87}" type="datetimeFigureOut">
              <a:rPr lang="zh-CN" altLang="en-US" smtClean="0"/>
              <a:t>2025/4/16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F341F1-CB7A-4683-8780-AA22854E1494}" type="slidenum">
              <a:rPr lang="zh-CN" altLang="en-US" smtClean="0"/>
              <a:t>‹#›</a:t>
            </a:fld>
            <a:endParaRPr lang="zh-CN" altLang="en-US"/>
          </a:p>
        </p:txBody>
      </p:sp>
    </p:spTree>
    <p:extLst>
      <p:ext uri="{BB962C8B-B14F-4D97-AF65-F5344CB8AC3E}">
        <p14:creationId xmlns:p14="http://schemas.microsoft.com/office/powerpoint/2010/main" val="40242792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a:extLst>
              <a:ext uri="{FF2B5EF4-FFF2-40B4-BE49-F238E27FC236}">
                <a16:creationId xmlns:a16="http://schemas.microsoft.com/office/drawing/2014/main" id="{86A7FC28-71A2-F8E2-6330-38C583B3581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449E21C6-4EA9-4189-B9DA-32D04499F9A7}"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33123" name="Rectangle 2">
            <a:extLst>
              <a:ext uri="{FF2B5EF4-FFF2-40B4-BE49-F238E27FC236}">
                <a16:creationId xmlns:a16="http://schemas.microsoft.com/office/drawing/2014/main" id="{C3115B8C-A9FD-2D98-1C4D-184E715B886E}"/>
              </a:ext>
            </a:extLst>
          </p:cNvPr>
          <p:cNvSpPr>
            <a:spLocks noChangeArrowheads="1" noTextEdit="1"/>
          </p:cNvSpPr>
          <p:nvPr>
            <p:ph type="sldImg"/>
          </p:nvPr>
        </p:nvSpPr>
        <p:spPr>
          <a:ln/>
        </p:spPr>
      </p:sp>
      <p:sp>
        <p:nvSpPr>
          <p:cNvPr id="133124" name="Rectangle 3">
            <a:extLst>
              <a:ext uri="{FF2B5EF4-FFF2-40B4-BE49-F238E27FC236}">
                <a16:creationId xmlns:a16="http://schemas.microsoft.com/office/drawing/2014/main" id="{037A3856-F862-A9B4-45BF-4E47C86CA4A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a:extLst>
              <a:ext uri="{FF2B5EF4-FFF2-40B4-BE49-F238E27FC236}">
                <a16:creationId xmlns:a16="http://schemas.microsoft.com/office/drawing/2014/main" id="{91CC3AD1-AD27-C8FB-235E-8169333BA45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453BB387-E3D4-4E5C-95A1-A2647505826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35171" name="Rectangle 2">
            <a:extLst>
              <a:ext uri="{FF2B5EF4-FFF2-40B4-BE49-F238E27FC236}">
                <a16:creationId xmlns:a16="http://schemas.microsoft.com/office/drawing/2014/main" id="{8E43CA70-D491-A826-ECC2-D0CDE4A8EC7A}"/>
              </a:ext>
            </a:extLst>
          </p:cNvPr>
          <p:cNvSpPr>
            <a:spLocks noChangeArrowheads="1" noTextEdit="1"/>
          </p:cNvSpPr>
          <p:nvPr>
            <p:ph type="sldImg"/>
          </p:nvPr>
        </p:nvSpPr>
        <p:spPr>
          <a:ln/>
        </p:spPr>
      </p:sp>
      <p:sp>
        <p:nvSpPr>
          <p:cNvPr id="135172" name="Rectangle 3">
            <a:extLst>
              <a:ext uri="{FF2B5EF4-FFF2-40B4-BE49-F238E27FC236}">
                <a16:creationId xmlns:a16="http://schemas.microsoft.com/office/drawing/2014/main" id="{4CB834A9-A267-6896-3D2E-70733C13EE6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a:extLst>
              <a:ext uri="{FF2B5EF4-FFF2-40B4-BE49-F238E27FC236}">
                <a16:creationId xmlns:a16="http://schemas.microsoft.com/office/drawing/2014/main" id="{04DB934E-337B-EBDC-4DFC-A3E1D92B7A1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AD5210F3-A375-4889-A678-2D501AACAD3F}"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37219" name="Rectangle 2">
            <a:extLst>
              <a:ext uri="{FF2B5EF4-FFF2-40B4-BE49-F238E27FC236}">
                <a16:creationId xmlns:a16="http://schemas.microsoft.com/office/drawing/2014/main" id="{C7963EE4-059D-BDA2-BD82-CED86DE8B001}"/>
              </a:ext>
            </a:extLst>
          </p:cNvPr>
          <p:cNvSpPr>
            <a:spLocks noChangeArrowheads="1" noTextEdit="1"/>
          </p:cNvSpPr>
          <p:nvPr>
            <p:ph type="sldImg"/>
          </p:nvPr>
        </p:nvSpPr>
        <p:spPr>
          <a:ln/>
        </p:spPr>
      </p:sp>
      <p:sp>
        <p:nvSpPr>
          <p:cNvPr id="137220" name="Rectangle 3">
            <a:extLst>
              <a:ext uri="{FF2B5EF4-FFF2-40B4-BE49-F238E27FC236}">
                <a16:creationId xmlns:a16="http://schemas.microsoft.com/office/drawing/2014/main" id="{EE734F54-6190-1056-5CD7-C1D873584A0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It may be helpful to identify r as the opportunity cost.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a:extLst>
              <a:ext uri="{FF2B5EF4-FFF2-40B4-BE49-F238E27FC236}">
                <a16:creationId xmlns:a16="http://schemas.microsoft.com/office/drawing/2014/main" id="{A76FC76A-F52A-9014-B5F9-EDA9FDB07EF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164012D9-3DA3-41EA-A8DB-92AB8E077C77}"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39267" name="Rectangle 2">
            <a:extLst>
              <a:ext uri="{FF2B5EF4-FFF2-40B4-BE49-F238E27FC236}">
                <a16:creationId xmlns:a16="http://schemas.microsoft.com/office/drawing/2014/main" id="{AE4B467C-BE14-E320-7C56-20FDD72988BF}"/>
              </a:ext>
            </a:extLst>
          </p:cNvPr>
          <p:cNvSpPr>
            <a:spLocks noChangeArrowheads="1" noTextEdit="1"/>
          </p:cNvSpPr>
          <p:nvPr>
            <p:ph type="sldImg"/>
          </p:nvPr>
        </p:nvSpPr>
        <p:spPr>
          <a:ln/>
        </p:spPr>
      </p:sp>
      <p:sp>
        <p:nvSpPr>
          <p:cNvPr id="139268" name="Rectangle 3">
            <a:extLst>
              <a:ext uri="{FF2B5EF4-FFF2-40B4-BE49-F238E27FC236}">
                <a16:creationId xmlns:a16="http://schemas.microsoft.com/office/drawing/2014/main" id="{F53C8180-770E-596B-413F-FD54C159671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a:extLst>
              <a:ext uri="{FF2B5EF4-FFF2-40B4-BE49-F238E27FC236}">
                <a16:creationId xmlns:a16="http://schemas.microsoft.com/office/drawing/2014/main" id="{423A2F25-2AD9-F47E-B544-5EABB57D01A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BE23E1E8-F59C-4C20-974D-6851BA1BC98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1315" name="Rectangle 2">
            <a:extLst>
              <a:ext uri="{FF2B5EF4-FFF2-40B4-BE49-F238E27FC236}">
                <a16:creationId xmlns:a16="http://schemas.microsoft.com/office/drawing/2014/main" id="{C0B8A555-8830-2B5F-2990-2A2CCC2C4C36}"/>
              </a:ext>
            </a:extLst>
          </p:cNvPr>
          <p:cNvSpPr>
            <a:spLocks noChangeArrowheads="1" noTextEdit="1"/>
          </p:cNvSpPr>
          <p:nvPr>
            <p:ph type="sldImg"/>
          </p:nvPr>
        </p:nvSpPr>
        <p:spPr>
          <a:ln/>
        </p:spPr>
      </p:sp>
      <p:sp>
        <p:nvSpPr>
          <p:cNvPr id="141316" name="Rectangle 3">
            <a:extLst>
              <a:ext uri="{FF2B5EF4-FFF2-40B4-BE49-F238E27FC236}">
                <a16:creationId xmlns:a16="http://schemas.microsoft.com/office/drawing/2014/main" id="{43A89E4A-F5CB-792F-4D5F-BED52DD9F86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a:extLst>
              <a:ext uri="{FF2B5EF4-FFF2-40B4-BE49-F238E27FC236}">
                <a16:creationId xmlns:a16="http://schemas.microsoft.com/office/drawing/2014/main" id="{AB6BE0DF-A9D9-EB8B-A554-A546A212612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9E4A82C7-9D0A-4CE0-AA17-750877C19E30}"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3363" name="Rectangle 2">
            <a:extLst>
              <a:ext uri="{FF2B5EF4-FFF2-40B4-BE49-F238E27FC236}">
                <a16:creationId xmlns:a16="http://schemas.microsoft.com/office/drawing/2014/main" id="{388536D4-7431-2730-8599-E0F6A947BAB5}"/>
              </a:ext>
            </a:extLst>
          </p:cNvPr>
          <p:cNvSpPr>
            <a:spLocks noChangeArrowheads="1" noTextEdit="1"/>
          </p:cNvSpPr>
          <p:nvPr>
            <p:ph type="sldImg"/>
          </p:nvPr>
        </p:nvSpPr>
        <p:spPr>
          <a:ln/>
        </p:spPr>
      </p:sp>
      <p:sp>
        <p:nvSpPr>
          <p:cNvPr id="143364" name="Rectangle 3">
            <a:extLst>
              <a:ext uri="{FF2B5EF4-FFF2-40B4-BE49-F238E27FC236}">
                <a16:creationId xmlns:a16="http://schemas.microsoft.com/office/drawing/2014/main" id="{F3BE901D-CF57-A922-FADB-FC2158BF94A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a:extLst>
              <a:ext uri="{FF2B5EF4-FFF2-40B4-BE49-F238E27FC236}">
                <a16:creationId xmlns:a16="http://schemas.microsoft.com/office/drawing/2014/main" id="{FB34ED3B-9941-2B27-63DB-9426645AA0A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37C49128-2C67-4AE6-990B-50AB9552B621}"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5411" name="Rectangle 2">
            <a:extLst>
              <a:ext uri="{FF2B5EF4-FFF2-40B4-BE49-F238E27FC236}">
                <a16:creationId xmlns:a16="http://schemas.microsoft.com/office/drawing/2014/main" id="{0D585F27-DEF3-A3BA-9EE2-9FB0470FE2CE}"/>
              </a:ext>
            </a:extLst>
          </p:cNvPr>
          <p:cNvSpPr>
            <a:spLocks noChangeArrowheads="1" noTextEdit="1"/>
          </p:cNvSpPr>
          <p:nvPr>
            <p:ph type="sldImg"/>
          </p:nvPr>
        </p:nvSpPr>
        <p:spPr>
          <a:ln/>
        </p:spPr>
      </p:sp>
      <p:sp>
        <p:nvSpPr>
          <p:cNvPr id="145412" name="Rectangle 3">
            <a:extLst>
              <a:ext uri="{FF2B5EF4-FFF2-40B4-BE49-F238E27FC236}">
                <a16:creationId xmlns:a16="http://schemas.microsoft.com/office/drawing/2014/main" id="{7627D715-3D19-8FD0-49C9-35394FE3374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a:extLst>
              <a:ext uri="{FF2B5EF4-FFF2-40B4-BE49-F238E27FC236}">
                <a16:creationId xmlns:a16="http://schemas.microsoft.com/office/drawing/2014/main" id="{02D7A8D4-4559-C782-467F-FDC297ED118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5DD302BA-972A-4956-A39C-21E5C8BDAAAD}"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459" name="Rectangle 2">
            <a:extLst>
              <a:ext uri="{FF2B5EF4-FFF2-40B4-BE49-F238E27FC236}">
                <a16:creationId xmlns:a16="http://schemas.microsoft.com/office/drawing/2014/main" id="{BDC14514-F512-EF1A-0C7D-25231CED8716}"/>
              </a:ext>
            </a:extLst>
          </p:cNvPr>
          <p:cNvSpPr>
            <a:spLocks noChangeArrowheads="1" noTextEdit="1"/>
          </p:cNvSpPr>
          <p:nvPr>
            <p:ph type="sldImg"/>
          </p:nvPr>
        </p:nvSpPr>
        <p:spPr>
          <a:ln/>
        </p:spPr>
      </p:sp>
      <p:sp>
        <p:nvSpPr>
          <p:cNvPr id="147460" name="Rectangle 3">
            <a:extLst>
              <a:ext uri="{FF2B5EF4-FFF2-40B4-BE49-F238E27FC236}">
                <a16:creationId xmlns:a16="http://schemas.microsoft.com/office/drawing/2014/main" id="{83019D50-5F4E-E452-8206-0C8DEC20BC3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a:extLst>
              <a:ext uri="{FF2B5EF4-FFF2-40B4-BE49-F238E27FC236}">
                <a16:creationId xmlns:a16="http://schemas.microsoft.com/office/drawing/2014/main" id="{C8135F9C-3D89-D932-6712-0CC3039D6B2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CCC102B7-B7C7-4AAE-8C18-B588EDC7921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9507" name="Rectangle 2">
            <a:extLst>
              <a:ext uri="{FF2B5EF4-FFF2-40B4-BE49-F238E27FC236}">
                <a16:creationId xmlns:a16="http://schemas.microsoft.com/office/drawing/2014/main" id="{314CA046-5917-4F0C-72A5-05993CABBA78}"/>
              </a:ext>
            </a:extLst>
          </p:cNvPr>
          <p:cNvSpPr>
            <a:spLocks noChangeArrowheads="1" noTextEdit="1"/>
          </p:cNvSpPr>
          <p:nvPr>
            <p:ph type="sldImg"/>
          </p:nvPr>
        </p:nvSpPr>
        <p:spPr>
          <a:ln/>
        </p:spPr>
      </p:sp>
      <p:sp>
        <p:nvSpPr>
          <p:cNvPr id="149508" name="Rectangle 3">
            <a:extLst>
              <a:ext uri="{FF2B5EF4-FFF2-40B4-BE49-F238E27FC236}">
                <a16:creationId xmlns:a16="http://schemas.microsoft.com/office/drawing/2014/main" id="{611B2A58-008A-B7E3-4A93-8ECC59D2CB0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a:extLst>
              <a:ext uri="{FF2B5EF4-FFF2-40B4-BE49-F238E27FC236}">
                <a16:creationId xmlns:a16="http://schemas.microsoft.com/office/drawing/2014/main" id="{AFCF9F0C-7E41-46C2-6A14-B5EF586F82F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054F7572-8C1B-42A2-B040-690767310FF1}"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51555" name="Rectangle 2">
            <a:extLst>
              <a:ext uri="{FF2B5EF4-FFF2-40B4-BE49-F238E27FC236}">
                <a16:creationId xmlns:a16="http://schemas.microsoft.com/office/drawing/2014/main" id="{9E4FEB9E-DA04-CBEC-0AED-5CB3C933C025}"/>
              </a:ext>
            </a:extLst>
          </p:cNvPr>
          <p:cNvSpPr>
            <a:spLocks noChangeArrowheads="1" noTextEdit="1"/>
          </p:cNvSpPr>
          <p:nvPr>
            <p:ph type="sldImg"/>
          </p:nvPr>
        </p:nvSpPr>
        <p:spPr>
          <a:ln/>
        </p:spPr>
      </p:sp>
      <p:sp>
        <p:nvSpPr>
          <p:cNvPr id="151556" name="Rectangle 3">
            <a:extLst>
              <a:ext uri="{FF2B5EF4-FFF2-40B4-BE49-F238E27FC236}">
                <a16:creationId xmlns:a16="http://schemas.microsoft.com/office/drawing/2014/main" id="{18D6A799-E8D7-0C91-AF88-808AB878CA4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a:extLst>
              <a:ext uri="{FF2B5EF4-FFF2-40B4-BE49-F238E27FC236}">
                <a16:creationId xmlns:a16="http://schemas.microsoft.com/office/drawing/2014/main" id="{1F731CDF-9A6F-3575-1E3F-D0592218845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0546C203-63C2-4FC6-B89C-785CA4F71231}"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53603" name="Rectangle 2">
            <a:extLst>
              <a:ext uri="{FF2B5EF4-FFF2-40B4-BE49-F238E27FC236}">
                <a16:creationId xmlns:a16="http://schemas.microsoft.com/office/drawing/2014/main" id="{BB3EDB0C-6C5A-EA47-82CB-CB112393250F}"/>
              </a:ext>
            </a:extLst>
          </p:cNvPr>
          <p:cNvSpPr>
            <a:spLocks noChangeArrowheads="1" noTextEdit="1"/>
          </p:cNvSpPr>
          <p:nvPr>
            <p:ph type="sldImg"/>
          </p:nvPr>
        </p:nvSpPr>
        <p:spPr>
          <a:ln/>
        </p:spPr>
      </p:sp>
      <p:sp>
        <p:nvSpPr>
          <p:cNvPr id="153604" name="Rectangle 3">
            <a:extLst>
              <a:ext uri="{FF2B5EF4-FFF2-40B4-BE49-F238E27FC236}">
                <a16:creationId xmlns:a16="http://schemas.microsoft.com/office/drawing/2014/main" id="{EBC950EE-903B-7FEB-FA10-557CFB6DE27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a:extLst>
              <a:ext uri="{FF2B5EF4-FFF2-40B4-BE49-F238E27FC236}">
                <a16:creationId xmlns:a16="http://schemas.microsoft.com/office/drawing/2014/main" id="{D5E2CE28-B1D3-D5F8-26C8-87BE5B91B9F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0EFF7558-BA15-4343-8F3C-421B5DB1B593}"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55651" name="Rectangle 2">
            <a:extLst>
              <a:ext uri="{FF2B5EF4-FFF2-40B4-BE49-F238E27FC236}">
                <a16:creationId xmlns:a16="http://schemas.microsoft.com/office/drawing/2014/main" id="{0F481E82-BD24-6BD5-1EB2-B8F0C643AC6E}"/>
              </a:ext>
            </a:extLst>
          </p:cNvPr>
          <p:cNvSpPr>
            <a:spLocks noChangeArrowheads="1" noTextEdit="1"/>
          </p:cNvSpPr>
          <p:nvPr>
            <p:ph type="sldImg"/>
          </p:nvPr>
        </p:nvSpPr>
        <p:spPr>
          <a:ln/>
        </p:spPr>
      </p:sp>
      <p:sp>
        <p:nvSpPr>
          <p:cNvPr id="155652" name="Rectangle 3">
            <a:extLst>
              <a:ext uri="{FF2B5EF4-FFF2-40B4-BE49-F238E27FC236}">
                <a16:creationId xmlns:a16="http://schemas.microsoft.com/office/drawing/2014/main" id="{52EE66D5-18AE-37EE-6866-253E5003382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a:extLst>
              <a:ext uri="{FF2B5EF4-FFF2-40B4-BE49-F238E27FC236}">
                <a16:creationId xmlns:a16="http://schemas.microsoft.com/office/drawing/2014/main" id="{973189D6-96F9-19AF-EAE6-12C84C066F7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EB764412-E51F-4EB5-9606-9D394C3EC4FE}"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57699" name="Rectangle 2">
            <a:extLst>
              <a:ext uri="{FF2B5EF4-FFF2-40B4-BE49-F238E27FC236}">
                <a16:creationId xmlns:a16="http://schemas.microsoft.com/office/drawing/2014/main" id="{7FD8D97B-5F8C-8D83-F32D-D1475FAD312C}"/>
              </a:ext>
            </a:extLst>
          </p:cNvPr>
          <p:cNvSpPr>
            <a:spLocks noChangeArrowheads="1" noTextEdit="1"/>
          </p:cNvSpPr>
          <p:nvPr>
            <p:ph type="sldImg"/>
          </p:nvPr>
        </p:nvSpPr>
        <p:spPr>
          <a:ln/>
        </p:spPr>
      </p:sp>
      <p:sp>
        <p:nvSpPr>
          <p:cNvPr id="157700" name="Rectangle 3">
            <a:extLst>
              <a:ext uri="{FF2B5EF4-FFF2-40B4-BE49-F238E27FC236}">
                <a16:creationId xmlns:a16="http://schemas.microsoft.com/office/drawing/2014/main" id="{DB298B60-D6D9-8122-D3B2-FB4B650A1ED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a:extLst>
              <a:ext uri="{FF2B5EF4-FFF2-40B4-BE49-F238E27FC236}">
                <a16:creationId xmlns:a16="http://schemas.microsoft.com/office/drawing/2014/main" id="{71C4EB50-5995-A870-F62F-299B0EA29EC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1786BE9F-717D-4AB7-A421-7E92C4BF6875}"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59747" name="Rectangle 2">
            <a:extLst>
              <a:ext uri="{FF2B5EF4-FFF2-40B4-BE49-F238E27FC236}">
                <a16:creationId xmlns:a16="http://schemas.microsoft.com/office/drawing/2014/main" id="{5800EE2B-1164-FB90-03DA-8353469EC65B}"/>
              </a:ext>
            </a:extLst>
          </p:cNvPr>
          <p:cNvSpPr>
            <a:spLocks noChangeArrowheads="1" noTextEdit="1"/>
          </p:cNvSpPr>
          <p:nvPr>
            <p:ph type="sldImg"/>
          </p:nvPr>
        </p:nvSpPr>
        <p:spPr>
          <a:ln/>
        </p:spPr>
      </p:sp>
      <p:sp>
        <p:nvSpPr>
          <p:cNvPr id="159748" name="Rectangle 3">
            <a:extLst>
              <a:ext uri="{FF2B5EF4-FFF2-40B4-BE49-F238E27FC236}">
                <a16:creationId xmlns:a16="http://schemas.microsoft.com/office/drawing/2014/main" id="{06DE8D8E-0D23-D52C-F263-1D2FDE8B0AD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It may be good at this point to discuss the difficulty of calculating time periods and interest rates, particularly without the help of a financial calculator.</a:t>
            </a:r>
          </a:p>
          <a:p>
            <a:pPr eaLnBrk="1" hangingPunct="1"/>
            <a:endParaRPr lang="en-US" altLang="en-US">
              <a:latin typeface="Arial" panose="020B0604020202020204" pitchFamily="34" charset="0"/>
              <a:ea typeface="ＭＳ Ｐゴシック" panose="020B0600070205080204" pitchFamily="34" charset="-128"/>
            </a:endParaRPr>
          </a:p>
          <a:p>
            <a:pPr eaLnBrk="1" hangingPunct="1"/>
            <a:r>
              <a:rPr lang="en-US" altLang="en-US">
                <a:latin typeface="Arial" panose="020B0604020202020204" pitchFamily="34" charset="0"/>
                <a:ea typeface="ＭＳ Ｐゴシック" panose="020B0600070205080204" pitchFamily="34" charset="-128"/>
              </a:rPr>
              <a:t>Rule of 72 says that 72/r gives an estimate of the number of periods it will take something (e.g., an investment) to double.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a:extLst>
              <a:ext uri="{FF2B5EF4-FFF2-40B4-BE49-F238E27FC236}">
                <a16:creationId xmlns:a16="http://schemas.microsoft.com/office/drawing/2014/main" id="{EA5BBB70-6D0B-DB8F-F9BB-47715E05B87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48FC7E18-B5A8-4625-A09F-DDE82C2ECD63}"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61795" name="Rectangle 2">
            <a:extLst>
              <a:ext uri="{FF2B5EF4-FFF2-40B4-BE49-F238E27FC236}">
                <a16:creationId xmlns:a16="http://schemas.microsoft.com/office/drawing/2014/main" id="{4D0FE42F-D633-64A4-9EB2-602F889BBB75}"/>
              </a:ext>
            </a:extLst>
          </p:cNvPr>
          <p:cNvSpPr>
            <a:spLocks noChangeArrowheads="1" noTextEdit="1"/>
          </p:cNvSpPr>
          <p:nvPr>
            <p:ph type="sldImg"/>
          </p:nvPr>
        </p:nvSpPr>
        <p:spPr>
          <a:ln/>
        </p:spPr>
      </p:sp>
      <p:sp>
        <p:nvSpPr>
          <p:cNvPr id="161796" name="Rectangle 3">
            <a:extLst>
              <a:ext uri="{FF2B5EF4-FFF2-40B4-BE49-F238E27FC236}">
                <a16:creationId xmlns:a16="http://schemas.microsoft.com/office/drawing/2014/main" id="{5497148A-1342-3996-13F1-2923DF9E751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a:extLst>
              <a:ext uri="{FF2B5EF4-FFF2-40B4-BE49-F238E27FC236}">
                <a16:creationId xmlns:a16="http://schemas.microsoft.com/office/drawing/2014/main" id="{E42855CC-C5CB-DEE8-2F32-62CA63AF772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30AC3F47-7C0B-4926-ADE2-054E6F300A83}"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63843" name="Rectangle 2">
            <a:extLst>
              <a:ext uri="{FF2B5EF4-FFF2-40B4-BE49-F238E27FC236}">
                <a16:creationId xmlns:a16="http://schemas.microsoft.com/office/drawing/2014/main" id="{44049722-1302-4F44-739F-755D8FEAED44}"/>
              </a:ext>
            </a:extLst>
          </p:cNvPr>
          <p:cNvSpPr>
            <a:spLocks noChangeArrowheads="1" noTextEdit="1"/>
          </p:cNvSpPr>
          <p:nvPr>
            <p:ph type="sldImg"/>
          </p:nvPr>
        </p:nvSpPr>
        <p:spPr>
          <a:ln/>
        </p:spPr>
      </p:sp>
      <p:sp>
        <p:nvSpPr>
          <p:cNvPr id="163844" name="Rectangle 3">
            <a:extLst>
              <a:ext uri="{FF2B5EF4-FFF2-40B4-BE49-F238E27FC236}">
                <a16:creationId xmlns:a16="http://schemas.microsoft.com/office/drawing/2014/main" id="{B4FDCCC9-D1F4-AFF9-9D39-96E862C0C3B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a:extLst>
              <a:ext uri="{FF2B5EF4-FFF2-40B4-BE49-F238E27FC236}">
                <a16:creationId xmlns:a16="http://schemas.microsoft.com/office/drawing/2014/main" id="{37A00F4F-3BAE-BC9D-AAE9-2F79CF91B67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A18C4525-EC5B-4468-B6E8-D7E1F647023D}"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65891" name="Rectangle 2">
            <a:extLst>
              <a:ext uri="{FF2B5EF4-FFF2-40B4-BE49-F238E27FC236}">
                <a16:creationId xmlns:a16="http://schemas.microsoft.com/office/drawing/2014/main" id="{FFE4823B-A55A-EE76-0485-95180FCA2B7F}"/>
              </a:ext>
            </a:extLst>
          </p:cNvPr>
          <p:cNvSpPr>
            <a:spLocks noChangeArrowheads="1" noTextEdit="1"/>
          </p:cNvSpPr>
          <p:nvPr>
            <p:ph type="sldImg"/>
          </p:nvPr>
        </p:nvSpPr>
        <p:spPr>
          <a:ln/>
        </p:spPr>
      </p:sp>
      <p:sp>
        <p:nvSpPr>
          <p:cNvPr id="165892" name="Rectangle 3">
            <a:extLst>
              <a:ext uri="{FF2B5EF4-FFF2-40B4-BE49-F238E27FC236}">
                <a16:creationId xmlns:a16="http://schemas.microsoft.com/office/drawing/2014/main" id="{4B0CAD73-0DAF-2B2D-2948-12D9427FF5E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a:extLst>
              <a:ext uri="{FF2B5EF4-FFF2-40B4-BE49-F238E27FC236}">
                <a16:creationId xmlns:a16="http://schemas.microsoft.com/office/drawing/2014/main" id="{99969A44-B92A-1125-240C-E6ECABCE5CE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C44321F8-B4A6-4B2C-B812-AC64332B5754}"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67939" name="Rectangle 2">
            <a:extLst>
              <a:ext uri="{FF2B5EF4-FFF2-40B4-BE49-F238E27FC236}">
                <a16:creationId xmlns:a16="http://schemas.microsoft.com/office/drawing/2014/main" id="{A0467B21-8845-5C76-482F-A885B1BE424C}"/>
              </a:ext>
            </a:extLst>
          </p:cNvPr>
          <p:cNvSpPr>
            <a:spLocks noChangeArrowheads="1" noTextEdit="1"/>
          </p:cNvSpPr>
          <p:nvPr>
            <p:ph type="sldImg"/>
          </p:nvPr>
        </p:nvSpPr>
        <p:spPr>
          <a:ln/>
        </p:spPr>
      </p:sp>
      <p:sp>
        <p:nvSpPr>
          <p:cNvPr id="167940" name="Rectangle 3">
            <a:extLst>
              <a:ext uri="{FF2B5EF4-FFF2-40B4-BE49-F238E27FC236}">
                <a16:creationId xmlns:a16="http://schemas.microsoft.com/office/drawing/2014/main" id="{18920986-D09D-59D0-22FD-12FEF0954C1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a:extLst>
              <a:ext uri="{FF2B5EF4-FFF2-40B4-BE49-F238E27FC236}">
                <a16:creationId xmlns:a16="http://schemas.microsoft.com/office/drawing/2014/main" id="{5504343A-DA13-97F6-0817-0056D659A0D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86D387A4-902E-443D-BEC3-A0FFD505A962}"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69987" name="Rectangle 2">
            <a:extLst>
              <a:ext uri="{FF2B5EF4-FFF2-40B4-BE49-F238E27FC236}">
                <a16:creationId xmlns:a16="http://schemas.microsoft.com/office/drawing/2014/main" id="{202B556B-20F6-F44A-5AC8-754178853850}"/>
              </a:ext>
            </a:extLst>
          </p:cNvPr>
          <p:cNvSpPr>
            <a:spLocks noChangeArrowheads="1" noTextEdit="1"/>
          </p:cNvSpPr>
          <p:nvPr>
            <p:ph type="sldImg"/>
          </p:nvPr>
        </p:nvSpPr>
        <p:spPr>
          <a:ln/>
        </p:spPr>
      </p:sp>
      <p:sp>
        <p:nvSpPr>
          <p:cNvPr id="169988" name="Rectangle 3">
            <a:extLst>
              <a:ext uri="{FF2B5EF4-FFF2-40B4-BE49-F238E27FC236}">
                <a16:creationId xmlns:a16="http://schemas.microsoft.com/office/drawing/2014/main" id="{432C3213-8DAF-AB52-71DA-B26294D2528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a:extLst>
              <a:ext uri="{FF2B5EF4-FFF2-40B4-BE49-F238E27FC236}">
                <a16:creationId xmlns:a16="http://schemas.microsoft.com/office/drawing/2014/main" id="{8861BEB3-7AC4-FDC9-15BC-9E42315DCA5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0F980D9D-07AA-421F-B3F4-0262A97FD200}"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2035" name="Rectangle 2">
            <a:extLst>
              <a:ext uri="{FF2B5EF4-FFF2-40B4-BE49-F238E27FC236}">
                <a16:creationId xmlns:a16="http://schemas.microsoft.com/office/drawing/2014/main" id="{65E2F9F2-9A9E-E528-D243-1A3BD632FCF2}"/>
              </a:ext>
            </a:extLst>
          </p:cNvPr>
          <p:cNvSpPr>
            <a:spLocks noChangeArrowheads="1" noTextEdit="1"/>
          </p:cNvSpPr>
          <p:nvPr>
            <p:ph type="sldImg"/>
          </p:nvPr>
        </p:nvSpPr>
        <p:spPr>
          <a:ln/>
        </p:spPr>
      </p:sp>
      <p:sp>
        <p:nvSpPr>
          <p:cNvPr id="172036" name="Rectangle 3">
            <a:extLst>
              <a:ext uri="{FF2B5EF4-FFF2-40B4-BE49-F238E27FC236}">
                <a16:creationId xmlns:a16="http://schemas.microsoft.com/office/drawing/2014/main" id="{66E1FD07-1986-5ADC-7F01-8179E4ECE28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a:extLst>
              <a:ext uri="{FF2B5EF4-FFF2-40B4-BE49-F238E27FC236}">
                <a16:creationId xmlns:a16="http://schemas.microsoft.com/office/drawing/2014/main" id="{916FB57B-2D0B-3947-3BDE-BE58D3A8E00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ADA0A4AA-B655-412C-AF07-6A68F3DF0CFF}"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4083" name="Rectangle 2">
            <a:extLst>
              <a:ext uri="{FF2B5EF4-FFF2-40B4-BE49-F238E27FC236}">
                <a16:creationId xmlns:a16="http://schemas.microsoft.com/office/drawing/2014/main" id="{45570714-37CC-D84A-A7CB-96C6750E95AB}"/>
              </a:ext>
            </a:extLst>
          </p:cNvPr>
          <p:cNvSpPr>
            <a:spLocks noChangeArrowheads="1" noTextEdit="1"/>
          </p:cNvSpPr>
          <p:nvPr>
            <p:ph type="sldImg"/>
          </p:nvPr>
        </p:nvSpPr>
        <p:spPr>
          <a:ln/>
        </p:spPr>
      </p:sp>
      <p:sp>
        <p:nvSpPr>
          <p:cNvPr id="174084" name="Rectangle 3">
            <a:extLst>
              <a:ext uri="{FF2B5EF4-FFF2-40B4-BE49-F238E27FC236}">
                <a16:creationId xmlns:a16="http://schemas.microsoft.com/office/drawing/2014/main" id="{68F61E71-2B52-1DDD-3511-42457094E56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a:extLst>
              <a:ext uri="{FF2B5EF4-FFF2-40B4-BE49-F238E27FC236}">
                <a16:creationId xmlns:a16="http://schemas.microsoft.com/office/drawing/2014/main" id="{73696AAA-3340-B55B-97D5-08276BC7E66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E02BD641-27D4-49FF-972E-87C7E23F0F55}"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6131" name="Rectangle 2">
            <a:extLst>
              <a:ext uri="{FF2B5EF4-FFF2-40B4-BE49-F238E27FC236}">
                <a16:creationId xmlns:a16="http://schemas.microsoft.com/office/drawing/2014/main" id="{50592D6A-3152-1517-3387-014E613096C8}"/>
              </a:ext>
            </a:extLst>
          </p:cNvPr>
          <p:cNvSpPr>
            <a:spLocks noChangeArrowheads="1" noTextEdit="1"/>
          </p:cNvSpPr>
          <p:nvPr>
            <p:ph type="sldImg"/>
          </p:nvPr>
        </p:nvSpPr>
        <p:spPr>
          <a:ln/>
        </p:spPr>
      </p:sp>
      <p:sp>
        <p:nvSpPr>
          <p:cNvPr id="176132" name="Rectangle 3">
            <a:extLst>
              <a:ext uri="{FF2B5EF4-FFF2-40B4-BE49-F238E27FC236}">
                <a16:creationId xmlns:a16="http://schemas.microsoft.com/office/drawing/2014/main" id="{86F7731E-8844-6BCB-02EB-9B800D0F10D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a:extLst>
              <a:ext uri="{FF2B5EF4-FFF2-40B4-BE49-F238E27FC236}">
                <a16:creationId xmlns:a16="http://schemas.microsoft.com/office/drawing/2014/main" id="{02F7EB8A-7B21-A4CE-5A31-87C310773EE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8435EBE0-0CF3-4C99-A8A0-C3CA63D71B8B}"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8179" name="Rectangle 2">
            <a:extLst>
              <a:ext uri="{FF2B5EF4-FFF2-40B4-BE49-F238E27FC236}">
                <a16:creationId xmlns:a16="http://schemas.microsoft.com/office/drawing/2014/main" id="{FA52B2C2-DB96-95BD-6AFB-43B65495BF65}"/>
              </a:ext>
            </a:extLst>
          </p:cNvPr>
          <p:cNvSpPr>
            <a:spLocks noChangeArrowheads="1" noTextEdit="1"/>
          </p:cNvSpPr>
          <p:nvPr>
            <p:ph type="sldImg"/>
          </p:nvPr>
        </p:nvSpPr>
        <p:spPr>
          <a:ln/>
        </p:spPr>
      </p:sp>
      <p:sp>
        <p:nvSpPr>
          <p:cNvPr id="178180" name="Rectangle 3">
            <a:extLst>
              <a:ext uri="{FF2B5EF4-FFF2-40B4-BE49-F238E27FC236}">
                <a16:creationId xmlns:a16="http://schemas.microsoft.com/office/drawing/2014/main" id="{06F68DC5-82BD-86B4-5188-FDC6C7E187A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400" i="1">
                <a:latin typeface="Times New Roman" panose="02020603050405020304" pitchFamily="18" charset="0"/>
                <a:ea typeface="ＭＳ Ｐゴシック" panose="020B0600070205080204" pitchFamily="34" charset="-128"/>
              </a:rPr>
              <a:t>e</a:t>
            </a:r>
            <a:r>
              <a:rPr lang="en-US" altLang="en-US" sz="1400">
                <a:latin typeface="Times New Roman" panose="02020603050405020304" pitchFamily="18" charset="0"/>
                <a:ea typeface="ＭＳ Ｐゴシック" panose="020B0600070205080204" pitchFamily="34" charset="-128"/>
              </a:rPr>
              <a:t> is a transcendental number because it transcends the real numbers. </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7">
            <a:extLst>
              <a:ext uri="{FF2B5EF4-FFF2-40B4-BE49-F238E27FC236}">
                <a16:creationId xmlns:a16="http://schemas.microsoft.com/office/drawing/2014/main" id="{A2C69FBA-76D3-92E2-E8B6-29D73B8DD35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D95F57A1-314B-4139-B1A4-25CB05C5869D}"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0227" name="Rectangle 2">
            <a:extLst>
              <a:ext uri="{FF2B5EF4-FFF2-40B4-BE49-F238E27FC236}">
                <a16:creationId xmlns:a16="http://schemas.microsoft.com/office/drawing/2014/main" id="{E62CE2DA-58D6-1653-62E0-52E99F70EDDA}"/>
              </a:ext>
            </a:extLst>
          </p:cNvPr>
          <p:cNvSpPr>
            <a:spLocks noChangeArrowheads="1" noTextEdit="1"/>
          </p:cNvSpPr>
          <p:nvPr>
            <p:ph type="sldImg"/>
          </p:nvPr>
        </p:nvSpPr>
        <p:spPr>
          <a:ln/>
        </p:spPr>
      </p:sp>
      <p:sp>
        <p:nvSpPr>
          <p:cNvPr id="180228" name="Rectangle 3">
            <a:extLst>
              <a:ext uri="{FF2B5EF4-FFF2-40B4-BE49-F238E27FC236}">
                <a16:creationId xmlns:a16="http://schemas.microsoft.com/office/drawing/2014/main" id="{75CCA45E-4D1A-E4DB-AF85-FB172393DE0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a:extLst>
              <a:ext uri="{FF2B5EF4-FFF2-40B4-BE49-F238E27FC236}">
                <a16:creationId xmlns:a16="http://schemas.microsoft.com/office/drawing/2014/main" id="{9E901FB9-4045-7B2C-D9F2-F84BA060BCE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A677415A-B7DB-476B-8A5F-DDD58A51A476}"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25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2275" name="Rectangle 2">
            <a:extLst>
              <a:ext uri="{FF2B5EF4-FFF2-40B4-BE49-F238E27FC236}">
                <a16:creationId xmlns:a16="http://schemas.microsoft.com/office/drawing/2014/main" id="{858D572F-C535-9CCE-3C9D-581AC8A83550}"/>
              </a:ext>
            </a:extLst>
          </p:cNvPr>
          <p:cNvSpPr>
            <a:spLocks noChangeArrowheads="1" noTextEdit="1"/>
          </p:cNvSpPr>
          <p:nvPr>
            <p:ph type="sldImg"/>
          </p:nvPr>
        </p:nvSpPr>
        <p:spPr>
          <a:ln/>
        </p:spPr>
      </p:sp>
      <p:sp>
        <p:nvSpPr>
          <p:cNvPr id="182276" name="Rectangle 3">
            <a:extLst>
              <a:ext uri="{FF2B5EF4-FFF2-40B4-BE49-F238E27FC236}">
                <a16:creationId xmlns:a16="http://schemas.microsoft.com/office/drawing/2014/main" id="{12E17B0B-6D22-C3FE-FE49-016514EBC0D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a:extLst>
              <a:ext uri="{FF2B5EF4-FFF2-40B4-BE49-F238E27FC236}">
                <a16:creationId xmlns:a16="http://schemas.microsoft.com/office/drawing/2014/main" id="{62D98407-4E93-7604-A1B4-41715B561A9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B6C8264E-6AD7-41C0-AF45-B7766454F435}"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26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4323" name="Rectangle 2">
            <a:extLst>
              <a:ext uri="{FF2B5EF4-FFF2-40B4-BE49-F238E27FC236}">
                <a16:creationId xmlns:a16="http://schemas.microsoft.com/office/drawing/2014/main" id="{B0B4ADA5-47FA-4737-92D7-EB3695A321FF}"/>
              </a:ext>
            </a:extLst>
          </p:cNvPr>
          <p:cNvSpPr>
            <a:spLocks noChangeArrowheads="1" noTextEdit="1"/>
          </p:cNvSpPr>
          <p:nvPr>
            <p:ph type="sldImg"/>
          </p:nvPr>
        </p:nvSpPr>
        <p:spPr>
          <a:ln/>
        </p:spPr>
      </p:sp>
      <p:sp>
        <p:nvSpPr>
          <p:cNvPr id="184324" name="Rectangle 3">
            <a:extLst>
              <a:ext uri="{FF2B5EF4-FFF2-40B4-BE49-F238E27FC236}">
                <a16:creationId xmlns:a16="http://schemas.microsoft.com/office/drawing/2014/main" id="{B0B069B2-2433-9216-722E-545F43E1E9F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a:extLst>
              <a:ext uri="{FF2B5EF4-FFF2-40B4-BE49-F238E27FC236}">
                <a16:creationId xmlns:a16="http://schemas.microsoft.com/office/drawing/2014/main" id="{A70576E6-38B5-1285-626A-C7E42AE20B3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548402E2-B17D-4A0B-8B4E-02D05CB24A65}"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27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6371" name="Rectangle 2">
            <a:extLst>
              <a:ext uri="{FF2B5EF4-FFF2-40B4-BE49-F238E27FC236}">
                <a16:creationId xmlns:a16="http://schemas.microsoft.com/office/drawing/2014/main" id="{1B991A30-1658-33B4-1C72-A1EA5CE551EA}"/>
              </a:ext>
            </a:extLst>
          </p:cNvPr>
          <p:cNvSpPr>
            <a:spLocks noChangeArrowheads="1" noTextEdit="1"/>
          </p:cNvSpPr>
          <p:nvPr>
            <p:ph type="sldImg"/>
          </p:nvPr>
        </p:nvSpPr>
        <p:spPr>
          <a:ln/>
        </p:spPr>
      </p:sp>
      <p:sp>
        <p:nvSpPr>
          <p:cNvPr id="186372" name="Rectangle 3">
            <a:extLst>
              <a:ext uri="{FF2B5EF4-FFF2-40B4-BE49-F238E27FC236}">
                <a16:creationId xmlns:a16="http://schemas.microsoft.com/office/drawing/2014/main" id="{3D57C6FB-3BC6-1564-6DE6-596FD7A334C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a:extLst>
              <a:ext uri="{FF2B5EF4-FFF2-40B4-BE49-F238E27FC236}">
                <a16:creationId xmlns:a16="http://schemas.microsoft.com/office/drawing/2014/main" id="{AB980406-B639-26A5-7FBD-76D1A411AA5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DE6C3D0B-B53F-497A-B770-3F93DF1E6485}"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28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8419" name="Rectangle 2">
            <a:extLst>
              <a:ext uri="{FF2B5EF4-FFF2-40B4-BE49-F238E27FC236}">
                <a16:creationId xmlns:a16="http://schemas.microsoft.com/office/drawing/2014/main" id="{84BCDD6C-05BD-E154-9C9E-D4479A3F1CF0}"/>
              </a:ext>
            </a:extLst>
          </p:cNvPr>
          <p:cNvSpPr>
            <a:spLocks noChangeArrowheads="1" noTextEdit="1"/>
          </p:cNvSpPr>
          <p:nvPr>
            <p:ph type="sldImg"/>
          </p:nvPr>
        </p:nvSpPr>
        <p:spPr>
          <a:ln/>
        </p:spPr>
      </p:sp>
      <p:sp>
        <p:nvSpPr>
          <p:cNvPr id="188420" name="Rectangle 3">
            <a:extLst>
              <a:ext uri="{FF2B5EF4-FFF2-40B4-BE49-F238E27FC236}">
                <a16:creationId xmlns:a16="http://schemas.microsoft.com/office/drawing/2014/main" id="{A8F9E745-C42D-BE06-8DB3-0AA3C3C39A0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It is important to note to students that in this example the year 1 cash flow was given. If the current dividend were $1.30, then we would need to multiply it by one plus the growth rate to estimate the year 1 cash flow.</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a:extLst>
              <a:ext uri="{FF2B5EF4-FFF2-40B4-BE49-F238E27FC236}">
                <a16:creationId xmlns:a16="http://schemas.microsoft.com/office/drawing/2014/main" id="{741CE185-0AA7-36A5-87FF-61F1907A7C8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8B82558F-DCC2-4992-B950-4FFDC5575939}"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29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90467" name="Rectangle 2">
            <a:extLst>
              <a:ext uri="{FF2B5EF4-FFF2-40B4-BE49-F238E27FC236}">
                <a16:creationId xmlns:a16="http://schemas.microsoft.com/office/drawing/2014/main" id="{B59992F6-02FC-6B32-D04A-F56AF62A62C6}"/>
              </a:ext>
            </a:extLst>
          </p:cNvPr>
          <p:cNvSpPr>
            <a:spLocks noChangeArrowheads="1" noTextEdit="1"/>
          </p:cNvSpPr>
          <p:nvPr>
            <p:ph type="sldImg"/>
          </p:nvPr>
        </p:nvSpPr>
        <p:spPr>
          <a:ln/>
        </p:spPr>
      </p:sp>
      <p:sp>
        <p:nvSpPr>
          <p:cNvPr id="190468" name="Rectangle 3">
            <a:extLst>
              <a:ext uri="{FF2B5EF4-FFF2-40B4-BE49-F238E27FC236}">
                <a16:creationId xmlns:a16="http://schemas.microsoft.com/office/drawing/2014/main" id="{21843106-B068-714E-4619-EED1DDA0FBA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a:extLst>
              <a:ext uri="{FF2B5EF4-FFF2-40B4-BE49-F238E27FC236}">
                <a16:creationId xmlns:a16="http://schemas.microsoft.com/office/drawing/2014/main" id="{4941CAED-09E8-7DCF-24CE-86E75343187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9CAD8C56-4F05-4230-8E11-09E86F2B270C}"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30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92515" name="Rectangle 2">
            <a:extLst>
              <a:ext uri="{FF2B5EF4-FFF2-40B4-BE49-F238E27FC236}">
                <a16:creationId xmlns:a16="http://schemas.microsoft.com/office/drawing/2014/main" id="{ED88106B-D8F5-509D-D96D-113996734D19}"/>
              </a:ext>
            </a:extLst>
          </p:cNvPr>
          <p:cNvSpPr>
            <a:spLocks noChangeArrowheads="1" noTextEdit="1"/>
          </p:cNvSpPr>
          <p:nvPr>
            <p:ph type="sldImg"/>
          </p:nvPr>
        </p:nvSpPr>
        <p:spPr>
          <a:ln/>
        </p:spPr>
      </p:sp>
      <p:sp>
        <p:nvSpPr>
          <p:cNvPr id="192516" name="Rectangle 3">
            <a:extLst>
              <a:ext uri="{FF2B5EF4-FFF2-40B4-BE49-F238E27FC236}">
                <a16:creationId xmlns:a16="http://schemas.microsoft.com/office/drawing/2014/main" id="{A11C4D18-146C-EF11-0E9B-9B6D83E662A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a:extLst>
              <a:ext uri="{FF2B5EF4-FFF2-40B4-BE49-F238E27FC236}">
                <a16:creationId xmlns:a16="http://schemas.microsoft.com/office/drawing/2014/main" id="{B4885670-0CA6-137E-9A67-5AA11176A28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0554DB07-565D-4920-AA50-AA976DA214FB}"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31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94563" name="Rectangle 2">
            <a:extLst>
              <a:ext uri="{FF2B5EF4-FFF2-40B4-BE49-F238E27FC236}">
                <a16:creationId xmlns:a16="http://schemas.microsoft.com/office/drawing/2014/main" id="{E80CC687-6B09-ED25-E9AB-E47834549953}"/>
              </a:ext>
            </a:extLst>
          </p:cNvPr>
          <p:cNvSpPr>
            <a:spLocks noChangeArrowheads="1" noTextEdit="1"/>
          </p:cNvSpPr>
          <p:nvPr>
            <p:ph type="sldImg"/>
          </p:nvPr>
        </p:nvSpPr>
        <p:spPr>
          <a:ln/>
        </p:spPr>
      </p:sp>
      <p:sp>
        <p:nvSpPr>
          <p:cNvPr id="194564" name="Rectangle 3">
            <a:extLst>
              <a:ext uri="{FF2B5EF4-FFF2-40B4-BE49-F238E27FC236}">
                <a16:creationId xmlns:a16="http://schemas.microsoft.com/office/drawing/2014/main" id="{6D4CADBB-B5FF-2080-B3E0-C7F3679C60D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b="1">
                <a:latin typeface="Arial" panose="020B0604020202020204" pitchFamily="34" charset="0"/>
                <a:ea typeface="ＭＳ Ｐゴシック" panose="020B0600070205080204" pitchFamily="34" charset="-128"/>
              </a:rPr>
              <a:t>Ordinary Annuity vs. Annuity Due: </a:t>
            </a:r>
            <a:r>
              <a:rPr lang="en-US" altLang="en-US">
                <a:latin typeface="Arial" panose="020B0604020202020204" pitchFamily="34" charset="0"/>
                <a:ea typeface="ＭＳ Ｐゴシック" panose="020B0600070205080204" pitchFamily="34" charset="-128"/>
              </a:rPr>
              <a:t>It should be emphasized that annuity factor tables (and the annuity factors in the formulas) assumes that the first payment occurs one period from the present, with the final payment at the end of the annuity’s life. If the first payment occurs at the beginning of the period, then FV’s have one additional period for compounding and PV’s have one less period to be discounted. Consequently, you can multiply both the future value and the present value by (1 + r) to account for the change in timing. The values can also be computed directly by changing the setting in the financial calculator.</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a:extLst>
              <a:ext uri="{FF2B5EF4-FFF2-40B4-BE49-F238E27FC236}">
                <a16:creationId xmlns:a16="http://schemas.microsoft.com/office/drawing/2014/main" id="{EAFB138F-A3C6-B36D-7784-FCCBA81D3A7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8D990699-E324-489E-8150-41F0D7FD262D}"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32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96611" name="Rectangle 2">
            <a:extLst>
              <a:ext uri="{FF2B5EF4-FFF2-40B4-BE49-F238E27FC236}">
                <a16:creationId xmlns:a16="http://schemas.microsoft.com/office/drawing/2014/main" id="{69971731-9BF2-933D-E122-748F9E8A5750}"/>
              </a:ext>
            </a:extLst>
          </p:cNvPr>
          <p:cNvSpPr>
            <a:spLocks noChangeArrowheads="1" noTextEdit="1"/>
          </p:cNvSpPr>
          <p:nvPr>
            <p:ph type="sldImg"/>
          </p:nvPr>
        </p:nvSpPr>
        <p:spPr>
          <a:ln/>
        </p:spPr>
      </p:sp>
      <p:sp>
        <p:nvSpPr>
          <p:cNvPr id="196612" name="Rectangle 3">
            <a:extLst>
              <a:ext uri="{FF2B5EF4-FFF2-40B4-BE49-F238E27FC236}">
                <a16:creationId xmlns:a16="http://schemas.microsoft.com/office/drawing/2014/main" id="{DE2C1635-CDD5-546C-45D1-52717798408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a:extLst>
              <a:ext uri="{FF2B5EF4-FFF2-40B4-BE49-F238E27FC236}">
                <a16:creationId xmlns:a16="http://schemas.microsoft.com/office/drawing/2014/main" id="{CB9E651E-8190-3ED0-FD91-362B88F9A7D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3893F317-FA99-4F5E-A721-F8B7E19BFCDE}"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33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98659" name="Rectangle 2">
            <a:extLst>
              <a:ext uri="{FF2B5EF4-FFF2-40B4-BE49-F238E27FC236}">
                <a16:creationId xmlns:a16="http://schemas.microsoft.com/office/drawing/2014/main" id="{50D9B5FF-B19D-E1B2-BD20-3048AA0FC019}"/>
              </a:ext>
            </a:extLst>
          </p:cNvPr>
          <p:cNvSpPr>
            <a:spLocks noChangeArrowheads="1" noTextEdit="1"/>
          </p:cNvSpPr>
          <p:nvPr>
            <p:ph type="sldImg"/>
          </p:nvPr>
        </p:nvSpPr>
        <p:spPr>
          <a:ln/>
        </p:spPr>
      </p:sp>
      <p:sp>
        <p:nvSpPr>
          <p:cNvPr id="198660" name="Rectangle 3">
            <a:extLst>
              <a:ext uri="{FF2B5EF4-FFF2-40B4-BE49-F238E27FC236}">
                <a16:creationId xmlns:a16="http://schemas.microsoft.com/office/drawing/2014/main" id="{9FB55CB4-13A7-1E58-1146-8B54EA10E66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a:extLst>
              <a:ext uri="{FF2B5EF4-FFF2-40B4-BE49-F238E27FC236}">
                <a16:creationId xmlns:a16="http://schemas.microsoft.com/office/drawing/2014/main" id="{B71574FC-4CDB-B820-4243-57A4162D8F2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7B702FBD-673A-4FB9-BA7D-B2A82D80AE6D}"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34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00707" name="Rectangle 2">
            <a:extLst>
              <a:ext uri="{FF2B5EF4-FFF2-40B4-BE49-F238E27FC236}">
                <a16:creationId xmlns:a16="http://schemas.microsoft.com/office/drawing/2014/main" id="{99C84309-B8EB-96FF-D71D-290F9BF15FF9}"/>
              </a:ext>
            </a:extLst>
          </p:cNvPr>
          <p:cNvSpPr>
            <a:spLocks noChangeArrowheads="1" noTextEdit="1"/>
          </p:cNvSpPr>
          <p:nvPr>
            <p:ph type="sldImg"/>
          </p:nvPr>
        </p:nvSpPr>
        <p:spPr>
          <a:ln/>
        </p:spPr>
      </p:sp>
      <p:sp>
        <p:nvSpPr>
          <p:cNvPr id="200708" name="Rectangle 3">
            <a:extLst>
              <a:ext uri="{FF2B5EF4-FFF2-40B4-BE49-F238E27FC236}">
                <a16:creationId xmlns:a16="http://schemas.microsoft.com/office/drawing/2014/main" id="{B12CDD35-551F-77E2-FDEA-F8424A172CA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7">
            <a:extLst>
              <a:ext uri="{FF2B5EF4-FFF2-40B4-BE49-F238E27FC236}">
                <a16:creationId xmlns:a16="http://schemas.microsoft.com/office/drawing/2014/main" id="{E69D83DF-03E5-8FC6-BEAC-9F8F803E8CA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32F7B4C2-330E-4624-8A8C-1611720B4167}"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35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02755" name="Rectangle 2">
            <a:extLst>
              <a:ext uri="{FF2B5EF4-FFF2-40B4-BE49-F238E27FC236}">
                <a16:creationId xmlns:a16="http://schemas.microsoft.com/office/drawing/2014/main" id="{9A920956-2796-B65B-FE9C-1BDA8C365895}"/>
              </a:ext>
            </a:extLst>
          </p:cNvPr>
          <p:cNvSpPr>
            <a:spLocks noChangeArrowheads="1" noTextEdit="1"/>
          </p:cNvSpPr>
          <p:nvPr>
            <p:ph type="sldImg"/>
          </p:nvPr>
        </p:nvSpPr>
        <p:spPr>
          <a:ln/>
        </p:spPr>
      </p:sp>
      <p:sp>
        <p:nvSpPr>
          <p:cNvPr id="202756" name="Rectangle 3">
            <a:extLst>
              <a:ext uri="{FF2B5EF4-FFF2-40B4-BE49-F238E27FC236}">
                <a16:creationId xmlns:a16="http://schemas.microsoft.com/office/drawing/2014/main" id="{111F1CC4-1B48-C9DB-BBA0-2A50A400BE8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7">
            <a:extLst>
              <a:ext uri="{FF2B5EF4-FFF2-40B4-BE49-F238E27FC236}">
                <a16:creationId xmlns:a16="http://schemas.microsoft.com/office/drawing/2014/main" id="{8608B505-4172-349F-2E09-E667DD00B81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C1CC647D-66E0-4733-86B0-5C66052412C0}"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36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04803" name="Rectangle 2">
            <a:extLst>
              <a:ext uri="{FF2B5EF4-FFF2-40B4-BE49-F238E27FC236}">
                <a16:creationId xmlns:a16="http://schemas.microsoft.com/office/drawing/2014/main" id="{89D4A9BB-0B52-19C9-791E-851C0B879EAE}"/>
              </a:ext>
            </a:extLst>
          </p:cNvPr>
          <p:cNvSpPr>
            <a:spLocks noChangeArrowheads="1" noTextEdit="1"/>
          </p:cNvSpPr>
          <p:nvPr>
            <p:ph type="sldImg"/>
          </p:nvPr>
        </p:nvSpPr>
        <p:spPr>
          <a:xfrm>
            <a:off x="1177925" y="695325"/>
            <a:ext cx="4641850" cy="3481388"/>
          </a:xfrm>
          <a:ln/>
        </p:spPr>
      </p:sp>
      <p:sp>
        <p:nvSpPr>
          <p:cNvPr id="204804" name="Rectangle 3">
            <a:extLst>
              <a:ext uri="{FF2B5EF4-FFF2-40B4-BE49-F238E27FC236}">
                <a16:creationId xmlns:a16="http://schemas.microsoft.com/office/drawing/2014/main" id="{2B778508-D03F-5C20-A465-578AFB15FAA0}"/>
              </a:ext>
            </a:extLst>
          </p:cNvPr>
          <p:cNvSpPr>
            <a:spLocks noGrp="1" noChangeArrowheads="1"/>
          </p:cNvSpPr>
          <p:nvPr>
            <p:ph type="body" idx="1"/>
          </p:nvPr>
        </p:nvSpPr>
        <p:spPr>
          <a:xfrm>
            <a:off x="933450" y="4410075"/>
            <a:ext cx="5130800" cy="4178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Remind students that the value of an investment is the present value of expected future cash flows.</a:t>
            </a:r>
          </a:p>
          <a:p>
            <a:pPr eaLnBrk="1" hangingPunct="1"/>
            <a:endParaRPr lang="en-US" altLang="en-US">
              <a:latin typeface="Arial" panose="020B0604020202020204" pitchFamily="34" charset="0"/>
              <a:ea typeface="ＭＳ Ｐゴシック" panose="020B0600070205080204" pitchFamily="34" charset="-128"/>
            </a:endParaRPr>
          </a:p>
          <a:p>
            <a:pPr eaLnBrk="1" hangingPunct="1"/>
            <a:r>
              <a:rPr lang="en-US" altLang="en-US">
                <a:latin typeface="Arial" panose="020B0604020202020204" pitchFamily="34" charset="0"/>
                <a:ea typeface="ＭＳ Ｐゴシック" panose="020B0600070205080204" pitchFamily="34" charset="-128"/>
              </a:rPr>
              <a:t>1 N; 10,000 FV; 7 I/Y; CPT PV = -9,345.79</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7">
            <a:extLst>
              <a:ext uri="{FF2B5EF4-FFF2-40B4-BE49-F238E27FC236}">
                <a16:creationId xmlns:a16="http://schemas.microsoft.com/office/drawing/2014/main" id="{34610146-F8AA-F305-AD09-D523552BA0E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C69B9408-F547-467C-A199-064BE0AC495F}"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37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06851" name="Rectangle 2">
            <a:extLst>
              <a:ext uri="{FF2B5EF4-FFF2-40B4-BE49-F238E27FC236}">
                <a16:creationId xmlns:a16="http://schemas.microsoft.com/office/drawing/2014/main" id="{15B6DF94-FBD1-0114-0CB9-BC99507B5BA8}"/>
              </a:ext>
            </a:extLst>
          </p:cNvPr>
          <p:cNvSpPr>
            <a:spLocks noChangeArrowheads="1" noTextEdit="1"/>
          </p:cNvSpPr>
          <p:nvPr>
            <p:ph type="sldImg"/>
          </p:nvPr>
        </p:nvSpPr>
        <p:spPr>
          <a:ln/>
        </p:spPr>
      </p:sp>
      <p:sp>
        <p:nvSpPr>
          <p:cNvPr id="206852" name="Rectangle 3">
            <a:extLst>
              <a:ext uri="{FF2B5EF4-FFF2-40B4-BE49-F238E27FC236}">
                <a16:creationId xmlns:a16="http://schemas.microsoft.com/office/drawing/2014/main" id="{47E30217-45FA-C7B2-E96F-9A086048DF1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7">
            <a:extLst>
              <a:ext uri="{FF2B5EF4-FFF2-40B4-BE49-F238E27FC236}">
                <a16:creationId xmlns:a16="http://schemas.microsoft.com/office/drawing/2014/main" id="{5B51D2BB-AC1C-5422-8D3F-45FDD04F6A3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F2FEDFCC-37C8-41AB-A069-7DA1F67A6809}"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38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08899" name="Rectangle 2">
            <a:extLst>
              <a:ext uri="{FF2B5EF4-FFF2-40B4-BE49-F238E27FC236}">
                <a16:creationId xmlns:a16="http://schemas.microsoft.com/office/drawing/2014/main" id="{18EB608B-0439-957A-9DFD-7F04939E7A06}"/>
              </a:ext>
            </a:extLst>
          </p:cNvPr>
          <p:cNvSpPr>
            <a:spLocks noChangeArrowheads="1" noTextEdit="1"/>
          </p:cNvSpPr>
          <p:nvPr>
            <p:ph type="sldImg"/>
          </p:nvPr>
        </p:nvSpPr>
        <p:spPr>
          <a:ln/>
        </p:spPr>
      </p:sp>
      <p:sp>
        <p:nvSpPr>
          <p:cNvPr id="208900" name="Rectangle 3">
            <a:extLst>
              <a:ext uri="{FF2B5EF4-FFF2-40B4-BE49-F238E27FC236}">
                <a16:creationId xmlns:a16="http://schemas.microsoft.com/office/drawing/2014/main" id="{AA738565-3060-16E1-A18A-D926A31502A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7">
            <a:extLst>
              <a:ext uri="{FF2B5EF4-FFF2-40B4-BE49-F238E27FC236}">
                <a16:creationId xmlns:a16="http://schemas.microsoft.com/office/drawing/2014/main" id="{770419D1-CFED-2565-0854-1EDAA9597F6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929378BF-C373-4DC9-8779-3A501E670BDD}"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39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10947" name="Rectangle 2">
            <a:extLst>
              <a:ext uri="{FF2B5EF4-FFF2-40B4-BE49-F238E27FC236}">
                <a16:creationId xmlns:a16="http://schemas.microsoft.com/office/drawing/2014/main" id="{E6B6DBC5-DF21-93DD-D773-41E60B1B1314}"/>
              </a:ext>
            </a:extLst>
          </p:cNvPr>
          <p:cNvSpPr>
            <a:spLocks noGrp="1" noRot="1" noChangeAspect="1" noChangeArrowheads="1" noTextEdit="1"/>
          </p:cNvSpPr>
          <p:nvPr>
            <p:ph type="sldImg"/>
          </p:nvPr>
        </p:nvSpPr>
        <p:spPr>
          <a:ln/>
        </p:spPr>
      </p:sp>
      <p:sp>
        <p:nvSpPr>
          <p:cNvPr id="210948" name="Rectangle 3">
            <a:extLst>
              <a:ext uri="{FF2B5EF4-FFF2-40B4-BE49-F238E27FC236}">
                <a16:creationId xmlns:a16="http://schemas.microsoft.com/office/drawing/2014/main" id="{A6102291-5A0F-F3C5-4CC6-E5D5089BCB0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7">
            <a:extLst>
              <a:ext uri="{FF2B5EF4-FFF2-40B4-BE49-F238E27FC236}">
                <a16:creationId xmlns:a16="http://schemas.microsoft.com/office/drawing/2014/main" id="{850BA7E5-96A4-B806-A8A2-AB7AED6FCF9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F57AF0D4-4AD5-4340-AF89-857F8C5A66C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40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12995" name="Rectangle 2">
            <a:extLst>
              <a:ext uri="{FF2B5EF4-FFF2-40B4-BE49-F238E27FC236}">
                <a16:creationId xmlns:a16="http://schemas.microsoft.com/office/drawing/2014/main" id="{A7915BB3-F436-43F7-14EE-0DEC4F154785}"/>
              </a:ext>
            </a:extLst>
          </p:cNvPr>
          <p:cNvSpPr>
            <a:spLocks noGrp="1" noRot="1" noChangeAspect="1" noChangeArrowheads="1" noTextEdit="1"/>
          </p:cNvSpPr>
          <p:nvPr>
            <p:ph type="sldImg"/>
          </p:nvPr>
        </p:nvSpPr>
        <p:spPr>
          <a:ln/>
        </p:spPr>
      </p:sp>
      <p:sp>
        <p:nvSpPr>
          <p:cNvPr id="212996" name="Rectangle 3">
            <a:extLst>
              <a:ext uri="{FF2B5EF4-FFF2-40B4-BE49-F238E27FC236}">
                <a16:creationId xmlns:a16="http://schemas.microsoft.com/office/drawing/2014/main" id="{35FEC3F9-0689-1775-2823-5E8867742B4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Note that the NPV recognizes the magnitude, risk, and timing of cash flows, which was an important description of why stock price maximization should be the primary corporate goal.</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7">
            <a:extLst>
              <a:ext uri="{FF2B5EF4-FFF2-40B4-BE49-F238E27FC236}">
                <a16:creationId xmlns:a16="http://schemas.microsoft.com/office/drawing/2014/main" id="{28A9D939-A0C8-AB8B-C182-B09395A2ED2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BDCAFA01-CBC0-4A02-9C9C-5827399CE9EB}"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41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15043" name="Rectangle 2">
            <a:extLst>
              <a:ext uri="{FF2B5EF4-FFF2-40B4-BE49-F238E27FC236}">
                <a16:creationId xmlns:a16="http://schemas.microsoft.com/office/drawing/2014/main" id="{D14C0CFF-38CE-EB05-7C02-D4548AD6BAB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677" tIns="46839" rIns="93677" bIns="46839"/>
          <a:lstStyle/>
          <a:p>
            <a:pPr>
              <a:spcBef>
                <a:spcPct val="0"/>
              </a:spcBef>
            </a:pPr>
            <a:r>
              <a:rPr lang="en-US" altLang="en-US" sz="2400">
                <a:latin typeface="Times New Roman" panose="02020603050405020304" pitchFamily="18" charset="0"/>
                <a:ea typeface="ＭＳ Ｐゴシック" panose="020B0600070205080204" pitchFamily="34" charset="-128"/>
              </a:rPr>
              <a:t>Note that although we add the initial investment, this value is a negative number.</a:t>
            </a:r>
          </a:p>
        </p:txBody>
      </p:sp>
      <p:sp>
        <p:nvSpPr>
          <p:cNvPr id="215044" name="Rectangle 3">
            <a:extLst>
              <a:ext uri="{FF2B5EF4-FFF2-40B4-BE49-F238E27FC236}">
                <a16:creationId xmlns:a16="http://schemas.microsoft.com/office/drawing/2014/main" id="{51D33127-B182-DD7B-2782-72FB09C4A97F}"/>
              </a:ext>
            </a:extLst>
          </p:cNvPr>
          <p:cNvSpPr>
            <a:spLocks noGrp="1" noRot="1" noChangeAspect="1" noChangeArrowheads="1" noTextEdit="1"/>
          </p:cNvSpPr>
          <p:nvPr>
            <p:ph type="sldImg"/>
          </p:nvPr>
        </p:nvSpPr>
        <p:spPr>
          <a:xfrm>
            <a:off x="1468438" y="938213"/>
            <a:ext cx="4060825" cy="3046412"/>
          </a:xfrm>
          <a:ln w="12700" cap="flat">
            <a:solidFill>
              <a:schemeClr val="tx1"/>
            </a:solidFill>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7">
            <a:extLst>
              <a:ext uri="{FF2B5EF4-FFF2-40B4-BE49-F238E27FC236}">
                <a16:creationId xmlns:a16="http://schemas.microsoft.com/office/drawing/2014/main" id="{33837292-0384-7EAF-0FF3-D73577444C8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45261EA6-11E0-4ADB-893B-9FD72B60446F}"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42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17091" name="Rectangle 2">
            <a:extLst>
              <a:ext uri="{FF2B5EF4-FFF2-40B4-BE49-F238E27FC236}">
                <a16:creationId xmlns:a16="http://schemas.microsoft.com/office/drawing/2014/main" id="{A47EB0AA-DB14-BB43-CE9B-688CCDAB6A7F}"/>
              </a:ext>
            </a:extLst>
          </p:cNvPr>
          <p:cNvSpPr>
            <a:spLocks noGrp="1" noRot="1" noChangeAspect="1" noChangeArrowheads="1" noTextEdit="1"/>
          </p:cNvSpPr>
          <p:nvPr>
            <p:ph type="sldImg"/>
          </p:nvPr>
        </p:nvSpPr>
        <p:spPr>
          <a:ln/>
        </p:spPr>
      </p:sp>
      <p:sp>
        <p:nvSpPr>
          <p:cNvPr id="217092" name="Rectangle 3">
            <a:extLst>
              <a:ext uri="{FF2B5EF4-FFF2-40B4-BE49-F238E27FC236}">
                <a16:creationId xmlns:a16="http://schemas.microsoft.com/office/drawing/2014/main" id="{D6281A79-BE33-2A00-1136-8B03425ED85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Click on the Excel icon to go to an embedded Excel worksheet that has example cash flows, along with the correct and incorrect ways to compute NPV. Click on the cell with the solution to show the students the difference in the formulas. </a:t>
            </a:r>
          </a:p>
          <a:p>
            <a:pPr eaLnBrk="1" hangingPunct="1"/>
            <a:endParaRPr lang="en-US" altLang="en-US">
              <a:latin typeface="Arial" panose="020B0604020202020204" pitchFamily="34" charset="0"/>
              <a:ea typeface="ＭＳ Ｐゴシック" panose="020B0600070205080204" pitchFamily="34" charset="-128"/>
            </a:endParaRPr>
          </a:p>
          <a:p>
            <a:pPr eaLnBrk="1" hangingPunct="1"/>
            <a:r>
              <a:rPr lang="en-US" altLang="en-US">
                <a:latin typeface="Arial" panose="020B0604020202020204" pitchFamily="34" charset="0"/>
                <a:ea typeface="ＭＳ Ｐゴシック" panose="020B0600070205080204" pitchFamily="34" charset="-128"/>
              </a:rPr>
              <a:t>Again, note that when we add the initial investment, this is a negative number.</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7">
            <a:extLst>
              <a:ext uri="{FF2B5EF4-FFF2-40B4-BE49-F238E27FC236}">
                <a16:creationId xmlns:a16="http://schemas.microsoft.com/office/drawing/2014/main" id="{29C13A96-8D0D-AAFC-86F7-EE179BBAB62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0189317E-8C00-47F3-809C-CE9C4A78F9AC}"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43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19139" name="Rectangle 2">
            <a:extLst>
              <a:ext uri="{FF2B5EF4-FFF2-40B4-BE49-F238E27FC236}">
                <a16:creationId xmlns:a16="http://schemas.microsoft.com/office/drawing/2014/main" id="{265955ED-043F-695D-B75A-5115D05D27F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677" tIns="46839" rIns="93677" bIns="46839"/>
          <a:lstStyle/>
          <a:p>
            <a:pPr>
              <a:spcBef>
                <a:spcPct val="0"/>
              </a:spcBef>
            </a:pPr>
            <a:endParaRPr lang="en-US" altLang="en-US" sz="2400">
              <a:latin typeface="Times New Roman" panose="02020603050405020304" pitchFamily="18" charset="0"/>
              <a:ea typeface="ＭＳ Ｐゴシック" panose="020B0600070205080204" pitchFamily="34" charset="-128"/>
            </a:endParaRPr>
          </a:p>
        </p:txBody>
      </p:sp>
      <p:sp>
        <p:nvSpPr>
          <p:cNvPr id="219140" name="Rectangle 3">
            <a:extLst>
              <a:ext uri="{FF2B5EF4-FFF2-40B4-BE49-F238E27FC236}">
                <a16:creationId xmlns:a16="http://schemas.microsoft.com/office/drawing/2014/main" id="{0C5FFF28-E631-6F2A-AD85-2236115B6D04}"/>
              </a:ext>
            </a:extLst>
          </p:cNvPr>
          <p:cNvSpPr>
            <a:spLocks noGrp="1" noRot="1" noChangeAspect="1" noChangeArrowheads="1" noTextEdit="1"/>
          </p:cNvSpPr>
          <p:nvPr>
            <p:ph type="sldImg"/>
          </p:nvPr>
        </p:nvSpPr>
        <p:spPr>
          <a:xfrm>
            <a:off x="1468438" y="938213"/>
            <a:ext cx="4060825" cy="3046412"/>
          </a:xfrm>
          <a:ln w="12700" cap="flat">
            <a:solidFill>
              <a:schemeClr val="tx1"/>
            </a:solidFill>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7">
            <a:extLst>
              <a:ext uri="{FF2B5EF4-FFF2-40B4-BE49-F238E27FC236}">
                <a16:creationId xmlns:a16="http://schemas.microsoft.com/office/drawing/2014/main" id="{FA360CEF-CC5F-97ED-CF18-B10C5E3E7E9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3E81B1D2-AED2-43AD-832B-515D320CE6D3}"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44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21187" name="Rectangle 2">
            <a:extLst>
              <a:ext uri="{FF2B5EF4-FFF2-40B4-BE49-F238E27FC236}">
                <a16:creationId xmlns:a16="http://schemas.microsoft.com/office/drawing/2014/main" id="{F82F0947-1680-818E-6FBC-C3F2720F1738}"/>
              </a:ext>
            </a:extLst>
          </p:cNvPr>
          <p:cNvSpPr>
            <a:spLocks noGrp="1" noRot="1" noChangeAspect="1" noChangeArrowheads="1" noTextEdit="1"/>
          </p:cNvSpPr>
          <p:nvPr>
            <p:ph type="sldImg"/>
          </p:nvPr>
        </p:nvSpPr>
        <p:spPr>
          <a:xfrm>
            <a:off x="1468438" y="938213"/>
            <a:ext cx="4060825" cy="3046412"/>
          </a:xfrm>
          <a:ln w="12700" cap="flat">
            <a:solidFill>
              <a:schemeClr val="tx1"/>
            </a:solidFill>
          </a:ln>
        </p:spPr>
      </p:sp>
      <p:sp>
        <p:nvSpPr>
          <p:cNvPr id="221188" name="Rectangle 3">
            <a:extLst>
              <a:ext uri="{FF2B5EF4-FFF2-40B4-BE49-F238E27FC236}">
                <a16:creationId xmlns:a16="http://schemas.microsoft.com/office/drawing/2014/main" id="{78D57FC1-6818-CF89-4249-EB4C80F5F55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677" tIns="46839" rIns="93677" bIns="46839"/>
          <a:lstStyle/>
          <a:p>
            <a:pPr>
              <a:spcBef>
                <a:spcPct val="0"/>
              </a:spcBef>
            </a:pPr>
            <a:r>
              <a:rPr lang="en-US" altLang="en-US" sz="2400">
                <a:latin typeface="Times New Roman" panose="02020603050405020304" pitchFamily="18" charset="0"/>
                <a:ea typeface="ＭＳ Ｐゴシック" panose="020B0600070205080204" pitchFamily="34" charset="-128"/>
              </a:rPr>
              <a:t>Cash flows prior to the cutoff are implicitly discounted at a rate of zero, and cash flows after the cutoff are discounted using an infinite discount rate.</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7">
            <a:extLst>
              <a:ext uri="{FF2B5EF4-FFF2-40B4-BE49-F238E27FC236}">
                <a16:creationId xmlns:a16="http://schemas.microsoft.com/office/drawing/2014/main" id="{47B49EDB-4D99-9CA9-014C-A60BF4DF5D9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7AFE98FF-98D9-4E86-B332-2057F13CC117}"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45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23235" name="Rectangle 2">
            <a:extLst>
              <a:ext uri="{FF2B5EF4-FFF2-40B4-BE49-F238E27FC236}">
                <a16:creationId xmlns:a16="http://schemas.microsoft.com/office/drawing/2014/main" id="{B0E347FC-3499-3EF8-8239-438A13FA3FFD}"/>
              </a:ext>
            </a:extLst>
          </p:cNvPr>
          <p:cNvSpPr>
            <a:spLocks noGrp="1" noRot="1" noChangeAspect="1" noChangeArrowheads="1" noTextEdit="1"/>
          </p:cNvSpPr>
          <p:nvPr>
            <p:ph type="sldImg"/>
          </p:nvPr>
        </p:nvSpPr>
        <p:spPr>
          <a:ln/>
        </p:spPr>
      </p:sp>
      <p:sp>
        <p:nvSpPr>
          <p:cNvPr id="223236" name="Rectangle 3">
            <a:extLst>
              <a:ext uri="{FF2B5EF4-FFF2-40B4-BE49-F238E27FC236}">
                <a16:creationId xmlns:a16="http://schemas.microsoft.com/office/drawing/2014/main" id="{BF78F440-1AF7-B1E6-0AE1-B7915E40EB5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Similar advantages and disadvantages as standard payback method, with the exception that cash flows prior to the cutoff are not discounted at zero.</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7">
            <a:extLst>
              <a:ext uri="{FF2B5EF4-FFF2-40B4-BE49-F238E27FC236}">
                <a16:creationId xmlns:a16="http://schemas.microsoft.com/office/drawing/2014/main" id="{9B98868B-7663-3F91-4B57-4D787ACF1F0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5767DFC3-2DDA-48AD-A313-02AD8E03803C}"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46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25283" name="Rectangle 2">
            <a:extLst>
              <a:ext uri="{FF2B5EF4-FFF2-40B4-BE49-F238E27FC236}">
                <a16:creationId xmlns:a16="http://schemas.microsoft.com/office/drawing/2014/main" id="{7C831D8F-C587-0DCB-6424-3A6D048A84DC}"/>
              </a:ext>
            </a:extLst>
          </p:cNvPr>
          <p:cNvSpPr>
            <a:spLocks noGrp="1" noRot="1" noChangeAspect="1" noChangeArrowheads="1" noTextEdit="1"/>
          </p:cNvSpPr>
          <p:nvPr>
            <p:ph type="sldImg"/>
          </p:nvPr>
        </p:nvSpPr>
        <p:spPr>
          <a:ln/>
        </p:spPr>
      </p:sp>
      <p:sp>
        <p:nvSpPr>
          <p:cNvPr id="225284" name="Rectangle 3">
            <a:extLst>
              <a:ext uri="{FF2B5EF4-FFF2-40B4-BE49-F238E27FC236}">
                <a16:creationId xmlns:a16="http://schemas.microsoft.com/office/drawing/2014/main" id="{7559D9BB-7EFF-2946-F822-B6C700543C0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7">
            <a:extLst>
              <a:ext uri="{FF2B5EF4-FFF2-40B4-BE49-F238E27FC236}">
                <a16:creationId xmlns:a16="http://schemas.microsoft.com/office/drawing/2014/main" id="{F1B4647F-5D01-C4B6-2E7B-DDAC77EBA75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587DF153-5C1E-42F0-8B8C-4321EF24F264}"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47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27331" name="Rectangle 2">
            <a:extLst>
              <a:ext uri="{FF2B5EF4-FFF2-40B4-BE49-F238E27FC236}">
                <a16:creationId xmlns:a16="http://schemas.microsoft.com/office/drawing/2014/main" id="{A9139301-B165-77DA-6747-8C8A46CE5CCC}"/>
              </a:ext>
            </a:extLst>
          </p:cNvPr>
          <p:cNvSpPr>
            <a:spLocks noGrp="1" noRot="1" noChangeAspect="1" noChangeArrowheads="1" noTextEdit="1"/>
          </p:cNvSpPr>
          <p:nvPr>
            <p:ph type="sldImg"/>
          </p:nvPr>
        </p:nvSpPr>
        <p:spPr>
          <a:ln/>
        </p:spPr>
      </p:sp>
      <p:sp>
        <p:nvSpPr>
          <p:cNvPr id="227332" name="Rectangle 3">
            <a:extLst>
              <a:ext uri="{FF2B5EF4-FFF2-40B4-BE49-F238E27FC236}">
                <a16:creationId xmlns:a16="http://schemas.microsoft.com/office/drawing/2014/main" id="{C9A3BEA2-BD8A-291D-A02A-F87B8B3CBFF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7">
            <a:extLst>
              <a:ext uri="{FF2B5EF4-FFF2-40B4-BE49-F238E27FC236}">
                <a16:creationId xmlns:a16="http://schemas.microsoft.com/office/drawing/2014/main" id="{7617D39D-50E4-0D0D-F0DE-3CBC7DAEB5B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D694EDE1-2AB1-4E93-9729-0C06C2BE60A7}"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48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29379" name="Rectangle 2">
            <a:extLst>
              <a:ext uri="{FF2B5EF4-FFF2-40B4-BE49-F238E27FC236}">
                <a16:creationId xmlns:a16="http://schemas.microsoft.com/office/drawing/2014/main" id="{5AFA1613-AD42-D255-1230-ED89DC3B355C}"/>
              </a:ext>
            </a:extLst>
          </p:cNvPr>
          <p:cNvSpPr>
            <a:spLocks noGrp="1" noRot="1" noChangeAspect="1" noChangeArrowheads="1" noTextEdit="1"/>
          </p:cNvSpPr>
          <p:nvPr>
            <p:ph type="sldImg"/>
          </p:nvPr>
        </p:nvSpPr>
        <p:spPr>
          <a:ln/>
        </p:spPr>
      </p:sp>
      <p:sp>
        <p:nvSpPr>
          <p:cNvPr id="229380" name="Rectangle 3">
            <a:extLst>
              <a:ext uri="{FF2B5EF4-FFF2-40B4-BE49-F238E27FC236}">
                <a16:creationId xmlns:a16="http://schemas.microsoft.com/office/drawing/2014/main" id="{F5B12218-F51F-5D9B-7B2E-34E790F6CA2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7">
            <a:extLst>
              <a:ext uri="{FF2B5EF4-FFF2-40B4-BE49-F238E27FC236}">
                <a16:creationId xmlns:a16="http://schemas.microsoft.com/office/drawing/2014/main" id="{C7AC6C5E-1546-8CFE-B6AC-2BB5B52442B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13BC6232-95A9-4BC5-9BEE-72FE3F5D7AA9}"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49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31427" name="Rectangle 2">
            <a:extLst>
              <a:ext uri="{FF2B5EF4-FFF2-40B4-BE49-F238E27FC236}">
                <a16:creationId xmlns:a16="http://schemas.microsoft.com/office/drawing/2014/main" id="{D24199B6-E4CE-70BD-3CA1-CB937620BC7F}"/>
              </a:ext>
            </a:extLst>
          </p:cNvPr>
          <p:cNvSpPr>
            <a:spLocks noGrp="1" noRot="1" noChangeAspect="1" noChangeArrowheads="1" noTextEdit="1"/>
          </p:cNvSpPr>
          <p:nvPr>
            <p:ph type="sldImg"/>
          </p:nvPr>
        </p:nvSpPr>
        <p:spPr>
          <a:ln/>
        </p:spPr>
      </p:sp>
      <p:sp>
        <p:nvSpPr>
          <p:cNvPr id="231428" name="Rectangle 3">
            <a:extLst>
              <a:ext uri="{FF2B5EF4-FFF2-40B4-BE49-F238E27FC236}">
                <a16:creationId xmlns:a16="http://schemas.microsoft.com/office/drawing/2014/main" id="{531F4D8C-7129-5B18-B5BD-273A9927A59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7">
            <a:extLst>
              <a:ext uri="{FF2B5EF4-FFF2-40B4-BE49-F238E27FC236}">
                <a16:creationId xmlns:a16="http://schemas.microsoft.com/office/drawing/2014/main" id="{8189A880-3C99-9666-2628-4E28DB0B955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6AB12B9C-704E-4A3C-8A38-11D2ED577166}"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50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33475" name="Rectangle 2">
            <a:extLst>
              <a:ext uri="{FF2B5EF4-FFF2-40B4-BE49-F238E27FC236}">
                <a16:creationId xmlns:a16="http://schemas.microsoft.com/office/drawing/2014/main" id="{3EF1CC6B-DA03-E4C1-5562-3BECC0C0EA1A}"/>
              </a:ext>
            </a:extLst>
          </p:cNvPr>
          <p:cNvSpPr>
            <a:spLocks noGrp="1" noRot="1" noChangeAspect="1" noChangeArrowheads="1" noTextEdit="1"/>
          </p:cNvSpPr>
          <p:nvPr>
            <p:ph type="sldImg"/>
          </p:nvPr>
        </p:nvSpPr>
        <p:spPr>
          <a:ln/>
        </p:spPr>
      </p:sp>
      <p:sp>
        <p:nvSpPr>
          <p:cNvPr id="233476" name="Rectangle 3">
            <a:extLst>
              <a:ext uri="{FF2B5EF4-FFF2-40B4-BE49-F238E27FC236}">
                <a16:creationId xmlns:a16="http://schemas.microsoft.com/office/drawing/2014/main" id="{CF1377DB-2393-D653-3DCB-067C89F18EC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Click on the Excel icon to go to an embedded spreadsheet so that you can illustrate how to compute IRR on a spreadsheet.</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7">
            <a:extLst>
              <a:ext uri="{FF2B5EF4-FFF2-40B4-BE49-F238E27FC236}">
                <a16:creationId xmlns:a16="http://schemas.microsoft.com/office/drawing/2014/main" id="{DDB88DB9-D6A8-C9BC-8AB8-07F1D8F4F1E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1577FC01-DA87-4DEA-9F9C-99C56B72601C}"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51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35523" name="Rectangle 2">
            <a:extLst>
              <a:ext uri="{FF2B5EF4-FFF2-40B4-BE49-F238E27FC236}">
                <a16:creationId xmlns:a16="http://schemas.microsoft.com/office/drawing/2014/main" id="{70C28536-60BC-5661-5948-6E6949C11DF0}"/>
              </a:ext>
            </a:extLst>
          </p:cNvPr>
          <p:cNvSpPr>
            <a:spLocks noGrp="1" noRot="1" noChangeAspect="1" noChangeArrowheads="1" noTextEdit="1"/>
          </p:cNvSpPr>
          <p:nvPr>
            <p:ph type="sldImg"/>
          </p:nvPr>
        </p:nvSpPr>
        <p:spPr>
          <a:ln/>
        </p:spPr>
      </p:sp>
      <p:sp>
        <p:nvSpPr>
          <p:cNvPr id="235524" name="Rectangle 3">
            <a:extLst>
              <a:ext uri="{FF2B5EF4-FFF2-40B4-BE49-F238E27FC236}">
                <a16:creationId xmlns:a16="http://schemas.microsoft.com/office/drawing/2014/main" id="{92AC90DF-0B1B-AEF0-D5E6-BF5EFACD874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7">
            <a:extLst>
              <a:ext uri="{FF2B5EF4-FFF2-40B4-BE49-F238E27FC236}">
                <a16:creationId xmlns:a16="http://schemas.microsoft.com/office/drawing/2014/main" id="{83FC739B-01E1-5A38-0B41-9EBEB046B4F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AE2712AA-FABF-43F8-8ED9-D8D6E78B3B77}"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52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37571" name="Rectangle 2">
            <a:extLst>
              <a:ext uri="{FF2B5EF4-FFF2-40B4-BE49-F238E27FC236}">
                <a16:creationId xmlns:a16="http://schemas.microsoft.com/office/drawing/2014/main" id="{B2EC8965-CF78-0B9A-8CF7-0A1199104BB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677" tIns="46839" rIns="93677" bIns="46839"/>
          <a:lstStyle/>
          <a:p>
            <a:pPr>
              <a:spcBef>
                <a:spcPct val="0"/>
              </a:spcBef>
            </a:pPr>
            <a:endParaRPr lang="en-US" altLang="en-US" sz="2400">
              <a:latin typeface="Times New Roman" panose="02020603050405020304" pitchFamily="18" charset="0"/>
              <a:ea typeface="ＭＳ Ｐゴシック" panose="020B0600070205080204" pitchFamily="34" charset="-128"/>
            </a:endParaRPr>
          </a:p>
        </p:txBody>
      </p:sp>
      <p:sp>
        <p:nvSpPr>
          <p:cNvPr id="237572" name="Rectangle 3">
            <a:extLst>
              <a:ext uri="{FF2B5EF4-FFF2-40B4-BE49-F238E27FC236}">
                <a16:creationId xmlns:a16="http://schemas.microsoft.com/office/drawing/2014/main" id="{8DF5672F-BC73-B42C-2AEB-0D1D1784C28F}"/>
              </a:ext>
            </a:extLst>
          </p:cNvPr>
          <p:cNvSpPr>
            <a:spLocks noGrp="1" noRot="1" noChangeAspect="1" noChangeArrowheads="1" noTextEdit="1"/>
          </p:cNvSpPr>
          <p:nvPr>
            <p:ph type="sldImg"/>
          </p:nvPr>
        </p:nvSpPr>
        <p:spPr>
          <a:xfrm>
            <a:off x="1468438" y="938213"/>
            <a:ext cx="4060825" cy="3046412"/>
          </a:xfrm>
          <a:ln w="12700" cap="flat">
            <a:solidFill>
              <a:schemeClr val="tx1"/>
            </a:solidFill>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7">
            <a:extLst>
              <a:ext uri="{FF2B5EF4-FFF2-40B4-BE49-F238E27FC236}">
                <a16:creationId xmlns:a16="http://schemas.microsoft.com/office/drawing/2014/main" id="{20DA7637-C6B0-B7D3-D8C1-2D8342FB9AE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446655E5-BE39-4503-9482-934BB287539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53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39619" name="Rectangle 2">
            <a:extLst>
              <a:ext uri="{FF2B5EF4-FFF2-40B4-BE49-F238E27FC236}">
                <a16:creationId xmlns:a16="http://schemas.microsoft.com/office/drawing/2014/main" id="{F65C4049-A16C-667A-D2FF-A4399427505F}"/>
              </a:ext>
            </a:extLst>
          </p:cNvPr>
          <p:cNvSpPr>
            <a:spLocks noGrp="1" noRot="1" noChangeAspect="1" noChangeArrowheads="1" noTextEdit="1"/>
          </p:cNvSpPr>
          <p:nvPr>
            <p:ph type="sldImg"/>
          </p:nvPr>
        </p:nvSpPr>
        <p:spPr>
          <a:ln/>
        </p:spPr>
      </p:sp>
      <p:sp>
        <p:nvSpPr>
          <p:cNvPr id="239620" name="Rectangle 3">
            <a:extLst>
              <a:ext uri="{FF2B5EF4-FFF2-40B4-BE49-F238E27FC236}">
                <a16:creationId xmlns:a16="http://schemas.microsoft.com/office/drawing/2014/main" id="{5BE7B419-C91B-DB38-8456-BB652954A82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It is good to mention that the number of IRRs is equivalent to the number of sign changes in the cash flows.</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7">
            <a:extLst>
              <a:ext uri="{FF2B5EF4-FFF2-40B4-BE49-F238E27FC236}">
                <a16:creationId xmlns:a16="http://schemas.microsoft.com/office/drawing/2014/main" id="{AF53803E-1B8C-2E47-B708-5A146216DBA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C0EDB5B8-069F-480D-ABA2-4524DCF45E43}"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54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41667" name="Rectangle 2">
            <a:extLst>
              <a:ext uri="{FF2B5EF4-FFF2-40B4-BE49-F238E27FC236}">
                <a16:creationId xmlns:a16="http://schemas.microsoft.com/office/drawing/2014/main" id="{9472D6DB-CEC6-90D0-F690-5A92DA764B02}"/>
              </a:ext>
            </a:extLst>
          </p:cNvPr>
          <p:cNvSpPr>
            <a:spLocks noGrp="1" noRot="1" noChangeAspect="1" noChangeArrowheads="1" noTextEdit="1"/>
          </p:cNvSpPr>
          <p:nvPr>
            <p:ph type="sldImg"/>
          </p:nvPr>
        </p:nvSpPr>
        <p:spPr>
          <a:ln/>
        </p:spPr>
      </p:sp>
      <p:sp>
        <p:nvSpPr>
          <p:cNvPr id="241668" name="Rectangle 3">
            <a:extLst>
              <a:ext uri="{FF2B5EF4-FFF2-40B4-BE49-F238E27FC236}">
                <a16:creationId xmlns:a16="http://schemas.microsoft.com/office/drawing/2014/main" id="{897FFA64-1F87-658D-CD93-ABD74451059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The alternative approach discussed in the text is to discount cash flows over a single period (or subset of time), then combine them as necessary to eliminate any sign differences. The approach presented in the slide is more generalized. </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a:extLst>
              <a:ext uri="{FF2B5EF4-FFF2-40B4-BE49-F238E27FC236}">
                <a16:creationId xmlns:a16="http://schemas.microsoft.com/office/drawing/2014/main" id="{A35D6ADB-B925-8608-FC49-6115B1B0246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33DD2103-6593-4D7D-9377-C58A9381F803}"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55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43715" name="Rectangle 2">
            <a:extLst>
              <a:ext uri="{FF2B5EF4-FFF2-40B4-BE49-F238E27FC236}">
                <a16:creationId xmlns:a16="http://schemas.microsoft.com/office/drawing/2014/main" id="{657FEDA7-0259-E63C-57FE-3C737E769123}"/>
              </a:ext>
            </a:extLst>
          </p:cNvPr>
          <p:cNvSpPr>
            <a:spLocks noGrp="1" noRot="1" noChangeAspect="1" noChangeArrowheads="1" noTextEdit="1"/>
          </p:cNvSpPr>
          <p:nvPr>
            <p:ph type="sldImg"/>
          </p:nvPr>
        </p:nvSpPr>
        <p:spPr>
          <a:ln/>
        </p:spPr>
      </p:sp>
      <p:sp>
        <p:nvSpPr>
          <p:cNvPr id="243716" name="Rectangle 3">
            <a:extLst>
              <a:ext uri="{FF2B5EF4-FFF2-40B4-BE49-F238E27FC236}">
                <a16:creationId xmlns:a16="http://schemas.microsoft.com/office/drawing/2014/main" id="{7CF54BAB-4095-5FB2-C82C-86FA20FC02E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7">
            <a:extLst>
              <a:ext uri="{FF2B5EF4-FFF2-40B4-BE49-F238E27FC236}">
                <a16:creationId xmlns:a16="http://schemas.microsoft.com/office/drawing/2014/main" id="{9266EEEA-6590-F9CE-74B7-79E48A423E0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04541D24-64E3-4508-8A71-8EF2C9BE4FD8}"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56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45763" name="Rectangle 2">
            <a:extLst>
              <a:ext uri="{FF2B5EF4-FFF2-40B4-BE49-F238E27FC236}">
                <a16:creationId xmlns:a16="http://schemas.microsoft.com/office/drawing/2014/main" id="{B0D61EEE-1BE7-5FD1-4178-806B4329D780}"/>
              </a:ext>
            </a:extLst>
          </p:cNvPr>
          <p:cNvSpPr>
            <a:spLocks noGrp="1" noRot="1" noChangeAspect="1" noChangeArrowheads="1" noTextEdit="1"/>
          </p:cNvSpPr>
          <p:nvPr>
            <p:ph type="sldImg"/>
          </p:nvPr>
        </p:nvSpPr>
        <p:spPr>
          <a:ln/>
        </p:spPr>
      </p:sp>
      <p:sp>
        <p:nvSpPr>
          <p:cNvPr id="245764" name="Rectangle 3">
            <a:extLst>
              <a:ext uri="{FF2B5EF4-FFF2-40B4-BE49-F238E27FC236}">
                <a16:creationId xmlns:a16="http://schemas.microsoft.com/office/drawing/2014/main" id="{CCA0B1FB-ABDB-894E-7B93-91D40999DA6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50000"/>
              </a:spcBef>
            </a:pPr>
            <a:r>
              <a:rPr lang="en-US" altLang="en-US">
                <a:latin typeface="Arial" panose="020B0604020202020204" pitchFamily="34" charset="0"/>
                <a:ea typeface="ＭＳ Ｐゴシック" panose="020B0600070205080204" pitchFamily="34" charset="-128"/>
              </a:rPr>
              <a:t>The preferred project in this case depends on the discount rate, not the IRR. </a:t>
            </a:r>
          </a:p>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7">
            <a:extLst>
              <a:ext uri="{FF2B5EF4-FFF2-40B4-BE49-F238E27FC236}">
                <a16:creationId xmlns:a16="http://schemas.microsoft.com/office/drawing/2014/main" id="{1D2AFFE6-61D5-FC15-B745-A473F7A0898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4259F60A-BC15-4703-A7E7-44D72D4E36BC}"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57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47811" name="Rectangle 2">
            <a:extLst>
              <a:ext uri="{FF2B5EF4-FFF2-40B4-BE49-F238E27FC236}">
                <a16:creationId xmlns:a16="http://schemas.microsoft.com/office/drawing/2014/main" id="{56E6AC2B-CEC5-297D-F0AA-F24C586F0BAD}"/>
              </a:ext>
            </a:extLst>
          </p:cNvPr>
          <p:cNvSpPr>
            <a:spLocks noGrp="1" noRot="1" noChangeAspect="1" noChangeArrowheads="1" noTextEdit="1"/>
          </p:cNvSpPr>
          <p:nvPr>
            <p:ph type="sldImg"/>
          </p:nvPr>
        </p:nvSpPr>
        <p:spPr>
          <a:ln/>
        </p:spPr>
      </p:sp>
      <p:sp>
        <p:nvSpPr>
          <p:cNvPr id="247812" name="Rectangle 3">
            <a:extLst>
              <a:ext uri="{FF2B5EF4-FFF2-40B4-BE49-F238E27FC236}">
                <a16:creationId xmlns:a16="http://schemas.microsoft.com/office/drawing/2014/main" id="{C21D856C-321B-05E8-C3BB-C58FD392E65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The cross-over rate is the IRR of project A-B</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7">
            <a:extLst>
              <a:ext uri="{FF2B5EF4-FFF2-40B4-BE49-F238E27FC236}">
                <a16:creationId xmlns:a16="http://schemas.microsoft.com/office/drawing/2014/main" id="{6AE1BEC9-EEAA-E66F-65E3-824BADE3850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842BEFCC-F16C-4682-AF50-2CC47DD85FDD}"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58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49859" name="Rectangle 2">
            <a:extLst>
              <a:ext uri="{FF2B5EF4-FFF2-40B4-BE49-F238E27FC236}">
                <a16:creationId xmlns:a16="http://schemas.microsoft.com/office/drawing/2014/main" id="{EF9F3866-7862-D0A6-49EB-5F12CDF7DD86}"/>
              </a:ext>
            </a:extLst>
          </p:cNvPr>
          <p:cNvSpPr>
            <a:spLocks noGrp="1" noRot="1" noChangeAspect="1" noChangeArrowheads="1" noTextEdit="1"/>
          </p:cNvSpPr>
          <p:nvPr>
            <p:ph type="sldImg"/>
          </p:nvPr>
        </p:nvSpPr>
        <p:spPr>
          <a:ln/>
        </p:spPr>
      </p:sp>
      <p:sp>
        <p:nvSpPr>
          <p:cNvPr id="249860" name="Rectangle 3">
            <a:extLst>
              <a:ext uri="{FF2B5EF4-FFF2-40B4-BE49-F238E27FC236}">
                <a16:creationId xmlns:a16="http://schemas.microsoft.com/office/drawing/2014/main" id="{206F8959-BFB1-3BDE-D7EC-0C92B31293E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7">
            <a:extLst>
              <a:ext uri="{FF2B5EF4-FFF2-40B4-BE49-F238E27FC236}">
                <a16:creationId xmlns:a16="http://schemas.microsoft.com/office/drawing/2014/main" id="{C73E2DEF-4C9E-A141-39F7-9A480ABCDC9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1E147445-92B2-4C4F-9BA1-C4F43A04B031}"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59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51907" name="Rectangle 2">
            <a:extLst>
              <a:ext uri="{FF2B5EF4-FFF2-40B4-BE49-F238E27FC236}">
                <a16:creationId xmlns:a16="http://schemas.microsoft.com/office/drawing/2014/main" id="{C342BE0C-114E-32B9-E788-0386C8B82557}"/>
              </a:ext>
            </a:extLst>
          </p:cNvPr>
          <p:cNvSpPr>
            <a:spLocks noGrp="1" noRot="1" noChangeAspect="1" noChangeArrowheads="1" noTextEdit="1"/>
          </p:cNvSpPr>
          <p:nvPr>
            <p:ph type="sldImg"/>
          </p:nvPr>
        </p:nvSpPr>
        <p:spPr>
          <a:ln/>
        </p:spPr>
      </p:sp>
      <p:sp>
        <p:nvSpPr>
          <p:cNvPr id="251908" name="Rectangle 3">
            <a:extLst>
              <a:ext uri="{FF2B5EF4-FFF2-40B4-BE49-F238E27FC236}">
                <a16:creationId xmlns:a16="http://schemas.microsoft.com/office/drawing/2014/main" id="{17321C60-D818-72AF-7425-DED741354E7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7">
            <a:extLst>
              <a:ext uri="{FF2B5EF4-FFF2-40B4-BE49-F238E27FC236}">
                <a16:creationId xmlns:a16="http://schemas.microsoft.com/office/drawing/2014/main" id="{E63F363F-E6D6-F6D2-00CF-E055DD305D8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F1E662C3-24C4-4F8C-89E5-D5B5731B233C}"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60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53955" name="Rectangle 2">
            <a:extLst>
              <a:ext uri="{FF2B5EF4-FFF2-40B4-BE49-F238E27FC236}">
                <a16:creationId xmlns:a16="http://schemas.microsoft.com/office/drawing/2014/main" id="{5F1E3F86-3274-6616-1A23-903FAF68197D}"/>
              </a:ext>
            </a:extLst>
          </p:cNvPr>
          <p:cNvSpPr>
            <a:spLocks noGrp="1" noRot="1" noChangeAspect="1" noChangeArrowheads="1" noTextEdit="1"/>
          </p:cNvSpPr>
          <p:nvPr>
            <p:ph type="sldImg"/>
          </p:nvPr>
        </p:nvSpPr>
        <p:spPr>
          <a:ln/>
        </p:spPr>
      </p:sp>
      <p:sp>
        <p:nvSpPr>
          <p:cNvPr id="253956" name="Rectangle 3">
            <a:extLst>
              <a:ext uri="{FF2B5EF4-FFF2-40B4-BE49-F238E27FC236}">
                <a16:creationId xmlns:a16="http://schemas.microsoft.com/office/drawing/2014/main" id="{5A1E6E5B-9035-8BF6-AAE8-8CAF6B0825A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7">
            <a:extLst>
              <a:ext uri="{FF2B5EF4-FFF2-40B4-BE49-F238E27FC236}">
                <a16:creationId xmlns:a16="http://schemas.microsoft.com/office/drawing/2014/main" id="{9EAF0845-475F-9B6D-5961-B241CA20533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4D4C0E94-DC39-42D4-9F21-7AF2C1DAA510}"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61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56003" name="Rectangle 2">
            <a:extLst>
              <a:ext uri="{FF2B5EF4-FFF2-40B4-BE49-F238E27FC236}">
                <a16:creationId xmlns:a16="http://schemas.microsoft.com/office/drawing/2014/main" id="{2C75F7F7-E8C9-41CE-7A9F-6E8F6AFC3CBE}"/>
              </a:ext>
            </a:extLst>
          </p:cNvPr>
          <p:cNvSpPr>
            <a:spLocks noGrp="1" noRot="1" noChangeAspect="1" noChangeArrowheads="1" noTextEdit="1"/>
          </p:cNvSpPr>
          <p:nvPr>
            <p:ph type="sldImg"/>
          </p:nvPr>
        </p:nvSpPr>
        <p:spPr>
          <a:ln/>
        </p:spPr>
      </p:sp>
      <p:sp>
        <p:nvSpPr>
          <p:cNvPr id="256004" name="Rectangle 3">
            <a:extLst>
              <a:ext uri="{FF2B5EF4-FFF2-40B4-BE49-F238E27FC236}">
                <a16:creationId xmlns:a16="http://schemas.microsoft.com/office/drawing/2014/main" id="{463F16D5-4297-CD4B-66A0-32C01F2F1A4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7">
            <a:extLst>
              <a:ext uri="{FF2B5EF4-FFF2-40B4-BE49-F238E27FC236}">
                <a16:creationId xmlns:a16="http://schemas.microsoft.com/office/drawing/2014/main" id="{50811D73-5863-7306-1006-FA1E37CBD19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B5AD9208-5885-474A-A2EC-8CB84D9EED5F}"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62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58051" name="Rectangle 2">
            <a:extLst>
              <a:ext uri="{FF2B5EF4-FFF2-40B4-BE49-F238E27FC236}">
                <a16:creationId xmlns:a16="http://schemas.microsoft.com/office/drawing/2014/main" id="{CDA1F80B-3EAD-D964-0F8C-2124DA66C4AF}"/>
              </a:ext>
            </a:extLst>
          </p:cNvPr>
          <p:cNvSpPr>
            <a:spLocks noGrp="1" noRot="1" noChangeAspect="1" noChangeArrowheads="1" noTextEdit="1"/>
          </p:cNvSpPr>
          <p:nvPr>
            <p:ph type="sldImg"/>
          </p:nvPr>
        </p:nvSpPr>
        <p:spPr>
          <a:ln/>
        </p:spPr>
      </p:sp>
      <p:sp>
        <p:nvSpPr>
          <p:cNvPr id="258052" name="Rectangle 3">
            <a:extLst>
              <a:ext uri="{FF2B5EF4-FFF2-40B4-BE49-F238E27FC236}">
                <a16:creationId xmlns:a16="http://schemas.microsoft.com/office/drawing/2014/main" id="{8A38AE13-0CB9-16B4-C2F1-15C135CD3B2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7">
            <a:extLst>
              <a:ext uri="{FF2B5EF4-FFF2-40B4-BE49-F238E27FC236}">
                <a16:creationId xmlns:a16="http://schemas.microsoft.com/office/drawing/2014/main" id="{4B7AA7E4-75AC-EC25-AFDE-1CD6A684EA0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66E77A19-3CE6-4956-BE17-22F52771E64E}"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63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60099" name="Rectangle 2">
            <a:extLst>
              <a:ext uri="{FF2B5EF4-FFF2-40B4-BE49-F238E27FC236}">
                <a16:creationId xmlns:a16="http://schemas.microsoft.com/office/drawing/2014/main" id="{4B411D3E-689A-B153-5B2D-FF11C5424F9C}"/>
              </a:ext>
            </a:extLst>
          </p:cNvPr>
          <p:cNvSpPr>
            <a:spLocks noGrp="1" noRot="1" noChangeAspect="1" noChangeArrowheads="1" noTextEdit="1"/>
          </p:cNvSpPr>
          <p:nvPr>
            <p:ph type="sldImg"/>
          </p:nvPr>
        </p:nvSpPr>
        <p:spPr>
          <a:ln/>
        </p:spPr>
      </p:sp>
      <p:sp>
        <p:nvSpPr>
          <p:cNvPr id="260100" name="Rectangle 3">
            <a:extLst>
              <a:ext uri="{FF2B5EF4-FFF2-40B4-BE49-F238E27FC236}">
                <a16:creationId xmlns:a16="http://schemas.microsoft.com/office/drawing/2014/main" id="{B5F9DFA2-7FE5-DB07-665E-B67D9C00E4E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7">
            <a:extLst>
              <a:ext uri="{FF2B5EF4-FFF2-40B4-BE49-F238E27FC236}">
                <a16:creationId xmlns:a16="http://schemas.microsoft.com/office/drawing/2014/main" id="{28C4664D-17BB-3406-BCA4-0584C7A7484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F3E63205-0EFA-43B4-99E0-FA6FA8204BF9}"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64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62147" name="Rectangle 2">
            <a:extLst>
              <a:ext uri="{FF2B5EF4-FFF2-40B4-BE49-F238E27FC236}">
                <a16:creationId xmlns:a16="http://schemas.microsoft.com/office/drawing/2014/main" id="{A4E6D383-0A71-C165-3904-E8D3CB2391DB}"/>
              </a:ext>
            </a:extLst>
          </p:cNvPr>
          <p:cNvSpPr>
            <a:spLocks noGrp="1" noRot="1" noChangeAspect="1" noChangeArrowheads="1" noTextEdit="1"/>
          </p:cNvSpPr>
          <p:nvPr>
            <p:ph type="sldImg"/>
          </p:nvPr>
        </p:nvSpPr>
        <p:spPr>
          <a:ln/>
        </p:spPr>
      </p:sp>
      <p:sp>
        <p:nvSpPr>
          <p:cNvPr id="262148" name="Rectangle 3">
            <a:extLst>
              <a:ext uri="{FF2B5EF4-FFF2-40B4-BE49-F238E27FC236}">
                <a16:creationId xmlns:a16="http://schemas.microsoft.com/office/drawing/2014/main" id="{28684223-F882-A609-1F3A-63FF8F108ED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7">
            <a:extLst>
              <a:ext uri="{FF2B5EF4-FFF2-40B4-BE49-F238E27FC236}">
                <a16:creationId xmlns:a16="http://schemas.microsoft.com/office/drawing/2014/main" id="{120735CD-A902-92CC-0C01-14A8B5C2B98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A22641C8-A9D9-4E5C-9237-6C92E362FB1C}"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65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64195" name="Rectangle 2">
            <a:extLst>
              <a:ext uri="{FF2B5EF4-FFF2-40B4-BE49-F238E27FC236}">
                <a16:creationId xmlns:a16="http://schemas.microsoft.com/office/drawing/2014/main" id="{A848C531-8B9E-F882-C3DE-06E6E98FF07D}"/>
              </a:ext>
            </a:extLst>
          </p:cNvPr>
          <p:cNvSpPr>
            <a:spLocks noGrp="1" noRot="1" noChangeAspect="1" noChangeArrowheads="1" noTextEdit="1"/>
          </p:cNvSpPr>
          <p:nvPr>
            <p:ph type="sldImg"/>
          </p:nvPr>
        </p:nvSpPr>
        <p:spPr>
          <a:ln/>
        </p:spPr>
      </p:sp>
      <p:sp>
        <p:nvSpPr>
          <p:cNvPr id="264196" name="Rectangle 3">
            <a:extLst>
              <a:ext uri="{FF2B5EF4-FFF2-40B4-BE49-F238E27FC236}">
                <a16:creationId xmlns:a16="http://schemas.microsoft.com/office/drawing/2014/main" id="{EE21A021-93DF-6C37-74CB-BE3A2F74123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7">
            <a:extLst>
              <a:ext uri="{FF2B5EF4-FFF2-40B4-BE49-F238E27FC236}">
                <a16:creationId xmlns:a16="http://schemas.microsoft.com/office/drawing/2014/main" id="{B82F43F2-A448-AAD6-D513-B4FB466FE8F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D23FF603-EBAF-4663-B5A8-F42C858FB305}"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66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66243" name="Rectangle 2">
            <a:extLst>
              <a:ext uri="{FF2B5EF4-FFF2-40B4-BE49-F238E27FC236}">
                <a16:creationId xmlns:a16="http://schemas.microsoft.com/office/drawing/2014/main" id="{5CDFD1D7-CA5B-CB23-09A6-C17C7D213B33}"/>
              </a:ext>
            </a:extLst>
          </p:cNvPr>
          <p:cNvSpPr>
            <a:spLocks noGrp="1" noRot="1" noChangeAspect="1" noChangeArrowheads="1" noTextEdit="1"/>
          </p:cNvSpPr>
          <p:nvPr>
            <p:ph type="sldImg"/>
          </p:nvPr>
        </p:nvSpPr>
        <p:spPr>
          <a:ln/>
        </p:spPr>
      </p:sp>
      <p:sp>
        <p:nvSpPr>
          <p:cNvPr id="266244" name="Rectangle 3">
            <a:extLst>
              <a:ext uri="{FF2B5EF4-FFF2-40B4-BE49-F238E27FC236}">
                <a16:creationId xmlns:a16="http://schemas.microsoft.com/office/drawing/2014/main" id="{DB2D2261-6794-5318-F739-837B45717E2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7">
            <a:extLst>
              <a:ext uri="{FF2B5EF4-FFF2-40B4-BE49-F238E27FC236}">
                <a16:creationId xmlns:a16="http://schemas.microsoft.com/office/drawing/2014/main" id="{30B2E2BB-441E-6BB4-AA06-3C128B76392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A8FDD03F-E773-4AAD-B3E3-64128BA4E4AB}"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67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68291" name="Rectangle 2">
            <a:extLst>
              <a:ext uri="{FF2B5EF4-FFF2-40B4-BE49-F238E27FC236}">
                <a16:creationId xmlns:a16="http://schemas.microsoft.com/office/drawing/2014/main" id="{47580B91-785D-2155-8F22-0281F76DE0C0}"/>
              </a:ext>
            </a:extLst>
          </p:cNvPr>
          <p:cNvSpPr>
            <a:spLocks noGrp="1" noRot="1" noChangeAspect="1" noChangeArrowheads="1" noTextEdit="1"/>
          </p:cNvSpPr>
          <p:nvPr>
            <p:ph type="sldImg"/>
          </p:nvPr>
        </p:nvSpPr>
        <p:spPr>
          <a:ln/>
        </p:spPr>
      </p:sp>
      <p:sp>
        <p:nvSpPr>
          <p:cNvPr id="268292" name="Rectangle 3">
            <a:extLst>
              <a:ext uri="{FF2B5EF4-FFF2-40B4-BE49-F238E27FC236}">
                <a16:creationId xmlns:a16="http://schemas.microsoft.com/office/drawing/2014/main" id="{3195D9E6-86EC-570B-06E7-50C168C8CCB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7">
            <a:extLst>
              <a:ext uri="{FF2B5EF4-FFF2-40B4-BE49-F238E27FC236}">
                <a16:creationId xmlns:a16="http://schemas.microsoft.com/office/drawing/2014/main" id="{BA53CFB1-CC5C-2A63-ABA8-870267EFC0B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C73B8609-4807-4CD1-B1E3-5190380CD88D}"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68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70339" name="Rectangle 2">
            <a:extLst>
              <a:ext uri="{FF2B5EF4-FFF2-40B4-BE49-F238E27FC236}">
                <a16:creationId xmlns:a16="http://schemas.microsoft.com/office/drawing/2014/main" id="{A983B548-A27B-9C5C-160F-6652E8434EDC}"/>
              </a:ext>
            </a:extLst>
          </p:cNvPr>
          <p:cNvSpPr>
            <a:spLocks noGrp="1" noRot="1" noChangeAspect="1" noChangeArrowheads="1" noTextEdit="1"/>
          </p:cNvSpPr>
          <p:nvPr>
            <p:ph type="sldImg"/>
          </p:nvPr>
        </p:nvSpPr>
        <p:spPr>
          <a:ln/>
        </p:spPr>
      </p:sp>
      <p:sp>
        <p:nvSpPr>
          <p:cNvPr id="270340" name="Rectangle 3">
            <a:extLst>
              <a:ext uri="{FF2B5EF4-FFF2-40B4-BE49-F238E27FC236}">
                <a16:creationId xmlns:a16="http://schemas.microsoft.com/office/drawing/2014/main" id="{471C5717-E6A5-F347-D60F-5FCFDE24605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7">
            <a:extLst>
              <a:ext uri="{FF2B5EF4-FFF2-40B4-BE49-F238E27FC236}">
                <a16:creationId xmlns:a16="http://schemas.microsoft.com/office/drawing/2014/main" id="{49CF5543-3D3D-C81B-7C9A-0C02EC0CCBD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37543EB4-1330-4E72-93E2-89B4096ED533}"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69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72387" name="Rectangle 2">
            <a:extLst>
              <a:ext uri="{FF2B5EF4-FFF2-40B4-BE49-F238E27FC236}">
                <a16:creationId xmlns:a16="http://schemas.microsoft.com/office/drawing/2014/main" id="{8002D0BD-7459-F8EC-0CEA-413874EDB51A}"/>
              </a:ext>
            </a:extLst>
          </p:cNvPr>
          <p:cNvSpPr>
            <a:spLocks noGrp="1" noRot="1" noChangeAspect="1" noChangeArrowheads="1" noTextEdit="1"/>
          </p:cNvSpPr>
          <p:nvPr>
            <p:ph type="sldImg"/>
          </p:nvPr>
        </p:nvSpPr>
        <p:spPr>
          <a:ln/>
        </p:spPr>
      </p:sp>
      <p:sp>
        <p:nvSpPr>
          <p:cNvPr id="272388" name="Rectangle 3">
            <a:extLst>
              <a:ext uri="{FF2B5EF4-FFF2-40B4-BE49-F238E27FC236}">
                <a16:creationId xmlns:a16="http://schemas.microsoft.com/office/drawing/2014/main" id="{3872B8AA-7543-874C-94F4-3A201D19F10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40D6C80B-E722-FCB0-F6FD-5AA3279DA99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94BB7C74-EC0A-4242-82FF-C5F4EAD28A48}"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70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2291" name="Rectangle 2">
            <a:extLst>
              <a:ext uri="{FF2B5EF4-FFF2-40B4-BE49-F238E27FC236}">
                <a16:creationId xmlns:a16="http://schemas.microsoft.com/office/drawing/2014/main" id="{8F54AD3D-4F94-26AB-03E5-E7A092955C70}"/>
              </a:ext>
            </a:extLst>
          </p:cNvPr>
          <p:cNvSpPr>
            <a:spLocks noChangeArrowheads="1" noTextEdit="1"/>
          </p:cNvSpPr>
          <p:nvPr>
            <p:ph type="sldImg"/>
          </p:nvPr>
        </p:nvSpPr>
        <p:spPr>
          <a:ln/>
        </p:spPr>
      </p:sp>
      <p:sp>
        <p:nvSpPr>
          <p:cNvPr id="12292" name="Rectangle 3">
            <a:extLst>
              <a:ext uri="{FF2B5EF4-FFF2-40B4-BE49-F238E27FC236}">
                <a16:creationId xmlns:a16="http://schemas.microsoft.com/office/drawing/2014/main" id="{587EAFDC-115C-6263-8274-B04410DBA51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289D2DBF-DE38-6FBE-C123-606F8C1B60B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1303BFD0-C2AD-4C8B-AC05-E14DFBAD89AC}"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71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339" name="Rectangle 2">
            <a:extLst>
              <a:ext uri="{FF2B5EF4-FFF2-40B4-BE49-F238E27FC236}">
                <a16:creationId xmlns:a16="http://schemas.microsoft.com/office/drawing/2014/main" id="{837EB563-D99C-472F-D638-5CAB599FD726}"/>
              </a:ext>
            </a:extLst>
          </p:cNvPr>
          <p:cNvSpPr>
            <a:spLocks noChangeArrowheads="1" noTextEdit="1"/>
          </p:cNvSpPr>
          <p:nvPr>
            <p:ph type="sldImg"/>
          </p:nvPr>
        </p:nvSpPr>
        <p:spPr>
          <a:ln/>
        </p:spPr>
      </p:sp>
      <p:sp>
        <p:nvSpPr>
          <p:cNvPr id="14340" name="Rectangle 3">
            <a:extLst>
              <a:ext uri="{FF2B5EF4-FFF2-40B4-BE49-F238E27FC236}">
                <a16:creationId xmlns:a16="http://schemas.microsoft.com/office/drawing/2014/main" id="{87FB526A-C994-EFEA-F940-4260E95D3AB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A513F7B6-6AE9-FAF1-4F8C-24A171BB19B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53DACA99-7B6A-4CA3-8B59-F2D462071E98}"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72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6387" name="Rectangle 2">
            <a:extLst>
              <a:ext uri="{FF2B5EF4-FFF2-40B4-BE49-F238E27FC236}">
                <a16:creationId xmlns:a16="http://schemas.microsoft.com/office/drawing/2014/main" id="{5687DF0C-8356-6D62-FBA1-08069998166E}"/>
              </a:ext>
            </a:extLst>
          </p:cNvPr>
          <p:cNvSpPr>
            <a:spLocks noChangeArrowheads="1" noTextEdit="1"/>
          </p:cNvSpPr>
          <p:nvPr>
            <p:ph type="sldImg"/>
          </p:nvPr>
        </p:nvSpPr>
        <p:spPr>
          <a:ln/>
        </p:spPr>
      </p:sp>
      <p:sp>
        <p:nvSpPr>
          <p:cNvPr id="16388" name="Rectangle 3">
            <a:extLst>
              <a:ext uri="{FF2B5EF4-FFF2-40B4-BE49-F238E27FC236}">
                <a16:creationId xmlns:a16="http://schemas.microsoft.com/office/drawing/2014/main" id="{B58322F5-299A-F738-5434-24CFCDF18C5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D92E5116-CFD5-FEB5-72D4-2DA47E72370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F11C0C2F-BB24-48C1-9053-8CA009F67C1F}"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73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435" name="Rectangle 2">
            <a:extLst>
              <a:ext uri="{FF2B5EF4-FFF2-40B4-BE49-F238E27FC236}">
                <a16:creationId xmlns:a16="http://schemas.microsoft.com/office/drawing/2014/main" id="{441E3FDC-75ED-5E3A-EFEF-76CFEB32FA37}"/>
              </a:ext>
            </a:extLst>
          </p:cNvPr>
          <p:cNvSpPr>
            <a:spLocks noChangeArrowheads="1" noTextEdit="1"/>
          </p:cNvSpPr>
          <p:nvPr>
            <p:ph type="sldImg"/>
          </p:nvPr>
        </p:nvSpPr>
        <p:spPr>
          <a:xfrm>
            <a:off x="1468438" y="938213"/>
            <a:ext cx="4060825" cy="3046412"/>
          </a:xfrm>
          <a:ln/>
        </p:spPr>
      </p:sp>
      <p:sp>
        <p:nvSpPr>
          <p:cNvPr id="18436" name="Rectangle 3">
            <a:extLst>
              <a:ext uri="{FF2B5EF4-FFF2-40B4-BE49-F238E27FC236}">
                <a16:creationId xmlns:a16="http://schemas.microsoft.com/office/drawing/2014/main" id="{682E0BA2-5970-552A-7974-EECE2F0C54A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I heard a story about an undergrad at the University of Missouri-Rolla. A student named Louis abandoned college three credit hours shy of graduation. Really. Entreaties from his friends and parents regarding how far he had come and how hard he had worked could not change Louis’ mind. That was all a sunk cost to Louis. He already had a job and didn’t value the degree as much as the incremental work of an easy three-hour required class called ET-10 Engineering Drafting. Fifteen years later, he still has a good job, a great wife and two charming daughters. Louis taught us a lot about sunk costs.</a:t>
            </a:r>
          </a:p>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D9767B9F-D229-3E5F-DB8B-EAC38D812C3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CF8171F5-5C88-4567-A9FF-D825957E70CB}"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74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0483" name="Rectangle 2">
            <a:extLst>
              <a:ext uri="{FF2B5EF4-FFF2-40B4-BE49-F238E27FC236}">
                <a16:creationId xmlns:a16="http://schemas.microsoft.com/office/drawing/2014/main" id="{D8F481AA-8239-DA54-C48B-F41052EA2DFD}"/>
              </a:ext>
            </a:extLst>
          </p:cNvPr>
          <p:cNvSpPr>
            <a:spLocks noChangeArrowheads="1" noTextEdit="1"/>
          </p:cNvSpPr>
          <p:nvPr>
            <p:ph type="sldImg"/>
          </p:nvPr>
        </p:nvSpPr>
        <p:spPr>
          <a:xfrm>
            <a:off x="1468438" y="938213"/>
            <a:ext cx="4060825" cy="3046412"/>
          </a:xfrm>
          <a:ln/>
        </p:spPr>
      </p:sp>
      <p:sp>
        <p:nvSpPr>
          <p:cNvPr id="20484" name="Rectangle 3">
            <a:extLst>
              <a:ext uri="{FF2B5EF4-FFF2-40B4-BE49-F238E27FC236}">
                <a16:creationId xmlns:a16="http://schemas.microsoft.com/office/drawing/2014/main" id="{F947C00E-3BC2-AEA9-58EF-E8EE7098215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AA1164D9-2011-368A-82F1-C9ACFB08FA4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1B86AA35-F09E-4DCA-A0DE-40711D150D11}"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75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2531" name="Rectangle 2">
            <a:extLst>
              <a:ext uri="{FF2B5EF4-FFF2-40B4-BE49-F238E27FC236}">
                <a16:creationId xmlns:a16="http://schemas.microsoft.com/office/drawing/2014/main" id="{20AC9566-9291-3806-7216-0901EB3D6C63}"/>
              </a:ext>
            </a:extLst>
          </p:cNvPr>
          <p:cNvSpPr>
            <a:spLocks noChangeArrowheads="1" noTextEdit="1"/>
          </p:cNvSpPr>
          <p:nvPr>
            <p:ph type="sldImg"/>
          </p:nvPr>
        </p:nvSpPr>
        <p:spPr>
          <a:ln/>
        </p:spPr>
      </p:sp>
      <p:sp>
        <p:nvSpPr>
          <p:cNvPr id="22532" name="Rectangle 3">
            <a:extLst>
              <a:ext uri="{FF2B5EF4-FFF2-40B4-BE49-F238E27FC236}">
                <a16:creationId xmlns:a16="http://schemas.microsoft.com/office/drawing/2014/main" id="{3739E844-4173-4EAC-BD04-9166B824234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Of course, amortization could be included as well; however, the formula as presented is the typical statement.</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7BB7AF4A-AA13-4825-BB4C-E3C38824DDC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15F6F3FC-53AE-4849-94BB-2557DC44BCD8}"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76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4579" name="Rectangle 2">
            <a:extLst>
              <a:ext uri="{FF2B5EF4-FFF2-40B4-BE49-F238E27FC236}">
                <a16:creationId xmlns:a16="http://schemas.microsoft.com/office/drawing/2014/main" id="{ADD280FF-3BFD-075D-EE27-D83EA65ACE97}"/>
              </a:ext>
            </a:extLst>
          </p:cNvPr>
          <p:cNvSpPr>
            <a:spLocks noChangeArrowheads="1" noTextEdit="1"/>
          </p:cNvSpPr>
          <p:nvPr>
            <p:ph type="sldImg"/>
          </p:nvPr>
        </p:nvSpPr>
        <p:spPr>
          <a:ln/>
        </p:spPr>
      </p:sp>
      <p:sp>
        <p:nvSpPr>
          <p:cNvPr id="24580" name="Rectangle 3">
            <a:extLst>
              <a:ext uri="{FF2B5EF4-FFF2-40B4-BE49-F238E27FC236}">
                <a16:creationId xmlns:a16="http://schemas.microsoft.com/office/drawing/2014/main" id="{708F820B-112E-C715-AECB-334FA188FD1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It may be beneficial to note the separation theorem, i.e., financing and investment decisions are separate activities. Further, you can note that the discount rate captures these related issues.</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C1A33F53-978E-EAA0-9F57-4B1D105D191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358EA088-4BC5-4A04-B7FE-50D94921DF8F}"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77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6627" name="Rectangle 2">
            <a:extLst>
              <a:ext uri="{FF2B5EF4-FFF2-40B4-BE49-F238E27FC236}">
                <a16:creationId xmlns:a16="http://schemas.microsoft.com/office/drawing/2014/main" id="{59720A6A-2AE4-D30A-5D10-D33D214C6C22}"/>
              </a:ext>
            </a:extLst>
          </p:cNvPr>
          <p:cNvSpPr>
            <a:spLocks noChangeArrowheads="1" noTextEdit="1"/>
          </p:cNvSpPr>
          <p:nvPr>
            <p:ph type="sldImg"/>
          </p:nvPr>
        </p:nvSpPr>
        <p:spPr>
          <a:ln/>
        </p:spPr>
      </p:sp>
      <p:sp>
        <p:nvSpPr>
          <p:cNvPr id="26628" name="Rectangle 3">
            <a:extLst>
              <a:ext uri="{FF2B5EF4-FFF2-40B4-BE49-F238E27FC236}">
                <a16:creationId xmlns:a16="http://schemas.microsoft.com/office/drawing/2014/main" id="{ED1730B2-571D-DA78-E7CD-5E8CAF80A20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See the text for the details of the case.</a:t>
            </a: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84EAA72A-AACB-F0B6-34E6-505600D0037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5BC3E164-96EA-49D6-A16C-A85098F63C5B}"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78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8675" name="Rectangle 2">
            <a:extLst>
              <a:ext uri="{FF2B5EF4-FFF2-40B4-BE49-F238E27FC236}">
                <a16:creationId xmlns:a16="http://schemas.microsoft.com/office/drawing/2014/main" id="{045B1225-E76E-8402-85CB-39C224568EED}"/>
              </a:ext>
            </a:extLst>
          </p:cNvPr>
          <p:cNvSpPr>
            <a:spLocks noChangeArrowheads="1" noTextEdit="1"/>
          </p:cNvSpPr>
          <p:nvPr>
            <p:ph type="sldImg"/>
          </p:nvPr>
        </p:nvSpPr>
        <p:spPr>
          <a:ln/>
        </p:spPr>
      </p:sp>
      <p:sp>
        <p:nvSpPr>
          <p:cNvPr id="28676" name="Rectangle 3">
            <a:extLst>
              <a:ext uri="{FF2B5EF4-FFF2-40B4-BE49-F238E27FC236}">
                <a16:creationId xmlns:a16="http://schemas.microsoft.com/office/drawing/2014/main" id="{F85FFDC4-36DD-6FF3-1153-CF904B43A89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9C4E1650-2148-DBD5-4562-CBC7D2AC479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46CC247A-7A9D-4ABA-A112-C8D6C80844E6}"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79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30723" name="Rectangle 2">
            <a:extLst>
              <a:ext uri="{FF2B5EF4-FFF2-40B4-BE49-F238E27FC236}">
                <a16:creationId xmlns:a16="http://schemas.microsoft.com/office/drawing/2014/main" id="{79F9B1EC-B1AA-7E03-8C4B-1670CCEF6959}"/>
              </a:ext>
            </a:extLst>
          </p:cNvPr>
          <p:cNvSpPr>
            <a:spLocks noChangeArrowheads="1" noTextEdit="1"/>
          </p:cNvSpPr>
          <p:nvPr>
            <p:ph type="sldImg"/>
          </p:nvPr>
        </p:nvSpPr>
        <p:spPr>
          <a:ln/>
        </p:spPr>
      </p:sp>
      <p:sp>
        <p:nvSpPr>
          <p:cNvPr id="30724" name="Rectangle 3">
            <a:extLst>
              <a:ext uri="{FF2B5EF4-FFF2-40B4-BE49-F238E27FC236}">
                <a16:creationId xmlns:a16="http://schemas.microsoft.com/office/drawing/2014/main" id="{1B6D7DBE-D909-67EA-670C-9C57BFF25FA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spcBef>
                <a:spcPct val="0"/>
              </a:spcBef>
            </a:pPr>
            <a:r>
              <a:rPr lang="en-US" altLang="en-US">
                <a:latin typeface="Arial" panose="020B0604020202020204" pitchFamily="34" charset="0"/>
                <a:ea typeface="ＭＳ Ｐゴシック" panose="020B0600070205080204" pitchFamily="34" charset="-128"/>
              </a:rPr>
              <a:t>* We assume that the ending market value of the capital investment at year 5 is $30,000.  Capital gain is the difference between ending market value and adjusted basis of the machine. The adjusted basis is the original purchase price of the machine less depreciation. The capital gain is $24,240 (= $30,000 – $5,760).  We will assume the incremental corporate tax for Baldwin on this project is 34 percent.  Capital gains are now taxed at the ordinary income rate, so the capital gains tax due is $8,242 = [0.34 * ($30,000 – $5,760)].  The after-tax salvage value is $30,000 – 8,242 = $21,758.</a:t>
            </a:r>
          </a:p>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A917FE2D-30E8-CC8A-7800-34DA12F7FD7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F3C5705F-2E8A-4290-BBDF-EE943334796E}"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80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32771" name="Rectangle 2">
            <a:extLst>
              <a:ext uri="{FF2B5EF4-FFF2-40B4-BE49-F238E27FC236}">
                <a16:creationId xmlns:a16="http://schemas.microsoft.com/office/drawing/2014/main" id="{1BAA0F8E-C3D9-721C-61A6-F4F15B48595A}"/>
              </a:ext>
            </a:extLst>
          </p:cNvPr>
          <p:cNvSpPr>
            <a:spLocks noChangeArrowheads="1" noTextEdit="1"/>
          </p:cNvSpPr>
          <p:nvPr>
            <p:ph type="sldImg"/>
          </p:nvPr>
        </p:nvSpPr>
        <p:spPr>
          <a:ln/>
        </p:spPr>
      </p:sp>
      <p:sp>
        <p:nvSpPr>
          <p:cNvPr id="32772" name="Rectangle 3">
            <a:extLst>
              <a:ext uri="{FF2B5EF4-FFF2-40B4-BE49-F238E27FC236}">
                <a16:creationId xmlns:a16="http://schemas.microsoft.com/office/drawing/2014/main" id="{CEFA5079-5812-CC7C-B914-6A454838A1E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In practice, we would want to forecast the market value of the warehouse at the time the project ends. In this case, the implicit assumption is that there is no price inflation or deflation over the period.</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B456D885-C43B-65CB-F88B-D8BB7C6A5AD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EE410C28-E45B-40E8-B42F-EFA87B860C77}"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81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34819" name="Rectangle 2">
            <a:extLst>
              <a:ext uri="{FF2B5EF4-FFF2-40B4-BE49-F238E27FC236}">
                <a16:creationId xmlns:a16="http://schemas.microsoft.com/office/drawing/2014/main" id="{5D9A1F49-5959-1932-47F7-B44384E5FEAA}"/>
              </a:ext>
            </a:extLst>
          </p:cNvPr>
          <p:cNvSpPr>
            <a:spLocks noChangeArrowheads="1" noTextEdit="1"/>
          </p:cNvSpPr>
          <p:nvPr>
            <p:ph type="sldImg"/>
          </p:nvPr>
        </p:nvSpPr>
        <p:spPr>
          <a:ln/>
        </p:spPr>
      </p:sp>
      <p:sp>
        <p:nvSpPr>
          <p:cNvPr id="34820" name="Rectangle 3">
            <a:extLst>
              <a:ext uri="{FF2B5EF4-FFF2-40B4-BE49-F238E27FC236}">
                <a16:creationId xmlns:a16="http://schemas.microsoft.com/office/drawing/2014/main" id="{7B09F783-DDC8-7F68-587C-D5A6B81E989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3C7A065B-CA7E-38A9-B528-E3AE094E7D2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4C13BFE0-2734-4438-873E-76F4B2A78B17}"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82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36867" name="Rectangle 2">
            <a:extLst>
              <a:ext uri="{FF2B5EF4-FFF2-40B4-BE49-F238E27FC236}">
                <a16:creationId xmlns:a16="http://schemas.microsoft.com/office/drawing/2014/main" id="{465BB020-4A11-BF0D-985A-686867E14D95}"/>
              </a:ext>
            </a:extLst>
          </p:cNvPr>
          <p:cNvSpPr>
            <a:spLocks noChangeArrowheads="1" noTextEdit="1"/>
          </p:cNvSpPr>
          <p:nvPr>
            <p:ph type="sldImg"/>
          </p:nvPr>
        </p:nvSpPr>
        <p:spPr>
          <a:ln/>
        </p:spPr>
      </p:sp>
      <p:sp>
        <p:nvSpPr>
          <p:cNvPr id="36868" name="Rectangle 3">
            <a:extLst>
              <a:ext uri="{FF2B5EF4-FFF2-40B4-BE49-F238E27FC236}">
                <a16:creationId xmlns:a16="http://schemas.microsoft.com/office/drawing/2014/main" id="{93174F6B-0DEC-3E2D-3272-FCE7041DF76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37AC5F39-2EB1-B83B-93D1-D5E4D0E96C7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A8665BAD-DF81-4EE4-AD3E-67687FB0475F}"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83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38915" name="Rectangle 2">
            <a:extLst>
              <a:ext uri="{FF2B5EF4-FFF2-40B4-BE49-F238E27FC236}">
                <a16:creationId xmlns:a16="http://schemas.microsoft.com/office/drawing/2014/main" id="{2351FF83-8EC9-4B19-9815-9D2D004E85FD}"/>
              </a:ext>
            </a:extLst>
          </p:cNvPr>
          <p:cNvSpPr>
            <a:spLocks noChangeArrowheads="1" noTextEdit="1"/>
          </p:cNvSpPr>
          <p:nvPr>
            <p:ph type="sldImg"/>
          </p:nvPr>
        </p:nvSpPr>
        <p:spPr>
          <a:ln/>
        </p:spPr>
      </p:sp>
      <p:sp>
        <p:nvSpPr>
          <p:cNvPr id="38916" name="Rectangle 3">
            <a:extLst>
              <a:ext uri="{FF2B5EF4-FFF2-40B4-BE49-F238E27FC236}">
                <a16:creationId xmlns:a16="http://schemas.microsoft.com/office/drawing/2014/main" id="{11AC7503-C9EA-FBF7-EF8E-0A9316CCD89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4A6ACE22-670D-4EB5-380E-95AC62A1954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6DC799D5-F3D1-4000-81E2-1A82B65A23B2}"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84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40963" name="Rectangle 2">
            <a:extLst>
              <a:ext uri="{FF2B5EF4-FFF2-40B4-BE49-F238E27FC236}">
                <a16:creationId xmlns:a16="http://schemas.microsoft.com/office/drawing/2014/main" id="{42FD8D9C-5CDC-B1E6-F0AC-F216BB2F1521}"/>
              </a:ext>
            </a:extLst>
          </p:cNvPr>
          <p:cNvSpPr>
            <a:spLocks noChangeArrowheads="1" noTextEdit="1"/>
          </p:cNvSpPr>
          <p:nvPr>
            <p:ph type="sldImg"/>
          </p:nvPr>
        </p:nvSpPr>
        <p:spPr>
          <a:ln/>
        </p:spPr>
      </p:sp>
      <p:sp>
        <p:nvSpPr>
          <p:cNvPr id="40964" name="Rectangle 3">
            <a:extLst>
              <a:ext uri="{FF2B5EF4-FFF2-40B4-BE49-F238E27FC236}">
                <a16:creationId xmlns:a16="http://schemas.microsoft.com/office/drawing/2014/main" id="{907BD50F-8A45-6FE3-20B7-61163220E2B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3EA3C1E8-1275-B65F-B04A-76039344BE3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90870CD7-4B7C-46A6-A9E8-2049D9CC4211}"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85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43011" name="Rectangle 2">
            <a:extLst>
              <a:ext uri="{FF2B5EF4-FFF2-40B4-BE49-F238E27FC236}">
                <a16:creationId xmlns:a16="http://schemas.microsoft.com/office/drawing/2014/main" id="{40C67FD7-0F19-36D6-7AC0-F60DEB3A980F}"/>
              </a:ext>
            </a:extLst>
          </p:cNvPr>
          <p:cNvSpPr>
            <a:spLocks noChangeArrowheads="1" noTextEdit="1"/>
          </p:cNvSpPr>
          <p:nvPr>
            <p:ph type="sldImg"/>
          </p:nvPr>
        </p:nvSpPr>
        <p:spPr>
          <a:ln/>
        </p:spPr>
      </p:sp>
      <p:sp>
        <p:nvSpPr>
          <p:cNvPr id="43012" name="Rectangle 3">
            <a:extLst>
              <a:ext uri="{FF2B5EF4-FFF2-40B4-BE49-F238E27FC236}">
                <a16:creationId xmlns:a16="http://schemas.microsoft.com/office/drawing/2014/main" id="{3C679592-9216-FED8-DD46-8A66574346A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30ACD88C-BC96-1045-058F-21E364B71EB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1402B929-1573-40D9-BA5F-C680A4ACB25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86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45059" name="Rectangle 2">
            <a:extLst>
              <a:ext uri="{FF2B5EF4-FFF2-40B4-BE49-F238E27FC236}">
                <a16:creationId xmlns:a16="http://schemas.microsoft.com/office/drawing/2014/main" id="{98A9DACE-39C4-805A-AD93-7311182C1E12}"/>
              </a:ext>
            </a:extLst>
          </p:cNvPr>
          <p:cNvSpPr>
            <a:spLocks noChangeArrowheads="1" noTextEdit="1"/>
          </p:cNvSpPr>
          <p:nvPr>
            <p:ph type="sldImg"/>
          </p:nvPr>
        </p:nvSpPr>
        <p:spPr>
          <a:ln/>
        </p:spPr>
      </p:sp>
      <p:sp>
        <p:nvSpPr>
          <p:cNvPr id="45060" name="Rectangle 3">
            <a:extLst>
              <a:ext uri="{FF2B5EF4-FFF2-40B4-BE49-F238E27FC236}">
                <a16:creationId xmlns:a16="http://schemas.microsoft.com/office/drawing/2014/main" id="{7485C504-A3BB-2CD2-6D34-8BC2DF264CD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0DF3D6C6-D38B-73E0-E566-CE55055E8B2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A9B694E7-130B-4EDF-BB76-7E3D4C04AA4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87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47107" name="Rectangle 2">
            <a:extLst>
              <a:ext uri="{FF2B5EF4-FFF2-40B4-BE49-F238E27FC236}">
                <a16:creationId xmlns:a16="http://schemas.microsoft.com/office/drawing/2014/main" id="{C939998A-4B00-1E94-5ADD-EF52638AD472}"/>
              </a:ext>
            </a:extLst>
          </p:cNvPr>
          <p:cNvSpPr>
            <a:spLocks noChangeArrowheads="1" noTextEdit="1"/>
          </p:cNvSpPr>
          <p:nvPr>
            <p:ph type="sldImg"/>
          </p:nvPr>
        </p:nvSpPr>
        <p:spPr>
          <a:ln/>
        </p:spPr>
      </p:sp>
      <p:sp>
        <p:nvSpPr>
          <p:cNvPr id="47108" name="Rectangle 3">
            <a:extLst>
              <a:ext uri="{FF2B5EF4-FFF2-40B4-BE49-F238E27FC236}">
                <a16:creationId xmlns:a16="http://schemas.microsoft.com/office/drawing/2014/main" id="{13344FC8-32E5-E34C-73BA-5943435DC49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3CCEA1F3-DB44-B69A-5543-248D2E72D3C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76119F69-401D-4E2D-968A-2D891C4F94CB}"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88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49155" name="Rectangle 2">
            <a:extLst>
              <a:ext uri="{FF2B5EF4-FFF2-40B4-BE49-F238E27FC236}">
                <a16:creationId xmlns:a16="http://schemas.microsoft.com/office/drawing/2014/main" id="{6CD1F65D-6197-4A4B-59CB-4C379A5DB348}"/>
              </a:ext>
            </a:extLst>
          </p:cNvPr>
          <p:cNvSpPr>
            <a:spLocks noChangeArrowheads="1" noTextEdit="1"/>
          </p:cNvSpPr>
          <p:nvPr>
            <p:ph type="sldImg"/>
          </p:nvPr>
        </p:nvSpPr>
        <p:spPr>
          <a:ln/>
        </p:spPr>
      </p:sp>
      <p:sp>
        <p:nvSpPr>
          <p:cNvPr id="49156" name="Rectangle 3">
            <a:extLst>
              <a:ext uri="{FF2B5EF4-FFF2-40B4-BE49-F238E27FC236}">
                <a16:creationId xmlns:a16="http://schemas.microsoft.com/office/drawing/2014/main" id="{85267BF0-12C9-B265-6C34-00D4DF1D756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0B04C423-2FFB-9D48-6564-C09C2C20BF4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CB144F08-1D70-4CFB-8952-27F76381FE0B}"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89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1203" name="Rectangle 2">
            <a:extLst>
              <a:ext uri="{FF2B5EF4-FFF2-40B4-BE49-F238E27FC236}">
                <a16:creationId xmlns:a16="http://schemas.microsoft.com/office/drawing/2014/main" id="{EBEF43E6-6201-706C-D571-0834179816B8}"/>
              </a:ext>
            </a:extLst>
          </p:cNvPr>
          <p:cNvSpPr>
            <a:spLocks noChangeArrowheads="1" noTextEdit="1"/>
          </p:cNvSpPr>
          <p:nvPr>
            <p:ph type="sldImg"/>
          </p:nvPr>
        </p:nvSpPr>
        <p:spPr>
          <a:ln/>
        </p:spPr>
      </p:sp>
      <p:sp>
        <p:nvSpPr>
          <p:cNvPr id="51204" name="Rectangle 3">
            <a:extLst>
              <a:ext uri="{FF2B5EF4-FFF2-40B4-BE49-F238E27FC236}">
                <a16:creationId xmlns:a16="http://schemas.microsoft.com/office/drawing/2014/main" id="{4259ED33-8804-A6AC-5EB6-91E6A1F0DFD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11C7C070-8D75-8EA4-966D-989271EEB06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079CC8F0-57B4-44A0-92D4-F101B6C3E984}"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90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3251" name="Rectangle 2">
            <a:extLst>
              <a:ext uri="{FF2B5EF4-FFF2-40B4-BE49-F238E27FC236}">
                <a16:creationId xmlns:a16="http://schemas.microsoft.com/office/drawing/2014/main" id="{0AAB50CF-3496-DF1C-466B-DC4F9B73975B}"/>
              </a:ext>
            </a:extLst>
          </p:cNvPr>
          <p:cNvSpPr>
            <a:spLocks noChangeArrowheads="1" noTextEdit="1"/>
          </p:cNvSpPr>
          <p:nvPr>
            <p:ph type="sldImg"/>
          </p:nvPr>
        </p:nvSpPr>
        <p:spPr>
          <a:ln/>
        </p:spPr>
      </p:sp>
      <p:sp>
        <p:nvSpPr>
          <p:cNvPr id="53252" name="Rectangle 3">
            <a:extLst>
              <a:ext uri="{FF2B5EF4-FFF2-40B4-BE49-F238E27FC236}">
                <a16:creationId xmlns:a16="http://schemas.microsoft.com/office/drawing/2014/main" id="{8948FD09-EA02-ECF4-C3B7-A116042D686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6079F006-E942-604B-1A56-CB5DDB7D073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02C2CADE-2BA8-41B0-A813-C994140FFA86}"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91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5299" name="Rectangle 2">
            <a:extLst>
              <a:ext uri="{FF2B5EF4-FFF2-40B4-BE49-F238E27FC236}">
                <a16:creationId xmlns:a16="http://schemas.microsoft.com/office/drawing/2014/main" id="{1BBD8216-536A-4E12-8EF3-9B0FA9013A8A}"/>
              </a:ext>
            </a:extLst>
          </p:cNvPr>
          <p:cNvSpPr>
            <a:spLocks noChangeArrowheads="1" noTextEdit="1"/>
          </p:cNvSpPr>
          <p:nvPr>
            <p:ph type="sldImg"/>
          </p:nvPr>
        </p:nvSpPr>
        <p:spPr>
          <a:ln/>
        </p:spPr>
      </p:sp>
      <p:sp>
        <p:nvSpPr>
          <p:cNvPr id="55300" name="Rectangle 3">
            <a:extLst>
              <a:ext uri="{FF2B5EF4-FFF2-40B4-BE49-F238E27FC236}">
                <a16:creationId xmlns:a16="http://schemas.microsoft.com/office/drawing/2014/main" id="{C6AE0E8B-5D44-FD87-4778-A5B231AC5DD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4DD3B18C-7AAE-4C55-BFD9-081700B5FFC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E2C3729F-B871-452A-A705-4652A97FB92B}"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92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7347" name="Rectangle 2">
            <a:extLst>
              <a:ext uri="{FF2B5EF4-FFF2-40B4-BE49-F238E27FC236}">
                <a16:creationId xmlns:a16="http://schemas.microsoft.com/office/drawing/2014/main" id="{37A0560F-C397-3B43-6524-298C8006DE32}"/>
              </a:ext>
            </a:extLst>
          </p:cNvPr>
          <p:cNvSpPr>
            <a:spLocks noChangeArrowheads="1" noTextEdit="1"/>
          </p:cNvSpPr>
          <p:nvPr>
            <p:ph type="sldImg"/>
          </p:nvPr>
        </p:nvSpPr>
        <p:spPr>
          <a:ln/>
        </p:spPr>
      </p:sp>
      <p:sp>
        <p:nvSpPr>
          <p:cNvPr id="57348" name="Rectangle 3">
            <a:extLst>
              <a:ext uri="{FF2B5EF4-FFF2-40B4-BE49-F238E27FC236}">
                <a16:creationId xmlns:a16="http://schemas.microsoft.com/office/drawing/2014/main" id="{B5CA7496-FB87-BECD-6A24-4916B8286F7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Note that we use the initial testing cost of $1 B, as the production costs were already applied in finding the payoffs.</a:t>
            </a: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21924EC0-0A23-F563-E9DB-F8DF2C0193F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C56658E8-4268-4E3E-8335-4ED292028E3F}"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93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9395" name="Rectangle 2">
            <a:extLst>
              <a:ext uri="{FF2B5EF4-FFF2-40B4-BE49-F238E27FC236}">
                <a16:creationId xmlns:a16="http://schemas.microsoft.com/office/drawing/2014/main" id="{82A054C4-670D-7689-1A17-4F7E0FCC588A}"/>
              </a:ext>
            </a:extLst>
          </p:cNvPr>
          <p:cNvSpPr>
            <a:spLocks noChangeArrowheads="1" noTextEdit="1"/>
          </p:cNvSpPr>
          <p:nvPr>
            <p:ph type="sldImg"/>
          </p:nvPr>
        </p:nvSpPr>
        <p:spPr>
          <a:ln/>
        </p:spPr>
      </p:sp>
      <p:sp>
        <p:nvSpPr>
          <p:cNvPr id="59396" name="Rectangle 3">
            <a:extLst>
              <a:ext uri="{FF2B5EF4-FFF2-40B4-BE49-F238E27FC236}">
                <a16:creationId xmlns:a16="http://schemas.microsoft.com/office/drawing/2014/main" id="{3871A05A-9D35-AEBE-80EA-096321375E4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The calculations assume that revenues change as a result of a reduction in sales price; therefore, variable costs are unchanged. If revenue drops as a result of units, then the NPV is $2,239, which is a drop of 35%. </a:t>
            </a: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C6772C92-5C8B-4939-C731-83F66D04E78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D079F5FB-7BF4-4E6E-9D1D-D85D42734520}"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94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1443" name="Rectangle 2">
            <a:extLst>
              <a:ext uri="{FF2B5EF4-FFF2-40B4-BE49-F238E27FC236}">
                <a16:creationId xmlns:a16="http://schemas.microsoft.com/office/drawing/2014/main" id="{5B59A4F5-CF94-E626-69A0-65593A8A1FD3}"/>
              </a:ext>
            </a:extLst>
          </p:cNvPr>
          <p:cNvSpPr>
            <a:spLocks noChangeArrowheads="1" noTextEdit="1"/>
          </p:cNvSpPr>
          <p:nvPr>
            <p:ph type="sldImg"/>
          </p:nvPr>
        </p:nvSpPr>
        <p:spPr>
          <a:ln/>
        </p:spPr>
      </p:sp>
      <p:sp>
        <p:nvSpPr>
          <p:cNvPr id="61444" name="Rectangle 3">
            <a:extLst>
              <a:ext uri="{FF2B5EF4-FFF2-40B4-BE49-F238E27FC236}">
                <a16:creationId xmlns:a16="http://schemas.microsoft.com/office/drawing/2014/main" id="{DDCFD6B3-3979-4E98-4375-F052A09D320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Note the irony of scenario 1: our workers are too sick to make the medicine.</a:t>
            </a:r>
          </a:p>
          <a:p>
            <a:pPr eaLnBrk="1" hangingPunct="1"/>
            <a:endParaRPr lang="en-US" altLang="en-US">
              <a:latin typeface="Arial" panose="020B0604020202020204" pitchFamily="34" charset="0"/>
              <a:ea typeface="ＭＳ Ｐゴシック" panose="020B0600070205080204" pitchFamily="34" charset="-128"/>
            </a:endParaRPr>
          </a:p>
          <a:p>
            <a:pPr eaLnBrk="1" hangingPunct="1"/>
            <a:r>
              <a:rPr lang="en-US" altLang="en-US">
                <a:latin typeface="Arial" panose="020B0604020202020204" pitchFamily="34" charset="0"/>
                <a:ea typeface="ＭＳ Ｐゴシック" panose="020B0600070205080204" pitchFamily="34" charset="-128"/>
              </a:rPr>
              <a:t>Scenario analysis is often commonly employed by identifying the best and worst possible cases of all variables.</a:t>
            </a: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18D0EB40-52ED-EF56-8769-14CDB038953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D00736B0-AAF5-4628-B0F5-994E13B06704}"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95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3491" name="Rectangle 2">
            <a:extLst>
              <a:ext uri="{FF2B5EF4-FFF2-40B4-BE49-F238E27FC236}">
                <a16:creationId xmlns:a16="http://schemas.microsoft.com/office/drawing/2014/main" id="{89089EB7-4857-931D-C74F-B6A638E5DF37}"/>
              </a:ext>
            </a:extLst>
          </p:cNvPr>
          <p:cNvSpPr>
            <a:spLocks noChangeArrowheads="1" noTextEdit="1"/>
          </p:cNvSpPr>
          <p:nvPr>
            <p:ph type="sldImg"/>
          </p:nvPr>
        </p:nvSpPr>
        <p:spPr>
          <a:ln/>
        </p:spPr>
      </p:sp>
      <p:sp>
        <p:nvSpPr>
          <p:cNvPr id="63492" name="Rectangle 3">
            <a:extLst>
              <a:ext uri="{FF2B5EF4-FFF2-40B4-BE49-F238E27FC236}">
                <a16:creationId xmlns:a16="http://schemas.microsoft.com/office/drawing/2014/main" id="{F0A930AE-DBC9-C0FB-8922-6FAE255E30E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442BE9AC-C170-A735-888A-660787C57E0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A08E3E07-B7B9-48DF-A4F0-8EE27DAC3BA4}"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96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5539" name="Rectangle 2">
            <a:extLst>
              <a:ext uri="{FF2B5EF4-FFF2-40B4-BE49-F238E27FC236}">
                <a16:creationId xmlns:a16="http://schemas.microsoft.com/office/drawing/2014/main" id="{BC84B3DD-46E4-4D9E-B578-FC7E73E5BE48}"/>
              </a:ext>
            </a:extLst>
          </p:cNvPr>
          <p:cNvSpPr>
            <a:spLocks noChangeArrowheads="1" noTextEdit="1"/>
          </p:cNvSpPr>
          <p:nvPr>
            <p:ph type="sldImg"/>
          </p:nvPr>
        </p:nvSpPr>
        <p:spPr>
          <a:ln/>
        </p:spPr>
      </p:sp>
      <p:sp>
        <p:nvSpPr>
          <p:cNvPr id="65540" name="Rectangle 3">
            <a:extLst>
              <a:ext uri="{FF2B5EF4-FFF2-40B4-BE49-F238E27FC236}">
                <a16:creationId xmlns:a16="http://schemas.microsoft.com/office/drawing/2014/main" id="{4E3DB1E6-89DB-CC08-BD2F-959BC461DFE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CFB31DE7-43E8-5C88-B1B4-1B15E79582E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B74B9F6B-B4E3-495B-98DF-C593528FCCD0}"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97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7587" name="Rectangle 2">
            <a:extLst>
              <a:ext uri="{FF2B5EF4-FFF2-40B4-BE49-F238E27FC236}">
                <a16:creationId xmlns:a16="http://schemas.microsoft.com/office/drawing/2014/main" id="{BCF373FC-1A0D-9BB9-A4AB-8F509010B8B2}"/>
              </a:ext>
            </a:extLst>
          </p:cNvPr>
          <p:cNvSpPr>
            <a:spLocks noChangeArrowheads="1" noTextEdit="1"/>
          </p:cNvSpPr>
          <p:nvPr>
            <p:ph type="sldImg"/>
          </p:nvPr>
        </p:nvSpPr>
        <p:spPr>
          <a:ln/>
        </p:spPr>
      </p:sp>
      <p:sp>
        <p:nvSpPr>
          <p:cNvPr id="67588" name="Rectangle 3">
            <a:extLst>
              <a:ext uri="{FF2B5EF4-FFF2-40B4-BE49-F238E27FC236}">
                <a16:creationId xmlns:a16="http://schemas.microsoft.com/office/drawing/2014/main" id="{45261A07-1063-D131-5FB8-64433EC0D5B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This example looks purely at the project once the decision to invest has been made, making the initial $1 B a sunk cost.</a:t>
            </a:r>
          </a:p>
          <a:p>
            <a:pPr eaLnBrk="1" hangingPunct="1"/>
            <a:endParaRPr lang="en-US" altLang="en-US">
              <a:latin typeface="Arial" panose="020B0604020202020204" pitchFamily="34" charset="0"/>
              <a:ea typeface="ＭＳ Ｐゴシック" panose="020B0600070205080204" pitchFamily="34" charset="-128"/>
            </a:endParaRPr>
          </a:p>
          <a:p>
            <a:pPr eaLnBrk="1" hangingPunct="1"/>
            <a:r>
              <a:rPr lang="en-US" altLang="en-US">
                <a:latin typeface="Arial" panose="020B0604020202020204" pitchFamily="34" charset="0"/>
                <a:ea typeface="ＭＳ Ｐゴシック" panose="020B0600070205080204" pitchFamily="34" charset="-128"/>
              </a:rPr>
              <a:t>You may want to note that this is a similar process to finding a bid price in chapter 6.</a:t>
            </a: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A2DF785E-900B-645F-964D-303414856A5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27DBB1F1-8B60-4CDF-A84B-A3D89064FDA0}"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98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9635" name="Rectangle 2">
            <a:extLst>
              <a:ext uri="{FF2B5EF4-FFF2-40B4-BE49-F238E27FC236}">
                <a16:creationId xmlns:a16="http://schemas.microsoft.com/office/drawing/2014/main" id="{EC66788A-FDC3-41D8-5D85-9DB8C2376408}"/>
              </a:ext>
            </a:extLst>
          </p:cNvPr>
          <p:cNvSpPr>
            <a:spLocks noChangeArrowheads="1" noTextEdit="1"/>
          </p:cNvSpPr>
          <p:nvPr>
            <p:ph type="sldImg"/>
          </p:nvPr>
        </p:nvSpPr>
        <p:spPr>
          <a:ln/>
        </p:spPr>
      </p:sp>
      <p:sp>
        <p:nvSpPr>
          <p:cNvPr id="69636" name="Rectangle 3">
            <a:extLst>
              <a:ext uri="{FF2B5EF4-FFF2-40B4-BE49-F238E27FC236}">
                <a16:creationId xmlns:a16="http://schemas.microsoft.com/office/drawing/2014/main" id="{CFCEC47D-76AB-DC90-0C5D-2803A844B31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62128EEC-B0B2-8184-72EE-841D1748050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4146C74C-8114-4656-BCA4-52F3A3005487}"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99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1683" name="Rectangle 2">
            <a:extLst>
              <a:ext uri="{FF2B5EF4-FFF2-40B4-BE49-F238E27FC236}">
                <a16:creationId xmlns:a16="http://schemas.microsoft.com/office/drawing/2014/main" id="{A817279C-D599-CA9A-ACFC-4E3FDAE58393}"/>
              </a:ext>
            </a:extLst>
          </p:cNvPr>
          <p:cNvSpPr>
            <a:spLocks noChangeArrowheads="1" noTextEdit="1"/>
          </p:cNvSpPr>
          <p:nvPr>
            <p:ph type="sldImg"/>
          </p:nvPr>
        </p:nvSpPr>
        <p:spPr>
          <a:ln/>
        </p:spPr>
      </p:sp>
      <p:sp>
        <p:nvSpPr>
          <p:cNvPr id="71684" name="Rectangle 3">
            <a:extLst>
              <a:ext uri="{FF2B5EF4-FFF2-40B4-BE49-F238E27FC236}">
                <a16:creationId xmlns:a16="http://schemas.microsoft.com/office/drawing/2014/main" id="{965B1AB2-545D-E86D-CC46-E1A34DF62F1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956BB8A5-E818-36B6-E6DD-CD30E5FCD30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8861D772-F474-4179-9FA4-8703126B5834}"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100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3731" name="Rectangle 2">
            <a:extLst>
              <a:ext uri="{FF2B5EF4-FFF2-40B4-BE49-F238E27FC236}">
                <a16:creationId xmlns:a16="http://schemas.microsoft.com/office/drawing/2014/main" id="{E135B731-9991-CB47-CB92-2F740FE9E47A}"/>
              </a:ext>
            </a:extLst>
          </p:cNvPr>
          <p:cNvSpPr>
            <a:spLocks noChangeArrowheads="1" noTextEdit="1"/>
          </p:cNvSpPr>
          <p:nvPr>
            <p:ph type="sldImg"/>
          </p:nvPr>
        </p:nvSpPr>
        <p:spPr>
          <a:ln/>
        </p:spPr>
      </p:sp>
      <p:sp>
        <p:nvSpPr>
          <p:cNvPr id="73732" name="Rectangle 3">
            <a:extLst>
              <a:ext uri="{FF2B5EF4-FFF2-40B4-BE49-F238E27FC236}">
                <a16:creationId xmlns:a16="http://schemas.microsoft.com/office/drawing/2014/main" id="{B2ADFEAF-8C93-388E-213C-8E8EDE8FAF5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028689F9-65E5-262D-FCF4-21E804EEB97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4C12C31B-46D9-4BEA-A66B-82578A4C5AC8}"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101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5779" name="Rectangle 2">
            <a:extLst>
              <a:ext uri="{FF2B5EF4-FFF2-40B4-BE49-F238E27FC236}">
                <a16:creationId xmlns:a16="http://schemas.microsoft.com/office/drawing/2014/main" id="{61EA5125-B04C-3028-AA67-8AC40C4D1106}"/>
              </a:ext>
            </a:extLst>
          </p:cNvPr>
          <p:cNvSpPr>
            <a:spLocks noChangeArrowheads="1" noTextEdit="1"/>
          </p:cNvSpPr>
          <p:nvPr>
            <p:ph type="sldImg"/>
          </p:nvPr>
        </p:nvSpPr>
        <p:spPr>
          <a:ln/>
        </p:spPr>
      </p:sp>
      <p:sp>
        <p:nvSpPr>
          <p:cNvPr id="75780" name="Rectangle 3">
            <a:extLst>
              <a:ext uri="{FF2B5EF4-FFF2-40B4-BE49-F238E27FC236}">
                <a16:creationId xmlns:a16="http://schemas.microsoft.com/office/drawing/2014/main" id="{7EAC90B6-CB0B-E668-055F-0EC8F5F38B0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CEFF1EBB-4AC5-B41E-9E7A-B470A7A1D55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9AB81377-CEA1-474F-A8E5-18789D108FBD}"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102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7827" name="Rectangle 2">
            <a:extLst>
              <a:ext uri="{FF2B5EF4-FFF2-40B4-BE49-F238E27FC236}">
                <a16:creationId xmlns:a16="http://schemas.microsoft.com/office/drawing/2014/main" id="{82FC63A3-3A40-D427-AF9F-750A0D88CECE}"/>
              </a:ext>
            </a:extLst>
          </p:cNvPr>
          <p:cNvSpPr>
            <a:spLocks noChangeArrowheads="1" noTextEdit="1"/>
          </p:cNvSpPr>
          <p:nvPr>
            <p:ph type="sldImg"/>
          </p:nvPr>
        </p:nvSpPr>
        <p:spPr>
          <a:ln/>
        </p:spPr>
      </p:sp>
      <p:sp>
        <p:nvSpPr>
          <p:cNvPr id="77828" name="Rectangle 3">
            <a:extLst>
              <a:ext uri="{FF2B5EF4-FFF2-40B4-BE49-F238E27FC236}">
                <a16:creationId xmlns:a16="http://schemas.microsoft.com/office/drawing/2014/main" id="{D6553238-32E3-C65D-5B49-2AE998D9B31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470F5075-2EE1-AFD2-78B6-DB1AA10EA91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C659A723-9D02-4CBD-B2A0-5C7C030DFCB4}"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103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9875" name="Rectangle 2">
            <a:extLst>
              <a:ext uri="{FF2B5EF4-FFF2-40B4-BE49-F238E27FC236}">
                <a16:creationId xmlns:a16="http://schemas.microsoft.com/office/drawing/2014/main" id="{080219B0-CD7B-4859-2B13-583372D6D24D}"/>
              </a:ext>
            </a:extLst>
          </p:cNvPr>
          <p:cNvSpPr>
            <a:spLocks noChangeArrowheads="1" noTextEdit="1"/>
          </p:cNvSpPr>
          <p:nvPr>
            <p:ph type="sldImg"/>
          </p:nvPr>
        </p:nvSpPr>
        <p:spPr>
          <a:ln/>
        </p:spPr>
      </p:sp>
      <p:sp>
        <p:nvSpPr>
          <p:cNvPr id="79876" name="Rectangle 3">
            <a:extLst>
              <a:ext uri="{FF2B5EF4-FFF2-40B4-BE49-F238E27FC236}">
                <a16:creationId xmlns:a16="http://schemas.microsoft.com/office/drawing/2014/main" id="{9F7201BA-9285-4F4D-EE58-AE7CAF7C42E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AC2AC2A5-815A-C404-00B8-63F8BF14903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5C0BAE31-6FFF-420F-95AE-4AB9D4CCAABF}"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104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81923" name="Rectangle 2">
            <a:extLst>
              <a:ext uri="{FF2B5EF4-FFF2-40B4-BE49-F238E27FC236}">
                <a16:creationId xmlns:a16="http://schemas.microsoft.com/office/drawing/2014/main" id="{4569E2C2-AD23-DAB3-9F34-8549259A6195}"/>
              </a:ext>
            </a:extLst>
          </p:cNvPr>
          <p:cNvSpPr>
            <a:spLocks noChangeArrowheads="1" noTextEdit="1"/>
          </p:cNvSpPr>
          <p:nvPr>
            <p:ph type="sldImg"/>
          </p:nvPr>
        </p:nvSpPr>
        <p:spPr>
          <a:ln/>
        </p:spPr>
      </p:sp>
      <p:sp>
        <p:nvSpPr>
          <p:cNvPr id="81924" name="Rectangle 3">
            <a:extLst>
              <a:ext uri="{FF2B5EF4-FFF2-40B4-BE49-F238E27FC236}">
                <a16:creationId xmlns:a16="http://schemas.microsoft.com/office/drawing/2014/main" id="{B3707C88-19AC-8B25-D17C-750448270B3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B924086D-63A0-0EB0-D3A6-D2337F4EEFE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A001A16A-D1CD-49BF-9947-A5C3BE39B6C2}"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105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83971" name="Rectangle 2">
            <a:extLst>
              <a:ext uri="{FF2B5EF4-FFF2-40B4-BE49-F238E27FC236}">
                <a16:creationId xmlns:a16="http://schemas.microsoft.com/office/drawing/2014/main" id="{B3D3B2C2-056B-BEF7-5619-4FB6358FAC76}"/>
              </a:ext>
            </a:extLst>
          </p:cNvPr>
          <p:cNvSpPr>
            <a:spLocks noChangeArrowheads="1" noTextEdit="1"/>
          </p:cNvSpPr>
          <p:nvPr>
            <p:ph type="sldImg"/>
          </p:nvPr>
        </p:nvSpPr>
        <p:spPr>
          <a:ln/>
        </p:spPr>
      </p:sp>
      <p:sp>
        <p:nvSpPr>
          <p:cNvPr id="83972" name="Rectangle 3">
            <a:extLst>
              <a:ext uri="{FF2B5EF4-FFF2-40B4-BE49-F238E27FC236}">
                <a16:creationId xmlns:a16="http://schemas.microsoft.com/office/drawing/2014/main" id="{443C6954-70D7-3D9C-5CCB-6C508DDAE4D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B1192322-6D11-BAAD-052C-3558C2C162B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2C4129D7-9989-417C-AA75-D239E34B7879}"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106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86019" name="Rectangle 2">
            <a:extLst>
              <a:ext uri="{FF2B5EF4-FFF2-40B4-BE49-F238E27FC236}">
                <a16:creationId xmlns:a16="http://schemas.microsoft.com/office/drawing/2014/main" id="{E5AF8969-B56E-B7A0-2542-BB9D06F16D4A}"/>
              </a:ext>
            </a:extLst>
          </p:cNvPr>
          <p:cNvSpPr>
            <a:spLocks noChangeArrowheads="1" noTextEdit="1"/>
          </p:cNvSpPr>
          <p:nvPr>
            <p:ph type="sldImg"/>
          </p:nvPr>
        </p:nvSpPr>
        <p:spPr>
          <a:ln/>
        </p:spPr>
      </p:sp>
      <p:sp>
        <p:nvSpPr>
          <p:cNvPr id="86020" name="Rectangle 3">
            <a:extLst>
              <a:ext uri="{FF2B5EF4-FFF2-40B4-BE49-F238E27FC236}">
                <a16:creationId xmlns:a16="http://schemas.microsoft.com/office/drawing/2014/main" id="{ADCBD150-AAD5-071C-A484-DC09250BB84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88A4B411-B272-FA3F-A83B-1697F66C899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8460D743-8024-40E2-9063-A7CB9E4C01C8}"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107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88067" name="Rectangle 2">
            <a:extLst>
              <a:ext uri="{FF2B5EF4-FFF2-40B4-BE49-F238E27FC236}">
                <a16:creationId xmlns:a16="http://schemas.microsoft.com/office/drawing/2014/main" id="{CED45731-946C-4B69-5FD4-00A1E48B6217}"/>
              </a:ext>
            </a:extLst>
          </p:cNvPr>
          <p:cNvSpPr>
            <a:spLocks noChangeArrowheads="1" noTextEdit="1"/>
          </p:cNvSpPr>
          <p:nvPr>
            <p:ph type="sldImg"/>
          </p:nvPr>
        </p:nvSpPr>
        <p:spPr>
          <a:ln/>
        </p:spPr>
      </p:sp>
      <p:sp>
        <p:nvSpPr>
          <p:cNvPr id="88068" name="Rectangle 3">
            <a:extLst>
              <a:ext uri="{FF2B5EF4-FFF2-40B4-BE49-F238E27FC236}">
                <a16:creationId xmlns:a16="http://schemas.microsoft.com/office/drawing/2014/main" id="{4A4C3011-3C49-04FD-26B8-BD1C816ACB9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4ADD4721-52F1-C3D0-CEDE-A728BBE343E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94344F30-2026-427C-99AC-9D02EBD12595}"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108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90115" name="Rectangle 2">
            <a:extLst>
              <a:ext uri="{FF2B5EF4-FFF2-40B4-BE49-F238E27FC236}">
                <a16:creationId xmlns:a16="http://schemas.microsoft.com/office/drawing/2014/main" id="{17B999EB-F4B1-2699-972B-F49B0638A937}"/>
              </a:ext>
            </a:extLst>
          </p:cNvPr>
          <p:cNvSpPr>
            <a:spLocks noChangeArrowheads="1" noTextEdit="1"/>
          </p:cNvSpPr>
          <p:nvPr>
            <p:ph type="sldImg"/>
          </p:nvPr>
        </p:nvSpPr>
        <p:spPr>
          <a:solidFill>
            <a:srgbClr val="FFFFFF"/>
          </a:solidFill>
          <a:ln/>
        </p:spPr>
      </p:sp>
      <p:sp>
        <p:nvSpPr>
          <p:cNvPr id="90116" name="Rectangle 3">
            <a:extLst>
              <a:ext uri="{FF2B5EF4-FFF2-40B4-BE49-F238E27FC236}">
                <a16:creationId xmlns:a16="http://schemas.microsoft.com/office/drawing/2014/main" id="{B9435EEA-DBA0-C211-55CA-14E06A2FCB99}"/>
              </a:ext>
            </a:extLst>
          </p:cNvPr>
          <p:cNvSpPr>
            <a:spLocks noChangeArrowheads="1"/>
          </p:cNvSpPr>
          <p:nvPr>
            <p:ph type="body" idx="1"/>
          </p:nvPr>
        </p:nvSpPr>
        <p:spPr>
          <a:solidFill>
            <a:srgbClr val="FFFFFF"/>
          </a:solidFill>
          <a:ln w="12700">
            <a:solidFill>
              <a:srgbClr val="000000"/>
            </a:solidFill>
            <a:miter lim="800000"/>
            <a:headEnd type="none" w="sm" len="sm"/>
            <a:tailEnd type="none" w="sm" len="sm"/>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C65EFC56-77D3-C46C-BA70-6D6D47D5308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26ED7BD5-0320-4056-BFB8-890DFABB1E98}"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109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92163" name="Rectangle 2">
            <a:extLst>
              <a:ext uri="{FF2B5EF4-FFF2-40B4-BE49-F238E27FC236}">
                <a16:creationId xmlns:a16="http://schemas.microsoft.com/office/drawing/2014/main" id="{F5BA7D4F-8268-2C55-0115-AB9D37731446}"/>
              </a:ext>
            </a:extLst>
          </p:cNvPr>
          <p:cNvSpPr>
            <a:spLocks noChangeArrowheads="1" noTextEdit="1"/>
          </p:cNvSpPr>
          <p:nvPr>
            <p:ph type="sldImg"/>
          </p:nvPr>
        </p:nvSpPr>
        <p:spPr>
          <a:ln/>
        </p:spPr>
      </p:sp>
      <p:sp>
        <p:nvSpPr>
          <p:cNvPr id="92164" name="Rectangle 3">
            <a:extLst>
              <a:ext uri="{FF2B5EF4-FFF2-40B4-BE49-F238E27FC236}">
                <a16:creationId xmlns:a16="http://schemas.microsoft.com/office/drawing/2014/main" id="{B2F711DF-4789-94FA-90D1-58D30AAB0F6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4CDFC99B-36C8-1014-3F4D-7AB7BD2DE9C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15E77043-19C4-4A6B-807E-2755A0A4BA43}"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110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94211" name="Rectangle 2">
            <a:extLst>
              <a:ext uri="{FF2B5EF4-FFF2-40B4-BE49-F238E27FC236}">
                <a16:creationId xmlns:a16="http://schemas.microsoft.com/office/drawing/2014/main" id="{93F97712-74A4-6095-526A-B968835A48E7}"/>
              </a:ext>
            </a:extLst>
          </p:cNvPr>
          <p:cNvSpPr>
            <a:spLocks noChangeArrowheads="1" noTextEdit="1"/>
          </p:cNvSpPr>
          <p:nvPr>
            <p:ph type="sldImg"/>
          </p:nvPr>
        </p:nvSpPr>
        <p:spPr>
          <a:ln/>
        </p:spPr>
      </p:sp>
      <p:sp>
        <p:nvSpPr>
          <p:cNvPr id="94212" name="Rectangle 3">
            <a:extLst>
              <a:ext uri="{FF2B5EF4-FFF2-40B4-BE49-F238E27FC236}">
                <a16:creationId xmlns:a16="http://schemas.microsoft.com/office/drawing/2014/main" id="{9047C94B-202C-A644-C6E6-E2251BF2873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9DF530D9-690B-24A0-596B-F015FAF7DB3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5B47601E-33A0-4E0D-AABE-9CEFA278B5CB}"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111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96259" name="Rectangle 2">
            <a:extLst>
              <a:ext uri="{FF2B5EF4-FFF2-40B4-BE49-F238E27FC236}">
                <a16:creationId xmlns:a16="http://schemas.microsoft.com/office/drawing/2014/main" id="{588FE2E8-4DDF-0149-3E56-73B7F07B83AF}"/>
              </a:ext>
            </a:extLst>
          </p:cNvPr>
          <p:cNvSpPr>
            <a:spLocks noChangeArrowheads="1" noTextEdit="1"/>
          </p:cNvSpPr>
          <p:nvPr>
            <p:ph type="sldImg"/>
          </p:nvPr>
        </p:nvSpPr>
        <p:spPr>
          <a:ln/>
        </p:spPr>
      </p:sp>
      <p:sp>
        <p:nvSpPr>
          <p:cNvPr id="96260" name="Rectangle 3">
            <a:extLst>
              <a:ext uri="{FF2B5EF4-FFF2-40B4-BE49-F238E27FC236}">
                <a16:creationId xmlns:a16="http://schemas.microsoft.com/office/drawing/2014/main" id="{4C2CAEF8-2B1A-7790-038B-0F15482232A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i="1">
                <a:latin typeface="Arial" panose="020B0604020202020204" pitchFamily="34" charset="0"/>
                <a:ea typeface="ＭＳ Ｐゴシック" panose="020B0600070205080204" pitchFamily="34" charset="-128"/>
              </a:rPr>
              <a:t>NPV</a:t>
            </a:r>
            <a:r>
              <a:rPr lang="en-US" altLang="en-US" baseline="-25000">
                <a:latin typeface="Arial" panose="020B0604020202020204" pitchFamily="34" charset="0"/>
                <a:ea typeface="ＭＳ Ｐゴシック" panose="020B0600070205080204" pitchFamily="34" charset="-128"/>
              </a:rPr>
              <a:t>0</a:t>
            </a:r>
            <a:r>
              <a:rPr lang="en-US" altLang="en-US">
                <a:latin typeface="Arial" panose="020B0604020202020204" pitchFamily="34" charset="0"/>
                <a:ea typeface="ＭＳ Ｐゴシック" panose="020B0600070205080204" pitchFamily="34" charset="-128"/>
              </a:rPr>
              <a:t> = </a:t>
            </a:r>
            <a:r>
              <a:rPr lang="en-US" altLang="en-US" i="1">
                <a:latin typeface="Arial" panose="020B0604020202020204" pitchFamily="34" charset="0"/>
                <a:ea typeface="ＭＳ Ｐゴシック" panose="020B0600070205080204" pitchFamily="34" charset="-128"/>
              </a:rPr>
              <a:t>NPV</a:t>
            </a:r>
            <a:r>
              <a:rPr lang="en-US" altLang="en-US" i="1" baseline="-25000">
                <a:latin typeface="Arial" panose="020B0604020202020204" pitchFamily="34" charset="0"/>
                <a:ea typeface="ＭＳ Ｐゴシック" panose="020B0600070205080204" pitchFamily="34" charset="-128"/>
              </a:rPr>
              <a:t>t</a:t>
            </a:r>
            <a:r>
              <a:rPr lang="en-US" altLang="en-US">
                <a:latin typeface="Arial" panose="020B0604020202020204" pitchFamily="34" charset="0"/>
                <a:ea typeface="ＭＳ Ｐゴシック" panose="020B0600070205080204" pitchFamily="34" charset="-128"/>
              </a:rPr>
              <a:t> / (1.10)</a:t>
            </a:r>
            <a:r>
              <a:rPr lang="en-US" altLang="en-US" i="1" baseline="30000">
                <a:latin typeface="Arial" panose="020B0604020202020204" pitchFamily="34" charset="0"/>
                <a:ea typeface="ＭＳ Ｐゴシック" panose="020B0600070205080204" pitchFamily="34" charset="-128"/>
              </a:rPr>
              <a:t>t</a:t>
            </a: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8B6FF9A4-9850-3B36-DB83-AABAE244C69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992826B9-B460-4B1A-884F-12F30F479596}"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112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98307" name="Rectangle 2">
            <a:extLst>
              <a:ext uri="{FF2B5EF4-FFF2-40B4-BE49-F238E27FC236}">
                <a16:creationId xmlns:a16="http://schemas.microsoft.com/office/drawing/2014/main" id="{7452451F-538B-3127-D130-6B6D63E44D67}"/>
              </a:ext>
            </a:extLst>
          </p:cNvPr>
          <p:cNvSpPr>
            <a:spLocks noChangeArrowheads="1" noTextEdit="1"/>
          </p:cNvSpPr>
          <p:nvPr>
            <p:ph type="sldImg"/>
          </p:nvPr>
        </p:nvSpPr>
        <p:spPr>
          <a:ln/>
        </p:spPr>
      </p:sp>
      <p:sp>
        <p:nvSpPr>
          <p:cNvPr id="98308" name="Rectangle 3">
            <a:extLst>
              <a:ext uri="{FF2B5EF4-FFF2-40B4-BE49-F238E27FC236}">
                <a16:creationId xmlns:a16="http://schemas.microsoft.com/office/drawing/2014/main" id="{74AE6F3F-24C2-4F5C-A3AD-32851CA66FB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F80CC885-C16E-6053-6CD8-026FA808452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7D80C5E1-710B-409C-B5B7-EBFB9858236E}"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113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00355" name="Rectangle 2">
            <a:extLst>
              <a:ext uri="{FF2B5EF4-FFF2-40B4-BE49-F238E27FC236}">
                <a16:creationId xmlns:a16="http://schemas.microsoft.com/office/drawing/2014/main" id="{BF25586B-7477-7444-D160-DBC76A665EF5}"/>
              </a:ext>
            </a:extLst>
          </p:cNvPr>
          <p:cNvSpPr>
            <a:spLocks noChangeArrowheads="1" noTextEdit="1"/>
          </p:cNvSpPr>
          <p:nvPr>
            <p:ph type="sldImg"/>
          </p:nvPr>
        </p:nvSpPr>
        <p:spPr>
          <a:ln/>
        </p:spPr>
      </p:sp>
      <p:sp>
        <p:nvSpPr>
          <p:cNvPr id="100356" name="Rectangle 3">
            <a:extLst>
              <a:ext uri="{FF2B5EF4-FFF2-40B4-BE49-F238E27FC236}">
                <a16:creationId xmlns:a16="http://schemas.microsoft.com/office/drawing/2014/main" id="{FCD77DE6-195A-02A3-A357-8A308DA42AF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a:extLst>
              <a:ext uri="{FF2B5EF4-FFF2-40B4-BE49-F238E27FC236}">
                <a16:creationId xmlns:a16="http://schemas.microsoft.com/office/drawing/2014/main" id="{40EB681D-8D30-45EC-966B-5982CD3A795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a:defRPr>
                <a:solidFill>
                  <a:schemeClr val="tx1"/>
                </a:solidFill>
                <a:latin typeface="Times New Roman" panose="02020603050405020304" pitchFamily="18" charset="0"/>
                <a:ea typeface="ＭＳ Ｐゴシック" panose="020B0600070205080204" pitchFamily="34" charset="-128"/>
              </a:defRPr>
            </a:lvl1pPr>
            <a:lvl2pPr marL="37931725" indent="-37474525" defTabSz="930275">
              <a:defRPr>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2BCB94C2-0EF2-4067-8715-5FFEA97B6A95}"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114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02403" name="Rectangle 2">
            <a:extLst>
              <a:ext uri="{FF2B5EF4-FFF2-40B4-BE49-F238E27FC236}">
                <a16:creationId xmlns:a16="http://schemas.microsoft.com/office/drawing/2014/main" id="{720A9F92-C329-C997-BD8A-E6F5A4673DB9}"/>
              </a:ext>
            </a:extLst>
          </p:cNvPr>
          <p:cNvSpPr>
            <a:spLocks noChangeArrowheads="1" noTextEdit="1"/>
          </p:cNvSpPr>
          <p:nvPr>
            <p:ph type="sldImg"/>
          </p:nvPr>
        </p:nvSpPr>
        <p:spPr>
          <a:solidFill>
            <a:srgbClr val="FFFFFF"/>
          </a:solidFill>
          <a:ln/>
        </p:spPr>
      </p:sp>
      <p:sp>
        <p:nvSpPr>
          <p:cNvPr id="102404" name="Rectangle 3">
            <a:extLst>
              <a:ext uri="{FF2B5EF4-FFF2-40B4-BE49-F238E27FC236}">
                <a16:creationId xmlns:a16="http://schemas.microsoft.com/office/drawing/2014/main" id="{9478B8C3-589F-5899-D1B4-32E8988A61EE}"/>
              </a:ext>
            </a:extLst>
          </p:cNvPr>
          <p:cNvSpPr>
            <a:spLocks noChangeArrowheads="1"/>
          </p:cNvSpPr>
          <p:nvPr>
            <p:ph type="body" idx="1"/>
          </p:nvPr>
        </p:nvSpPr>
        <p:spPr>
          <a:solidFill>
            <a:srgbClr val="FFFFFF"/>
          </a:solidFill>
          <a:ln w="12700">
            <a:solidFill>
              <a:srgbClr val="000000"/>
            </a:solidFill>
            <a:miter lim="800000"/>
            <a:headEnd type="none" w="sm" len="sm"/>
            <a:tailEnd type="none" w="sm" len="sm"/>
          </a:ln>
        </p:spPr>
        <p:txBody>
          <a:bodyPr/>
          <a:lstStyle/>
          <a:p>
            <a:pPr eaLnBrk="1" hangingPunct="1"/>
            <a:r>
              <a:rPr lang="en-US" altLang="en-US">
                <a:latin typeface="Arial" panose="020B0604020202020204" pitchFamily="34" charset="0"/>
                <a:ea typeface="ＭＳ Ｐゴシック" panose="020B0600070205080204" pitchFamily="34" charset="-128"/>
              </a:rPr>
              <a:t>If you don’t invest, the NPV = 0, even if you test first, because the cost of testing becomes a sunk cost.</a:t>
            </a:r>
          </a:p>
          <a:p>
            <a:pPr eaLnBrk="1" hangingPunct="1"/>
            <a:r>
              <a:rPr lang="en-US" altLang="en-US">
                <a:latin typeface="Arial" panose="020B0604020202020204" pitchFamily="34" charset="0"/>
                <a:ea typeface="ＭＳ Ｐゴシック" panose="020B0600070205080204" pitchFamily="34" charset="-128"/>
              </a:rPr>
              <a:t>If you are so unwise as to invest in the face of a failed test, you incur lots of additional costs, but not much in the way of revenue, so you have a negative NPV as of date 1.</a:t>
            </a:r>
          </a:p>
          <a:p>
            <a:pPr eaLnBrk="1" hangingPunct="1"/>
            <a:endParaRPr lang="en-US" altLang="en-US">
              <a:latin typeface="Arial" panose="020B0604020202020204" pitchFamily="34" charset="0"/>
              <a:ea typeface="ＭＳ Ｐゴシック" panose="020B0600070205080204" pitchFamily="34" charset="-128"/>
            </a:endParaRPr>
          </a:p>
          <a:p>
            <a:pPr eaLnBrk="1" hangingPunct="1"/>
            <a:r>
              <a:rPr lang="en-US" altLang="en-US">
                <a:latin typeface="Arial" panose="020B0604020202020204" pitchFamily="34" charset="0"/>
                <a:ea typeface="ＭＳ Ｐゴシック" panose="020B0600070205080204" pitchFamily="34" charset="-128"/>
              </a:rPr>
              <a:t>Referring back to slide 7 (Decision to Test) may help to clarify the application of decision trees.</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hemeOverride" Target="../theme/themeOverride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2.xml"/><Relationship Id="rId1" Type="http://schemas.openxmlformats.org/officeDocument/2006/relationships/themeOverride" Target="../theme/themeOverride5.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2.xml"/><Relationship Id="rId1" Type="http://schemas.openxmlformats.org/officeDocument/2006/relationships/themeOverride" Target="../theme/themeOverride6.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2.xml"/><Relationship Id="rId1" Type="http://schemas.openxmlformats.org/officeDocument/2006/relationships/themeOverride" Target="../theme/themeOverride7.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2.xml"/><Relationship Id="rId1" Type="http://schemas.openxmlformats.org/officeDocument/2006/relationships/themeOverride" Target="../theme/themeOverride8.xml"/><Relationship Id="rId4" Type="http://schemas.openxmlformats.org/officeDocument/2006/relationships/image" Target="../media/image1.jpe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ight Triangle 11">
            <a:extLst>
              <a:ext uri="{FF2B5EF4-FFF2-40B4-BE49-F238E27FC236}">
                <a16:creationId xmlns:a16="http://schemas.microsoft.com/office/drawing/2014/main" id="{1BDDD542-6FA7-80F7-FF78-459911B80642}"/>
              </a:ext>
            </a:extLst>
          </p:cNvPr>
          <p:cNvSpPr/>
          <p:nvPr/>
        </p:nvSpPr>
        <p:spPr>
          <a:xfrm>
            <a:off x="0" y="4664075"/>
            <a:ext cx="12200467"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800"/>
          </a:p>
        </p:txBody>
      </p:sp>
      <p:grpSp>
        <p:nvGrpSpPr>
          <p:cNvPr id="3" name="Group 16">
            <a:extLst>
              <a:ext uri="{FF2B5EF4-FFF2-40B4-BE49-F238E27FC236}">
                <a16:creationId xmlns:a16="http://schemas.microsoft.com/office/drawing/2014/main" id="{2E86A30E-41FF-E0AA-749E-E82248426458}"/>
              </a:ext>
            </a:extLst>
          </p:cNvPr>
          <p:cNvGrpSpPr>
            <a:grpSpLocks/>
          </p:cNvGrpSpPr>
          <p:nvPr/>
        </p:nvGrpSpPr>
        <p:grpSpPr bwMode="auto">
          <a:xfrm>
            <a:off x="-4233" y="4953000"/>
            <a:ext cx="12196233" cy="1911350"/>
            <a:chOff x="-3765" y="4832896"/>
            <a:chExt cx="9147765" cy="2032192"/>
          </a:xfrm>
        </p:grpSpPr>
        <p:sp>
          <p:nvSpPr>
            <p:cNvPr id="4" name="Freeform 16">
              <a:extLst>
                <a:ext uri="{FF2B5EF4-FFF2-40B4-BE49-F238E27FC236}">
                  <a16:creationId xmlns:a16="http://schemas.microsoft.com/office/drawing/2014/main" id="{DFF6F25C-5FE1-1E6A-67AC-9F4FB154DB33}"/>
                </a:ext>
              </a:extLst>
            </p:cNvPr>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sz="1800">
                <a:ea typeface="+mn-ea"/>
              </a:endParaRPr>
            </a:p>
          </p:txBody>
        </p:sp>
        <p:sp>
          <p:nvSpPr>
            <p:cNvPr id="5" name="Freeform 19">
              <a:extLst>
                <a:ext uri="{FF2B5EF4-FFF2-40B4-BE49-F238E27FC236}">
                  <a16:creationId xmlns:a16="http://schemas.microsoft.com/office/drawing/2014/main" id="{B14E73F4-F894-C406-CB34-B1F2C3F1AE55}"/>
                </a:ext>
              </a:extLst>
            </p:cNvPr>
            <p:cNvSpPr>
              <a:spLocks/>
            </p:cNvSpPr>
            <p:nvPr/>
          </p:nvSpPr>
          <p:spPr bwMode="auto">
            <a:xfrm>
              <a:off x="35926" y="5135025"/>
              <a:ext cx="9108074" cy="838869"/>
            </a:xfrm>
            <a:custGeom>
              <a:avLst/>
              <a:gdLst>
                <a:gd name="T0" fmla="*/ 0 w 5760"/>
                <a:gd name="T1" fmla="*/ 0 h 528"/>
                <a:gd name="T2" fmla="*/ 2147483646 w 5760"/>
                <a:gd name="T3" fmla="*/ 0 h 528"/>
                <a:gd name="T4" fmla="*/ 2147483646 w 5760"/>
                <a:gd name="T5" fmla="*/ 2147483646 h 528"/>
                <a:gd name="T6" fmla="*/ 2147483646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0" y="0"/>
                  </a:moveTo>
                  <a:lnTo>
                    <a:pt x="5760" y="0"/>
                  </a:lnTo>
                  <a:lnTo>
                    <a:pt x="5760" y="528"/>
                  </a:lnTo>
                  <a:lnTo>
                    <a:pt x="48" y="0"/>
                  </a:lnTo>
                </a:path>
              </a:pathLst>
            </a:custGeom>
            <a:solidFill>
              <a:srgbClr val="000000"/>
            </a:soli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a:lstStyle/>
            <a:p>
              <a:endParaRPr lang="zh-CN" altLang="en-US" sz="1800"/>
            </a:p>
          </p:txBody>
        </p:sp>
        <p:sp>
          <p:nvSpPr>
            <p:cNvPr id="6" name="Freeform 19">
              <a:extLst>
                <a:ext uri="{FF2B5EF4-FFF2-40B4-BE49-F238E27FC236}">
                  <a16:creationId xmlns:a16="http://schemas.microsoft.com/office/drawing/2014/main" id="{F633BCA5-31F5-3F6A-CC23-C3D121C6C0CC}"/>
                </a:ext>
              </a:extLst>
            </p:cNvPr>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800"/>
            </a:p>
          </p:txBody>
        </p:sp>
        <p:cxnSp>
          <p:nvCxnSpPr>
            <p:cNvPr id="7" name="Straight Connector 20">
              <a:extLst>
                <a:ext uri="{FF2B5EF4-FFF2-40B4-BE49-F238E27FC236}">
                  <a16:creationId xmlns:a16="http://schemas.microsoft.com/office/drawing/2014/main" id="{590C482F-A0C7-66AF-0CC6-1CB03A07659A}"/>
                </a:ext>
              </a:extLst>
            </p:cNvPr>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914400" y="1752602"/>
            <a:ext cx="103632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lstStyle>
          <a:p>
            <a:r>
              <a:rPr lang="en-US"/>
              <a:t>Click to edit Master title style</a:t>
            </a:r>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Date Placeholder 29">
            <a:extLst>
              <a:ext uri="{FF2B5EF4-FFF2-40B4-BE49-F238E27FC236}">
                <a16:creationId xmlns:a16="http://schemas.microsoft.com/office/drawing/2014/main" id="{EEE41C95-7890-7A1A-2426-81C8251CA62F}"/>
              </a:ext>
            </a:extLst>
          </p:cNvPr>
          <p:cNvSpPr>
            <a:spLocks noGrp="1"/>
          </p:cNvSpPr>
          <p:nvPr>
            <p:ph type="dt" sz="half" idx="10"/>
          </p:nvPr>
        </p:nvSpPr>
        <p:spPr/>
        <p:txBody>
          <a:bodyPr/>
          <a:lstStyle>
            <a:lvl1pPr>
              <a:defRPr>
                <a:solidFill>
                  <a:srgbClr val="FFFFFF"/>
                </a:solidFill>
              </a:defRPr>
            </a:lvl1pPr>
          </a:lstStyle>
          <a:p>
            <a:pPr>
              <a:defRPr/>
            </a:pPr>
            <a:endParaRPr lang="en-US"/>
          </a:p>
        </p:txBody>
      </p:sp>
      <p:sp>
        <p:nvSpPr>
          <p:cNvPr id="10" name="Footer Placeholder 18">
            <a:extLst>
              <a:ext uri="{FF2B5EF4-FFF2-40B4-BE49-F238E27FC236}">
                <a16:creationId xmlns:a16="http://schemas.microsoft.com/office/drawing/2014/main" id="{6162A463-75BE-A517-2DE6-D10C1D605843}"/>
              </a:ext>
            </a:extLst>
          </p:cNvPr>
          <p:cNvSpPr>
            <a:spLocks noGrp="1"/>
          </p:cNvSpPr>
          <p:nvPr>
            <p:ph type="ftr" sz="quarter" idx="11"/>
          </p:nvPr>
        </p:nvSpPr>
        <p:spPr/>
        <p:txBody>
          <a:bodyPr/>
          <a:lstStyle>
            <a:lvl1pPr>
              <a:defRPr>
                <a:solidFill>
                  <a:srgbClr val="E8F0F4"/>
                </a:solidFill>
              </a:defRPr>
            </a:lvl1pPr>
          </a:lstStyle>
          <a:p>
            <a:pPr>
              <a:defRPr/>
            </a:pPr>
            <a:r>
              <a:rPr lang="en-US" altLang="en-US"/>
              <a:t>Copyright © 2016 McGraw-Hill Education. All rights reserved. No reproduction or distribution without the prior written consent of McGraw-Hill Education.</a:t>
            </a:r>
          </a:p>
        </p:txBody>
      </p:sp>
      <p:sp>
        <p:nvSpPr>
          <p:cNvPr id="11" name="Slide Number Placeholder 26">
            <a:extLst>
              <a:ext uri="{FF2B5EF4-FFF2-40B4-BE49-F238E27FC236}">
                <a16:creationId xmlns:a16="http://schemas.microsoft.com/office/drawing/2014/main" id="{2039B697-9A0A-04B2-9365-45A94B79D40A}"/>
              </a:ext>
            </a:extLst>
          </p:cNvPr>
          <p:cNvSpPr>
            <a:spLocks noGrp="1"/>
          </p:cNvSpPr>
          <p:nvPr>
            <p:ph type="sldNum" sz="quarter" idx="12"/>
          </p:nvPr>
        </p:nvSpPr>
        <p:spPr/>
        <p:txBody>
          <a:bodyPr/>
          <a:lstStyle>
            <a:lvl1pPr>
              <a:defRPr>
                <a:solidFill>
                  <a:srgbClr val="FFFFFF"/>
                </a:solidFill>
              </a:defRPr>
            </a:lvl1pPr>
          </a:lstStyle>
          <a:p>
            <a:pPr>
              <a:defRPr/>
            </a:pPr>
            <a:fld id="{F195AF66-DB0B-4ECF-ABA1-6712DD924479}" type="slidenum">
              <a:rPr lang="en-US" altLang="en-US"/>
              <a:pPr>
                <a:defRPr/>
              </a:pPr>
              <a:t>‹#›</a:t>
            </a:fld>
            <a:endParaRPr lang="en-US" altLang="en-US"/>
          </a:p>
        </p:txBody>
      </p:sp>
    </p:spTree>
    <p:extLst>
      <p:ext uri="{BB962C8B-B14F-4D97-AF65-F5344CB8AC3E}">
        <p14:creationId xmlns:p14="http://schemas.microsoft.com/office/powerpoint/2010/main" val="4101819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p:txBody>
          <a:bodyPr rtlCol="0"/>
          <a:lstStyle/>
          <a:p>
            <a:r>
              <a:rPr lang="en-US"/>
              <a:t>Click to edit Master title style</a:t>
            </a:r>
          </a:p>
        </p:txBody>
      </p:sp>
      <p:sp>
        <p:nvSpPr>
          <p:cNvPr id="2" name="Date Placeholder 9">
            <a:extLst>
              <a:ext uri="{FF2B5EF4-FFF2-40B4-BE49-F238E27FC236}">
                <a16:creationId xmlns:a16="http://schemas.microsoft.com/office/drawing/2014/main" id="{968F2BFA-0DC9-91D8-495B-3FBC5981E714}"/>
              </a:ext>
            </a:extLst>
          </p:cNvPr>
          <p:cNvSpPr>
            <a:spLocks noGrp="1"/>
          </p:cNvSpPr>
          <p:nvPr>
            <p:ph type="dt" sz="half" idx="10"/>
          </p:nvPr>
        </p:nvSpPr>
        <p:spPr/>
        <p:txBody>
          <a:bodyPr/>
          <a:lstStyle>
            <a:lvl1pPr>
              <a:defRPr/>
            </a:lvl1pPr>
          </a:lstStyle>
          <a:p>
            <a:pPr>
              <a:defRPr/>
            </a:pPr>
            <a:endParaRPr lang="en-US"/>
          </a:p>
        </p:txBody>
      </p:sp>
      <p:sp>
        <p:nvSpPr>
          <p:cNvPr id="4" name="Footer Placeholder 21">
            <a:extLst>
              <a:ext uri="{FF2B5EF4-FFF2-40B4-BE49-F238E27FC236}">
                <a16:creationId xmlns:a16="http://schemas.microsoft.com/office/drawing/2014/main" id="{029BB3FB-DEF1-B156-5305-1C23977C7C4B}"/>
              </a:ext>
            </a:extLst>
          </p:cNvPr>
          <p:cNvSpPr>
            <a:spLocks noGrp="1"/>
          </p:cNvSpPr>
          <p:nvPr>
            <p:ph type="ftr" sz="quarter" idx="11"/>
          </p:nvPr>
        </p:nvSpPr>
        <p:spPr/>
        <p:txBody>
          <a:bodyPr/>
          <a:lstStyle>
            <a:lvl1pPr>
              <a:defRPr/>
            </a:lvl1pPr>
          </a:lstStyle>
          <a:p>
            <a:pPr>
              <a:defRPr/>
            </a:pPr>
            <a:r>
              <a:rPr lang="en-US" altLang="en-US"/>
              <a:t>Copyright © 2016 McGraw-Hill Education. All rights reserved. No reproduction or distribution without the prior written consent of McGraw-Hill Education.</a:t>
            </a:r>
          </a:p>
        </p:txBody>
      </p:sp>
      <p:sp>
        <p:nvSpPr>
          <p:cNvPr id="5" name="Slide Number Placeholder 17">
            <a:extLst>
              <a:ext uri="{FF2B5EF4-FFF2-40B4-BE49-F238E27FC236}">
                <a16:creationId xmlns:a16="http://schemas.microsoft.com/office/drawing/2014/main" id="{1A093D7C-154E-3FBC-0A58-DABB6E419114}"/>
              </a:ext>
            </a:extLst>
          </p:cNvPr>
          <p:cNvSpPr>
            <a:spLocks noGrp="1"/>
          </p:cNvSpPr>
          <p:nvPr>
            <p:ph type="sldNum" sz="quarter" idx="12"/>
          </p:nvPr>
        </p:nvSpPr>
        <p:spPr/>
        <p:txBody>
          <a:bodyPr/>
          <a:lstStyle>
            <a:lvl1pPr>
              <a:defRPr/>
            </a:lvl1pPr>
          </a:lstStyle>
          <a:p>
            <a:pPr>
              <a:defRPr/>
            </a:pPr>
            <a:fld id="{D6BC6919-D4E5-446F-949E-E3BDDCCD57F7}" type="slidenum">
              <a:rPr lang="en-US" altLang="en-US"/>
              <a:pPr>
                <a:defRPr/>
              </a:pPr>
              <a:t>‹#›</a:t>
            </a:fld>
            <a:endParaRPr lang="en-US" altLang="en-US"/>
          </a:p>
        </p:txBody>
      </p:sp>
    </p:spTree>
    <p:extLst>
      <p:ext uri="{BB962C8B-B14F-4D97-AF65-F5344CB8AC3E}">
        <p14:creationId xmlns:p14="http://schemas.microsoft.com/office/powerpoint/2010/main" val="3665575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tx1"/>
        </a:solidFill>
        <a:effectLst/>
      </p:bgPr>
    </p:bg>
    <p:spTree>
      <p:nvGrpSpPr>
        <p:cNvPr id="1" name=""/>
        <p:cNvGrpSpPr/>
        <p:nvPr/>
      </p:nvGrpSpPr>
      <p:grpSpPr>
        <a:xfrm>
          <a:off x="0" y="0"/>
          <a:ext cx="0" cy="0"/>
          <a:chOff x="0" y="0"/>
          <a:chExt cx="0" cy="0"/>
        </a:xfrm>
      </p:grpSpPr>
      <p:sp>
        <p:nvSpPr>
          <p:cNvPr id="4" name="Chevron 11">
            <a:extLst>
              <a:ext uri="{FF2B5EF4-FFF2-40B4-BE49-F238E27FC236}">
                <a16:creationId xmlns:a16="http://schemas.microsoft.com/office/drawing/2014/main" id="{86338759-D444-7190-90E3-656F517F54E9}"/>
              </a:ext>
            </a:extLst>
          </p:cNvPr>
          <p:cNvSpPr>
            <a:spLocks noChangeArrowheads="1"/>
          </p:cNvSpPr>
          <p:nvPr/>
        </p:nvSpPr>
        <p:spPr bwMode="auto">
          <a:xfrm>
            <a:off x="4849284" y="3005138"/>
            <a:ext cx="243416" cy="228600"/>
          </a:xfrm>
          <a:prstGeom prst="chevron">
            <a:avLst>
              <a:gd name="adj" fmla="val 50000"/>
            </a:avLst>
          </a:prstGeom>
          <a:gradFill rotWithShape="1">
            <a:gsLst>
              <a:gs pos="0">
                <a:srgbClr val="7FC4DD"/>
              </a:gs>
              <a:gs pos="28000">
                <a:srgbClr val="50B8DA"/>
              </a:gs>
              <a:gs pos="100000">
                <a:srgbClr val="1389A6"/>
              </a:gs>
            </a:gsLst>
            <a:lin ang="5400000"/>
          </a:gradFill>
          <a:ln w="3175" cap="rnd">
            <a:solidFill>
              <a:srgbClr val="1E768C"/>
            </a:solidFill>
            <a:miter lim="800000"/>
            <a:headEnd/>
            <a:tailEnd/>
          </a:ln>
          <a:effectLst>
            <a:outerShdw blurRad="50800" dist="25400" dir="5400000" rotWithShape="0">
              <a:srgbClr val="808080">
                <a:alpha val="45998"/>
              </a:srgbClr>
            </a:outerShdw>
          </a:effectLst>
        </p:spPr>
        <p:txBody>
          <a:bodyPr anchor="ctr"/>
          <a:lstStyle/>
          <a:p>
            <a:pPr eaLnBrk="1" hangingPunct="1">
              <a:defRPr/>
            </a:pPr>
            <a:endParaRPr lang="en-US" sz="1800">
              <a:solidFill>
                <a:schemeClr val="lt1"/>
              </a:solidFill>
              <a:latin typeface="+mn-lt"/>
              <a:ea typeface="+mn-ea"/>
            </a:endParaRPr>
          </a:p>
        </p:txBody>
      </p:sp>
      <p:sp>
        <p:nvSpPr>
          <p:cNvPr id="5" name="Chevron 15">
            <a:extLst>
              <a:ext uri="{FF2B5EF4-FFF2-40B4-BE49-F238E27FC236}">
                <a16:creationId xmlns:a16="http://schemas.microsoft.com/office/drawing/2014/main" id="{6C503AD1-77DE-A82E-54BE-8B90AC1255A1}"/>
              </a:ext>
            </a:extLst>
          </p:cNvPr>
          <p:cNvSpPr>
            <a:spLocks noChangeArrowheads="1"/>
          </p:cNvSpPr>
          <p:nvPr/>
        </p:nvSpPr>
        <p:spPr bwMode="auto">
          <a:xfrm>
            <a:off x="4599518" y="3005138"/>
            <a:ext cx="245533" cy="228600"/>
          </a:xfrm>
          <a:prstGeom prst="chevron">
            <a:avLst>
              <a:gd name="adj" fmla="val 50000"/>
            </a:avLst>
          </a:prstGeom>
          <a:gradFill rotWithShape="1">
            <a:gsLst>
              <a:gs pos="0">
                <a:srgbClr val="7FC4DD"/>
              </a:gs>
              <a:gs pos="28000">
                <a:srgbClr val="50B8DA"/>
              </a:gs>
              <a:gs pos="100000">
                <a:srgbClr val="1389A6"/>
              </a:gs>
            </a:gsLst>
            <a:lin ang="5400000"/>
          </a:gradFill>
          <a:ln w="3175" cap="rnd">
            <a:solidFill>
              <a:srgbClr val="1E768C"/>
            </a:solidFill>
            <a:miter lim="800000"/>
            <a:headEnd/>
            <a:tailEnd/>
          </a:ln>
          <a:effectLst>
            <a:outerShdw blurRad="50800" dist="25400" dir="5400000" rotWithShape="0">
              <a:srgbClr val="808080">
                <a:alpha val="45998"/>
              </a:srgbClr>
            </a:outerShdw>
          </a:effectLst>
        </p:spPr>
        <p:txBody>
          <a:bodyPr anchor="ctr"/>
          <a:lstStyle/>
          <a:p>
            <a:pPr eaLnBrk="1" hangingPunct="1">
              <a:defRPr/>
            </a:pPr>
            <a:endParaRPr lang="en-US" sz="1800">
              <a:solidFill>
                <a:schemeClr val="lt1"/>
              </a:solidFill>
              <a:latin typeface="+mn-lt"/>
              <a:ea typeface="+mn-ea"/>
            </a:endParaRPr>
          </a:p>
        </p:txBody>
      </p:sp>
      <p:sp>
        <p:nvSpPr>
          <p:cNvPr id="2" name="Title 1"/>
          <p:cNvSpPr>
            <a:spLocks noGrp="1"/>
          </p:cNvSpPr>
          <p:nvPr>
            <p:ph type="title"/>
          </p:nvPr>
        </p:nvSpPr>
        <p:spPr>
          <a:xfrm>
            <a:off x="963168" y="1059712"/>
            <a:ext cx="10363200" cy="1828800"/>
          </a:xfrm>
        </p:spPr>
        <p:txBody>
          <a:bodyPr anchor="b"/>
          <a:lstStyle>
            <a:lvl1pPr algn="r">
              <a:buNone/>
              <a:defRPr sz="4800" b="1" cap="none" baseline="0">
                <a:effectLst>
                  <a:outerShdw blurRad="31750" dist="25400" dir="5400000" algn="tl" rotWithShape="0">
                    <a:srgbClr val="000000">
                      <a:alpha val="25000"/>
                    </a:srgbClr>
                  </a:outerShdw>
                </a:effectLst>
              </a:defRPr>
            </a:lvl1pPr>
          </a:lstStyle>
          <a:p>
            <a:r>
              <a:rPr lang="en-US"/>
              <a:t>Click to edit Master title style</a:t>
            </a:r>
          </a:p>
        </p:txBody>
      </p:sp>
      <p:sp>
        <p:nvSpPr>
          <p:cNvPr id="3" name="Text Placeholder 2"/>
          <p:cNvSpPr>
            <a:spLocks noGrp="1"/>
          </p:cNvSpPr>
          <p:nvPr>
            <p:ph type="body" idx="1"/>
          </p:nvPr>
        </p:nvSpPr>
        <p:spPr>
          <a:xfrm>
            <a:off x="5230284" y="2931712"/>
            <a:ext cx="6096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6" name="Date Placeholder 3">
            <a:extLst>
              <a:ext uri="{FF2B5EF4-FFF2-40B4-BE49-F238E27FC236}">
                <a16:creationId xmlns:a16="http://schemas.microsoft.com/office/drawing/2014/main" id="{E54A8214-DED4-AB5B-2BE5-4EE380825A90}"/>
              </a:ext>
            </a:extLst>
          </p:cNvPr>
          <p:cNvSpPr>
            <a:spLocks noGrp="1"/>
          </p:cNvSpPr>
          <p:nvPr>
            <p:ph type="dt" sz="half" idx="10"/>
          </p:nvPr>
        </p:nvSpPr>
        <p:spPr/>
        <p:txBody>
          <a:bodyPr/>
          <a:lstStyle>
            <a:lvl1pPr>
              <a:defRPr/>
            </a:lvl1pPr>
          </a:lstStyle>
          <a:p>
            <a:pPr>
              <a:defRPr/>
            </a:pPr>
            <a:endParaRPr lang="en-US"/>
          </a:p>
        </p:txBody>
      </p:sp>
      <p:sp>
        <p:nvSpPr>
          <p:cNvPr id="7" name="Footer Placeholder 4">
            <a:extLst>
              <a:ext uri="{FF2B5EF4-FFF2-40B4-BE49-F238E27FC236}">
                <a16:creationId xmlns:a16="http://schemas.microsoft.com/office/drawing/2014/main" id="{A3326D33-D45A-18BA-4B2B-818C8324BF88}"/>
              </a:ext>
            </a:extLst>
          </p:cNvPr>
          <p:cNvSpPr>
            <a:spLocks noGrp="1"/>
          </p:cNvSpPr>
          <p:nvPr>
            <p:ph type="ftr" sz="quarter" idx="11"/>
          </p:nvPr>
        </p:nvSpPr>
        <p:spPr/>
        <p:txBody>
          <a:bodyPr/>
          <a:lstStyle>
            <a:lvl1pPr>
              <a:defRPr/>
            </a:lvl1pPr>
          </a:lstStyle>
          <a:p>
            <a:pPr>
              <a:defRPr/>
            </a:pPr>
            <a:r>
              <a:rPr lang="en-US" altLang="en-US"/>
              <a:t>Copyright © 2016 McGraw-Hill Education. All rights reserved. No reproduction or distribution without the prior written consent of McGraw-Hill Education.</a:t>
            </a:r>
          </a:p>
        </p:txBody>
      </p:sp>
      <p:sp>
        <p:nvSpPr>
          <p:cNvPr id="8" name="Slide Number Placeholder 5">
            <a:extLst>
              <a:ext uri="{FF2B5EF4-FFF2-40B4-BE49-F238E27FC236}">
                <a16:creationId xmlns:a16="http://schemas.microsoft.com/office/drawing/2014/main" id="{3511D483-D7FD-5DB1-95D4-2F5B54FDA153}"/>
              </a:ext>
            </a:extLst>
          </p:cNvPr>
          <p:cNvSpPr>
            <a:spLocks noGrp="1"/>
          </p:cNvSpPr>
          <p:nvPr>
            <p:ph type="sldNum" sz="quarter" idx="12"/>
          </p:nvPr>
        </p:nvSpPr>
        <p:spPr/>
        <p:txBody>
          <a:bodyPr/>
          <a:lstStyle>
            <a:lvl1pPr>
              <a:defRPr/>
            </a:lvl1pPr>
          </a:lstStyle>
          <a:p>
            <a:pPr>
              <a:defRPr/>
            </a:pPr>
            <a:fld id="{83DD737C-E39A-4DD6-BCC0-DEC55A381A0B}" type="slidenum">
              <a:rPr lang="en-US" altLang="en-US"/>
              <a:pPr>
                <a:defRPr/>
              </a:pPr>
              <a:t>‹#›</a:t>
            </a:fld>
            <a:endParaRPr lang="en-US" altLang="en-US"/>
          </a:p>
        </p:txBody>
      </p:sp>
    </p:spTree>
    <p:extLst>
      <p:ext uri="{BB962C8B-B14F-4D97-AF65-F5344CB8AC3E}">
        <p14:creationId xmlns:p14="http://schemas.microsoft.com/office/powerpoint/2010/main" val="408440890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chemeClr val="tx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
        <p:nvSpPr>
          <p:cNvPr id="2" name="Date Placeholder 4">
            <a:extLst>
              <a:ext uri="{FF2B5EF4-FFF2-40B4-BE49-F238E27FC236}">
                <a16:creationId xmlns:a16="http://schemas.microsoft.com/office/drawing/2014/main" id="{79806B0D-70E9-9F3B-19D1-B7798E619D82}"/>
              </a:ext>
            </a:extLst>
          </p:cNvPr>
          <p:cNvSpPr>
            <a:spLocks noGrp="1"/>
          </p:cNvSpPr>
          <p:nvPr>
            <p:ph type="dt" sz="half" idx="10"/>
          </p:nvPr>
        </p:nvSpPr>
        <p:spPr/>
        <p:txBody>
          <a:bodyPr/>
          <a:lstStyle>
            <a:lvl1pPr>
              <a:defRPr/>
            </a:lvl1pPr>
          </a:lstStyle>
          <a:p>
            <a:pPr>
              <a:defRPr/>
            </a:pPr>
            <a:endParaRPr lang="en-US"/>
          </a:p>
        </p:txBody>
      </p:sp>
      <p:sp>
        <p:nvSpPr>
          <p:cNvPr id="5" name="Footer Placeholder 5">
            <a:extLst>
              <a:ext uri="{FF2B5EF4-FFF2-40B4-BE49-F238E27FC236}">
                <a16:creationId xmlns:a16="http://schemas.microsoft.com/office/drawing/2014/main" id="{8DEE9EDD-47FA-6937-23E2-99E4109C0D00}"/>
              </a:ext>
            </a:extLst>
          </p:cNvPr>
          <p:cNvSpPr>
            <a:spLocks noGrp="1"/>
          </p:cNvSpPr>
          <p:nvPr>
            <p:ph type="ftr" sz="quarter" idx="11"/>
          </p:nvPr>
        </p:nvSpPr>
        <p:spPr/>
        <p:txBody>
          <a:bodyPr/>
          <a:lstStyle>
            <a:lvl1pPr>
              <a:defRPr/>
            </a:lvl1pPr>
          </a:lstStyle>
          <a:p>
            <a:pPr>
              <a:defRPr/>
            </a:pPr>
            <a:r>
              <a:rPr lang="en-US" altLang="en-US"/>
              <a:t>Copyright © 2016 McGraw-Hill Education. All rights reserved. No reproduction or distribution without the prior written consent of McGraw-Hill Education.</a:t>
            </a:r>
          </a:p>
        </p:txBody>
      </p:sp>
      <p:sp>
        <p:nvSpPr>
          <p:cNvPr id="6" name="Slide Number Placeholder 6">
            <a:extLst>
              <a:ext uri="{FF2B5EF4-FFF2-40B4-BE49-F238E27FC236}">
                <a16:creationId xmlns:a16="http://schemas.microsoft.com/office/drawing/2014/main" id="{B67B6B5D-DD38-F77F-46C4-97CACBCD6C4F}"/>
              </a:ext>
            </a:extLst>
          </p:cNvPr>
          <p:cNvSpPr>
            <a:spLocks noGrp="1"/>
          </p:cNvSpPr>
          <p:nvPr>
            <p:ph type="sldNum" sz="quarter" idx="12"/>
          </p:nvPr>
        </p:nvSpPr>
        <p:spPr/>
        <p:txBody>
          <a:bodyPr/>
          <a:lstStyle>
            <a:lvl1pPr>
              <a:defRPr/>
            </a:lvl1pPr>
          </a:lstStyle>
          <a:p>
            <a:pPr>
              <a:defRPr/>
            </a:pPr>
            <a:fld id="{EB65448E-8F6C-48B6-A1F7-D1F749849D81}" type="slidenum">
              <a:rPr lang="en-US" altLang="en-US"/>
              <a:pPr>
                <a:defRPr/>
              </a:pPr>
              <a:t>‹#›</a:t>
            </a:fld>
            <a:endParaRPr lang="en-US" altLang="en-US"/>
          </a:p>
        </p:txBody>
      </p:sp>
    </p:spTree>
    <p:extLst>
      <p:ext uri="{BB962C8B-B14F-4D97-AF65-F5344CB8AC3E}">
        <p14:creationId xmlns:p14="http://schemas.microsoft.com/office/powerpoint/2010/main" val="288657259"/>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F859D67-D344-11D1-1BE7-65CD866DA8F6}"/>
              </a:ext>
            </a:extLst>
          </p:cNvPr>
          <p:cNvSpPr>
            <a:spLocks noGrp="1"/>
          </p:cNvSpPr>
          <p:nvPr>
            <p:ph type="dt" sz="half" idx="10"/>
          </p:nvPr>
        </p:nvSpPr>
        <p:spPr/>
        <p:txBody>
          <a:bodyPr/>
          <a:lstStyle>
            <a:lvl1pPr>
              <a:defRPr/>
            </a:lvl1pPr>
          </a:lstStyle>
          <a:p>
            <a:pPr>
              <a:defRPr/>
            </a:pPr>
            <a:endParaRPr lang="en-US"/>
          </a:p>
        </p:txBody>
      </p:sp>
      <p:sp>
        <p:nvSpPr>
          <p:cNvPr id="8" name="Footer Placeholder 7">
            <a:extLst>
              <a:ext uri="{FF2B5EF4-FFF2-40B4-BE49-F238E27FC236}">
                <a16:creationId xmlns:a16="http://schemas.microsoft.com/office/drawing/2014/main" id="{3B06F548-374C-0F25-10AA-5CF51EBAC837}"/>
              </a:ext>
            </a:extLst>
          </p:cNvPr>
          <p:cNvSpPr>
            <a:spLocks noGrp="1"/>
          </p:cNvSpPr>
          <p:nvPr>
            <p:ph type="ftr" sz="quarter" idx="11"/>
          </p:nvPr>
        </p:nvSpPr>
        <p:spPr/>
        <p:txBody>
          <a:bodyPr/>
          <a:lstStyle>
            <a:lvl1pPr>
              <a:defRPr/>
            </a:lvl1pPr>
          </a:lstStyle>
          <a:p>
            <a:pPr>
              <a:defRPr/>
            </a:pPr>
            <a:r>
              <a:rPr lang="en-US" altLang="en-US"/>
              <a:t>Copyright © 2016 McGraw-Hill Education. All rights reserved. No reproduction or distribution without the prior written consent of McGraw-Hill Education.</a:t>
            </a:r>
          </a:p>
        </p:txBody>
      </p:sp>
      <p:sp>
        <p:nvSpPr>
          <p:cNvPr id="9" name="Slide Number Placeholder 8">
            <a:extLst>
              <a:ext uri="{FF2B5EF4-FFF2-40B4-BE49-F238E27FC236}">
                <a16:creationId xmlns:a16="http://schemas.microsoft.com/office/drawing/2014/main" id="{DCB8BD9F-D7B6-8E65-C188-14B206270137}"/>
              </a:ext>
            </a:extLst>
          </p:cNvPr>
          <p:cNvSpPr>
            <a:spLocks noGrp="1"/>
          </p:cNvSpPr>
          <p:nvPr>
            <p:ph type="sldNum" sz="quarter" idx="12"/>
          </p:nvPr>
        </p:nvSpPr>
        <p:spPr/>
        <p:txBody>
          <a:bodyPr/>
          <a:lstStyle>
            <a:lvl1pPr>
              <a:defRPr/>
            </a:lvl1pPr>
          </a:lstStyle>
          <a:p>
            <a:pPr>
              <a:defRPr/>
            </a:pPr>
            <a:fld id="{7D2D5A04-E3C4-43D6-B2F4-AB967C4C6EAC}" type="slidenum">
              <a:rPr lang="en-US" altLang="en-US"/>
              <a:pPr>
                <a:defRPr/>
              </a:pPr>
              <a:t>‹#›</a:t>
            </a:fld>
            <a:endParaRPr lang="en-US" altLang="en-US"/>
          </a:p>
        </p:txBody>
      </p:sp>
    </p:spTree>
    <p:extLst>
      <p:ext uri="{BB962C8B-B14F-4D97-AF65-F5344CB8AC3E}">
        <p14:creationId xmlns:p14="http://schemas.microsoft.com/office/powerpoint/2010/main" val="2000211569"/>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tx1"/>
        </a:soli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
        <p:nvSpPr>
          <p:cNvPr id="2" name="Date Placeholder 2">
            <a:extLst>
              <a:ext uri="{FF2B5EF4-FFF2-40B4-BE49-F238E27FC236}">
                <a16:creationId xmlns:a16="http://schemas.microsoft.com/office/drawing/2014/main" id="{0FB26783-0EFD-5548-C0AE-C895F17E62B5}"/>
              </a:ext>
            </a:extLst>
          </p:cNvPr>
          <p:cNvSpPr>
            <a:spLocks noGrp="1"/>
          </p:cNvSpPr>
          <p:nvPr>
            <p:ph type="dt" sz="half" idx="10"/>
          </p:nvPr>
        </p:nvSpPr>
        <p:spPr/>
        <p:txBody>
          <a:bodyPr/>
          <a:lstStyle>
            <a:lvl1pPr>
              <a:defRPr/>
            </a:lvl1pPr>
          </a:lstStyle>
          <a:p>
            <a:pPr>
              <a:defRPr/>
            </a:pPr>
            <a:endParaRPr lang="en-US"/>
          </a:p>
        </p:txBody>
      </p:sp>
      <p:sp>
        <p:nvSpPr>
          <p:cNvPr id="3" name="Footer Placeholder 3">
            <a:extLst>
              <a:ext uri="{FF2B5EF4-FFF2-40B4-BE49-F238E27FC236}">
                <a16:creationId xmlns:a16="http://schemas.microsoft.com/office/drawing/2014/main" id="{EF7AADF0-81E9-DA16-E670-B29DA4B7BB46}"/>
              </a:ext>
            </a:extLst>
          </p:cNvPr>
          <p:cNvSpPr>
            <a:spLocks noGrp="1"/>
          </p:cNvSpPr>
          <p:nvPr>
            <p:ph type="ftr" sz="quarter" idx="11"/>
          </p:nvPr>
        </p:nvSpPr>
        <p:spPr/>
        <p:txBody>
          <a:bodyPr/>
          <a:lstStyle>
            <a:lvl1pPr>
              <a:defRPr/>
            </a:lvl1pPr>
          </a:lstStyle>
          <a:p>
            <a:pPr>
              <a:defRPr/>
            </a:pPr>
            <a:r>
              <a:rPr lang="en-US" altLang="en-US"/>
              <a:t>Copyright © 2016 McGraw-Hill Education. All rights reserved. No reproduction or distribution without the prior written consent of McGraw-Hill Education.</a:t>
            </a:r>
          </a:p>
        </p:txBody>
      </p:sp>
      <p:sp>
        <p:nvSpPr>
          <p:cNvPr id="4" name="Slide Number Placeholder 4">
            <a:extLst>
              <a:ext uri="{FF2B5EF4-FFF2-40B4-BE49-F238E27FC236}">
                <a16:creationId xmlns:a16="http://schemas.microsoft.com/office/drawing/2014/main" id="{E111143B-3598-266D-FF51-B24CF2B57274}"/>
              </a:ext>
            </a:extLst>
          </p:cNvPr>
          <p:cNvSpPr>
            <a:spLocks noGrp="1"/>
          </p:cNvSpPr>
          <p:nvPr>
            <p:ph type="sldNum" sz="quarter" idx="12"/>
          </p:nvPr>
        </p:nvSpPr>
        <p:spPr/>
        <p:txBody>
          <a:bodyPr/>
          <a:lstStyle>
            <a:lvl1pPr>
              <a:defRPr/>
            </a:lvl1pPr>
          </a:lstStyle>
          <a:p>
            <a:pPr>
              <a:defRPr/>
            </a:pPr>
            <a:fld id="{5F4EFB77-72BF-4104-B67D-AB042B492FB3}" type="slidenum">
              <a:rPr lang="en-US" altLang="en-US"/>
              <a:pPr>
                <a:defRPr/>
              </a:pPr>
              <a:t>‹#›</a:t>
            </a:fld>
            <a:endParaRPr lang="en-US" altLang="en-US"/>
          </a:p>
        </p:txBody>
      </p:sp>
    </p:spTree>
    <p:extLst>
      <p:ext uri="{BB962C8B-B14F-4D97-AF65-F5344CB8AC3E}">
        <p14:creationId xmlns:p14="http://schemas.microsoft.com/office/powerpoint/2010/main" val="2153055321"/>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a:extLst>
              <a:ext uri="{FF2B5EF4-FFF2-40B4-BE49-F238E27FC236}">
                <a16:creationId xmlns:a16="http://schemas.microsoft.com/office/drawing/2014/main" id="{45631DF5-F216-5200-CC84-BC411FB2F0C6}"/>
              </a:ext>
            </a:extLst>
          </p:cNvPr>
          <p:cNvSpPr>
            <a:spLocks noGrp="1"/>
          </p:cNvSpPr>
          <p:nvPr>
            <p:ph type="dt" sz="half" idx="10"/>
          </p:nvPr>
        </p:nvSpPr>
        <p:spPr/>
        <p:txBody>
          <a:bodyPr/>
          <a:lstStyle>
            <a:lvl1pPr>
              <a:defRPr/>
            </a:lvl1pPr>
          </a:lstStyle>
          <a:p>
            <a:pPr>
              <a:defRPr/>
            </a:pPr>
            <a:endParaRPr lang="en-US"/>
          </a:p>
        </p:txBody>
      </p:sp>
      <p:sp>
        <p:nvSpPr>
          <p:cNvPr id="3" name="Footer Placeholder 21">
            <a:extLst>
              <a:ext uri="{FF2B5EF4-FFF2-40B4-BE49-F238E27FC236}">
                <a16:creationId xmlns:a16="http://schemas.microsoft.com/office/drawing/2014/main" id="{06F340FD-ADA6-2F99-BE8A-E2C593C9F796}"/>
              </a:ext>
            </a:extLst>
          </p:cNvPr>
          <p:cNvSpPr>
            <a:spLocks noGrp="1"/>
          </p:cNvSpPr>
          <p:nvPr>
            <p:ph type="ftr" sz="quarter" idx="11"/>
          </p:nvPr>
        </p:nvSpPr>
        <p:spPr/>
        <p:txBody>
          <a:bodyPr/>
          <a:lstStyle>
            <a:lvl1pPr>
              <a:defRPr/>
            </a:lvl1pPr>
          </a:lstStyle>
          <a:p>
            <a:pPr>
              <a:defRPr/>
            </a:pPr>
            <a:r>
              <a:rPr lang="en-US" altLang="en-US"/>
              <a:t>Copyright © 2016 McGraw-Hill Education. All rights reserved. No reproduction or distribution without the prior written consent of McGraw-Hill Education.</a:t>
            </a:r>
          </a:p>
        </p:txBody>
      </p:sp>
      <p:sp>
        <p:nvSpPr>
          <p:cNvPr id="4" name="Slide Number Placeholder 17">
            <a:extLst>
              <a:ext uri="{FF2B5EF4-FFF2-40B4-BE49-F238E27FC236}">
                <a16:creationId xmlns:a16="http://schemas.microsoft.com/office/drawing/2014/main" id="{536B80BA-0606-5935-B95A-8701994DAA7A}"/>
              </a:ext>
            </a:extLst>
          </p:cNvPr>
          <p:cNvSpPr>
            <a:spLocks noGrp="1"/>
          </p:cNvSpPr>
          <p:nvPr>
            <p:ph type="sldNum" sz="quarter" idx="12"/>
          </p:nvPr>
        </p:nvSpPr>
        <p:spPr/>
        <p:txBody>
          <a:bodyPr/>
          <a:lstStyle>
            <a:lvl1pPr>
              <a:defRPr/>
            </a:lvl1pPr>
          </a:lstStyle>
          <a:p>
            <a:pPr>
              <a:defRPr/>
            </a:pPr>
            <a:fld id="{7EC4C1FE-9F2B-4F6F-AB24-4819FD99B706}" type="slidenum">
              <a:rPr lang="en-US" altLang="en-US"/>
              <a:pPr>
                <a:defRPr/>
              </a:pPr>
              <a:t>‹#›</a:t>
            </a:fld>
            <a:endParaRPr lang="en-US" altLang="en-US"/>
          </a:p>
        </p:txBody>
      </p:sp>
    </p:spTree>
    <p:extLst>
      <p:ext uri="{BB962C8B-B14F-4D97-AF65-F5344CB8AC3E}">
        <p14:creationId xmlns:p14="http://schemas.microsoft.com/office/powerpoint/2010/main" val="42938614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4876800"/>
            <a:ext cx="9975701" cy="457200"/>
          </a:xfrm>
        </p:spPr>
        <p:txBody>
          <a:bodyPr anchor="t">
            <a:noAutofit/>
            <a:sp3d prstMaterial="softEdge">
              <a:bevelT w="0" h="0"/>
            </a:sp3d>
          </a:bodyPr>
          <a:lstStyle>
            <a:lvl1pPr algn="r">
              <a:buNone/>
              <a:defRPr sz="2500" b="0">
                <a:solidFill>
                  <a:schemeClr val="accent1"/>
                </a:solidFill>
                <a:effectLst/>
              </a:defRPr>
            </a:lvl1pPr>
          </a:lstStyle>
          <a:p>
            <a:r>
              <a:rPr lang="en-US"/>
              <a:t>Click to edit Master title style</a:t>
            </a:r>
          </a:p>
        </p:txBody>
      </p:sp>
      <p:sp>
        <p:nvSpPr>
          <p:cNvPr id="3" name="Text Placeholder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3211709-B28F-1819-C182-0FD5FE7F0FA7}"/>
              </a:ext>
            </a:extLst>
          </p:cNvPr>
          <p:cNvSpPr>
            <a:spLocks noGrp="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1084A6A4-0D56-1FD9-E3DF-67A7628BE72F}"/>
              </a:ext>
            </a:extLst>
          </p:cNvPr>
          <p:cNvSpPr>
            <a:spLocks noGrp="1"/>
          </p:cNvSpPr>
          <p:nvPr>
            <p:ph type="ftr" sz="quarter" idx="11"/>
          </p:nvPr>
        </p:nvSpPr>
        <p:spPr/>
        <p:txBody>
          <a:bodyPr/>
          <a:lstStyle>
            <a:lvl1pPr>
              <a:defRPr/>
            </a:lvl1pPr>
          </a:lstStyle>
          <a:p>
            <a:pPr>
              <a:defRPr/>
            </a:pPr>
            <a:r>
              <a:rPr lang="en-US" altLang="en-US"/>
              <a:t>Copyright © 2016 McGraw-Hill Education. All rights reserved. No reproduction or distribution without the prior written consent of McGraw-Hill Education.</a:t>
            </a:r>
          </a:p>
        </p:txBody>
      </p:sp>
      <p:sp>
        <p:nvSpPr>
          <p:cNvPr id="7" name="Slide Number Placeholder 6">
            <a:extLst>
              <a:ext uri="{FF2B5EF4-FFF2-40B4-BE49-F238E27FC236}">
                <a16:creationId xmlns:a16="http://schemas.microsoft.com/office/drawing/2014/main" id="{0F2F1A93-5B4A-D984-02CE-6410F9AF94BB}"/>
              </a:ext>
            </a:extLst>
          </p:cNvPr>
          <p:cNvSpPr>
            <a:spLocks noGrp="1"/>
          </p:cNvSpPr>
          <p:nvPr>
            <p:ph type="sldNum" sz="quarter" idx="12"/>
          </p:nvPr>
        </p:nvSpPr>
        <p:spPr/>
        <p:txBody>
          <a:bodyPr/>
          <a:lstStyle>
            <a:lvl1pPr>
              <a:defRPr/>
            </a:lvl1pPr>
          </a:lstStyle>
          <a:p>
            <a:pPr>
              <a:defRPr/>
            </a:pPr>
            <a:fld id="{110E75D5-0085-4668-BBE3-60F5AC230C9E}" type="slidenum">
              <a:rPr lang="en-US" altLang="en-US"/>
              <a:pPr>
                <a:defRPr/>
              </a:pPr>
              <a:t>‹#›</a:t>
            </a:fld>
            <a:endParaRPr lang="en-US" altLang="en-US"/>
          </a:p>
        </p:txBody>
      </p:sp>
    </p:spTree>
    <p:extLst>
      <p:ext uri="{BB962C8B-B14F-4D97-AF65-F5344CB8AC3E}">
        <p14:creationId xmlns:p14="http://schemas.microsoft.com/office/powerpoint/2010/main" val="1900645179"/>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tx1"/>
        </a:solidFill>
        <a:effectLst/>
      </p:bgPr>
    </p:bg>
    <p:spTree>
      <p:nvGrpSpPr>
        <p:cNvPr id="1" name=""/>
        <p:cNvGrpSpPr/>
        <p:nvPr/>
      </p:nvGrpSpPr>
      <p:grpSpPr>
        <a:xfrm>
          <a:off x="0" y="0"/>
          <a:ext cx="0" cy="0"/>
          <a:chOff x="0" y="0"/>
          <a:chExt cx="0" cy="0"/>
        </a:xfrm>
      </p:grpSpPr>
      <p:sp>
        <p:nvSpPr>
          <p:cNvPr id="5" name="Freeform 11">
            <a:extLst>
              <a:ext uri="{FF2B5EF4-FFF2-40B4-BE49-F238E27FC236}">
                <a16:creationId xmlns:a16="http://schemas.microsoft.com/office/drawing/2014/main" id="{0C87CC2B-5C7A-8CAC-FE5A-66FC50A5282E}"/>
              </a:ext>
            </a:extLst>
          </p:cNvPr>
          <p:cNvSpPr>
            <a:spLocks/>
          </p:cNvSpPr>
          <p:nvPr/>
        </p:nvSpPr>
        <p:spPr bwMode="auto">
          <a:xfrm>
            <a:off x="666751" y="5945188"/>
            <a:ext cx="6587067"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sz="1800">
              <a:ea typeface="+mn-ea"/>
            </a:endParaRPr>
          </a:p>
        </p:txBody>
      </p:sp>
      <p:sp>
        <p:nvSpPr>
          <p:cNvPr id="6" name="Freeform 16">
            <a:extLst>
              <a:ext uri="{FF2B5EF4-FFF2-40B4-BE49-F238E27FC236}">
                <a16:creationId xmlns:a16="http://schemas.microsoft.com/office/drawing/2014/main" id="{56E70445-156D-3477-32AB-69158AA6C5C5}"/>
              </a:ext>
            </a:extLst>
          </p:cNvPr>
          <p:cNvSpPr>
            <a:spLocks/>
          </p:cNvSpPr>
          <p:nvPr/>
        </p:nvSpPr>
        <p:spPr bwMode="auto">
          <a:xfrm>
            <a:off x="647700" y="5938838"/>
            <a:ext cx="4921251" cy="933450"/>
          </a:xfrm>
          <a:custGeom>
            <a:avLst/>
            <a:gdLst>
              <a:gd name="T0" fmla="*/ 0 w 5591"/>
              <a:gd name="T1" fmla="*/ 0 h 588"/>
              <a:gd name="T2" fmla="*/ 2147483646 w 5591"/>
              <a:gd name="T3" fmla="*/ 0 h 588"/>
              <a:gd name="T4" fmla="*/ 2147483646 w 5591"/>
              <a:gd name="T5" fmla="*/ 2147483646 h 588"/>
              <a:gd name="T6" fmla="*/ 2147483646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a:lstStyle/>
          <a:p>
            <a:endParaRPr lang="zh-CN" altLang="en-US" sz="1800"/>
          </a:p>
        </p:txBody>
      </p:sp>
      <p:sp>
        <p:nvSpPr>
          <p:cNvPr id="7" name="Right Triangle 16">
            <a:extLst>
              <a:ext uri="{FF2B5EF4-FFF2-40B4-BE49-F238E27FC236}">
                <a16:creationId xmlns:a16="http://schemas.microsoft.com/office/drawing/2014/main" id="{83EB2244-C54D-2164-0783-144B00070F8C}"/>
              </a:ext>
            </a:extLst>
          </p:cNvPr>
          <p:cNvSpPr>
            <a:spLocks/>
          </p:cNvSpPr>
          <p:nvPr/>
        </p:nvSpPr>
        <p:spPr bwMode="auto">
          <a:xfrm>
            <a:off x="-8056" y="5791253"/>
            <a:ext cx="4536419" cy="1080868"/>
          </a:xfrm>
          <a:prstGeom prst="rtTriangle">
            <a:avLst/>
          </a:prstGeom>
          <a:blipFill>
            <a:blip r:embed="rId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800"/>
          </a:p>
        </p:txBody>
      </p:sp>
      <p:cxnSp>
        <p:nvCxnSpPr>
          <p:cNvPr id="8" name="Straight Connector 18">
            <a:extLst>
              <a:ext uri="{FF2B5EF4-FFF2-40B4-BE49-F238E27FC236}">
                <a16:creationId xmlns:a16="http://schemas.microsoft.com/office/drawing/2014/main" id="{3971609D-D065-3D5F-4056-372077E5AA9F}"/>
              </a:ext>
            </a:extLst>
          </p:cNvPr>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19">
            <a:extLst>
              <a:ext uri="{FF2B5EF4-FFF2-40B4-BE49-F238E27FC236}">
                <a16:creationId xmlns:a16="http://schemas.microsoft.com/office/drawing/2014/main" id="{7D023F8C-C723-8052-F7A7-DB41ADF6913D}"/>
              </a:ext>
            </a:extLst>
          </p:cNvPr>
          <p:cNvSpPr>
            <a:spLocks noChangeArrowheads="1"/>
          </p:cNvSpPr>
          <p:nvPr/>
        </p:nvSpPr>
        <p:spPr bwMode="auto">
          <a:xfrm>
            <a:off x="11552768" y="4987925"/>
            <a:ext cx="243417" cy="228600"/>
          </a:xfrm>
          <a:prstGeom prst="chevron">
            <a:avLst>
              <a:gd name="adj" fmla="val 50000"/>
            </a:avLst>
          </a:prstGeom>
          <a:gradFill rotWithShape="1">
            <a:gsLst>
              <a:gs pos="0">
                <a:srgbClr val="7FC4DD"/>
              </a:gs>
              <a:gs pos="28000">
                <a:srgbClr val="50B8DA"/>
              </a:gs>
              <a:gs pos="100000">
                <a:srgbClr val="1389A6"/>
              </a:gs>
            </a:gsLst>
            <a:lin ang="5400000"/>
          </a:gradFill>
          <a:ln w="3175" cap="rnd">
            <a:solidFill>
              <a:srgbClr val="1E768C"/>
            </a:solidFill>
            <a:miter lim="800000"/>
            <a:headEnd/>
            <a:tailEnd/>
          </a:ln>
          <a:effectLst>
            <a:outerShdw blurRad="50800" dist="25400" dir="5400000" rotWithShape="0">
              <a:srgbClr val="808080">
                <a:alpha val="45998"/>
              </a:srgbClr>
            </a:outerShdw>
          </a:effectLst>
        </p:spPr>
        <p:txBody>
          <a:bodyPr anchor="ctr"/>
          <a:lstStyle/>
          <a:p>
            <a:pPr eaLnBrk="1" hangingPunct="1">
              <a:defRPr/>
            </a:pPr>
            <a:endParaRPr lang="en-US" sz="1800">
              <a:solidFill>
                <a:schemeClr val="lt1"/>
              </a:solidFill>
              <a:latin typeface="+mn-lt"/>
              <a:ea typeface="+mn-ea"/>
            </a:endParaRPr>
          </a:p>
        </p:txBody>
      </p:sp>
      <p:sp>
        <p:nvSpPr>
          <p:cNvPr id="10" name="Chevron 20">
            <a:extLst>
              <a:ext uri="{FF2B5EF4-FFF2-40B4-BE49-F238E27FC236}">
                <a16:creationId xmlns:a16="http://schemas.microsoft.com/office/drawing/2014/main" id="{E89B42F9-FF1F-680D-AF25-8DC8F9F47765}"/>
              </a:ext>
            </a:extLst>
          </p:cNvPr>
          <p:cNvSpPr>
            <a:spLocks noChangeArrowheads="1"/>
          </p:cNvSpPr>
          <p:nvPr/>
        </p:nvSpPr>
        <p:spPr bwMode="auto">
          <a:xfrm>
            <a:off x="11303001" y="4987925"/>
            <a:ext cx="243417" cy="228600"/>
          </a:xfrm>
          <a:prstGeom prst="chevron">
            <a:avLst>
              <a:gd name="adj" fmla="val 50000"/>
            </a:avLst>
          </a:prstGeom>
          <a:gradFill rotWithShape="1">
            <a:gsLst>
              <a:gs pos="0">
                <a:srgbClr val="7FC4DD"/>
              </a:gs>
              <a:gs pos="28000">
                <a:srgbClr val="50B8DA"/>
              </a:gs>
              <a:gs pos="100000">
                <a:srgbClr val="1389A6"/>
              </a:gs>
            </a:gsLst>
            <a:lin ang="5400000"/>
          </a:gradFill>
          <a:ln w="3175" cap="rnd">
            <a:solidFill>
              <a:srgbClr val="1E768C"/>
            </a:solidFill>
            <a:miter lim="800000"/>
            <a:headEnd/>
            <a:tailEnd/>
          </a:ln>
          <a:effectLst>
            <a:outerShdw blurRad="50800" dist="25400" dir="5400000" rotWithShape="0">
              <a:srgbClr val="808080">
                <a:alpha val="45998"/>
              </a:srgbClr>
            </a:outerShdw>
          </a:effectLst>
        </p:spPr>
        <p:txBody>
          <a:bodyPr anchor="ctr"/>
          <a:lstStyle/>
          <a:p>
            <a:pPr eaLnBrk="1" hangingPunct="1">
              <a:defRPr/>
            </a:pPr>
            <a:endParaRPr lang="en-US" sz="1800">
              <a:solidFill>
                <a:schemeClr val="lt1"/>
              </a:solidFill>
              <a:latin typeface="+mn-lt"/>
              <a:ea typeface="+mn-ea"/>
            </a:endParaRPr>
          </a:p>
        </p:txBody>
      </p:sp>
      <p:sp>
        <p:nvSpPr>
          <p:cNvPr id="4" name="Text Placeholder 3"/>
          <p:cNvSpPr>
            <a:spLocks noGrp="1"/>
          </p:cNvSpPr>
          <p:nvPr>
            <p:ph type="body" sz="half" idx="2"/>
          </p:nvPr>
        </p:nvSpPr>
        <p:spPr>
          <a:xfrm>
            <a:off x="1521643" y="5443402"/>
            <a:ext cx="9550400" cy="648232"/>
          </a:xfrm>
          <a:noFill/>
        </p:spPr>
        <p:txBody>
          <a:bodyPr tIns="0"/>
          <a:lstStyle>
            <a:lvl1pPr marL="0" marR="18288" indent="0" algn="r">
              <a:buNone/>
              <a:defRPr sz="1400"/>
            </a:lvl1pPr>
            <a:lvl2pPr>
              <a:defRPr sz="1200"/>
            </a:lvl2pPr>
            <a:lvl3pPr>
              <a:defRPr sz="1000"/>
            </a:lvl3pPr>
            <a:lvl4pPr>
              <a:defRPr sz="900"/>
            </a:lvl4pPr>
            <a:lvl5pPr>
              <a:defRPr sz="900"/>
            </a:lvl5pPr>
          </a:lstStyle>
          <a:p>
            <a:pPr lvl="0"/>
            <a:r>
              <a:rPr lang="en-US"/>
              <a:t>Click to edit Master text styles</a:t>
            </a:r>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lstStyle>
          <a:p>
            <a:r>
              <a:rPr lang="en-US"/>
              <a:t>Click to edit Master title style</a:t>
            </a:r>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lstStyle>
          <a:p>
            <a:pPr lvl="0"/>
            <a:r>
              <a:rPr lang="en-US" noProof="0"/>
              <a:t>Click icon to add picture</a:t>
            </a:r>
            <a:endParaRPr lang="en-US" noProof="0" dirty="0"/>
          </a:p>
        </p:txBody>
      </p:sp>
      <p:sp>
        <p:nvSpPr>
          <p:cNvPr id="11" name="Date Placeholder 4">
            <a:extLst>
              <a:ext uri="{FF2B5EF4-FFF2-40B4-BE49-F238E27FC236}">
                <a16:creationId xmlns:a16="http://schemas.microsoft.com/office/drawing/2014/main" id="{7C7F652D-0F1A-E647-5EDB-740247B96BE7}"/>
              </a:ext>
            </a:extLst>
          </p:cNvPr>
          <p:cNvSpPr>
            <a:spLocks noGrp="1"/>
          </p:cNvSpPr>
          <p:nvPr>
            <p:ph type="dt" sz="half" idx="10"/>
          </p:nvPr>
        </p:nvSpPr>
        <p:spPr/>
        <p:txBody>
          <a:bodyPr/>
          <a:lstStyle>
            <a:lvl1pPr>
              <a:defRPr>
                <a:solidFill>
                  <a:schemeClr val="tx1"/>
                </a:solidFill>
              </a:defRPr>
            </a:lvl1pPr>
          </a:lstStyle>
          <a:p>
            <a:pPr>
              <a:defRPr/>
            </a:pPr>
            <a:endParaRPr lang="en-US"/>
          </a:p>
        </p:txBody>
      </p:sp>
      <p:sp>
        <p:nvSpPr>
          <p:cNvPr id="12" name="Footer Placeholder 5">
            <a:extLst>
              <a:ext uri="{FF2B5EF4-FFF2-40B4-BE49-F238E27FC236}">
                <a16:creationId xmlns:a16="http://schemas.microsoft.com/office/drawing/2014/main" id="{39138862-E285-8618-707F-96CD9DC6870F}"/>
              </a:ext>
            </a:extLst>
          </p:cNvPr>
          <p:cNvSpPr>
            <a:spLocks noGrp="1"/>
          </p:cNvSpPr>
          <p:nvPr>
            <p:ph type="ftr" sz="quarter" idx="11"/>
          </p:nvPr>
        </p:nvSpPr>
        <p:spPr/>
        <p:txBody>
          <a:bodyPr/>
          <a:lstStyle>
            <a:lvl1pPr>
              <a:defRPr/>
            </a:lvl1pPr>
          </a:lstStyle>
          <a:p>
            <a:pPr>
              <a:defRPr/>
            </a:pPr>
            <a:r>
              <a:rPr lang="en-US" altLang="en-US"/>
              <a:t>Copyright © 2016 McGraw-Hill Education. All rights reserved. No reproduction or distribution without the prior written consent of McGraw-Hill Education.</a:t>
            </a:r>
          </a:p>
        </p:txBody>
      </p:sp>
      <p:sp>
        <p:nvSpPr>
          <p:cNvPr id="13" name="Slide Number Placeholder 6">
            <a:extLst>
              <a:ext uri="{FF2B5EF4-FFF2-40B4-BE49-F238E27FC236}">
                <a16:creationId xmlns:a16="http://schemas.microsoft.com/office/drawing/2014/main" id="{3FD8B886-10B7-5274-E690-952F5434E346}"/>
              </a:ext>
            </a:extLst>
          </p:cNvPr>
          <p:cNvSpPr>
            <a:spLocks noGrp="1"/>
          </p:cNvSpPr>
          <p:nvPr>
            <p:ph type="sldNum" sz="quarter" idx="12"/>
          </p:nvPr>
        </p:nvSpPr>
        <p:spPr/>
        <p:txBody>
          <a:bodyPr/>
          <a:lstStyle>
            <a:lvl1pPr>
              <a:defRPr/>
            </a:lvl1pPr>
          </a:lstStyle>
          <a:p>
            <a:pPr>
              <a:defRPr/>
            </a:pPr>
            <a:fld id="{2111626C-6331-42A8-A923-AF8E2BCCA387}" type="slidenum">
              <a:rPr lang="en-US" altLang="en-US"/>
              <a:pPr>
                <a:defRPr/>
              </a:pPr>
              <a:t>‹#›</a:t>
            </a:fld>
            <a:endParaRPr lang="en-US" altLang="en-US"/>
          </a:p>
        </p:txBody>
      </p:sp>
    </p:spTree>
    <p:extLst>
      <p:ext uri="{BB962C8B-B14F-4D97-AF65-F5344CB8AC3E}">
        <p14:creationId xmlns:p14="http://schemas.microsoft.com/office/powerpoint/2010/main" val="2933827777"/>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609600" y="1481330"/>
            <a:ext cx="10972800" cy="43860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a16="http://schemas.microsoft.com/office/drawing/2014/main" id="{ABC541A9-C76F-EA05-C2A4-650F5F2E57E0}"/>
              </a:ext>
            </a:extLst>
          </p:cNvPr>
          <p:cNvSpPr>
            <a:spLocks noGrp="1"/>
          </p:cNvSpPr>
          <p:nvPr>
            <p:ph type="dt" sz="half" idx="10"/>
          </p:nvPr>
        </p:nvSpPr>
        <p:spPr/>
        <p:txBody>
          <a:bodyPr/>
          <a:lstStyle>
            <a:lvl1pPr>
              <a:defRPr/>
            </a:lvl1pPr>
          </a:lstStyle>
          <a:p>
            <a:pPr>
              <a:defRPr/>
            </a:pPr>
            <a:endParaRPr lang="en-US"/>
          </a:p>
        </p:txBody>
      </p:sp>
      <p:sp>
        <p:nvSpPr>
          <p:cNvPr id="5" name="Footer Placeholder 21">
            <a:extLst>
              <a:ext uri="{FF2B5EF4-FFF2-40B4-BE49-F238E27FC236}">
                <a16:creationId xmlns:a16="http://schemas.microsoft.com/office/drawing/2014/main" id="{06F8CF93-9B52-544B-FF7F-BA1A2EB1A307}"/>
              </a:ext>
            </a:extLst>
          </p:cNvPr>
          <p:cNvSpPr>
            <a:spLocks noGrp="1"/>
          </p:cNvSpPr>
          <p:nvPr>
            <p:ph type="ftr" sz="quarter" idx="11"/>
          </p:nvPr>
        </p:nvSpPr>
        <p:spPr/>
        <p:txBody>
          <a:bodyPr/>
          <a:lstStyle>
            <a:lvl1pPr>
              <a:defRPr/>
            </a:lvl1pPr>
          </a:lstStyle>
          <a:p>
            <a:pPr>
              <a:defRPr/>
            </a:pPr>
            <a:r>
              <a:rPr lang="en-US" altLang="en-US"/>
              <a:t>Copyright © 2016 McGraw-Hill Education. All rights reserved. No reproduction or distribution without the prior written consent of McGraw-Hill Education.</a:t>
            </a:r>
          </a:p>
        </p:txBody>
      </p:sp>
      <p:sp>
        <p:nvSpPr>
          <p:cNvPr id="6" name="Slide Number Placeholder 17">
            <a:extLst>
              <a:ext uri="{FF2B5EF4-FFF2-40B4-BE49-F238E27FC236}">
                <a16:creationId xmlns:a16="http://schemas.microsoft.com/office/drawing/2014/main" id="{4B06B0B9-213C-CA29-931C-CD9BFF3B38C6}"/>
              </a:ext>
            </a:extLst>
          </p:cNvPr>
          <p:cNvSpPr>
            <a:spLocks noGrp="1"/>
          </p:cNvSpPr>
          <p:nvPr>
            <p:ph type="sldNum" sz="quarter" idx="12"/>
          </p:nvPr>
        </p:nvSpPr>
        <p:spPr/>
        <p:txBody>
          <a:bodyPr/>
          <a:lstStyle>
            <a:lvl1pPr>
              <a:defRPr/>
            </a:lvl1pPr>
          </a:lstStyle>
          <a:p>
            <a:pPr>
              <a:defRPr/>
            </a:pPr>
            <a:fld id="{74E6089F-FB2D-4D63-8622-9A206355E812}" type="slidenum">
              <a:rPr lang="en-US" altLang="en-US"/>
              <a:pPr>
                <a:defRPr/>
              </a:pPr>
              <a:t>‹#›</a:t>
            </a:fld>
            <a:endParaRPr lang="en-US" altLang="en-US"/>
          </a:p>
        </p:txBody>
      </p:sp>
    </p:spTree>
    <p:extLst>
      <p:ext uri="{BB962C8B-B14F-4D97-AF65-F5344CB8AC3E}">
        <p14:creationId xmlns:p14="http://schemas.microsoft.com/office/powerpoint/2010/main" val="2925937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432800" cy="559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a16="http://schemas.microsoft.com/office/drawing/2014/main" id="{24DAEE5E-B7CD-B32A-3FD4-54D2DA3EDD8A}"/>
              </a:ext>
            </a:extLst>
          </p:cNvPr>
          <p:cNvSpPr>
            <a:spLocks noGrp="1"/>
          </p:cNvSpPr>
          <p:nvPr>
            <p:ph type="dt" sz="half" idx="10"/>
          </p:nvPr>
        </p:nvSpPr>
        <p:spPr/>
        <p:txBody>
          <a:bodyPr/>
          <a:lstStyle>
            <a:lvl1pPr>
              <a:defRPr/>
            </a:lvl1pPr>
          </a:lstStyle>
          <a:p>
            <a:pPr>
              <a:defRPr/>
            </a:pPr>
            <a:endParaRPr lang="en-US"/>
          </a:p>
        </p:txBody>
      </p:sp>
      <p:sp>
        <p:nvSpPr>
          <p:cNvPr id="5" name="Footer Placeholder 21">
            <a:extLst>
              <a:ext uri="{FF2B5EF4-FFF2-40B4-BE49-F238E27FC236}">
                <a16:creationId xmlns:a16="http://schemas.microsoft.com/office/drawing/2014/main" id="{FEF7FD4C-7A27-EFB2-F022-C48EAC37F8A4}"/>
              </a:ext>
            </a:extLst>
          </p:cNvPr>
          <p:cNvSpPr>
            <a:spLocks noGrp="1"/>
          </p:cNvSpPr>
          <p:nvPr>
            <p:ph type="ftr" sz="quarter" idx="11"/>
          </p:nvPr>
        </p:nvSpPr>
        <p:spPr/>
        <p:txBody>
          <a:bodyPr/>
          <a:lstStyle>
            <a:lvl1pPr>
              <a:defRPr/>
            </a:lvl1pPr>
          </a:lstStyle>
          <a:p>
            <a:pPr>
              <a:defRPr/>
            </a:pPr>
            <a:r>
              <a:rPr lang="en-US" altLang="en-US"/>
              <a:t>Copyright © 2016 McGraw-Hill Education. All rights reserved. No reproduction or distribution without the prior written consent of McGraw-Hill Education.</a:t>
            </a:r>
          </a:p>
        </p:txBody>
      </p:sp>
      <p:sp>
        <p:nvSpPr>
          <p:cNvPr id="6" name="Slide Number Placeholder 17">
            <a:extLst>
              <a:ext uri="{FF2B5EF4-FFF2-40B4-BE49-F238E27FC236}">
                <a16:creationId xmlns:a16="http://schemas.microsoft.com/office/drawing/2014/main" id="{CE91E221-31E8-1247-38EE-C7C29949CEC6}"/>
              </a:ext>
            </a:extLst>
          </p:cNvPr>
          <p:cNvSpPr>
            <a:spLocks noGrp="1"/>
          </p:cNvSpPr>
          <p:nvPr>
            <p:ph type="sldNum" sz="quarter" idx="12"/>
          </p:nvPr>
        </p:nvSpPr>
        <p:spPr/>
        <p:txBody>
          <a:bodyPr/>
          <a:lstStyle>
            <a:lvl1pPr>
              <a:defRPr/>
            </a:lvl1pPr>
          </a:lstStyle>
          <a:p>
            <a:pPr>
              <a:defRPr/>
            </a:pPr>
            <a:fld id="{F864DDF3-FAD9-4A5A-8F41-C23B3D1F912F}" type="slidenum">
              <a:rPr lang="en-US" altLang="en-US"/>
              <a:pPr>
                <a:defRPr/>
              </a:pPr>
              <a:t>‹#›</a:t>
            </a:fld>
            <a:endParaRPr lang="en-US" altLang="en-US"/>
          </a:p>
        </p:txBody>
      </p:sp>
    </p:spTree>
    <p:extLst>
      <p:ext uri="{BB962C8B-B14F-4D97-AF65-F5344CB8AC3E}">
        <p14:creationId xmlns:p14="http://schemas.microsoft.com/office/powerpoint/2010/main" val="23526951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533400"/>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828801"/>
            <a:ext cx="5384800" cy="4302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828801"/>
            <a:ext cx="5384800" cy="4302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a:extLst>
              <a:ext uri="{FF2B5EF4-FFF2-40B4-BE49-F238E27FC236}">
                <a16:creationId xmlns:a16="http://schemas.microsoft.com/office/drawing/2014/main" id="{596850A2-D1CC-5089-E51B-39269951855A}"/>
              </a:ext>
            </a:extLst>
          </p:cNvPr>
          <p:cNvSpPr>
            <a:spLocks noGrp="1"/>
          </p:cNvSpPr>
          <p:nvPr>
            <p:ph type="dt" sz="half" idx="10"/>
          </p:nvPr>
        </p:nvSpPr>
        <p:spPr/>
        <p:txBody>
          <a:bodyPr/>
          <a:lstStyle>
            <a:lvl1pPr>
              <a:defRPr/>
            </a:lvl1pPr>
          </a:lstStyle>
          <a:p>
            <a:pPr>
              <a:defRPr/>
            </a:pPr>
            <a:endParaRPr lang="en-US"/>
          </a:p>
        </p:txBody>
      </p:sp>
      <p:sp>
        <p:nvSpPr>
          <p:cNvPr id="6" name="Footer Placeholder 21">
            <a:extLst>
              <a:ext uri="{FF2B5EF4-FFF2-40B4-BE49-F238E27FC236}">
                <a16:creationId xmlns:a16="http://schemas.microsoft.com/office/drawing/2014/main" id="{9DF9D77B-0381-1BC6-C794-5985B657EC3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17">
            <a:extLst>
              <a:ext uri="{FF2B5EF4-FFF2-40B4-BE49-F238E27FC236}">
                <a16:creationId xmlns:a16="http://schemas.microsoft.com/office/drawing/2014/main" id="{4AE63BD8-C69D-7F0A-64C3-AD584342C303}"/>
              </a:ext>
            </a:extLst>
          </p:cNvPr>
          <p:cNvSpPr>
            <a:spLocks noGrp="1"/>
          </p:cNvSpPr>
          <p:nvPr>
            <p:ph type="sldNum" sz="quarter" idx="12"/>
          </p:nvPr>
        </p:nvSpPr>
        <p:spPr/>
        <p:txBody>
          <a:bodyPr/>
          <a:lstStyle>
            <a:lvl1pPr>
              <a:defRPr/>
            </a:lvl1pPr>
          </a:lstStyle>
          <a:p>
            <a:pPr>
              <a:defRPr/>
            </a:pPr>
            <a:fld id="{9DE3C9F9-2E65-4F58-B1A0-5CC76A409414}" type="slidenum">
              <a:rPr lang="en-US" altLang="en-US"/>
              <a:pPr>
                <a:defRPr/>
              </a:pPr>
              <a:t>‹#›</a:t>
            </a:fld>
            <a:endParaRPr lang="en-US" altLang="en-US"/>
          </a:p>
        </p:txBody>
      </p:sp>
    </p:spTree>
    <p:extLst>
      <p:ext uri="{BB962C8B-B14F-4D97-AF65-F5344CB8AC3E}">
        <p14:creationId xmlns:p14="http://schemas.microsoft.com/office/powerpoint/2010/main" val="26625330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609600" y="533400"/>
            <a:ext cx="10972800" cy="1143000"/>
          </a:xfrm>
        </p:spPr>
        <p:txBody>
          <a:bodyPr/>
          <a:lstStyle/>
          <a:p>
            <a:r>
              <a:rPr lang="en-US"/>
              <a:t>Click to edit Master title style</a:t>
            </a:r>
          </a:p>
        </p:txBody>
      </p:sp>
      <p:sp>
        <p:nvSpPr>
          <p:cNvPr id="3" name="Chart Placeholder 2"/>
          <p:cNvSpPr>
            <a:spLocks noGrp="1"/>
          </p:cNvSpPr>
          <p:nvPr>
            <p:ph type="chart" idx="1"/>
          </p:nvPr>
        </p:nvSpPr>
        <p:spPr>
          <a:xfrm>
            <a:off x="609600" y="1828801"/>
            <a:ext cx="10972800" cy="4302125"/>
          </a:xfrm>
        </p:spPr>
        <p:txBody>
          <a:bodyPr>
            <a:normAutofit/>
          </a:bodyPr>
          <a:lstStyle/>
          <a:p>
            <a:pPr lvl="0"/>
            <a:endParaRPr lang="en-US" noProof="0"/>
          </a:p>
        </p:txBody>
      </p:sp>
      <p:sp>
        <p:nvSpPr>
          <p:cNvPr id="4" name="Date Placeholder 9">
            <a:extLst>
              <a:ext uri="{FF2B5EF4-FFF2-40B4-BE49-F238E27FC236}">
                <a16:creationId xmlns:a16="http://schemas.microsoft.com/office/drawing/2014/main" id="{D6AEB845-541C-9AA6-8648-0E74541E9E97}"/>
              </a:ext>
            </a:extLst>
          </p:cNvPr>
          <p:cNvSpPr>
            <a:spLocks noGrp="1"/>
          </p:cNvSpPr>
          <p:nvPr>
            <p:ph type="dt" sz="half" idx="10"/>
          </p:nvPr>
        </p:nvSpPr>
        <p:spPr/>
        <p:txBody>
          <a:bodyPr/>
          <a:lstStyle>
            <a:lvl1pPr>
              <a:defRPr/>
            </a:lvl1pPr>
          </a:lstStyle>
          <a:p>
            <a:pPr>
              <a:defRPr/>
            </a:pPr>
            <a:endParaRPr lang="en-US"/>
          </a:p>
        </p:txBody>
      </p:sp>
      <p:sp>
        <p:nvSpPr>
          <p:cNvPr id="5" name="Footer Placeholder 21">
            <a:extLst>
              <a:ext uri="{FF2B5EF4-FFF2-40B4-BE49-F238E27FC236}">
                <a16:creationId xmlns:a16="http://schemas.microsoft.com/office/drawing/2014/main" id="{89C69C42-C521-5E54-347E-33CA15B9AF0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17">
            <a:extLst>
              <a:ext uri="{FF2B5EF4-FFF2-40B4-BE49-F238E27FC236}">
                <a16:creationId xmlns:a16="http://schemas.microsoft.com/office/drawing/2014/main" id="{F547598D-7391-D72E-B157-BC3D3DB3C53E}"/>
              </a:ext>
            </a:extLst>
          </p:cNvPr>
          <p:cNvSpPr>
            <a:spLocks noGrp="1"/>
          </p:cNvSpPr>
          <p:nvPr>
            <p:ph type="sldNum" sz="quarter" idx="12"/>
          </p:nvPr>
        </p:nvSpPr>
        <p:spPr/>
        <p:txBody>
          <a:bodyPr/>
          <a:lstStyle>
            <a:lvl1pPr>
              <a:defRPr/>
            </a:lvl1pPr>
          </a:lstStyle>
          <a:p>
            <a:pPr>
              <a:defRPr/>
            </a:pPr>
            <a:fld id="{C24CB077-96B6-4C82-A6E0-157D311CD20D}" type="slidenum">
              <a:rPr lang="en-US" altLang="en-US"/>
              <a:pPr>
                <a:defRPr/>
              </a:pPr>
              <a:t>‹#›</a:t>
            </a:fld>
            <a:endParaRPr lang="en-US" altLang="en-US"/>
          </a:p>
        </p:txBody>
      </p:sp>
    </p:spTree>
    <p:extLst>
      <p:ext uri="{BB962C8B-B14F-4D97-AF65-F5344CB8AC3E}">
        <p14:creationId xmlns:p14="http://schemas.microsoft.com/office/powerpoint/2010/main" val="18855829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ight Triangle 11">
            <a:extLst>
              <a:ext uri="{FF2B5EF4-FFF2-40B4-BE49-F238E27FC236}">
                <a16:creationId xmlns:a16="http://schemas.microsoft.com/office/drawing/2014/main" id="{D5D32579-18EB-2DDF-984C-BD7EEDD54997}"/>
              </a:ext>
            </a:extLst>
          </p:cNvPr>
          <p:cNvSpPr/>
          <p:nvPr/>
        </p:nvSpPr>
        <p:spPr>
          <a:xfrm>
            <a:off x="0" y="4664075"/>
            <a:ext cx="12200467"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800"/>
          </a:p>
        </p:txBody>
      </p:sp>
      <p:grpSp>
        <p:nvGrpSpPr>
          <p:cNvPr id="3" name="Group 16">
            <a:extLst>
              <a:ext uri="{FF2B5EF4-FFF2-40B4-BE49-F238E27FC236}">
                <a16:creationId xmlns:a16="http://schemas.microsoft.com/office/drawing/2014/main" id="{8549ABD7-EDF1-103E-8008-A9AC0350363B}"/>
              </a:ext>
            </a:extLst>
          </p:cNvPr>
          <p:cNvGrpSpPr>
            <a:grpSpLocks/>
          </p:cNvGrpSpPr>
          <p:nvPr/>
        </p:nvGrpSpPr>
        <p:grpSpPr bwMode="auto">
          <a:xfrm>
            <a:off x="-4233" y="4953000"/>
            <a:ext cx="12196233" cy="1911350"/>
            <a:chOff x="-3765" y="4832896"/>
            <a:chExt cx="9147765" cy="2032192"/>
          </a:xfrm>
        </p:grpSpPr>
        <p:sp>
          <p:nvSpPr>
            <p:cNvPr id="4" name="Freeform 16">
              <a:extLst>
                <a:ext uri="{FF2B5EF4-FFF2-40B4-BE49-F238E27FC236}">
                  <a16:creationId xmlns:a16="http://schemas.microsoft.com/office/drawing/2014/main" id="{492BC8A3-44BF-6390-BEE1-5075FE55EEFB}"/>
                </a:ext>
              </a:extLst>
            </p:cNvPr>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sz="1800">
                <a:ea typeface="+mn-ea"/>
              </a:endParaRPr>
            </a:p>
          </p:txBody>
        </p:sp>
        <p:sp>
          <p:nvSpPr>
            <p:cNvPr id="5" name="Freeform 19">
              <a:extLst>
                <a:ext uri="{FF2B5EF4-FFF2-40B4-BE49-F238E27FC236}">
                  <a16:creationId xmlns:a16="http://schemas.microsoft.com/office/drawing/2014/main" id="{FDF85BE9-41A0-08A2-42DE-EDDE7AC87BC3}"/>
                </a:ext>
              </a:extLst>
            </p:cNvPr>
            <p:cNvSpPr>
              <a:spLocks/>
            </p:cNvSpPr>
            <p:nvPr/>
          </p:nvSpPr>
          <p:spPr bwMode="auto">
            <a:xfrm>
              <a:off x="35926" y="5135025"/>
              <a:ext cx="9108074" cy="838869"/>
            </a:xfrm>
            <a:custGeom>
              <a:avLst/>
              <a:gdLst>
                <a:gd name="T0" fmla="*/ 0 w 5760"/>
                <a:gd name="T1" fmla="*/ 0 h 528"/>
                <a:gd name="T2" fmla="*/ 2147483646 w 5760"/>
                <a:gd name="T3" fmla="*/ 0 h 528"/>
                <a:gd name="T4" fmla="*/ 2147483646 w 5760"/>
                <a:gd name="T5" fmla="*/ 2147483646 h 528"/>
                <a:gd name="T6" fmla="*/ 2147483646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0" y="0"/>
                  </a:moveTo>
                  <a:lnTo>
                    <a:pt x="5760" y="0"/>
                  </a:lnTo>
                  <a:lnTo>
                    <a:pt x="5760" y="528"/>
                  </a:lnTo>
                  <a:lnTo>
                    <a:pt x="48" y="0"/>
                  </a:lnTo>
                </a:path>
              </a:pathLst>
            </a:custGeom>
            <a:solidFill>
              <a:srgbClr val="000000"/>
            </a:soli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a:lstStyle/>
            <a:p>
              <a:endParaRPr lang="zh-CN" altLang="en-US" sz="1800"/>
            </a:p>
          </p:txBody>
        </p:sp>
        <p:sp>
          <p:nvSpPr>
            <p:cNvPr id="6" name="Freeform 19">
              <a:extLst>
                <a:ext uri="{FF2B5EF4-FFF2-40B4-BE49-F238E27FC236}">
                  <a16:creationId xmlns:a16="http://schemas.microsoft.com/office/drawing/2014/main" id="{003F0EA6-ED2B-3BEA-DA6F-22C2F893FCD4}"/>
                </a:ext>
              </a:extLst>
            </p:cNvPr>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800"/>
            </a:p>
          </p:txBody>
        </p:sp>
        <p:cxnSp>
          <p:nvCxnSpPr>
            <p:cNvPr id="7" name="Straight Connector 20">
              <a:extLst>
                <a:ext uri="{FF2B5EF4-FFF2-40B4-BE49-F238E27FC236}">
                  <a16:creationId xmlns:a16="http://schemas.microsoft.com/office/drawing/2014/main" id="{24AB189E-D111-1708-390E-29611022A971}"/>
                </a:ext>
              </a:extLst>
            </p:cNvPr>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914400" y="1752602"/>
            <a:ext cx="103632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lstStyle>
          <a:p>
            <a:r>
              <a:rPr lang="en-US"/>
              <a:t>Click to edit Master title style</a:t>
            </a:r>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Date Placeholder 29">
            <a:extLst>
              <a:ext uri="{FF2B5EF4-FFF2-40B4-BE49-F238E27FC236}">
                <a16:creationId xmlns:a16="http://schemas.microsoft.com/office/drawing/2014/main" id="{73BE8410-2E83-B06A-A4AB-067F54CAE4BE}"/>
              </a:ext>
            </a:extLst>
          </p:cNvPr>
          <p:cNvSpPr>
            <a:spLocks noGrp="1"/>
          </p:cNvSpPr>
          <p:nvPr>
            <p:ph type="dt" sz="half" idx="10"/>
          </p:nvPr>
        </p:nvSpPr>
        <p:spPr/>
        <p:txBody>
          <a:bodyPr/>
          <a:lstStyle>
            <a:lvl1pPr>
              <a:defRPr>
                <a:solidFill>
                  <a:srgbClr val="FFFFFF"/>
                </a:solidFill>
              </a:defRPr>
            </a:lvl1pPr>
          </a:lstStyle>
          <a:p>
            <a:pPr>
              <a:defRPr/>
            </a:pPr>
            <a:endParaRPr lang="en-US"/>
          </a:p>
        </p:txBody>
      </p:sp>
      <p:sp>
        <p:nvSpPr>
          <p:cNvPr id="10" name="Footer Placeholder 18">
            <a:extLst>
              <a:ext uri="{FF2B5EF4-FFF2-40B4-BE49-F238E27FC236}">
                <a16:creationId xmlns:a16="http://schemas.microsoft.com/office/drawing/2014/main" id="{7D8BF832-5B04-4071-E314-E6BBF650219F}"/>
              </a:ext>
            </a:extLst>
          </p:cNvPr>
          <p:cNvSpPr>
            <a:spLocks noGrp="1"/>
          </p:cNvSpPr>
          <p:nvPr>
            <p:ph type="ftr" sz="quarter" idx="11"/>
          </p:nvPr>
        </p:nvSpPr>
        <p:spPr/>
        <p:txBody>
          <a:bodyPr/>
          <a:lstStyle>
            <a:lvl1pPr>
              <a:defRPr>
                <a:solidFill>
                  <a:schemeClr val="accent1">
                    <a:tint val="20000"/>
                  </a:schemeClr>
                </a:solidFill>
              </a:defRPr>
            </a:lvl1pPr>
          </a:lstStyle>
          <a:p>
            <a:pPr>
              <a:defRPr/>
            </a:pPr>
            <a:endParaRPr lang="en-US"/>
          </a:p>
        </p:txBody>
      </p:sp>
      <p:sp>
        <p:nvSpPr>
          <p:cNvPr id="11" name="Slide Number Placeholder 26">
            <a:extLst>
              <a:ext uri="{FF2B5EF4-FFF2-40B4-BE49-F238E27FC236}">
                <a16:creationId xmlns:a16="http://schemas.microsoft.com/office/drawing/2014/main" id="{663E0779-B7B7-5775-0DE3-928852A4FFDF}"/>
              </a:ext>
            </a:extLst>
          </p:cNvPr>
          <p:cNvSpPr>
            <a:spLocks noGrp="1"/>
          </p:cNvSpPr>
          <p:nvPr>
            <p:ph type="sldNum" sz="quarter" idx="12"/>
          </p:nvPr>
        </p:nvSpPr>
        <p:spPr/>
        <p:txBody>
          <a:bodyPr/>
          <a:lstStyle>
            <a:lvl1pPr>
              <a:defRPr>
                <a:solidFill>
                  <a:srgbClr val="FFFFFF"/>
                </a:solidFill>
              </a:defRPr>
            </a:lvl1pPr>
          </a:lstStyle>
          <a:p>
            <a:pPr>
              <a:defRPr/>
            </a:pPr>
            <a:fld id="{F8E97BEB-F436-4E40-84ED-634386ACF64E}" type="slidenum">
              <a:rPr lang="en-US" altLang="en-US"/>
              <a:pPr>
                <a:defRPr/>
              </a:pPr>
              <a:t>‹#›</a:t>
            </a:fld>
            <a:endParaRPr lang="en-US" altLang="en-US"/>
          </a:p>
        </p:txBody>
      </p:sp>
    </p:spTree>
    <p:extLst>
      <p:ext uri="{BB962C8B-B14F-4D97-AF65-F5344CB8AC3E}">
        <p14:creationId xmlns:p14="http://schemas.microsoft.com/office/powerpoint/2010/main" val="26807353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p:txBody>
          <a:bodyPr rtlCol="0"/>
          <a:lstStyle/>
          <a:p>
            <a:r>
              <a:rPr lang="en-US"/>
              <a:t>Click to edit Master title style</a:t>
            </a:r>
          </a:p>
        </p:txBody>
      </p:sp>
      <p:sp>
        <p:nvSpPr>
          <p:cNvPr id="2" name="Date Placeholder 9">
            <a:extLst>
              <a:ext uri="{FF2B5EF4-FFF2-40B4-BE49-F238E27FC236}">
                <a16:creationId xmlns:a16="http://schemas.microsoft.com/office/drawing/2014/main" id="{5A9146B1-7A17-8047-827D-11D05DDA26AD}"/>
              </a:ext>
            </a:extLst>
          </p:cNvPr>
          <p:cNvSpPr>
            <a:spLocks noGrp="1"/>
          </p:cNvSpPr>
          <p:nvPr>
            <p:ph type="dt" sz="half" idx="10"/>
          </p:nvPr>
        </p:nvSpPr>
        <p:spPr/>
        <p:txBody>
          <a:bodyPr/>
          <a:lstStyle>
            <a:lvl1pPr>
              <a:defRPr/>
            </a:lvl1pPr>
          </a:lstStyle>
          <a:p>
            <a:pPr>
              <a:defRPr/>
            </a:pPr>
            <a:endParaRPr lang="en-US"/>
          </a:p>
        </p:txBody>
      </p:sp>
      <p:sp>
        <p:nvSpPr>
          <p:cNvPr id="4" name="Footer Placeholder 21">
            <a:extLst>
              <a:ext uri="{FF2B5EF4-FFF2-40B4-BE49-F238E27FC236}">
                <a16:creationId xmlns:a16="http://schemas.microsoft.com/office/drawing/2014/main" id="{6D40778C-5A0A-D4DE-3047-E0C3A44ACED9}"/>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17">
            <a:extLst>
              <a:ext uri="{FF2B5EF4-FFF2-40B4-BE49-F238E27FC236}">
                <a16:creationId xmlns:a16="http://schemas.microsoft.com/office/drawing/2014/main" id="{7FD1C7B2-50F2-47BF-DEF9-403D8461FAFC}"/>
              </a:ext>
            </a:extLst>
          </p:cNvPr>
          <p:cNvSpPr>
            <a:spLocks noGrp="1"/>
          </p:cNvSpPr>
          <p:nvPr>
            <p:ph type="sldNum" sz="quarter" idx="12"/>
          </p:nvPr>
        </p:nvSpPr>
        <p:spPr/>
        <p:txBody>
          <a:bodyPr/>
          <a:lstStyle>
            <a:lvl1pPr>
              <a:defRPr/>
            </a:lvl1pPr>
          </a:lstStyle>
          <a:p>
            <a:pPr>
              <a:defRPr/>
            </a:pPr>
            <a:fld id="{8E26A623-515D-4C4B-B8DC-F02D7820AEC9}" type="slidenum">
              <a:rPr lang="en-US" altLang="en-US"/>
              <a:pPr>
                <a:defRPr/>
              </a:pPr>
              <a:t>‹#›</a:t>
            </a:fld>
            <a:endParaRPr lang="en-US" altLang="en-US"/>
          </a:p>
        </p:txBody>
      </p:sp>
    </p:spTree>
    <p:extLst>
      <p:ext uri="{BB962C8B-B14F-4D97-AF65-F5344CB8AC3E}">
        <p14:creationId xmlns:p14="http://schemas.microsoft.com/office/powerpoint/2010/main" val="15843712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4" name="Chevron 11">
            <a:extLst>
              <a:ext uri="{FF2B5EF4-FFF2-40B4-BE49-F238E27FC236}">
                <a16:creationId xmlns:a16="http://schemas.microsoft.com/office/drawing/2014/main" id="{031FCCF3-710E-B5F2-A636-9F0F771015FA}"/>
              </a:ext>
            </a:extLst>
          </p:cNvPr>
          <p:cNvSpPr>
            <a:spLocks noChangeArrowheads="1"/>
          </p:cNvSpPr>
          <p:nvPr/>
        </p:nvSpPr>
        <p:spPr bwMode="auto">
          <a:xfrm>
            <a:off x="4849284" y="3005138"/>
            <a:ext cx="243416" cy="228600"/>
          </a:xfrm>
          <a:prstGeom prst="chevron">
            <a:avLst>
              <a:gd name="adj" fmla="val 50000"/>
            </a:avLst>
          </a:prstGeom>
          <a:gradFill rotWithShape="1">
            <a:gsLst>
              <a:gs pos="0">
                <a:srgbClr val="7FC4DD"/>
              </a:gs>
              <a:gs pos="28000">
                <a:srgbClr val="50B8DA"/>
              </a:gs>
              <a:gs pos="100000">
                <a:srgbClr val="1389A6"/>
              </a:gs>
            </a:gsLst>
            <a:lin ang="5400000"/>
          </a:gradFill>
          <a:ln w="3175" cap="rnd">
            <a:solidFill>
              <a:srgbClr val="1E768C"/>
            </a:solidFill>
            <a:miter lim="800000"/>
            <a:headEnd/>
            <a:tailEnd/>
          </a:ln>
          <a:effectLst>
            <a:outerShdw blurRad="50800" dist="25400" dir="5400000" rotWithShape="0">
              <a:srgbClr val="808080">
                <a:alpha val="45998"/>
              </a:srgbClr>
            </a:outerShdw>
          </a:effectLst>
        </p:spPr>
        <p:txBody>
          <a:bodyPr anchor="ctr"/>
          <a:lstStyle/>
          <a:p>
            <a:pPr eaLnBrk="1" hangingPunct="1">
              <a:defRPr/>
            </a:pPr>
            <a:endParaRPr lang="en-US" sz="1800">
              <a:solidFill>
                <a:schemeClr val="lt1"/>
              </a:solidFill>
              <a:latin typeface="+mn-lt"/>
              <a:ea typeface="+mn-ea"/>
            </a:endParaRPr>
          </a:p>
        </p:txBody>
      </p:sp>
      <p:sp>
        <p:nvSpPr>
          <p:cNvPr id="5" name="Chevron 15">
            <a:extLst>
              <a:ext uri="{FF2B5EF4-FFF2-40B4-BE49-F238E27FC236}">
                <a16:creationId xmlns:a16="http://schemas.microsoft.com/office/drawing/2014/main" id="{42ED92B2-8E61-65E6-0A37-2693E3FFB869}"/>
              </a:ext>
            </a:extLst>
          </p:cNvPr>
          <p:cNvSpPr>
            <a:spLocks noChangeArrowheads="1"/>
          </p:cNvSpPr>
          <p:nvPr/>
        </p:nvSpPr>
        <p:spPr bwMode="auto">
          <a:xfrm>
            <a:off x="4599518" y="3005138"/>
            <a:ext cx="245533" cy="228600"/>
          </a:xfrm>
          <a:prstGeom prst="chevron">
            <a:avLst>
              <a:gd name="adj" fmla="val 50000"/>
            </a:avLst>
          </a:prstGeom>
          <a:gradFill rotWithShape="1">
            <a:gsLst>
              <a:gs pos="0">
                <a:srgbClr val="7FC4DD"/>
              </a:gs>
              <a:gs pos="28000">
                <a:srgbClr val="50B8DA"/>
              </a:gs>
              <a:gs pos="100000">
                <a:srgbClr val="1389A6"/>
              </a:gs>
            </a:gsLst>
            <a:lin ang="5400000"/>
          </a:gradFill>
          <a:ln w="3175" cap="rnd">
            <a:solidFill>
              <a:srgbClr val="1E768C"/>
            </a:solidFill>
            <a:miter lim="800000"/>
            <a:headEnd/>
            <a:tailEnd/>
          </a:ln>
          <a:effectLst>
            <a:outerShdw blurRad="50800" dist="25400" dir="5400000" rotWithShape="0">
              <a:srgbClr val="808080">
                <a:alpha val="45998"/>
              </a:srgbClr>
            </a:outerShdw>
          </a:effectLst>
        </p:spPr>
        <p:txBody>
          <a:bodyPr anchor="ctr"/>
          <a:lstStyle/>
          <a:p>
            <a:pPr eaLnBrk="1" hangingPunct="1">
              <a:defRPr/>
            </a:pPr>
            <a:endParaRPr lang="en-US" sz="1800">
              <a:solidFill>
                <a:schemeClr val="lt1"/>
              </a:solidFill>
              <a:latin typeface="+mn-lt"/>
              <a:ea typeface="+mn-ea"/>
            </a:endParaRPr>
          </a:p>
        </p:txBody>
      </p:sp>
      <p:sp>
        <p:nvSpPr>
          <p:cNvPr id="2" name="Title 1"/>
          <p:cNvSpPr>
            <a:spLocks noGrp="1"/>
          </p:cNvSpPr>
          <p:nvPr>
            <p:ph type="title"/>
          </p:nvPr>
        </p:nvSpPr>
        <p:spPr>
          <a:xfrm>
            <a:off x="963168" y="1059712"/>
            <a:ext cx="10363200" cy="1828800"/>
          </a:xfrm>
        </p:spPr>
        <p:txBody>
          <a:bodyPr anchor="b"/>
          <a:lstStyle>
            <a:lvl1pPr algn="r">
              <a:buNone/>
              <a:defRPr sz="4800" b="1" cap="none" baseline="0">
                <a:effectLst>
                  <a:outerShdw blurRad="31750" dist="25400" dir="5400000" algn="tl" rotWithShape="0">
                    <a:srgbClr val="000000">
                      <a:alpha val="25000"/>
                    </a:srgbClr>
                  </a:outerShdw>
                </a:effectLst>
              </a:defRPr>
            </a:lvl1pPr>
          </a:lstStyle>
          <a:p>
            <a:r>
              <a:rPr lang="en-US"/>
              <a:t>Click to edit Master title style</a:t>
            </a:r>
          </a:p>
        </p:txBody>
      </p:sp>
      <p:sp>
        <p:nvSpPr>
          <p:cNvPr id="3" name="Text Placeholder 2"/>
          <p:cNvSpPr>
            <a:spLocks noGrp="1"/>
          </p:cNvSpPr>
          <p:nvPr>
            <p:ph type="body" idx="1"/>
          </p:nvPr>
        </p:nvSpPr>
        <p:spPr>
          <a:xfrm>
            <a:off x="5230284" y="2931712"/>
            <a:ext cx="6096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6" name="Date Placeholder 3">
            <a:extLst>
              <a:ext uri="{FF2B5EF4-FFF2-40B4-BE49-F238E27FC236}">
                <a16:creationId xmlns:a16="http://schemas.microsoft.com/office/drawing/2014/main" id="{53E7D7C9-EAF6-FC15-DF12-497541309BAC}"/>
              </a:ext>
            </a:extLst>
          </p:cNvPr>
          <p:cNvSpPr>
            <a:spLocks noGrp="1"/>
          </p:cNvSpPr>
          <p:nvPr>
            <p:ph type="dt" sz="half" idx="10"/>
          </p:nvPr>
        </p:nvSpPr>
        <p:spPr/>
        <p:txBody>
          <a:bodyPr/>
          <a:lstStyle>
            <a:lvl1pPr>
              <a:defRPr/>
            </a:lvl1pPr>
          </a:lstStyle>
          <a:p>
            <a:pPr>
              <a:defRPr/>
            </a:pPr>
            <a:endParaRPr lang="en-US"/>
          </a:p>
        </p:txBody>
      </p:sp>
      <p:sp>
        <p:nvSpPr>
          <p:cNvPr id="7" name="Footer Placeholder 4">
            <a:extLst>
              <a:ext uri="{FF2B5EF4-FFF2-40B4-BE49-F238E27FC236}">
                <a16:creationId xmlns:a16="http://schemas.microsoft.com/office/drawing/2014/main" id="{504402A5-8A84-189F-6BE7-3ACD9F0725C7}"/>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D02A8DDB-9370-3657-D477-7B2BFE8D59C7}"/>
              </a:ext>
            </a:extLst>
          </p:cNvPr>
          <p:cNvSpPr>
            <a:spLocks noGrp="1"/>
          </p:cNvSpPr>
          <p:nvPr>
            <p:ph type="sldNum" sz="quarter" idx="12"/>
          </p:nvPr>
        </p:nvSpPr>
        <p:spPr/>
        <p:txBody>
          <a:bodyPr/>
          <a:lstStyle>
            <a:lvl1pPr>
              <a:defRPr/>
            </a:lvl1pPr>
          </a:lstStyle>
          <a:p>
            <a:pPr>
              <a:defRPr/>
            </a:pPr>
            <a:fld id="{0952C5E0-69A6-499F-9D27-00B051222FA3}" type="slidenum">
              <a:rPr lang="en-US" altLang="en-US"/>
              <a:pPr>
                <a:defRPr/>
              </a:pPr>
              <a:t>‹#›</a:t>
            </a:fld>
            <a:endParaRPr lang="en-US" altLang="en-US"/>
          </a:p>
        </p:txBody>
      </p:sp>
    </p:spTree>
    <p:extLst>
      <p:ext uri="{BB962C8B-B14F-4D97-AF65-F5344CB8AC3E}">
        <p14:creationId xmlns:p14="http://schemas.microsoft.com/office/powerpoint/2010/main" val="903166390"/>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
        <p:nvSpPr>
          <p:cNvPr id="2" name="Date Placeholder 4">
            <a:extLst>
              <a:ext uri="{FF2B5EF4-FFF2-40B4-BE49-F238E27FC236}">
                <a16:creationId xmlns:a16="http://schemas.microsoft.com/office/drawing/2014/main" id="{B2C5389F-1B6B-39E9-C44C-A67A3330FC0C}"/>
              </a:ext>
            </a:extLst>
          </p:cNvPr>
          <p:cNvSpPr>
            <a:spLocks noGrp="1"/>
          </p:cNvSpPr>
          <p:nvPr>
            <p:ph type="dt" sz="half" idx="10"/>
          </p:nvPr>
        </p:nvSpPr>
        <p:spPr/>
        <p:txBody>
          <a:bodyPr/>
          <a:lstStyle>
            <a:lvl1pPr>
              <a:defRPr/>
            </a:lvl1pPr>
          </a:lstStyle>
          <a:p>
            <a:pPr>
              <a:defRPr/>
            </a:pPr>
            <a:endParaRPr lang="en-US"/>
          </a:p>
        </p:txBody>
      </p:sp>
      <p:sp>
        <p:nvSpPr>
          <p:cNvPr id="5" name="Footer Placeholder 5">
            <a:extLst>
              <a:ext uri="{FF2B5EF4-FFF2-40B4-BE49-F238E27FC236}">
                <a16:creationId xmlns:a16="http://schemas.microsoft.com/office/drawing/2014/main" id="{5E8D57D5-683F-3A71-7CAD-B0F5BEEB6E3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6">
            <a:extLst>
              <a:ext uri="{FF2B5EF4-FFF2-40B4-BE49-F238E27FC236}">
                <a16:creationId xmlns:a16="http://schemas.microsoft.com/office/drawing/2014/main" id="{AAAF0424-91EB-5C01-E6E7-767B3D737CD7}"/>
              </a:ext>
            </a:extLst>
          </p:cNvPr>
          <p:cNvSpPr>
            <a:spLocks noGrp="1"/>
          </p:cNvSpPr>
          <p:nvPr>
            <p:ph type="sldNum" sz="quarter" idx="12"/>
          </p:nvPr>
        </p:nvSpPr>
        <p:spPr/>
        <p:txBody>
          <a:bodyPr/>
          <a:lstStyle>
            <a:lvl1pPr>
              <a:defRPr/>
            </a:lvl1pPr>
          </a:lstStyle>
          <a:p>
            <a:pPr>
              <a:defRPr/>
            </a:pPr>
            <a:fld id="{EB315D60-9A0B-402B-A197-61D5B972BD85}" type="slidenum">
              <a:rPr lang="en-US" altLang="en-US"/>
              <a:pPr>
                <a:defRPr/>
              </a:pPr>
              <a:t>‹#›</a:t>
            </a:fld>
            <a:endParaRPr lang="en-US" altLang="en-US"/>
          </a:p>
        </p:txBody>
      </p:sp>
    </p:spTree>
    <p:extLst>
      <p:ext uri="{BB962C8B-B14F-4D97-AF65-F5344CB8AC3E}">
        <p14:creationId xmlns:p14="http://schemas.microsoft.com/office/powerpoint/2010/main" val="1205616828"/>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00B7EE4-D5A9-FBE9-81FA-3CDCB8DC561E}"/>
              </a:ext>
            </a:extLst>
          </p:cNvPr>
          <p:cNvSpPr>
            <a:spLocks noGrp="1"/>
          </p:cNvSpPr>
          <p:nvPr>
            <p:ph type="dt" sz="half" idx="10"/>
          </p:nvPr>
        </p:nvSpPr>
        <p:spPr/>
        <p:txBody>
          <a:bodyPr/>
          <a:lstStyle>
            <a:lvl1pPr>
              <a:defRPr/>
            </a:lvl1pPr>
          </a:lstStyle>
          <a:p>
            <a:pPr>
              <a:defRPr/>
            </a:pPr>
            <a:endParaRPr lang="en-US"/>
          </a:p>
        </p:txBody>
      </p:sp>
      <p:sp>
        <p:nvSpPr>
          <p:cNvPr id="8" name="Footer Placeholder 7">
            <a:extLst>
              <a:ext uri="{FF2B5EF4-FFF2-40B4-BE49-F238E27FC236}">
                <a16:creationId xmlns:a16="http://schemas.microsoft.com/office/drawing/2014/main" id="{49AD71DE-0272-B287-3A69-E23E20468D0A}"/>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8">
            <a:extLst>
              <a:ext uri="{FF2B5EF4-FFF2-40B4-BE49-F238E27FC236}">
                <a16:creationId xmlns:a16="http://schemas.microsoft.com/office/drawing/2014/main" id="{03F845EE-1FD9-5EEE-51E4-A6C926F4104B}"/>
              </a:ext>
            </a:extLst>
          </p:cNvPr>
          <p:cNvSpPr>
            <a:spLocks noGrp="1"/>
          </p:cNvSpPr>
          <p:nvPr>
            <p:ph type="sldNum" sz="quarter" idx="12"/>
          </p:nvPr>
        </p:nvSpPr>
        <p:spPr/>
        <p:txBody>
          <a:bodyPr/>
          <a:lstStyle>
            <a:lvl1pPr>
              <a:defRPr/>
            </a:lvl1pPr>
          </a:lstStyle>
          <a:p>
            <a:pPr>
              <a:defRPr/>
            </a:pPr>
            <a:fld id="{A645ADB0-3C68-477D-A0B6-700B06530AF0}" type="slidenum">
              <a:rPr lang="en-US" altLang="en-US"/>
              <a:pPr>
                <a:defRPr/>
              </a:pPr>
              <a:t>‹#›</a:t>
            </a:fld>
            <a:endParaRPr lang="en-US" altLang="en-US"/>
          </a:p>
        </p:txBody>
      </p:sp>
    </p:spTree>
    <p:extLst>
      <p:ext uri="{BB962C8B-B14F-4D97-AF65-F5344CB8AC3E}">
        <p14:creationId xmlns:p14="http://schemas.microsoft.com/office/powerpoint/2010/main" val="2822979105"/>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
        <p:nvSpPr>
          <p:cNvPr id="2" name="Date Placeholder 2">
            <a:extLst>
              <a:ext uri="{FF2B5EF4-FFF2-40B4-BE49-F238E27FC236}">
                <a16:creationId xmlns:a16="http://schemas.microsoft.com/office/drawing/2014/main" id="{3A8AD919-2A58-7C53-4384-8569EFC41AC1}"/>
              </a:ext>
            </a:extLst>
          </p:cNvPr>
          <p:cNvSpPr>
            <a:spLocks noGrp="1"/>
          </p:cNvSpPr>
          <p:nvPr>
            <p:ph type="dt" sz="half" idx="10"/>
          </p:nvPr>
        </p:nvSpPr>
        <p:spPr/>
        <p:txBody>
          <a:bodyPr/>
          <a:lstStyle>
            <a:lvl1pPr>
              <a:defRPr/>
            </a:lvl1pPr>
          </a:lstStyle>
          <a:p>
            <a:pPr>
              <a:defRPr/>
            </a:pPr>
            <a:endParaRPr lang="en-US"/>
          </a:p>
        </p:txBody>
      </p:sp>
      <p:sp>
        <p:nvSpPr>
          <p:cNvPr id="3" name="Footer Placeholder 3">
            <a:extLst>
              <a:ext uri="{FF2B5EF4-FFF2-40B4-BE49-F238E27FC236}">
                <a16:creationId xmlns:a16="http://schemas.microsoft.com/office/drawing/2014/main" id="{9DADAF87-D98A-8369-19C2-D05B9AEB3B8E}"/>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4">
            <a:extLst>
              <a:ext uri="{FF2B5EF4-FFF2-40B4-BE49-F238E27FC236}">
                <a16:creationId xmlns:a16="http://schemas.microsoft.com/office/drawing/2014/main" id="{FDD4157A-90DA-EB57-481C-AD56BCB05B04}"/>
              </a:ext>
            </a:extLst>
          </p:cNvPr>
          <p:cNvSpPr>
            <a:spLocks noGrp="1"/>
          </p:cNvSpPr>
          <p:nvPr>
            <p:ph type="sldNum" sz="quarter" idx="12"/>
          </p:nvPr>
        </p:nvSpPr>
        <p:spPr/>
        <p:txBody>
          <a:bodyPr/>
          <a:lstStyle>
            <a:lvl1pPr>
              <a:defRPr/>
            </a:lvl1pPr>
          </a:lstStyle>
          <a:p>
            <a:pPr>
              <a:defRPr/>
            </a:pPr>
            <a:fld id="{41D095CD-B02E-4A29-9B5F-A6CD4348B041}" type="slidenum">
              <a:rPr lang="en-US" altLang="en-US"/>
              <a:pPr>
                <a:defRPr/>
              </a:pPr>
              <a:t>‹#›</a:t>
            </a:fld>
            <a:endParaRPr lang="en-US" altLang="en-US"/>
          </a:p>
        </p:txBody>
      </p:sp>
    </p:spTree>
    <p:extLst>
      <p:ext uri="{BB962C8B-B14F-4D97-AF65-F5344CB8AC3E}">
        <p14:creationId xmlns:p14="http://schemas.microsoft.com/office/powerpoint/2010/main" val="3189972250"/>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a:extLst>
              <a:ext uri="{FF2B5EF4-FFF2-40B4-BE49-F238E27FC236}">
                <a16:creationId xmlns:a16="http://schemas.microsoft.com/office/drawing/2014/main" id="{347134A4-08C8-2563-5116-505709D3F63B}"/>
              </a:ext>
            </a:extLst>
          </p:cNvPr>
          <p:cNvSpPr>
            <a:spLocks noGrp="1"/>
          </p:cNvSpPr>
          <p:nvPr>
            <p:ph type="dt" sz="half" idx="10"/>
          </p:nvPr>
        </p:nvSpPr>
        <p:spPr/>
        <p:txBody>
          <a:bodyPr/>
          <a:lstStyle>
            <a:lvl1pPr>
              <a:defRPr/>
            </a:lvl1pPr>
          </a:lstStyle>
          <a:p>
            <a:pPr>
              <a:defRPr/>
            </a:pPr>
            <a:endParaRPr lang="en-US"/>
          </a:p>
        </p:txBody>
      </p:sp>
      <p:sp>
        <p:nvSpPr>
          <p:cNvPr id="3" name="Footer Placeholder 21">
            <a:extLst>
              <a:ext uri="{FF2B5EF4-FFF2-40B4-BE49-F238E27FC236}">
                <a16:creationId xmlns:a16="http://schemas.microsoft.com/office/drawing/2014/main" id="{7C237A39-9780-BF65-E045-4A0F33EFE251}"/>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17">
            <a:extLst>
              <a:ext uri="{FF2B5EF4-FFF2-40B4-BE49-F238E27FC236}">
                <a16:creationId xmlns:a16="http://schemas.microsoft.com/office/drawing/2014/main" id="{1F1485F0-61A5-2BE4-2B5C-1AABCE3650B2}"/>
              </a:ext>
            </a:extLst>
          </p:cNvPr>
          <p:cNvSpPr>
            <a:spLocks noGrp="1"/>
          </p:cNvSpPr>
          <p:nvPr>
            <p:ph type="sldNum" sz="quarter" idx="12"/>
          </p:nvPr>
        </p:nvSpPr>
        <p:spPr/>
        <p:txBody>
          <a:bodyPr/>
          <a:lstStyle>
            <a:lvl1pPr>
              <a:defRPr/>
            </a:lvl1pPr>
          </a:lstStyle>
          <a:p>
            <a:pPr>
              <a:defRPr/>
            </a:pPr>
            <a:fld id="{6E3196BF-002C-4CEB-8A50-42D4DBB59FF3}" type="slidenum">
              <a:rPr lang="en-US" altLang="en-US"/>
              <a:pPr>
                <a:defRPr/>
              </a:pPr>
              <a:t>‹#›</a:t>
            </a:fld>
            <a:endParaRPr lang="en-US" altLang="en-US"/>
          </a:p>
        </p:txBody>
      </p:sp>
    </p:spTree>
    <p:extLst>
      <p:ext uri="{BB962C8B-B14F-4D97-AF65-F5344CB8AC3E}">
        <p14:creationId xmlns:p14="http://schemas.microsoft.com/office/powerpoint/2010/main" val="32041761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4876800"/>
            <a:ext cx="9975701" cy="457200"/>
          </a:xfrm>
        </p:spPr>
        <p:txBody>
          <a:bodyPr anchor="t">
            <a:noAutofit/>
            <a:sp3d prstMaterial="softEdge">
              <a:bevelT w="0" h="0"/>
            </a:sp3d>
          </a:bodyPr>
          <a:lstStyle>
            <a:lvl1pPr algn="r">
              <a:buNone/>
              <a:defRPr sz="2500" b="0">
                <a:solidFill>
                  <a:schemeClr val="accent1"/>
                </a:solidFill>
                <a:effectLst/>
              </a:defRPr>
            </a:lvl1pPr>
          </a:lstStyle>
          <a:p>
            <a:r>
              <a:rPr lang="en-US"/>
              <a:t>Click to edit Master title style</a:t>
            </a:r>
          </a:p>
        </p:txBody>
      </p:sp>
      <p:sp>
        <p:nvSpPr>
          <p:cNvPr id="3" name="Text Placeholder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6F614C-2399-13AB-0051-C246D1C982F3}"/>
              </a:ext>
            </a:extLst>
          </p:cNvPr>
          <p:cNvSpPr>
            <a:spLocks noGrp="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6CD0C2EC-1DD5-9793-E2E8-1285CDABF610}"/>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F34E7FB4-198E-2015-D0FB-946944AC2B5C}"/>
              </a:ext>
            </a:extLst>
          </p:cNvPr>
          <p:cNvSpPr>
            <a:spLocks noGrp="1"/>
          </p:cNvSpPr>
          <p:nvPr>
            <p:ph type="sldNum" sz="quarter" idx="12"/>
          </p:nvPr>
        </p:nvSpPr>
        <p:spPr/>
        <p:txBody>
          <a:bodyPr/>
          <a:lstStyle>
            <a:lvl1pPr>
              <a:defRPr/>
            </a:lvl1pPr>
          </a:lstStyle>
          <a:p>
            <a:pPr>
              <a:defRPr/>
            </a:pPr>
            <a:fld id="{EEA3FD24-5A83-46AA-92A1-8C1F13BD0EBC}" type="slidenum">
              <a:rPr lang="en-US" altLang="en-US"/>
              <a:pPr>
                <a:defRPr/>
              </a:pPr>
              <a:t>‹#›</a:t>
            </a:fld>
            <a:endParaRPr lang="en-US" altLang="en-US"/>
          </a:p>
        </p:txBody>
      </p:sp>
    </p:spTree>
    <p:extLst>
      <p:ext uri="{BB962C8B-B14F-4D97-AF65-F5344CB8AC3E}">
        <p14:creationId xmlns:p14="http://schemas.microsoft.com/office/powerpoint/2010/main" val="967673368"/>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5" name="Freeform 11">
            <a:extLst>
              <a:ext uri="{FF2B5EF4-FFF2-40B4-BE49-F238E27FC236}">
                <a16:creationId xmlns:a16="http://schemas.microsoft.com/office/drawing/2014/main" id="{D354188A-9708-070F-FEDC-8DCE82289BB7}"/>
              </a:ext>
            </a:extLst>
          </p:cNvPr>
          <p:cNvSpPr>
            <a:spLocks/>
          </p:cNvSpPr>
          <p:nvPr/>
        </p:nvSpPr>
        <p:spPr bwMode="auto">
          <a:xfrm>
            <a:off x="666751" y="5945188"/>
            <a:ext cx="6587067"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sz="1800">
              <a:ea typeface="+mn-ea"/>
            </a:endParaRPr>
          </a:p>
        </p:txBody>
      </p:sp>
      <p:sp>
        <p:nvSpPr>
          <p:cNvPr id="6" name="Freeform 16">
            <a:extLst>
              <a:ext uri="{FF2B5EF4-FFF2-40B4-BE49-F238E27FC236}">
                <a16:creationId xmlns:a16="http://schemas.microsoft.com/office/drawing/2014/main" id="{3776133E-68DC-BA08-FBA1-0ABA10BC85AF}"/>
              </a:ext>
            </a:extLst>
          </p:cNvPr>
          <p:cNvSpPr>
            <a:spLocks/>
          </p:cNvSpPr>
          <p:nvPr/>
        </p:nvSpPr>
        <p:spPr bwMode="auto">
          <a:xfrm>
            <a:off x="647700" y="5938838"/>
            <a:ext cx="4921251" cy="933450"/>
          </a:xfrm>
          <a:custGeom>
            <a:avLst/>
            <a:gdLst>
              <a:gd name="T0" fmla="*/ 0 w 5591"/>
              <a:gd name="T1" fmla="*/ 0 h 588"/>
              <a:gd name="T2" fmla="*/ 2147483646 w 5591"/>
              <a:gd name="T3" fmla="*/ 0 h 588"/>
              <a:gd name="T4" fmla="*/ 2147483646 w 5591"/>
              <a:gd name="T5" fmla="*/ 2147483646 h 588"/>
              <a:gd name="T6" fmla="*/ 2147483646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a:lstStyle/>
          <a:p>
            <a:endParaRPr lang="zh-CN" altLang="en-US" sz="1800"/>
          </a:p>
        </p:txBody>
      </p:sp>
      <p:sp>
        <p:nvSpPr>
          <p:cNvPr id="7" name="Right Triangle 16">
            <a:extLst>
              <a:ext uri="{FF2B5EF4-FFF2-40B4-BE49-F238E27FC236}">
                <a16:creationId xmlns:a16="http://schemas.microsoft.com/office/drawing/2014/main" id="{D99CDBFC-33C5-A5EC-784A-8018A6C77157}"/>
              </a:ext>
            </a:extLst>
          </p:cNvPr>
          <p:cNvSpPr>
            <a:spLocks/>
          </p:cNvSpPr>
          <p:nvPr/>
        </p:nvSpPr>
        <p:spPr bwMode="auto">
          <a:xfrm>
            <a:off x="-8056" y="5791253"/>
            <a:ext cx="4536419" cy="1080868"/>
          </a:xfrm>
          <a:prstGeom prst="rtTriangle">
            <a:avLst/>
          </a:prstGeom>
          <a:blipFill>
            <a:blip r:embed="rId4">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800"/>
          </a:p>
        </p:txBody>
      </p:sp>
      <p:cxnSp>
        <p:nvCxnSpPr>
          <p:cNvPr id="8" name="Straight Connector 18">
            <a:extLst>
              <a:ext uri="{FF2B5EF4-FFF2-40B4-BE49-F238E27FC236}">
                <a16:creationId xmlns:a16="http://schemas.microsoft.com/office/drawing/2014/main" id="{6A53BF9F-C410-5663-88C9-0D7DF214824D}"/>
              </a:ext>
            </a:extLst>
          </p:cNvPr>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19">
            <a:extLst>
              <a:ext uri="{FF2B5EF4-FFF2-40B4-BE49-F238E27FC236}">
                <a16:creationId xmlns:a16="http://schemas.microsoft.com/office/drawing/2014/main" id="{048A04FA-779B-0422-3989-DC547F416E11}"/>
              </a:ext>
            </a:extLst>
          </p:cNvPr>
          <p:cNvSpPr>
            <a:spLocks noChangeArrowheads="1"/>
          </p:cNvSpPr>
          <p:nvPr/>
        </p:nvSpPr>
        <p:spPr bwMode="auto">
          <a:xfrm>
            <a:off x="11552768" y="4987925"/>
            <a:ext cx="243417" cy="228600"/>
          </a:xfrm>
          <a:prstGeom prst="chevron">
            <a:avLst>
              <a:gd name="adj" fmla="val 50000"/>
            </a:avLst>
          </a:prstGeom>
          <a:gradFill rotWithShape="1">
            <a:gsLst>
              <a:gs pos="0">
                <a:srgbClr val="7FC4DD"/>
              </a:gs>
              <a:gs pos="28000">
                <a:srgbClr val="50B8DA"/>
              </a:gs>
              <a:gs pos="100000">
                <a:srgbClr val="1389A6"/>
              </a:gs>
            </a:gsLst>
            <a:lin ang="5400000"/>
          </a:gradFill>
          <a:ln w="3175" cap="rnd">
            <a:solidFill>
              <a:srgbClr val="1E768C"/>
            </a:solidFill>
            <a:miter lim="800000"/>
            <a:headEnd/>
            <a:tailEnd/>
          </a:ln>
          <a:effectLst>
            <a:outerShdw blurRad="50800" dist="25400" dir="5400000" rotWithShape="0">
              <a:srgbClr val="808080">
                <a:alpha val="45998"/>
              </a:srgbClr>
            </a:outerShdw>
          </a:effectLst>
        </p:spPr>
        <p:txBody>
          <a:bodyPr anchor="ctr"/>
          <a:lstStyle/>
          <a:p>
            <a:pPr eaLnBrk="1" hangingPunct="1">
              <a:defRPr/>
            </a:pPr>
            <a:endParaRPr lang="en-US" sz="1800">
              <a:solidFill>
                <a:schemeClr val="lt1"/>
              </a:solidFill>
              <a:latin typeface="+mn-lt"/>
              <a:ea typeface="+mn-ea"/>
            </a:endParaRPr>
          </a:p>
        </p:txBody>
      </p:sp>
      <p:sp>
        <p:nvSpPr>
          <p:cNvPr id="10" name="Chevron 20">
            <a:extLst>
              <a:ext uri="{FF2B5EF4-FFF2-40B4-BE49-F238E27FC236}">
                <a16:creationId xmlns:a16="http://schemas.microsoft.com/office/drawing/2014/main" id="{B15A26F8-F739-7741-4846-8E98DDA41259}"/>
              </a:ext>
            </a:extLst>
          </p:cNvPr>
          <p:cNvSpPr>
            <a:spLocks noChangeArrowheads="1"/>
          </p:cNvSpPr>
          <p:nvPr/>
        </p:nvSpPr>
        <p:spPr bwMode="auto">
          <a:xfrm>
            <a:off x="11303001" y="4987925"/>
            <a:ext cx="243417" cy="228600"/>
          </a:xfrm>
          <a:prstGeom prst="chevron">
            <a:avLst>
              <a:gd name="adj" fmla="val 50000"/>
            </a:avLst>
          </a:prstGeom>
          <a:gradFill rotWithShape="1">
            <a:gsLst>
              <a:gs pos="0">
                <a:srgbClr val="7FC4DD"/>
              </a:gs>
              <a:gs pos="28000">
                <a:srgbClr val="50B8DA"/>
              </a:gs>
              <a:gs pos="100000">
                <a:srgbClr val="1389A6"/>
              </a:gs>
            </a:gsLst>
            <a:lin ang="5400000"/>
          </a:gradFill>
          <a:ln w="3175" cap="rnd">
            <a:solidFill>
              <a:srgbClr val="1E768C"/>
            </a:solidFill>
            <a:miter lim="800000"/>
            <a:headEnd/>
            <a:tailEnd/>
          </a:ln>
          <a:effectLst>
            <a:outerShdw blurRad="50800" dist="25400" dir="5400000" rotWithShape="0">
              <a:srgbClr val="808080">
                <a:alpha val="45998"/>
              </a:srgbClr>
            </a:outerShdw>
          </a:effectLst>
        </p:spPr>
        <p:txBody>
          <a:bodyPr anchor="ctr"/>
          <a:lstStyle/>
          <a:p>
            <a:pPr eaLnBrk="1" hangingPunct="1">
              <a:defRPr/>
            </a:pPr>
            <a:endParaRPr lang="en-US" sz="1800">
              <a:solidFill>
                <a:schemeClr val="lt1"/>
              </a:solidFill>
              <a:latin typeface="+mn-lt"/>
              <a:ea typeface="+mn-ea"/>
            </a:endParaRPr>
          </a:p>
        </p:txBody>
      </p:sp>
      <p:sp>
        <p:nvSpPr>
          <p:cNvPr id="4" name="Text Placeholder 3"/>
          <p:cNvSpPr>
            <a:spLocks noGrp="1"/>
          </p:cNvSpPr>
          <p:nvPr>
            <p:ph type="body" sz="half" idx="2"/>
          </p:nvPr>
        </p:nvSpPr>
        <p:spPr>
          <a:xfrm>
            <a:off x="1521643" y="5443402"/>
            <a:ext cx="9550400" cy="648232"/>
          </a:xfrm>
          <a:noFill/>
        </p:spPr>
        <p:txBody>
          <a:bodyPr tIns="0"/>
          <a:lstStyle>
            <a:lvl1pPr marL="0" marR="18288" indent="0" algn="r">
              <a:buNone/>
              <a:defRPr sz="14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lstStyle>
          <a:p>
            <a:pPr lvl="0"/>
            <a:r>
              <a:rPr lang="en-US" noProof="0"/>
              <a:t>Click icon to add picture</a:t>
            </a:r>
            <a:endParaRPr lang="en-US" noProof="0" dirty="0"/>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lstStyle>
          <a:p>
            <a:r>
              <a:rPr lang="en-US"/>
              <a:t>Click to edit Master title style</a:t>
            </a:r>
          </a:p>
        </p:txBody>
      </p:sp>
      <p:sp>
        <p:nvSpPr>
          <p:cNvPr id="11" name="Date Placeholder 4">
            <a:extLst>
              <a:ext uri="{FF2B5EF4-FFF2-40B4-BE49-F238E27FC236}">
                <a16:creationId xmlns:a16="http://schemas.microsoft.com/office/drawing/2014/main" id="{1A268B33-CA89-D83F-E1CA-DF554466CDA8}"/>
              </a:ext>
            </a:extLst>
          </p:cNvPr>
          <p:cNvSpPr>
            <a:spLocks noGrp="1"/>
          </p:cNvSpPr>
          <p:nvPr>
            <p:ph type="dt" sz="half" idx="10"/>
          </p:nvPr>
        </p:nvSpPr>
        <p:spPr/>
        <p:txBody>
          <a:bodyPr/>
          <a:lstStyle>
            <a:lvl1pPr>
              <a:defRPr>
                <a:solidFill>
                  <a:schemeClr val="tx1"/>
                </a:solidFill>
              </a:defRPr>
            </a:lvl1pPr>
          </a:lstStyle>
          <a:p>
            <a:pPr>
              <a:defRPr/>
            </a:pPr>
            <a:endParaRPr lang="en-US"/>
          </a:p>
        </p:txBody>
      </p:sp>
      <p:sp>
        <p:nvSpPr>
          <p:cNvPr id="12" name="Footer Placeholder 5">
            <a:extLst>
              <a:ext uri="{FF2B5EF4-FFF2-40B4-BE49-F238E27FC236}">
                <a16:creationId xmlns:a16="http://schemas.microsoft.com/office/drawing/2014/main" id="{58858610-BDDC-4624-2C96-AD8EE19FFF96}"/>
              </a:ext>
            </a:extLst>
          </p:cNvPr>
          <p:cNvSpPr>
            <a:spLocks noGrp="1"/>
          </p:cNvSpPr>
          <p:nvPr>
            <p:ph type="ftr" sz="quarter" idx="11"/>
          </p:nvPr>
        </p:nvSpPr>
        <p:spPr/>
        <p:txBody>
          <a:bodyPr/>
          <a:lstStyle>
            <a:lvl1pPr>
              <a:defRPr>
                <a:solidFill>
                  <a:schemeClr val="tx1"/>
                </a:solidFill>
              </a:defRPr>
            </a:lvl1pPr>
          </a:lstStyle>
          <a:p>
            <a:pPr>
              <a:defRPr/>
            </a:pPr>
            <a:endParaRPr lang="en-US"/>
          </a:p>
        </p:txBody>
      </p:sp>
      <p:sp>
        <p:nvSpPr>
          <p:cNvPr id="13" name="Slide Number Placeholder 6">
            <a:extLst>
              <a:ext uri="{FF2B5EF4-FFF2-40B4-BE49-F238E27FC236}">
                <a16:creationId xmlns:a16="http://schemas.microsoft.com/office/drawing/2014/main" id="{CFB3564C-2B17-BE7A-27B7-781B39237856}"/>
              </a:ext>
            </a:extLst>
          </p:cNvPr>
          <p:cNvSpPr>
            <a:spLocks noGrp="1"/>
          </p:cNvSpPr>
          <p:nvPr>
            <p:ph type="sldNum" sz="quarter" idx="12"/>
          </p:nvPr>
        </p:nvSpPr>
        <p:spPr/>
        <p:txBody>
          <a:bodyPr/>
          <a:lstStyle>
            <a:lvl1pPr>
              <a:defRPr/>
            </a:lvl1pPr>
          </a:lstStyle>
          <a:p>
            <a:pPr>
              <a:defRPr/>
            </a:pPr>
            <a:fld id="{CC13D338-2B0E-462B-BF98-6106D48E492C}" type="slidenum">
              <a:rPr lang="en-US" altLang="en-US"/>
              <a:pPr>
                <a:defRPr/>
              </a:pPr>
              <a:t>‹#›</a:t>
            </a:fld>
            <a:endParaRPr lang="en-US" altLang="en-US"/>
          </a:p>
        </p:txBody>
      </p:sp>
    </p:spTree>
    <p:extLst>
      <p:ext uri="{BB962C8B-B14F-4D97-AF65-F5344CB8AC3E}">
        <p14:creationId xmlns:p14="http://schemas.microsoft.com/office/powerpoint/2010/main" val="1059619580"/>
      </p:ext>
    </p:extLst>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609600" y="1481330"/>
            <a:ext cx="10972800" cy="43860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a16="http://schemas.microsoft.com/office/drawing/2014/main" id="{FB8D3BEC-878D-1E9F-F3D5-3900766C20D5}"/>
              </a:ext>
            </a:extLst>
          </p:cNvPr>
          <p:cNvSpPr>
            <a:spLocks noGrp="1"/>
          </p:cNvSpPr>
          <p:nvPr>
            <p:ph type="dt" sz="half" idx="10"/>
          </p:nvPr>
        </p:nvSpPr>
        <p:spPr/>
        <p:txBody>
          <a:bodyPr/>
          <a:lstStyle>
            <a:lvl1pPr>
              <a:defRPr/>
            </a:lvl1pPr>
          </a:lstStyle>
          <a:p>
            <a:pPr>
              <a:defRPr/>
            </a:pPr>
            <a:endParaRPr lang="en-US"/>
          </a:p>
        </p:txBody>
      </p:sp>
      <p:sp>
        <p:nvSpPr>
          <p:cNvPr id="5" name="Footer Placeholder 21">
            <a:extLst>
              <a:ext uri="{FF2B5EF4-FFF2-40B4-BE49-F238E27FC236}">
                <a16:creationId xmlns:a16="http://schemas.microsoft.com/office/drawing/2014/main" id="{96B29AC7-B967-737E-74C7-0B0DF4FA82C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17">
            <a:extLst>
              <a:ext uri="{FF2B5EF4-FFF2-40B4-BE49-F238E27FC236}">
                <a16:creationId xmlns:a16="http://schemas.microsoft.com/office/drawing/2014/main" id="{7729138A-8B20-BE5D-7ABE-953C5F969CA2}"/>
              </a:ext>
            </a:extLst>
          </p:cNvPr>
          <p:cNvSpPr>
            <a:spLocks noGrp="1"/>
          </p:cNvSpPr>
          <p:nvPr>
            <p:ph type="sldNum" sz="quarter" idx="12"/>
          </p:nvPr>
        </p:nvSpPr>
        <p:spPr/>
        <p:txBody>
          <a:bodyPr/>
          <a:lstStyle>
            <a:lvl1pPr>
              <a:defRPr/>
            </a:lvl1pPr>
          </a:lstStyle>
          <a:p>
            <a:pPr>
              <a:defRPr/>
            </a:pPr>
            <a:fld id="{D4747FE4-A075-4C53-B432-1C97F5468D9F}" type="slidenum">
              <a:rPr lang="en-US" altLang="en-US"/>
              <a:pPr>
                <a:defRPr/>
              </a:pPr>
              <a:t>‹#›</a:t>
            </a:fld>
            <a:endParaRPr lang="en-US" altLang="en-US"/>
          </a:p>
        </p:txBody>
      </p:sp>
    </p:spTree>
    <p:extLst>
      <p:ext uri="{BB962C8B-B14F-4D97-AF65-F5344CB8AC3E}">
        <p14:creationId xmlns:p14="http://schemas.microsoft.com/office/powerpoint/2010/main" val="8286777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432800" cy="559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a16="http://schemas.microsoft.com/office/drawing/2014/main" id="{9B92BEEB-5F25-8FD2-39AB-CD62D985AF5B}"/>
              </a:ext>
            </a:extLst>
          </p:cNvPr>
          <p:cNvSpPr>
            <a:spLocks noGrp="1"/>
          </p:cNvSpPr>
          <p:nvPr>
            <p:ph type="dt" sz="half" idx="10"/>
          </p:nvPr>
        </p:nvSpPr>
        <p:spPr/>
        <p:txBody>
          <a:bodyPr/>
          <a:lstStyle>
            <a:lvl1pPr>
              <a:defRPr/>
            </a:lvl1pPr>
          </a:lstStyle>
          <a:p>
            <a:pPr>
              <a:defRPr/>
            </a:pPr>
            <a:endParaRPr lang="en-US"/>
          </a:p>
        </p:txBody>
      </p:sp>
      <p:sp>
        <p:nvSpPr>
          <p:cNvPr id="5" name="Footer Placeholder 21">
            <a:extLst>
              <a:ext uri="{FF2B5EF4-FFF2-40B4-BE49-F238E27FC236}">
                <a16:creationId xmlns:a16="http://schemas.microsoft.com/office/drawing/2014/main" id="{7BA82803-2590-ADF2-4493-CDA76E07B46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17">
            <a:extLst>
              <a:ext uri="{FF2B5EF4-FFF2-40B4-BE49-F238E27FC236}">
                <a16:creationId xmlns:a16="http://schemas.microsoft.com/office/drawing/2014/main" id="{F2DDB10B-C408-3053-0884-29F850E3AD8C}"/>
              </a:ext>
            </a:extLst>
          </p:cNvPr>
          <p:cNvSpPr>
            <a:spLocks noGrp="1"/>
          </p:cNvSpPr>
          <p:nvPr>
            <p:ph type="sldNum" sz="quarter" idx="12"/>
          </p:nvPr>
        </p:nvSpPr>
        <p:spPr/>
        <p:txBody>
          <a:bodyPr/>
          <a:lstStyle>
            <a:lvl1pPr>
              <a:defRPr/>
            </a:lvl1pPr>
          </a:lstStyle>
          <a:p>
            <a:pPr>
              <a:defRPr/>
            </a:pPr>
            <a:fld id="{BC3EABAE-EB27-41B4-8763-8C2B92875DE7}" type="slidenum">
              <a:rPr lang="en-US" altLang="en-US"/>
              <a:pPr>
                <a:defRPr/>
              </a:pPr>
              <a:t>‹#›</a:t>
            </a:fld>
            <a:endParaRPr lang="en-US" altLang="en-US"/>
          </a:p>
        </p:txBody>
      </p:sp>
    </p:spTree>
    <p:extLst>
      <p:ext uri="{BB962C8B-B14F-4D97-AF65-F5344CB8AC3E}">
        <p14:creationId xmlns:p14="http://schemas.microsoft.com/office/powerpoint/2010/main" val="18027700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533400"/>
            <a:ext cx="10972800" cy="1143000"/>
          </a:xfrm>
        </p:spPr>
        <p:txBody>
          <a:bodyPr/>
          <a:lstStyle/>
          <a:p>
            <a:r>
              <a:rPr lang="en-US"/>
              <a:t>Click to edit Master title style</a:t>
            </a:r>
          </a:p>
        </p:txBody>
      </p:sp>
      <p:sp>
        <p:nvSpPr>
          <p:cNvPr id="3" name="Table Placeholder 2"/>
          <p:cNvSpPr>
            <a:spLocks noGrp="1"/>
          </p:cNvSpPr>
          <p:nvPr>
            <p:ph type="tbl" idx="1"/>
          </p:nvPr>
        </p:nvSpPr>
        <p:spPr>
          <a:xfrm>
            <a:off x="609600" y="1828801"/>
            <a:ext cx="10972800" cy="4302125"/>
          </a:xfrm>
        </p:spPr>
        <p:txBody>
          <a:bodyPr>
            <a:normAutofit/>
          </a:bodyPr>
          <a:lstStyle/>
          <a:p>
            <a:pPr lvl="0"/>
            <a:endParaRPr lang="en-US" noProof="0"/>
          </a:p>
        </p:txBody>
      </p:sp>
      <p:sp>
        <p:nvSpPr>
          <p:cNvPr id="4" name="Date Placeholder 9">
            <a:extLst>
              <a:ext uri="{FF2B5EF4-FFF2-40B4-BE49-F238E27FC236}">
                <a16:creationId xmlns:a16="http://schemas.microsoft.com/office/drawing/2014/main" id="{5005D748-A323-C9A2-C6F5-3CD62737469C}"/>
              </a:ext>
            </a:extLst>
          </p:cNvPr>
          <p:cNvSpPr>
            <a:spLocks noGrp="1"/>
          </p:cNvSpPr>
          <p:nvPr>
            <p:ph type="dt" sz="half" idx="10"/>
          </p:nvPr>
        </p:nvSpPr>
        <p:spPr/>
        <p:txBody>
          <a:bodyPr/>
          <a:lstStyle>
            <a:lvl1pPr>
              <a:defRPr/>
            </a:lvl1pPr>
          </a:lstStyle>
          <a:p>
            <a:pPr>
              <a:defRPr/>
            </a:pPr>
            <a:endParaRPr lang="en-US"/>
          </a:p>
        </p:txBody>
      </p:sp>
      <p:sp>
        <p:nvSpPr>
          <p:cNvPr id="5" name="Footer Placeholder 21">
            <a:extLst>
              <a:ext uri="{FF2B5EF4-FFF2-40B4-BE49-F238E27FC236}">
                <a16:creationId xmlns:a16="http://schemas.microsoft.com/office/drawing/2014/main" id="{B2EA2C34-567D-33B8-D3FA-58491F46194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17">
            <a:extLst>
              <a:ext uri="{FF2B5EF4-FFF2-40B4-BE49-F238E27FC236}">
                <a16:creationId xmlns:a16="http://schemas.microsoft.com/office/drawing/2014/main" id="{84370F99-98B6-572B-A248-F8A9000A29CC}"/>
              </a:ext>
            </a:extLst>
          </p:cNvPr>
          <p:cNvSpPr>
            <a:spLocks noGrp="1"/>
          </p:cNvSpPr>
          <p:nvPr>
            <p:ph type="sldNum" sz="quarter" idx="12"/>
          </p:nvPr>
        </p:nvSpPr>
        <p:spPr/>
        <p:txBody>
          <a:bodyPr/>
          <a:lstStyle>
            <a:lvl1pPr>
              <a:defRPr/>
            </a:lvl1pPr>
          </a:lstStyle>
          <a:p>
            <a:pPr>
              <a:defRPr/>
            </a:pPr>
            <a:fld id="{51293BE1-F30E-4F01-9239-D120F1126851}" type="slidenum">
              <a:rPr lang="en-US" altLang="en-US"/>
              <a:pPr>
                <a:defRPr/>
              </a:pPr>
              <a:t>‹#›</a:t>
            </a:fld>
            <a:endParaRPr lang="en-US" altLang="en-US"/>
          </a:p>
        </p:txBody>
      </p:sp>
    </p:spTree>
    <p:extLst>
      <p:ext uri="{BB962C8B-B14F-4D97-AF65-F5344CB8AC3E}">
        <p14:creationId xmlns:p14="http://schemas.microsoft.com/office/powerpoint/2010/main" val="36264335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533400"/>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828801"/>
            <a:ext cx="5384800" cy="4302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828801"/>
            <a:ext cx="5384800" cy="4302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a:extLst>
              <a:ext uri="{FF2B5EF4-FFF2-40B4-BE49-F238E27FC236}">
                <a16:creationId xmlns:a16="http://schemas.microsoft.com/office/drawing/2014/main" id="{40737206-5A14-4286-9B0F-DBCC84A0D340}"/>
              </a:ext>
            </a:extLst>
          </p:cNvPr>
          <p:cNvSpPr>
            <a:spLocks noGrp="1"/>
          </p:cNvSpPr>
          <p:nvPr>
            <p:ph type="dt" sz="half" idx="10"/>
          </p:nvPr>
        </p:nvSpPr>
        <p:spPr/>
        <p:txBody>
          <a:bodyPr/>
          <a:lstStyle>
            <a:lvl1pPr>
              <a:defRPr/>
            </a:lvl1pPr>
          </a:lstStyle>
          <a:p>
            <a:pPr>
              <a:defRPr/>
            </a:pPr>
            <a:endParaRPr lang="en-US"/>
          </a:p>
        </p:txBody>
      </p:sp>
      <p:sp>
        <p:nvSpPr>
          <p:cNvPr id="6" name="Footer Placeholder 21">
            <a:extLst>
              <a:ext uri="{FF2B5EF4-FFF2-40B4-BE49-F238E27FC236}">
                <a16:creationId xmlns:a16="http://schemas.microsoft.com/office/drawing/2014/main" id="{9A19CE1F-F4CA-A8CF-DE0C-DEB8A99D606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17">
            <a:extLst>
              <a:ext uri="{FF2B5EF4-FFF2-40B4-BE49-F238E27FC236}">
                <a16:creationId xmlns:a16="http://schemas.microsoft.com/office/drawing/2014/main" id="{52C606F9-1B6D-3CFB-A918-11562F3BF302}"/>
              </a:ext>
            </a:extLst>
          </p:cNvPr>
          <p:cNvSpPr>
            <a:spLocks noGrp="1"/>
          </p:cNvSpPr>
          <p:nvPr>
            <p:ph type="sldNum" sz="quarter" idx="12"/>
          </p:nvPr>
        </p:nvSpPr>
        <p:spPr/>
        <p:txBody>
          <a:bodyPr/>
          <a:lstStyle>
            <a:lvl1pPr>
              <a:defRPr/>
            </a:lvl1pPr>
          </a:lstStyle>
          <a:p>
            <a:pPr>
              <a:defRPr/>
            </a:pPr>
            <a:fld id="{A0D5458F-DA98-44E0-8575-BCCFB1C17328}" type="slidenum">
              <a:rPr lang="en-US" altLang="en-US"/>
              <a:pPr>
                <a:defRPr/>
              </a:pPr>
              <a:t>‹#›</a:t>
            </a:fld>
            <a:endParaRPr lang="en-US" altLang="en-US"/>
          </a:p>
        </p:txBody>
      </p:sp>
    </p:spTree>
    <p:extLst>
      <p:ext uri="{BB962C8B-B14F-4D97-AF65-F5344CB8AC3E}">
        <p14:creationId xmlns:p14="http://schemas.microsoft.com/office/powerpoint/2010/main" val="23037699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1.jpe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634AC286-E192-58B5-FEAF-F5A1B77D1252}"/>
              </a:ext>
            </a:extLst>
          </p:cNvPr>
          <p:cNvSpPr>
            <a:spLocks/>
          </p:cNvSpPr>
          <p:nvPr/>
        </p:nvSpPr>
        <p:spPr bwMode="auto">
          <a:xfrm>
            <a:off x="666751" y="5945188"/>
            <a:ext cx="6587067"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sz="1800">
              <a:ea typeface="+mn-ea"/>
            </a:endParaRPr>
          </a:p>
        </p:txBody>
      </p:sp>
      <p:sp>
        <p:nvSpPr>
          <p:cNvPr id="1027" name="Freeform 11">
            <a:extLst>
              <a:ext uri="{FF2B5EF4-FFF2-40B4-BE49-F238E27FC236}">
                <a16:creationId xmlns:a16="http://schemas.microsoft.com/office/drawing/2014/main" id="{0C7EEBCB-2B25-D595-EA69-B9705216CEB7}"/>
              </a:ext>
            </a:extLst>
          </p:cNvPr>
          <p:cNvSpPr>
            <a:spLocks/>
          </p:cNvSpPr>
          <p:nvPr/>
        </p:nvSpPr>
        <p:spPr bwMode="auto">
          <a:xfrm>
            <a:off x="647700" y="5938838"/>
            <a:ext cx="4921251" cy="933450"/>
          </a:xfrm>
          <a:custGeom>
            <a:avLst/>
            <a:gdLst>
              <a:gd name="T0" fmla="*/ 0 w 5591"/>
              <a:gd name="T1" fmla="*/ 0 h 588"/>
              <a:gd name="T2" fmla="*/ 2147483646 w 5591"/>
              <a:gd name="T3" fmla="*/ 0 h 588"/>
              <a:gd name="T4" fmla="*/ 2147483646 w 5591"/>
              <a:gd name="T5" fmla="*/ 2147483646 h 588"/>
              <a:gd name="T6" fmla="*/ 2147483646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a:lstStyle/>
          <a:p>
            <a:endParaRPr lang="zh-CN" altLang="en-US" sz="1800"/>
          </a:p>
        </p:txBody>
      </p:sp>
      <p:sp>
        <p:nvSpPr>
          <p:cNvPr id="14" name="Right Triangle 13">
            <a:extLst>
              <a:ext uri="{FF2B5EF4-FFF2-40B4-BE49-F238E27FC236}">
                <a16:creationId xmlns:a16="http://schemas.microsoft.com/office/drawing/2014/main" id="{3A5D1175-9F51-26BE-748B-1F6A6982BCA4}"/>
              </a:ext>
            </a:extLst>
          </p:cNvPr>
          <p:cNvSpPr>
            <a:spLocks/>
          </p:cNvSpPr>
          <p:nvPr/>
        </p:nvSpPr>
        <p:spPr bwMode="auto">
          <a:xfrm>
            <a:off x="-8056" y="5791253"/>
            <a:ext cx="4536419" cy="1080868"/>
          </a:xfrm>
          <a:prstGeom prst="rtTriangle">
            <a:avLst/>
          </a:prstGeom>
          <a:blipFill>
            <a:blip r:embed="rId15">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800"/>
          </a:p>
        </p:txBody>
      </p:sp>
      <p:cxnSp>
        <p:nvCxnSpPr>
          <p:cNvPr id="15" name="Straight Connector 14">
            <a:extLst>
              <a:ext uri="{FF2B5EF4-FFF2-40B4-BE49-F238E27FC236}">
                <a16:creationId xmlns:a16="http://schemas.microsoft.com/office/drawing/2014/main" id="{F5928784-1C1E-CE37-B6C4-264DE4A2A6EF}"/>
              </a:ext>
            </a:extLst>
          </p:cNvPr>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a:extLst>
              <a:ext uri="{FF2B5EF4-FFF2-40B4-BE49-F238E27FC236}">
                <a16:creationId xmlns:a16="http://schemas.microsoft.com/office/drawing/2014/main" id="{657B5F03-2A69-6E6D-A315-0FBDF9F872CE}"/>
              </a:ext>
            </a:extLst>
          </p:cNvPr>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p>
        </p:txBody>
      </p:sp>
      <p:sp>
        <p:nvSpPr>
          <p:cNvPr id="1033" name="Text Placeholder 29">
            <a:extLst>
              <a:ext uri="{FF2B5EF4-FFF2-40B4-BE49-F238E27FC236}">
                <a16:creationId xmlns:a16="http://schemas.microsoft.com/office/drawing/2014/main" id="{A055B54C-9E7E-1A8D-5D16-476AA8586F92}"/>
              </a:ext>
            </a:extLst>
          </p:cNvPr>
          <p:cNvSpPr>
            <a:spLocks noGrp="1"/>
          </p:cNvSpPr>
          <p:nvPr>
            <p:ph type="body" idx="1"/>
          </p:nvPr>
        </p:nvSpPr>
        <p:spPr bwMode="auto">
          <a:xfrm>
            <a:off x="609600" y="1481138"/>
            <a:ext cx="109728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 name="Date Placeholder 9">
            <a:extLst>
              <a:ext uri="{FF2B5EF4-FFF2-40B4-BE49-F238E27FC236}">
                <a16:creationId xmlns:a16="http://schemas.microsoft.com/office/drawing/2014/main" id="{F7D5536D-28A4-A41E-B341-2262E7CDBFBA}"/>
              </a:ext>
            </a:extLst>
          </p:cNvPr>
          <p:cNvSpPr>
            <a:spLocks noGrp="1"/>
          </p:cNvSpPr>
          <p:nvPr>
            <p:ph type="dt" sz="half" idx="2"/>
          </p:nvPr>
        </p:nvSpPr>
        <p:spPr>
          <a:xfrm>
            <a:off x="8970433" y="6408739"/>
            <a:ext cx="2559051" cy="365125"/>
          </a:xfrm>
          <a:prstGeom prst="rect">
            <a:avLst/>
          </a:prstGeom>
        </p:spPr>
        <p:txBody>
          <a:bodyPr vert="horz" anchor="b"/>
          <a:lstStyle>
            <a:lvl1pPr algn="l" eaLnBrk="1" latinLnBrk="0" hangingPunct="1">
              <a:defRPr kumimoji="0" sz="1000">
                <a:solidFill>
                  <a:schemeClr val="tx1"/>
                </a:solidFill>
                <a:latin typeface="Times New Roman" pitchFamily="18" charset="0"/>
                <a:ea typeface="+mn-ea"/>
              </a:defRPr>
            </a:lvl1pPr>
          </a:lstStyle>
          <a:p>
            <a:pPr>
              <a:defRPr/>
            </a:pPr>
            <a:endParaRPr lang="en-US"/>
          </a:p>
        </p:txBody>
      </p:sp>
      <p:sp>
        <p:nvSpPr>
          <p:cNvPr id="22" name="Footer Placeholder 21">
            <a:extLst>
              <a:ext uri="{FF2B5EF4-FFF2-40B4-BE49-F238E27FC236}">
                <a16:creationId xmlns:a16="http://schemas.microsoft.com/office/drawing/2014/main" id="{017575D7-2410-B940-181B-BFD5268A3045}"/>
              </a:ext>
            </a:extLst>
          </p:cNvPr>
          <p:cNvSpPr>
            <a:spLocks noGrp="1"/>
          </p:cNvSpPr>
          <p:nvPr>
            <p:ph type="ftr" sz="quarter" idx="3"/>
          </p:nvPr>
        </p:nvSpPr>
        <p:spPr>
          <a:xfrm>
            <a:off x="5839884" y="6408739"/>
            <a:ext cx="3134783" cy="365125"/>
          </a:xfrm>
          <a:prstGeom prst="rect">
            <a:avLst/>
          </a:prstGeom>
        </p:spPr>
        <p:txBody>
          <a:bodyPr vert="horz" wrap="square" lIns="91440" tIns="45720" rIns="91440" bIns="45720" numCol="1" anchor="b" anchorCtr="0" compatLnSpc="1">
            <a:prstTxWarp prst="textNoShape">
              <a:avLst/>
            </a:prstTxWarp>
          </a:bodyPr>
          <a:lstStyle>
            <a:lvl1pPr algn="r" eaLnBrk="1" hangingPunct="1">
              <a:defRPr sz="1000">
                <a:latin typeface="Times New Roman" pitchFamily="-1" charset="0"/>
                <a:ea typeface="ＭＳ Ｐゴシック" pitchFamily="-1" charset="-128"/>
              </a:defRPr>
            </a:lvl1pPr>
          </a:lstStyle>
          <a:p>
            <a:pPr>
              <a:defRPr/>
            </a:pPr>
            <a:r>
              <a:rPr lang="en-US" altLang="en-US"/>
              <a:t>Copyright © 2016 McGraw-Hill Education. All rights reserved. No reproduction or distribution without the prior written consent of McGraw-Hill Education.</a:t>
            </a:r>
          </a:p>
        </p:txBody>
      </p:sp>
      <p:sp>
        <p:nvSpPr>
          <p:cNvPr id="18" name="Slide Number Placeholder 17">
            <a:extLst>
              <a:ext uri="{FF2B5EF4-FFF2-40B4-BE49-F238E27FC236}">
                <a16:creationId xmlns:a16="http://schemas.microsoft.com/office/drawing/2014/main" id="{9E207BB8-F29F-40AA-B640-8D9226073C76}"/>
              </a:ext>
            </a:extLst>
          </p:cNvPr>
          <p:cNvSpPr>
            <a:spLocks noGrp="1"/>
          </p:cNvSpPr>
          <p:nvPr>
            <p:ph type="sldNum" sz="quarter" idx="4"/>
          </p:nvPr>
        </p:nvSpPr>
        <p:spPr>
          <a:xfrm>
            <a:off x="11529484" y="6408739"/>
            <a:ext cx="488949" cy="365125"/>
          </a:xfrm>
          <a:prstGeom prst="rect">
            <a:avLst/>
          </a:prstGeom>
        </p:spPr>
        <p:txBody>
          <a:bodyPr vert="horz" wrap="square" lIns="91440" tIns="45720" rIns="91440" bIns="45720" numCol="1" anchor="b" anchorCtr="0" compatLnSpc="1">
            <a:prstTxWarp prst="textNoShape">
              <a:avLst/>
            </a:prstTxWarp>
          </a:bodyPr>
          <a:lstStyle>
            <a:lvl1pPr algn="r" eaLnBrk="1" hangingPunct="1">
              <a:defRPr sz="1000"/>
            </a:lvl1pPr>
          </a:lstStyle>
          <a:p>
            <a:pPr>
              <a:defRPr/>
            </a:pPr>
            <a:fld id="{60E17A0B-1F87-4B1C-8024-DCA074B28561}" type="slidenum">
              <a:rPr lang="en-US" altLang="en-US"/>
              <a:pPr>
                <a:defRPr/>
              </a:pPr>
              <a:t>‹#›</a:t>
            </a:fld>
            <a:endParaRPr lang="en-US" altLang="en-US"/>
          </a:p>
        </p:txBody>
      </p:sp>
      <p:sp>
        <p:nvSpPr>
          <p:cNvPr id="11" name="Text Box 10">
            <a:extLst>
              <a:ext uri="{FF2B5EF4-FFF2-40B4-BE49-F238E27FC236}">
                <a16:creationId xmlns:a16="http://schemas.microsoft.com/office/drawing/2014/main" id="{AB3F2961-C8BE-7108-A444-1999D69D4691}"/>
              </a:ext>
            </a:extLst>
          </p:cNvPr>
          <p:cNvSpPr txBox="1">
            <a:spLocks noChangeArrowheads="1"/>
          </p:cNvSpPr>
          <p:nvPr userDrawn="1"/>
        </p:nvSpPr>
        <p:spPr bwMode="auto">
          <a:xfrm>
            <a:off x="11176000" y="6553200"/>
            <a:ext cx="1016000" cy="274638"/>
          </a:xfrm>
          <a:prstGeom prst="rect">
            <a:avLst/>
          </a:prstGeom>
          <a:noFill/>
          <a:ln w="9525">
            <a:noFill/>
            <a:miter lim="800000"/>
            <a:headEnd/>
            <a:tailEnd/>
          </a:ln>
          <a:effec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a:defRPr/>
            </a:pPr>
            <a:r>
              <a:rPr lang="en-US" altLang="en-US" sz="1200">
                <a:cs typeface="Times New Roman" panose="02020603050405020304" pitchFamily="18" charset="0"/>
              </a:rPr>
              <a:t>1-</a:t>
            </a:r>
            <a:fld id="{918546A7-07B9-4BB9-9A94-F90EE19FC97E}" type="slidenum">
              <a:rPr lang="en-US" altLang="en-US" sz="1200" smtClean="0">
                <a:cs typeface="Times New Roman" panose="02020603050405020304" pitchFamily="18" charset="0"/>
              </a:rPr>
              <a:pPr algn="r">
                <a:defRPr/>
              </a:pPr>
              <a:t>‹#›</a:t>
            </a:fld>
            <a:endParaRPr lang="en-US" altLang="en-US" sz="1200">
              <a:cs typeface="Times New Roman" panose="02020603050405020304" pitchFamily="18" charset="0"/>
            </a:endParaRPr>
          </a:p>
        </p:txBody>
      </p:sp>
    </p:spTree>
    <p:extLst>
      <p:ext uri="{BB962C8B-B14F-4D97-AF65-F5344CB8AC3E}">
        <p14:creationId xmlns:p14="http://schemas.microsoft.com/office/powerpoint/2010/main" val="12858270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sldNum="0" hdr="0" dt="0"/>
  <p:txStyles>
    <p:titleStyle>
      <a:lvl1pPr algn="l" rtl="0" eaLnBrk="0" fontAlgn="base" hangingPunct="0">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ＭＳ Ｐゴシック" pitchFamily="-65" charset="-128"/>
          <a:cs typeface="ＭＳ Ｐゴシック" pitchFamily="-65" charset="-128"/>
        </a:defRPr>
      </a:lvl1pPr>
      <a:lvl2pPr algn="l" rtl="0" eaLnBrk="0" fontAlgn="base" hangingPunct="0">
        <a:spcBef>
          <a:spcPct val="0"/>
        </a:spcBef>
        <a:spcAft>
          <a:spcPct val="0"/>
        </a:spcAft>
        <a:defRPr sz="4100" b="1">
          <a:solidFill>
            <a:schemeClr val="tx2"/>
          </a:solidFill>
          <a:latin typeface="Lucida Sans Unicode" pitchFamily="34" charset="0"/>
          <a:ea typeface="ＭＳ Ｐゴシック" pitchFamily="-65" charset="-128"/>
          <a:cs typeface="ＭＳ Ｐゴシック" pitchFamily="-65" charset="-128"/>
        </a:defRPr>
      </a:lvl2pPr>
      <a:lvl3pPr algn="l" rtl="0" eaLnBrk="0" fontAlgn="base" hangingPunct="0">
        <a:spcBef>
          <a:spcPct val="0"/>
        </a:spcBef>
        <a:spcAft>
          <a:spcPct val="0"/>
        </a:spcAft>
        <a:defRPr sz="4100" b="1">
          <a:solidFill>
            <a:schemeClr val="tx2"/>
          </a:solidFill>
          <a:latin typeface="Lucida Sans Unicode" pitchFamily="34" charset="0"/>
          <a:ea typeface="ＭＳ Ｐゴシック" pitchFamily="-65" charset="-128"/>
          <a:cs typeface="ＭＳ Ｐゴシック" pitchFamily="-65" charset="-128"/>
        </a:defRPr>
      </a:lvl3pPr>
      <a:lvl4pPr algn="l" rtl="0" eaLnBrk="0" fontAlgn="base" hangingPunct="0">
        <a:spcBef>
          <a:spcPct val="0"/>
        </a:spcBef>
        <a:spcAft>
          <a:spcPct val="0"/>
        </a:spcAft>
        <a:defRPr sz="4100" b="1">
          <a:solidFill>
            <a:schemeClr val="tx2"/>
          </a:solidFill>
          <a:latin typeface="Lucida Sans Unicode" pitchFamily="34" charset="0"/>
          <a:ea typeface="ＭＳ Ｐゴシック" pitchFamily="-65" charset="-128"/>
          <a:cs typeface="ＭＳ Ｐゴシック" pitchFamily="-65" charset="-128"/>
        </a:defRPr>
      </a:lvl4pPr>
      <a:lvl5pPr algn="l" rtl="0" eaLnBrk="0" fontAlgn="base" hangingPunct="0">
        <a:spcBef>
          <a:spcPct val="0"/>
        </a:spcBef>
        <a:spcAft>
          <a:spcPct val="0"/>
        </a:spcAft>
        <a:defRPr sz="4100" b="1">
          <a:solidFill>
            <a:schemeClr val="tx2"/>
          </a:solidFill>
          <a:latin typeface="Lucida Sans Unicode" pitchFamily="34" charset="0"/>
          <a:ea typeface="ＭＳ Ｐゴシック" pitchFamily="-65" charset="-128"/>
          <a:cs typeface="ＭＳ Ｐゴシック" pitchFamily="-65" charset="-128"/>
        </a:defRPr>
      </a:lvl5pPr>
      <a:lvl6pPr marL="457200" algn="l" rtl="0" fontAlgn="base">
        <a:spcBef>
          <a:spcPct val="0"/>
        </a:spcBef>
        <a:spcAft>
          <a:spcPct val="0"/>
        </a:spcAft>
        <a:defRPr sz="4100" b="1">
          <a:solidFill>
            <a:schemeClr val="tx2"/>
          </a:solidFill>
          <a:latin typeface="Lucida Sans Unicode" pitchFamily="34" charset="0"/>
        </a:defRPr>
      </a:lvl6pPr>
      <a:lvl7pPr marL="914400" algn="l" rtl="0" fontAlgn="base">
        <a:spcBef>
          <a:spcPct val="0"/>
        </a:spcBef>
        <a:spcAft>
          <a:spcPct val="0"/>
        </a:spcAft>
        <a:defRPr sz="4100" b="1">
          <a:solidFill>
            <a:schemeClr val="tx2"/>
          </a:solidFill>
          <a:latin typeface="Lucida Sans Unicode" pitchFamily="34" charset="0"/>
        </a:defRPr>
      </a:lvl7pPr>
      <a:lvl8pPr marL="1371600" algn="l" rtl="0" fontAlgn="base">
        <a:spcBef>
          <a:spcPct val="0"/>
        </a:spcBef>
        <a:spcAft>
          <a:spcPct val="0"/>
        </a:spcAft>
        <a:defRPr sz="4100" b="1">
          <a:solidFill>
            <a:schemeClr val="tx2"/>
          </a:solidFill>
          <a:latin typeface="Lucida Sans Unicode" pitchFamily="34" charset="0"/>
        </a:defRPr>
      </a:lvl8pPr>
      <a:lvl9pPr marL="1828800" algn="l" rtl="0" fontAlgn="base">
        <a:spcBef>
          <a:spcPct val="0"/>
        </a:spcBef>
        <a:spcAft>
          <a:spcPct val="0"/>
        </a:spcAft>
        <a:defRPr sz="4100" b="1">
          <a:solidFill>
            <a:schemeClr val="tx2"/>
          </a:solidFill>
          <a:latin typeface="Lucida Sans Unicode" pitchFamily="34" charset="0"/>
        </a:defRPr>
      </a:lvl9pPr>
    </p:titleStyle>
    <p:bodyStyle>
      <a:lvl1pPr marL="365125" indent="-255588" algn="l" rtl="0" eaLnBrk="0" fontAlgn="base" hangingPunct="0">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mn-lt"/>
          <a:ea typeface="ＭＳ Ｐゴシック" pitchFamily="-65" charset="-128"/>
          <a:cs typeface="ＭＳ Ｐゴシック" pitchFamily="-65" charset="-128"/>
        </a:defRPr>
      </a:lvl1pPr>
      <a:lvl2pPr marL="620713" indent="-228600" algn="l" rtl="0" eaLnBrk="0" fontAlgn="base" hangingPunct="0">
        <a:spcBef>
          <a:spcPts val="325"/>
        </a:spcBef>
        <a:spcAft>
          <a:spcPct val="0"/>
        </a:spcAft>
        <a:buClr>
          <a:schemeClr val="accent1"/>
        </a:buClr>
        <a:buFont typeface="Verdana" panose="020B0604030504040204" pitchFamily="34" charset="0"/>
        <a:buChar char="◦"/>
        <a:defRPr sz="2300" kern="1200">
          <a:solidFill>
            <a:schemeClr val="tx1"/>
          </a:solidFill>
          <a:latin typeface="+mn-lt"/>
          <a:ea typeface="ＭＳ Ｐゴシック" pitchFamily="-1" charset="-128"/>
          <a:cs typeface="+mn-cs"/>
        </a:defRPr>
      </a:lvl2pPr>
      <a:lvl3pPr marL="858838" indent="-228600" algn="l" rtl="0" eaLnBrk="0" fontAlgn="base" hangingPunct="0">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mn-lt"/>
          <a:ea typeface="ＭＳ Ｐゴシック" pitchFamily="-1" charset="-128"/>
          <a:cs typeface="+mn-cs"/>
        </a:defRPr>
      </a:lvl3pPr>
      <a:lvl4pPr marL="1143000" indent="-228600" algn="l" rtl="0" eaLnBrk="0" fontAlgn="base" hangingPunct="0">
        <a:spcBef>
          <a:spcPts val="350"/>
        </a:spcBef>
        <a:spcAft>
          <a:spcPct val="0"/>
        </a:spcAft>
        <a:buClr>
          <a:schemeClr val="accent2"/>
        </a:buClr>
        <a:buFont typeface="Wingdings 2" panose="05020102010507070707" pitchFamily="18" charset="2"/>
        <a:buChar char=""/>
        <a:defRPr sz="1900" kern="1200">
          <a:solidFill>
            <a:schemeClr val="tx1"/>
          </a:solidFill>
          <a:latin typeface="+mn-lt"/>
          <a:ea typeface="ＭＳ Ｐゴシック" pitchFamily="-1" charset="-128"/>
          <a:cs typeface="+mn-cs"/>
        </a:defRPr>
      </a:lvl4pPr>
      <a:lvl5pPr marL="1371600" indent="-228600" algn="l" rtl="0" eaLnBrk="0" fontAlgn="base" hangingPunct="0">
        <a:spcBef>
          <a:spcPts val="350"/>
        </a:spcBef>
        <a:spcAft>
          <a:spcPct val="0"/>
        </a:spcAft>
        <a:buClr>
          <a:schemeClr val="accent2"/>
        </a:buClr>
        <a:buFont typeface="Wingdings 2" panose="05020102010507070707" pitchFamily="18" charset="2"/>
        <a:buChar char=""/>
        <a:defRPr kern="1200">
          <a:solidFill>
            <a:schemeClr val="tx1"/>
          </a:solidFill>
          <a:latin typeface="+mn-lt"/>
          <a:ea typeface="ＭＳ Ｐゴシック" pitchFamily="-1" charset="-128"/>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A858E030-D0CC-CF84-AA82-4F3EF8EB3A87}"/>
              </a:ext>
            </a:extLst>
          </p:cNvPr>
          <p:cNvSpPr>
            <a:spLocks/>
          </p:cNvSpPr>
          <p:nvPr/>
        </p:nvSpPr>
        <p:spPr bwMode="auto">
          <a:xfrm>
            <a:off x="666751" y="5945188"/>
            <a:ext cx="6587067"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sz="1800">
              <a:ea typeface="+mn-ea"/>
            </a:endParaRPr>
          </a:p>
        </p:txBody>
      </p:sp>
      <p:sp>
        <p:nvSpPr>
          <p:cNvPr id="1027" name="Freeform 11">
            <a:extLst>
              <a:ext uri="{FF2B5EF4-FFF2-40B4-BE49-F238E27FC236}">
                <a16:creationId xmlns:a16="http://schemas.microsoft.com/office/drawing/2014/main" id="{DCD33A37-D8F5-DC09-8CE9-3922E900E30A}"/>
              </a:ext>
            </a:extLst>
          </p:cNvPr>
          <p:cNvSpPr>
            <a:spLocks/>
          </p:cNvSpPr>
          <p:nvPr/>
        </p:nvSpPr>
        <p:spPr bwMode="auto">
          <a:xfrm>
            <a:off x="647700" y="5938838"/>
            <a:ext cx="4921251" cy="933450"/>
          </a:xfrm>
          <a:custGeom>
            <a:avLst/>
            <a:gdLst>
              <a:gd name="T0" fmla="*/ 0 w 5591"/>
              <a:gd name="T1" fmla="*/ 0 h 588"/>
              <a:gd name="T2" fmla="*/ 2147483646 w 5591"/>
              <a:gd name="T3" fmla="*/ 0 h 588"/>
              <a:gd name="T4" fmla="*/ 2147483646 w 5591"/>
              <a:gd name="T5" fmla="*/ 2147483646 h 588"/>
              <a:gd name="T6" fmla="*/ 2147483646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a:lstStyle/>
          <a:p>
            <a:endParaRPr lang="zh-CN" altLang="en-US" sz="1800"/>
          </a:p>
        </p:txBody>
      </p:sp>
      <p:sp>
        <p:nvSpPr>
          <p:cNvPr id="14" name="Right Triangle 13">
            <a:extLst>
              <a:ext uri="{FF2B5EF4-FFF2-40B4-BE49-F238E27FC236}">
                <a16:creationId xmlns:a16="http://schemas.microsoft.com/office/drawing/2014/main" id="{676EA854-2877-4E6C-9552-9D6797179BD0}"/>
              </a:ext>
            </a:extLst>
          </p:cNvPr>
          <p:cNvSpPr>
            <a:spLocks/>
          </p:cNvSpPr>
          <p:nvPr/>
        </p:nvSpPr>
        <p:spPr bwMode="auto">
          <a:xfrm>
            <a:off x="-8056" y="5791253"/>
            <a:ext cx="4536419" cy="1080868"/>
          </a:xfrm>
          <a:prstGeom prst="rtTriangle">
            <a:avLst/>
          </a:prstGeom>
          <a:blipFill>
            <a:blip r:embed="rId15">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800"/>
          </a:p>
        </p:txBody>
      </p:sp>
      <p:cxnSp>
        <p:nvCxnSpPr>
          <p:cNvPr id="15" name="Straight Connector 14">
            <a:extLst>
              <a:ext uri="{FF2B5EF4-FFF2-40B4-BE49-F238E27FC236}">
                <a16:creationId xmlns:a16="http://schemas.microsoft.com/office/drawing/2014/main" id="{ADCC2DA7-7D32-F701-EA19-C64586F349A5}"/>
              </a:ext>
            </a:extLst>
          </p:cNvPr>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a:extLst>
              <a:ext uri="{FF2B5EF4-FFF2-40B4-BE49-F238E27FC236}">
                <a16:creationId xmlns:a16="http://schemas.microsoft.com/office/drawing/2014/main" id="{E51325CA-9E8B-1D64-DEFA-338C45D8F364}"/>
              </a:ext>
            </a:extLst>
          </p:cNvPr>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p>
        </p:txBody>
      </p:sp>
      <p:sp>
        <p:nvSpPr>
          <p:cNvPr id="1033" name="Text Placeholder 29">
            <a:extLst>
              <a:ext uri="{FF2B5EF4-FFF2-40B4-BE49-F238E27FC236}">
                <a16:creationId xmlns:a16="http://schemas.microsoft.com/office/drawing/2014/main" id="{6899D216-605F-A2FE-B1C6-198988587C8B}"/>
              </a:ext>
            </a:extLst>
          </p:cNvPr>
          <p:cNvSpPr>
            <a:spLocks noGrp="1"/>
          </p:cNvSpPr>
          <p:nvPr>
            <p:ph type="body" idx="1"/>
          </p:nvPr>
        </p:nvSpPr>
        <p:spPr bwMode="auto">
          <a:xfrm>
            <a:off x="609600" y="1481138"/>
            <a:ext cx="109728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 name="Date Placeholder 9">
            <a:extLst>
              <a:ext uri="{FF2B5EF4-FFF2-40B4-BE49-F238E27FC236}">
                <a16:creationId xmlns:a16="http://schemas.microsoft.com/office/drawing/2014/main" id="{803FCCB3-7110-2C51-2501-8E59DCF50F94}"/>
              </a:ext>
            </a:extLst>
          </p:cNvPr>
          <p:cNvSpPr>
            <a:spLocks noGrp="1"/>
          </p:cNvSpPr>
          <p:nvPr>
            <p:ph type="dt" sz="half" idx="2"/>
          </p:nvPr>
        </p:nvSpPr>
        <p:spPr>
          <a:xfrm>
            <a:off x="8970433" y="6408739"/>
            <a:ext cx="2559051" cy="365125"/>
          </a:xfrm>
          <a:prstGeom prst="rect">
            <a:avLst/>
          </a:prstGeom>
        </p:spPr>
        <p:txBody>
          <a:bodyPr vert="horz" anchor="b"/>
          <a:lstStyle>
            <a:lvl1pPr algn="l" eaLnBrk="1" latinLnBrk="0" hangingPunct="1">
              <a:defRPr kumimoji="0" sz="1000">
                <a:solidFill>
                  <a:schemeClr val="tx1"/>
                </a:solidFill>
                <a:latin typeface="Times New Roman" pitchFamily="18" charset="0"/>
                <a:ea typeface="+mn-ea"/>
              </a:defRPr>
            </a:lvl1pPr>
          </a:lstStyle>
          <a:p>
            <a:pPr>
              <a:defRPr/>
            </a:pPr>
            <a:endParaRPr lang="en-US"/>
          </a:p>
        </p:txBody>
      </p:sp>
      <p:sp>
        <p:nvSpPr>
          <p:cNvPr id="22" name="Footer Placeholder 21">
            <a:extLst>
              <a:ext uri="{FF2B5EF4-FFF2-40B4-BE49-F238E27FC236}">
                <a16:creationId xmlns:a16="http://schemas.microsoft.com/office/drawing/2014/main" id="{469B73D5-7732-CB3F-ED1E-D849474255E3}"/>
              </a:ext>
            </a:extLst>
          </p:cNvPr>
          <p:cNvSpPr>
            <a:spLocks noGrp="1"/>
          </p:cNvSpPr>
          <p:nvPr>
            <p:ph type="ftr" sz="quarter" idx="3"/>
          </p:nvPr>
        </p:nvSpPr>
        <p:spPr>
          <a:xfrm>
            <a:off x="5839884" y="6408739"/>
            <a:ext cx="3134783" cy="365125"/>
          </a:xfrm>
          <a:prstGeom prst="rect">
            <a:avLst/>
          </a:prstGeom>
        </p:spPr>
        <p:txBody>
          <a:bodyPr vert="horz" anchor="b"/>
          <a:lstStyle>
            <a:lvl1pPr algn="r" eaLnBrk="1" latinLnBrk="0" hangingPunct="1">
              <a:defRPr kumimoji="0" sz="1000">
                <a:solidFill>
                  <a:schemeClr val="tx1"/>
                </a:solidFill>
                <a:latin typeface="Times New Roman" pitchFamily="18" charset="0"/>
                <a:ea typeface="+mn-ea"/>
              </a:defRPr>
            </a:lvl1pPr>
          </a:lstStyle>
          <a:p>
            <a:pPr>
              <a:defRPr/>
            </a:pPr>
            <a:endParaRPr lang="en-US"/>
          </a:p>
        </p:txBody>
      </p:sp>
      <p:sp>
        <p:nvSpPr>
          <p:cNvPr id="18" name="Slide Number Placeholder 17">
            <a:extLst>
              <a:ext uri="{FF2B5EF4-FFF2-40B4-BE49-F238E27FC236}">
                <a16:creationId xmlns:a16="http://schemas.microsoft.com/office/drawing/2014/main" id="{36C90B59-818C-3119-5F9B-8631A91B98E0}"/>
              </a:ext>
            </a:extLst>
          </p:cNvPr>
          <p:cNvSpPr>
            <a:spLocks noGrp="1"/>
          </p:cNvSpPr>
          <p:nvPr>
            <p:ph type="sldNum" sz="quarter" idx="4"/>
          </p:nvPr>
        </p:nvSpPr>
        <p:spPr>
          <a:xfrm>
            <a:off x="11529484" y="6408739"/>
            <a:ext cx="488949" cy="365125"/>
          </a:xfrm>
          <a:prstGeom prst="rect">
            <a:avLst/>
          </a:prstGeom>
        </p:spPr>
        <p:txBody>
          <a:bodyPr vert="horz" wrap="square" lIns="91440" tIns="45720" rIns="91440" bIns="45720" numCol="1" anchor="b" anchorCtr="0" compatLnSpc="1">
            <a:prstTxWarp prst="textNoShape">
              <a:avLst/>
            </a:prstTxWarp>
          </a:bodyPr>
          <a:lstStyle>
            <a:lvl1pPr algn="r" eaLnBrk="1" hangingPunct="1">
              <a:defRPr sz="1000"/>
            </a:lvl1pPr>
          </a:lstStyle>
          <a:p>
            <a:pPr>
              <a:defRPr/>
            </a:pPr>
            <a:fld id="{26D7181F-0D0C-49EE-A595-14126103812F}" type="slidenum">
              <a:rPr lang="en-US" altLang="en-US"/>
              <a:pPr>
                <a:defRPr/>
              </a:pPr>
              <a:t>‹#›</a:t>
            </a:fld>
            <a:endParaRPr lang="en-US" altLang="en-US"/>
          </a:p>
        </p:txBody>
      </p:sp>
      <p:sp>
        <p:nvSpPr>
          <p:cNvPr id="11" name="Text Box 10">
            <a:extLst>
              <a:ext uri="{FF2B5EF4-FFF2-40B4-BE49-F238E27FC236}">
                <a16:creationId xmlns:a16="http://schemas.microsoft.com/office/drawing/2014/main" id="{1492A26A-D491-7B3F-F7F5-3A99D236F1F5}"/>
              </a:ext>
            </a:extLst>
          </p:cNvPr>
          <p:cNvSpPr txBox="1">
            <a:spLocks noChangeArrowheads="1"/>
          </p:cNvSpPr>
          <p:nvPr userDrawn="1"/>
        </p:nvSpPr>
        <p:spPr bwMode="auto">
          <a:xfrm>
            <a:off x="11176000" y="6553200"/>
            <a:ext cx="1016000" cy="274638"/>
          </a:xfrm>
          <a:prstGeom prst="rect">
            <a:avLst/>
          </a:prstGeom>
          <a:noFill/>
          <a:ln w="9525">
            <a:noFill/>
            <a:miter lim="800000"/>
            <a:headEnd/>
            <a:tailEnd/>
          </a:ln>
          <a:effec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a:defRPr/>
            </a:pPr>
            <a:r>
              <a:rPr lang="en-US" altLang="en-US" sz="1200">
                <a:cs typeface="Times New Roman" panose="02020603050405020304" pitchFamily="18" charset="0"/>
              </a:rPr>
              <a:t>7-</a:t>
            </a:r>
            <a:fld id="{A5ECAE33-83E5-4121-9794-1C84AAD1509D}" type="slidenum">
              <a:rPr lang="en-US" altLang="en-US" sz="1200" smtClean="0">
                <a:cs typeface="Times New Roman" panose="02020603050405020304" pitchFamily="18" charset="0"/>
              </a:rPr>
              <a:pPr algn="r">
                <a:defRPr/>
              </a:pPr>
              <a:t>‹#›</a:t>
            </a:fld>
            <a:endParaRPr lang="en-US" altLang="en-US" sz="1200">
              <a:cs typeface="Times New Roman" panose="02020603050405020304" pitchFamily="18" charset="0"/>
            </a:endParaRPr>
          </a:p>
        </p:txBody>
      </p:sp>
    </p:spTree>
    <p:extLst>
      <p:ext uri="{BB962C8B-B14F-4D97-AF65-F5344CB8AC3E}">
        <p14:creationId xmlns:p14="http://schemas.microsoft.com/office/powerpoint/2010/main" val="2791760959"/>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txStyles>
    <p:titleStyle>
      <a:lvl1pPr algn="l" rtl="0" eaLnBrk="0" fontAlgn="base" hangingPunct="0">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ＭＳ Ｐゴシック" pitchFamily="-1" charset="-128"/>
          <a:cs typeface="ＭＳ Ｐゴシック" pitchFamily="-1" charset="-128"/>
        </a:defRPr>
      </a:lvl1pPr>
      <a:lvl2pPr algn="l" rtl="0" eaLnBrk="0" fontAlgn="base" hangingPunct="0">
        <a:spcBef>
          <a:spcPct val="0"/>
        </a:spcBef>
        <a:spcAft>
          <a:spcPct val="0"/>
        </a:spcAft>
        <a:defRPr sz="4100" b="1">
          <a:solidFill>
            <a:schemeClr val="tx2"/>
          </a:solidFill>
          <a:latin typeface="Lucida Sans Unicode" pitchFamily="-1" charset="0"/>
          <a:ea typeface="ＭＳ Ｐゴシック" pitchFamily="-1" charset="-128"/>
          <a:cs typeface="ＭＳ Ｐゴシック" pitchFamily="-1" charset="-128"/>
        </a:defRPr>
      </a:lvl2pPr>
      <a:lvl3pPr algn="l" rtl="0" eaLnBrk="0" fontAlgn="base" hangingPunct="0">
        <a:spcBef>
          <a:spcPct val="0"/>
        </a:spcBef>
        <a:spcAft>
          <a:spcPct val="0"/>
        </a:spcAft>
        <a:defRPr sz="4100" b="1">
          <a:solidFill>
            <a:schemeClr val="tx2"/>
          </a:solidFill>
          <a:latin typeface="Lucida Sans Unicode" pitchFamily="-1" charset="0"/>
          <a:ea typeface="ＭＳ Ｐゴシック" pitchFamily="-1" charset="-128"/>
          <a:cs typeface="ＭＳ Ｐゴシック" pitchFamily="-1" charset="-128"/>
        </a:defRPr>
      </a:lvl3pPr>
      <a:lvl4pPr algn="l" rtl="0" eaLnBrk="0" fontAlgn="base" hangingPunct="0">
        <a:spcBef>
          <a:spcPct val="0"/>
        </a:spcBef>
        <a:spcAft>
          <a:spcPct val="0"/>
        </a:spcAft>
        <a:defRPr sz="4100" b="1">
          <a:solidFill>
            <a:schemeClr val="tx2"/>
          </a:solidFill>
          <a:latin typeface="Lucida Sans Unicode" pitchFamily="-1" charset="0"/>
          <a:ea typeface="ＭＳ Ｐゴシック" pitchFamily="-1" charset="-128"/>
          <a:cs typeface="ＭＳ Ｐゴシック" pitchFamily="-1" charset="-128"/>
        </a:defRPr>
      </a:lvl4pPr>
      <a:lvl5pPr algn="l" rtl="0" eaLnBrk="0" fontAlgn="base" hangingPunct="0">
        <a:spcBef>
          <a:spcPct val="0"/>
        </a:spcBef>
        <a:spcAft>
          <a:spcPct val="0"/>
        </a:spcAft>
        <a:defRPr sz="4100" b="1">
          <a:solidFill>
            <a:schemeClr val="tx2"/>
          </a:solidFill>
          <a:latin typeface="Lucida Sans Unicode" pitchFamily="-1" charset="0"/>
          <a:ea typeface="ＭＳ Ｐゴシック" pitchFamily="-1" charset="-128"/>
          <a:cs typeface="ＭＳ Ｐゴシック" pitchFamily="-1" charset="-128"/>
        </a:defRPr>
      </a:lvl5pPr>
      <a:lvl6pPr marL="457200" algn="l" rtl="0" fontAlgn="base">
        <a:spcBef>
          <a:spcPct val="0"/>
        </a:spcBef>
        <a:spcAft>
          <a:spcPct val="0"/>
        </a:spcAft>
        <a:defRPr sz="4100" b="1">
          <a:solidFill>
            <a:schemeClr val="tx2"/>
          </a:solidFill>
          <a:latin typeface="Lucida Sans Unicode" pitchFamily="-1" charset="0"/>
        </a:defRPr>
      </a:lvl6pPr>
      <a:lvl7pPr marL="914400" algn="l" rtl="0" fontAlgn="base">
        <a:spcBef>
          <a:spcPct val="0"/>
        </a:spcBef>
        <a:spcAft>
          <a:spcPct val="0"/>
        </a:spcAft>
        <a:defRPr sz="4100" b="1">
          <a:solidFill>
            <a:schemeClr val="tx2"/>
          </a:solidFill>
          <a:latin typeface="Lucida Sans Unicode" pitchFamily="-1" charset="0"/>
        </a:defRPr>
      </a:lvl7pPr>
      <a:lvl8pPr marL="1371600" algn="l" rtl="0" fontAlgn="base">
        <a:spcBef>
          <a:spcPct val="0"/>
        </a:spcBef>
        <a:spcAft>
          <a:spcPct val="0"/>
        </a:spcAft>
        <a:defRPr sz="4100" b="1">
          <a:solidFill>
            <a:schemeClr val="tx2"/>
          </a:solidFill>
          <a:latin typeface="Lucida Sans Unicode" pitchFamily="-1" charset="0"/>
        </a:defRPr>
      </a:lvl8pPr>
      <a:lvl9pPr marL="1828800" algn="l" rtl="0" fontAlgn="base">
        <a:spcBef>
          <a:spcPct val="0"/>
        </a:spcBef>
        <a:spcAft>
          <a:spcPct val="0"/>
        </a:spcAft>
        <a:defRPr sz="4100" b="1">
          <a:solidFill>
            <a:schemeClr val="tx2"/>
          </a:solidFill>
          <a:latin typeface="Lucida Sans Unicode" pitchFamily="-1" charset="0"/>
        </a:defRPr>
      </a:lvl9pPr>
    </p:titleStyle>
    <p:bodyStyle>
      <a:lvl1pPr marL="365125" indent="-255588" algn="l" rtl="0" eaLnBrk="0" fontAlgn="base" hangingPunct="0">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mn-lt"/>
          <a:ea typeface="ＭＳ Ｐゴシック" pitchFamily="-1" charset="-128"/>
          <a:cs typeface="ＭＳ Ｐゴシック" pitchFamily="-1" charset="-128"/>
        </a:defRPr>
      </a:lvl1pPr>
      <a:lvl2pPr marL="620713" indent="-228600" algn="l" rtl="0" eaLnBrk="0" fontAlgn="base" hangingPunct="0">
        <a:spcBef>
          <a:spcPts val="325"/>
        </a:spcBef>
        <a:spcAft>
          <a:spcPct val="0"/>
        </a:spcAft>
        <a:buClr>
          <a:schemeClr val="accent1"/>
        </a:buClr>
        <a:buFont typeface="Verdana" panose="020B0604030504040204" pitchFamily="34" charset="0"/>
        <a:buChar char="◦"/>
        <a:defRPr sz="2300" kern="1200">
          <a:solidFill>
            <a:schemeClr val="tx1"/>
          </a:solidFill>
          <a:latin typeface="+mn-lt"/>
          <a:ea typeface="ＭＳ Ｐゴシック" pitchFamily="-1" charset="-128"/>
          <a:cs typeface="+mn-cs"/>
        </a:defRPr>
      </a:lvl2pPr>
      <a:lvl3pPr marL="858838" indent="-228600" algn="l" rtl="0" eaLnBrk="0" fontAlgn="base" hangingPunct="0">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mn-lt"/>
          <a:ea typeface="ＭＳ Ｐゴシック" pitchFamily="-1" charset="-128"/>
          <a:cs typeface="+mn-cs"/>
        </a:defRPr>
      </a:lvl3pPr>
      <a:lvl4pPr marL="1143000" indent="-228600" algn="l" rtl="0" eaLnBrk="0" fontAlgn="base" hangingPunct="0">
        <a:spcBef>
          <a:spcPts val="350"/>
        </a:spcBef>
        <a:spcAft>
          <a:spcPct val="0"/>
        </a:spcAft>
        <a:buClr>
          <a:schemeClr val="accent2"/>
        </a:buClr>
        <a:buFont typeface="Wingdings 2" panose="05020102010507070707" pitchFamily="18" charset="2"/>
        <a:buChar char=""/>
        <a:defRPr sz="1900" kern="1200">
          <a:solidFill>
            <a:schemeClr val="tx1"/>
          </a:solidFill>
          <a:latin typeface="+mn-lt"/>
          <a:ea typeface="ＭＳ Ｐゴシック" pitchFamily="-1" charset="-128"/>
          <a:cs typeface="+mn-cs"/>
        </a:defRPr>
      </a:lvl4pPr>
      <a:lvl5pPr marL="1371600" indent="-228600" algn="l" rtl="0" eaLnBrk="0" fontAlgn="base" hangingPunct="0">
        <a:spcBef>
          <a:spcPts val="350"/>
        </a:spcBef>
        <a:spcAft>
          <a:spcPct val="0"/>
        </a:spcAft>
        <a:buClr>
          <a:schemeClr val="accent2"/>
        </a:buClr>
        <a:buFont typeface="Wingdings 2" panose="05020102010507070707" pitchFamily="18" charset="2"/>
        <a:buChar char=""/>
        <a:defRPr kern="1200">
          <a:solidFill>
            <a:schemeClr val="tx1"/>
          </a:solidFill>
          <a:latin typeface="+mn-lt"/>
          <a:ea typeface="ＭＳ Ｐゴシック" pitchFamily="-1" charset="-128"/>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0.emf"/><Relationship Id="rId13" Type="http://schemas.openxmlformats.org/officeDocument/2006/relationships/oleObject" Target="../embeddings/oleObject9.bin"/><Relationship Id="rId18" Type="http://schemas.openxmlformats.org/officeDocument/2006/relationships/image" Target="../media/image15.emf"/><Relationship Id="rId3" Type="http://schemas.openxmlformats.org/officeDocument/2006/relationships/oleObject" Target="../embeddings/oleObject4.bin"/><Relationship Id="rId21" Type="http://schemas.openxmlformats.org/officeDocument/2006/relationships/oleObject" Target="../embeddings/oleObject13.bin"/><Relationship Id="rId7" Type="http://schemas.openxmlformats.org/officeDocument/2006/relationships/oleObject" Target="../embeddings/oleObject6.bin"/><Relationship Id="rId12" Type="http://schemas.openxmlformats.org/officeDocument/2006/relationships/image" Target="../media/image12.emf"/><Relationship Id="rId17" Type="http://schemas.openxmlformats.org/officeDocument/2006/relationships/oleObject" Target="../embeddings/oleObject11.bin"/><Relationship Id="rId2" Type="http://schemas.openxmlformats.org/officeDocument/2006/relationships/notesSlide" Target="../notesSlides/notesSlide12.xml"/><Relationship Id="rId16" Type="http://schemas.openxmlformats.org/officeDocument/2006/relationships/image" Target="../media/image14.emf"/><Relationship Id="rId20" Type="http://schemas.openxmlformats.org/officeDocument/2006/relationships/image" Target="../media/image16.emf"/><Relationship Id="rId1" Type="http://schemas.openxmlformats.org/officeDocument/2006/relationships/slideLayout" Target="../slideLayouts/slideLayout6.xml"/><Relationship Id="rId6" Type="http://schemas.openxmlformats.org/officeDocument/2006/relationships/image" Target="../media/image9.emf"/><Relationship Id="rId11" Type="http://schemas.openxmlformats.org/officeDocument/2006/relationships/oleObject" Target="../embeddings/oleObject8.bin"/><Relationship Id="rId24" Type="http://schemas.openxmlformats.org/officeDocument/2006/relationships/image" Target="../media/image18.emf"/><Relationship Id="rId5" Type="http://schemas.openxmlformats.org/officeDocument/2006/relationships/oleObject" Target="../embeddings/oleObject5.bin"/><Relationship Id="rId15" Type="http://schemas.openxmlformats.org/officeDocument/2006/relationships/oleObject" Target="../embeddings/oleObject10.bin"/><Relationship Id="rId23" Type="http://schemas.openxmlformats.org/officeDocument/2006/relationships/oleObject" Target="../embeddings/oleObject14.bin"/><Relationship Id="rId10" Type="http://schemas.openxmlformats.org/officeDocument/2006/relationships/image" Target="../media/image11.emf"/><Relationship Id="rId19" Type="http://schemas.openxmlformats.org/officeDocument/2006/relationships/oleObject" Target="../embeddings/oleObject12.bin"/><Relationship Id="rId4" Type="http://schemas.openxmlformats.org/officeDocument/2006/relationships/image" Target="../media/image8.emf"/><Relationship Id="rId9" Type="http://schemas.openxmlformats.org/officeDocument/2006/relationships/oleObject" Target="../embeddings/oleObject7.bin"/><Relationship Id="rId14" Type="http://schemas.openxmlformats.org/officeDocument/2006/relationships/image" Target="../media/image13.emf"/><Relationship Id="rId22" Type="http://schemas.openxmlformats.org/officeDocument/2006/relationships/image" Target="../media/image17.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14.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oleObject" Target="../embeddings/oleObject16.bin"/><Relationship Id="rId7" Type="http://schemas.openxmlformats.org/officeDocument/2006/relationships/oleObject" Target="../embeddings/oleObject18.bin"/><Relationship Id="rId12" Type="http://schemas.openxmlformats.org/officeDocument/2006/relationships/image" Target="../media/image24.emf"/><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1.emf"/><Relationship Id="rId11" Type="http://schemas.openxmlformats.org/officeDocument/2006/relationships/oleObject" Target="../embeddings/oleObject20.bin"/><Relationship Id="rId5" Type="http://schemas.openxmlformats.org/officeDocument/2006/relationships/oleObject" Target="../embeddings/oleObject17.bin"/><Relationship Id="rId10" Type="http://schemas.openxmlformats.org/officeDocument/2006/relationships/image" Target="../media/image23.emf"/><Relationship Id="rId4" Type="http://schemas.openxmlformats.org/officeDocument/2006/relationships/image" Target="../media/image20.emf"/><Relationship Id="rId9" Type="http://schemas.openxmlformats.org/officeDocument/2006/relationships/oleObject" Target="../embeddings/oleObject19.bin"/></Relationships>
</file>

<file path=ppt/slides/_rels/slide15.xml.rels><?xml version="1.0" encoding="UTF-8" standalone="yes"?>
<Relationships xmlns="http://schemas.openxmlformats.org/package/2006/relationships"><Relationship Id="rId8" Type="http://schemas.openxmlformats.org/officeDocument/2006/relationships/image" Target="../media/image27.emf"/><Relationship Id="rId3" Type="http://schemas.openxmlformats.org/officeDocument/2006/relationships/oleObject" Target="../embeddings/oleObject21.bin"/><Relationship Id="rId7" Type="http://schemas.openxmlformats.org/officeDocument/2006/relationships/oleObject" Target="../embeddings/oleObject23.bin"/><Relationship Id="rId12" Type="http://schemas.openxmlformats.org/officeDocument/2006/relationships/image" Target="../media/image29.emf"/><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6.emf"/><Relationship Id="rId11" Type="http://schemas.openxmlformats.org/officeDocument/2006/relationships/oleObject" Target="../embeddings/oleObject25.bin"/><Relationship Id="rId5" Type="http://schemas.openxmlformats.org/officeDocument/2006/relationships/oleObject" Target="../embeddings/oleObject22.bin"/><Relationship Id="rId10" Type="http://schemas.openxmlformats.org/officeDocument/2006/relationships/image" Target="../media/image28.emf"/><Relationship Id="rId4" Type="http://schemas.openxmlformats.org/officeDocument/2006/relationships/image" Target="../media/image25.emf"/><Relationship Id="rId9" Type="http://schemas.openxmlformats.org/officeDocument/2006/relationships/oleObject" Target="../embeddings/oleObject24.bin"/></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0.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31.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3.emf"/><Relationship Id="rId5" Type="http://schemas.openxmlformats.org/officeDocument/2006/relationships/oleObject" Target="../embeddings/oleObject29.bin"/><Relationship Id="rId4" Type="http://schemas.openxmlformats.org/officeDocument/2006/relationships/image" Target="../media/image32.emf"/></Relationships>
</file>

<file path=ppt/slides/_rels/slide21.xml.rels><?xml version="1.0" encoding="UTF-8" standalone="yes"?>
<Relationships xmlns="http://schemas.openxmlformats.org/package/2006/relationships"><Relationship Id="rId8" Type="http://schemas.openxmlformats.org/officeDocument/2006/relationships/image" Target="../media/image36.emf"/><Relationship Id="rId3" Type="http://schemas.openxmlformats.org/officeDocument/2006/relationships/oleObject" Target="../embeddings/oleObject30.bin"/><Relationship Id="rId7" Type="http://schemas.openxmlformats.org/officeDocument/2006/relationships/oleObject" Target="../embeddings/oleObject32.bin"/><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5.emf"/><Relationship Id="rId5" Type="http://schemas.openxmlformats.org/officeDocument/2006/relationships/oleObject" Target="../embeddings/oleObject31.bin"/><Relationship Id="rId4" Type="http://schemas.openxmlformats.org/officeDocument/2006/relationships/image" Target="../media/image34.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7.e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9.emf"/><Relationship Id="rId5" Type="http://schemas.openxmlformats.org/officeDocument/2006/relationships/oleObject" Target="../embeddings/oleObject35.bin"/><Relationship Id="rId4" Type="http://schemas.openxmlformats.org/officeDocument/2006/relationships/image" Target="../media/image38.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40.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2.emf"/><Relationship Id="rId5" Type="http://schemas.openxmlformats.org/officeDocument/2006/relationships/oleObject" Target="../embeddings/oleObject38.bin"/><Relationship Id="rId4" Type="http://schemas.openxmlformats.org/officeDocument/2006/relationships/image" Target="../media/image41.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43.emf"/></Relationships>
</file>

<file path=ppt/slides/_rels/slide29.xml.rels><?xml version="1.0" encoding="UTF-8" standalone="yes"?>
<Relationships xmlns="http://schemas.openxmlformats.org/package/2006/relationships"><Relationship Id="rId8" Type="http://schemas.openxmlformats.org/officeDocument/2006/relationships/image" Target="../media/image46.emf"/><Relationship Id="rId3" Type="http://schemas.openxmlformats.org/officeDocument/2006/relationships/oleObject" Target="../embeddings/oleObject40.bin"/><Relationship Id="rId7" Type="http://schemas.openxmlformats.org/officeDocument/2006/relationships/oleObject" Target="../embeddings/oleObject42.bin"/><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45.emf"/><Relationship Id="rId5" Type="http://schemas.openxmlformats.org/officeDocument/2006/relationships/oleObject" Target="../embeddings/oleObject41.bin"/><Relationship Id="rId4" Type="http://schemas.openxmlformats.org/officeDocument/2006/relationships/image" Target="../media/image44.e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48.emf"/><Relationship Id="rId5" Type="http://schemas.openxmlformats.org/officeDocument/2006/relationships/oleObject" Target="../embeddings/oleObject44.bin"/><Relationship Id="rId4" Type="http://schemas.openxmlformats.org/officeDocument/2006/relationships/image" Target="../media/image47.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image" Target="../media/image50.emf"/><Relationship Id="rId5" Type="http://schemas.openxmlformats.org/officeDocument/2006/relationships/oleObject" Target="../embeddings/oleObject46.bin"/><Relationship Id="rId4" Type="http://schemas.openxmlformats.org/officeDocument/2006/relationships/image" Target="../media/image49.emf"/></Relationships>
</file>

<file path=ppt/slides/_rels/slide32.xml.rels><?xml version="1.0" encoding="UTF-8" standalone="yes"?>
<Relationships xmlns="http://schemas.openxmlformats.org/package/2006/relationships"><Relationship Id="rId8" Type="http://schemas.openxmlformats.org/officeDocument/2006/relationships/image" Target="../media/image53.emf"/><Relationship Id="rId3" Type="http://schemas.openxmlformats.org/officeDocument/2006/relationships/oleObject" Target="../embeddings/oleObject47.bin"/><Relationship Id="rId7" Type="http://schemas.openxmlformats.org/officeDocument/2006/relationships/oleObject" Target="../embeddings/oleObject49.bin"/><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52.emf"/><Relationship Id="rId5" Type="http://schemas.openxmlformats.org/officeDocument/2006/relationships/oleObject" Target="../embeddings/oleObject48.bin"/><Relationship Id="rId4" Type="http://schemas.openxmlformats.org/officeDocument/2006/relationships/image" Target="../media/image51.e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55.emf"/><Relationship Id="rId5" Type="http://schemas.openxmlformats.org/officeDocument/2006/relationships/oleObject" Target="../embeddings/oleObject51.bin"/><Relationship Id="rId4" Type="http://schemas.openxmlformats.org/officeDocument/2006/relationships/image" Target="../media/image54.emf"/></Relationships>
</file>

<file path=ppt/slides/_rels/slide34.xml.rels><?xml version="1.0" encoding="UTF-8" standalone="yes"?>
<Relationships xmlns="http://schemas.openxmlformats.org/package/2006/relationships"><Relationship Id="rId8" Type="http://schemas.openxmlformats.org/officeDocument/2006/relationships/image" Target="../media/image58.emf"/><Relationship Id="rId13" Type="http://schemas.openxmlformats.org/officeDocument/2006/relationships/oleObject" Target="../embeddings/oleObject57.bin"/><Relationship Id="rId18" Type="http://schemas.openxmlformats.org/officeDocument/2006/relationships/image" Target="../media/image63.emf"/><Relationship Id="rId3" Type="http://schemas.openxmlformats.org/officeDocument/2006/relationships/oleObject" Target="../embeddings/oleObject52.bin"/><Relationship Id="rId7" Type="http://schemas.openxmlformats.org/officeDocument/2006/relationships/oleObject" Target="../embeddings/oleObject54.bin"/><Relationship Id="rId12" Type="http://schemas.openxmlformats.org/officeDocument/2006/relationships/image" Target="../media/image60.emf"/><Relationship Id="rId17" Type="http://schemas.openxmlformats.org/officeDocument/2006/relationships/oleObject" Target="../embeddings/oleObject59.bin"/><Relationship Id="rId2" Type="http://schemas.openxmlformats.org/officeDocument/2006/relationships/notesSlide" Target="../notesSlides/notesSlide34.xml"/><Relationship Id="rId16" Type="http://schemas.openxmlformats.org/officeDocument/2006/relationships/image" Target="../media/image62.emf"/><Relationship Id="rId20" Type="http://schemas.openxmlformats.org/officeDocument/2006/relationships/image" Target="../media/image64.emf"/><Relationship Id="rId1" Type="http://schemas.openxmlformats.org/officeDocument/2006/relationships/slideLayout" Target="../slideLayouts/slideLayout6.xml"/><Relationship Id="rId6" Type="http://schemas.openxmlformats.org/officeDocument/2006/relationships/image" Target="../media/image57.emf"/><Relationship Id="rId11" Type="http://schemas.openxmlformats.org/officeDocument/2006/relationships/oleObject" Target="../embeddings/oleObject56.bin"/><Relationship Id="rId5" Type="http://schemas.openxmlformats.org/officeDocument/2006/relationships/oleObject" Target="../embeddings/oleObject53.bin"/><Relationship Id="rId15" Type="http://schemas.openxmlformats.org/officeDocument/2006/relationships/oleObject" Target="../embeddings/oleObject58.bin"/><Relationship Id="rId10" Type="http://schemas.openxmlformats.org/officeDocument/2006/relationships/image" Target="../media/image59.emf"/><Relationship Id="rId19" Type="http://schemas.openxmlformats.org/officeDocument/2006/relationships/oleObject" Target="../embeddings/oleObject60.bin"/><Relationship Id="rId4" Type="http://schemas.openxmlformats.org/officeDocument/2006/relationships/image" Target="../media/image56.emf"/><Relationship Id="rId9" Type="http://schemas.openxmlformats.org/officeDocument/2006/relationships/oleObject" Target="../embeddings/oleObject55.bin"/><Relationship Id="rId14" Type="http://schemas.openxmlformats.org/officeDocument/2006/relationships/image" Target="../media/image61.emf"/></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65.emf"/></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66.e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notesSlide" Target="../notesSlides/notesSlide49.xml"/><Relationship Id="rId1" Type="http://schemas.openxmlformats.org/officeDocument/2006/relationships/slideLayout" Target="../slideLayouts/slideLayout6.xml"/><Relationship Id="rId6" Type="http://schemas.openxmlformats.org/officeDocument/2006/relationships/image" Target="../media/image68.emf"/><Relationship Id="rId5" Type="http://schemas.openxmlformats.org/officeDocument/2006/relationships/oleObject" Target="../embeddings/oleObject64.bin"/><Relationship Id="rId4" Type="http://schemas.openxmlformats.org/officeDocument/2006/relationships/image" Target="../media/image67.emf"/></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69.emf"/></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70.emf"/></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71.emf"/></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notesSlide" Target="../notesSlides/notesSlide58.xml"/><Relationship Id="rId1" Type="http://schemas.openxmlformats.org/officeDocument/2006/relationships/slideLayout" Target="../slideLayouts/slideLayout6.xml"/><Relationship Id="rId6" Type="http://schemas.openxmlformats.org/officeDocument/2006/relationships/image" Target="../media/image73.emf"/><Relationship Id="rId5" Type="http://schemas.openxmlformats.org/officeDocument/2006/relationships/oleObject" Target="../embeddings/oleObject69.bin"/><Relationship Id="rId4" Type="http://schemas.openxmlformats.org/officeDocument/2006/relationships/image" Target="../media/image72.emf"/></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74.emf"/></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5.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5.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5.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5.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5.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5.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5.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5.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5.xml"/></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notesSlide" Target="../notesSlides/notesSlide85.xml"/><Relationship Id="rId1" Type="http://schemas.openxmlformats.org/officeDocument/2006/relationships/slideLayout" Target="../slideLayouts/slideLayout25.xml"/><Relationship Id="rId4" Type="http://schemas.openxmlformats.org/officeDocument/2006/relationships/image" Target="../media/image75.emf"/></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4.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5.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5.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5.xml"/></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72.bin"/><Relationship Id="rId2" Type="http://schemas.openxmlformats.org/officeDocument/2006/relationships/notesSlide" Target="../notesSlides/notesSlide90.xml"/><Relationship Id="rId1" Type="http://schemas.openxmlformats.org/officeDocument/2006/relationships/slideLayout" Target="../slideLayouts/slideLayout15.xml"/><Relationship Id="rId4" Type="http://schemas.openxmlformats.org/officeDocument/2006/relationships/image" Target="../media/image76.emf"/></Relationships>
</file>

<file path=ppt/slides/_rels/slide91.xml.rels><?xml version="1.0" encoding="UTF-8" standalone="yes"?>
<Relationships xmlns="http://schemas.openxmlformats.org/package/2006/relationships"><Relationship Id="rId3" Type="http://schemas.openxmlformats.org/officeDocument/2006/relationships/oleObject" Target="../embeddings/oleObject73.bin"/><Relationship Id="rId2" Type="http://schemas.openxmlformats.org/officeDocument/2006/relationships/notesSlide" Target="../notesSlides/notesSlide91.xml"/><Relationship Id="rId1" Type="http://schemas.openxmlformats.org/officeDocument/2006/relationships/slideLayout" Target="../slideLayouts/slideLayout15.xml"/><Relationship Id="rId4" Type="http://schemas.openxmlformats.org/officeDocument/2006/relationships/image" Target="../media/image77.emf"/></Relationships>
</file>

<file path=ppt/slides/_rels/slide92.xml.rels><?xml version="1.0" encoding="UTF-8" standalone="yes"?>
<Relationships xmlns="http://schemas.openxmlformats.org/package/2006/relationships"><Relationship Id="rId8" Type="http://schemas.openxmlformats.org/officeDocument/2006/relationships/image" Target="../media/image80.emf"/><Relationship Id="rId3" Type="http://schemas.openxmlformats.org/officeDocument/2006/relationships/oleObject" Target="../embeddings/oleObject74.bin"/><Relationship Id="rId7" Type="http://schemas.openxmlformats.org/officeDocument/2006/relationships/oleObject" Target="../embeddings/oleObject76.bin"/><Relationship Id="rId2" Type="http://schemas.openxmlformats.org/officeDocument/2006/relationships/notesSlide" Target="../notesSlides/notesSlide92.xml"/><Relationship Id="rId1" Type="http://schemas.openxmlformats.org/officeDocument/2006/relationships/slideLayout" Target="../slideLayouts/slideLayout15.xml"/><Relationship Id="rId6" Type="http://schemas.openxmlformats.org/officeDocument/2006/relationships/image" Target="../media/image79.emf"/><Relationship Id="rId5" Type="http://schemas.openxmlformats.org/officeDocument/2006/relationships/oleObject" Target="../embeddings/oleObject75.bin"/><Relationship Id="rId4" Type="http://schemas.openxmlformats.org/officeDocument/2006/relationships/image" Target="../media/image78.emf"/></Relationships>
</file>

<file path=ppt/slides/_rels/slide93.xml.rels><?xml version="1.0" encoding="UTF-8" standalone="yes"?>
<Relationships xmlns="http://schemas.openxmlformats.org/package/2006/relationships"><Relationship Id="rId8" Type="http://schemas.openxmlformats.org/officeDocument/2006/relationships/image" Target="../media/image83.emf"/><Relationship Id="rId3" Type="http://schemas.openxmlformats.org/officeDocument/2006/relationships/oleObject" Target="../embeddings/oleObject77.bin"/><Relationship Id="rId7" Type="http://schemas.openxmlformats.org/officeDocument/2006/relationships/oleObject" Target="../embeddings/oleObject79.bin"/><Relationship Id="rId2" Type="http://schemas.openxmlformats.org/officeDocument/2006/relationships/notesSlide" Target="../notesSlides/notesSlide93.xml"/><Relationship Id="rId1" Type="http://schemas.openxmlformats.org/officeDocument/2006/relationships/slideLayout" Target="../slideLayouts/slideLayout15.xml"/><Relationship Id="rId6" Type="http://schemas.openxmlformats.org/officeDocument/2006/relationships/image" Target="../media/image82.emf"/><Relationship Id="rId5" Type="http://schemas.openxmlformats.org/officeDocument/2006/relationships/oleObject" Target="../embeddings/oleObject78.bin"/><Relationship Id="rId4" Type="http://schemas.openxmlformats.org/officeDocument/2006/relationships/image" Target="../media/image81.emf"/></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5.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5.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5.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5.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5.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5.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5.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5.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5.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5.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5.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5.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5.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9.xml"/></Relationships>
</file>

<file path=ppt/slides/_rels/slide108.xml.rels><?xml version="1.0" encoding="UTF-8" standalone="yes"?>
<Relationships xmlns="http://schemas.openxmlformats.org/package/2006/relationships"><Relationship Id="rId3" Type="http://schemas.openxmlformats.org/officeDocument/2006/relationships/oleObject" Target="../embeddings/oleObject80.bin"/><Relationship Id="rId2" Type="http://schemas.openxmlformats.org/officeDocument/2006/relationships/notesSlide" Target="../notesSlides/notesSlide108.xml"/><Relationship Id="rId1" Type="http://schemas.openxmlformats.org/officeDocument/2006/relationships/slideLayout" Target="../slideLayouts/slideLayout15.xml"/><Relationship Id="rId6" Type="http://schemas.openxmlformats.org/officeDocument/2006/relationships/image" Target="../media/image85.emf"/><Relationship Id="rId5" Type="http://schemas.openxmlformats.org/officeDocument/2006/relationships/oleObject" Target="../embeddings/oleObject81.bin"/><Relationship Id="rId4" Type="http://schemas.openxmlformats.org/officeDocument/2006/relationships/image" Target="../media/image84.emf"/></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9.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5.xml"/></Relationships>
</file>

<file path=ppt/slides/_rels/slide111.xml.rels><?xml version="1.0" encoding="UTF-8" standalone="yes"?>
<Relationships xmlns="http://schemas.openxmlformats.org/package/2006/relationships"><Relationship Id="rId8" Type="http://schemas.openxmlformats.org/officeDocument/2006/relationships/image" Target="../media/image88.emf"/><Relationship Id="rId3" Type="http://schemas.openxmlformats.org/officeDocument/2006/relationships/oleObject" Target="../embeddings/oleObject82.bin"/><Relationship Id="rId7" Type="http://schemas.openxmlformats.org/officeDocument/2006/relationships/oleObject" Target="../embeddings/oleObject84.bin"/><Relationship Id="rId2" Type="http://schemas.openxmlformats.org/officeDocument/2006/relationships/notesSlide" Target="../notesSlides/notesSlide111.xml"/><Relationship Id="rId1" Type="http://schemas.openxmlformats.org/officeDocument/2006/relationships/slideLayout" Target="../slideLayouts/slideLayout15.xml"/><Relationship Id="rId6" Type="http://schemas.openxmlformats.org/officeDocument/2006/relationships/image" Target="../media/image87.emf"/><Relationship Id="rId5" Type="http://schemas.openxmlformats.org/officeDocument/2006/relationships/oleObject" Target="../embeddings/oleObject83.bin"/><Relationship Id="rId4" Type="http://schemas.openxmlformats.org/officeDocument/2006/relationships/image" Target="../media/image86.emf"/></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5.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5.xml"/></Relationships>
</file>

<file path=ppt/slides/_rels/slide114.xml.rels><?xml version="1.0" encoding="UTF-8" standalone="yes"?>
<Relationships xmlns="http://schemas.openxmlformats.org/package/2006/relationships"><Relationship Id="rId3" Type="http://schemas.openxmlformats.org/officeDocument/2006/relationships/oleObject" Target="../embeddings/oleObject85.bin"/><Relationship Id="rId2" Type="http://schemas.openxmlformats.org/officeDocument/2006/relationships/notesSlide" Target="../notesSlides/notesSlide114.xml"/><Relationship Id="rId1" Type="http://schemas.openxmlformats.org/officeDocument/2006/relationships/slideLayout" Target="../slideLayouts/slideLayout19.xml"/><Relationship Id="rId6" Type="http://schemas.openxmlformats.org/officeDocument/2006/relationships/image" Target="../media/image90.emf"/><Relationship Id="rId5" Type="http://schemas.openxmlformats.org/officeDocument/2006/relationships/oleObject" Target="../embeddings/oleObject86.bin"/><Relationship Id="rId4" Type="http://schemas.openxmlformats.org/officeDocument/2006/relationships/image" Target="../media/image89.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a:extLst>
              <a:ext uri="{FF2B5EF4-FFF2-40B4-BE49-F238E27FC236}">
                <a16:creationId xmlns:a16="http://schemas.microsoft.com/office/drawing/2014/main" id="{6576EAB1-DD61-A163-1C94-95567C0593D6}"/>
              </a:ext>
            </a:extLst>
          </p:cNvPr>
          <p:cNvSpPr>
            <a:spLocks noGrp="1"/>
          </p:cNvSpPr>
          <p:nvPr>
            <p:ph type="subTitle" idx="1"/>
          </p:nvPr>
        </p:nvSpPr>
        <p:spPr>
          <a:xfrm>
            <a:off x="2057400" y="2362200"/>
            <a:ext cx="7772400" cy="1200150"/>
          </a:xfrm>
        </p:spPr>
        <p:txBody>
          <a:bodyPr/>
          <a:lstStyle/>
          <a:p>
            <a:pPr marR="0" algn="ctr" eaLnBrk="1" hangingPunct="1"/>
            <a:r>
              <a:rPr lang="en-US" altLang="en-US" dirty="0">
                <a:ea typeface="ＭＳ Ｐゴシック" panose="020B0600070205080204" pitchFamily="34" charset="-128"/>
              </a:rPr>
              <a:t>Chapter 4: Discounted Cash Flow Valuation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63" name="Rectangle 3">
            <a:extLst>
              <a:ext uri="{FF2B5EF4-FFF2-40B4-BE49-F238E27FC236}">
                <a16:creationId xmlns:a16="http://schemas.microsoft.com/office/drawing/2014/main" id="{214D1F84-16FE-0972-F159-B7156604C319}"/>
              </a:ext>
            </a:extLst>
          </p:cNvPr>
          <p:cNvSpPr>
            <a:spLocks noGrp="1"/>
          </p:cNvSpPr>
          <p:nvPr>
            <p:ph idx="1"/>
          </p:nvPr>
        </p:nvSpPr>
        <p:spPr>
          <a:xfrm>
            <a:off x="1981200" y="1371600"/>
            <a:ext cx="8229600" cy="4724400"/>
          </a:xfrm>
        </p:spPr>
        <p:txBody>
          <a:bodyPr/>
          <a:lstStyle/>
          <a:p>
            <a:pPr eaLnBrk="1" hangingPunct="1">
              <a:lnSpc>
                <a:spcPct val="90000"/>
              </a:lnSpc>
            </a:pPr>
            <a:r>
              <a:rPr lang="en-US" altLang="en-US" sz="2400">
                <a:latin typeface="Times New Roman" panose="02020603050405020304" pitchFamily="18" charset="0"/>
                <a:ea typeface="ＭＳ Ｐゴシック" panose="020B0600070205080204" pitchFamily="34" charset="-128"/>
              </a:rPr>
              <a:t>If you were to invest $10,000 at 5-percent interest for one year, your investment would grow to $10,500. </a:t>
            </a:r>
          </a:p>
          <a:p>
            <a:pPr eaLnBrk="1" hangingPunct="1">
              <a:lnSpc>
                <a:spcPct val="90000"/>
              </a:lnSpc>
            </a:pPr>
            <a:endParaRPr lang="en-US" altLang="en-US" sz="2400">
              <a:latin typeface="Times New Roman" panose="02020603050405020304" pitchFamily="18" charset="0"/>
              <a:ea typeface="ＭＳ Ｐゴシック" panose="020B0600070205080204" pitchFamily="34" charset="-128"/>
            </a:endParaRPr>
          </a:p>
          <a:p>
            <a:pPr eaLnBrk="1" hangingPunct="1">
              <a:lnSpc>
                <a:spcPct val="90000"/>
              </a:lnSpc>
              <a:buFont typeface="Wingdings" panose="05000000000000000000" pitchFamily="2" charset="2"/>
              <a:buNone/>
            </a:pPr>
            <a:r>
              <a:rPr lang="en-US" altLang="en-US" sz="2400">
                <a:latin typeface="Times New Roman" panose="02020603050405020304" pitchFamily="18" charset="0"/>
                <a:ea typeface="ＭＳ Ｐゴシック" panose="020B0600070205080204" pitchFamily="34" charset="-128"/>
              </a:rPr>
              <a:t>     $500 would be interest ($10,000 </a:t>
            </a:r>
            <a:r>
              <a:rPr lang="en-US" altLang="en-US" sz="2400">
                <a:latin typeface="Times New Roman" panose="02020603050405020304" pitchFamily="18" charset="0"/>
                <a:ea typeface="ＭＳ Ｐゴシック" panose="020B0600070205080204" pitchFamily="34" charset="-128"/>
                <a:cs typeface="Times New Roman" panose="02020603050405020304" pitchFamily="18" charset="0"/>
              </a:rPr>
              <a:t>× .05)</a:t>
            </a:r>
            <a:endParaRPr lang="en-US" altLang="en-US" sz="2400">
              <a:latin typeface="Times New Roman" panose="02020603050405020304" pitchFamily="18" charset="0"/>
              <a:ea typeface="ＭＳ Ｐゴシック" panose="020B0600070205080204" pitchFamily="34" charset="-128"/>
            </a:endParaRPr>
          </a:p>
          <a:p>
            <a:pPr eaLnBrk="1" hangingPunct="1">
              <a:lnSpc>
                <a:spcPct val="90000"/>
              </a:lnSpc>
              <a:buFont typeface="Wingdings" panose="05000000000000000000" pitchFamily="2" charset="2"/>
              <a:buNone/>
            </a:pPr>
            <a:r>
              <a:rPr lang="en-US" altLang="en-US" sz="2400" u="sng">
                <a:latin typeface="Times New Roman" panose="02020603050405020304" pitchFamily="18" charset="0"/>
                <a:ea typeface="ＭＳ Ｐゴシック" panose="020B0600070205080204" pitchFamily="34" charset="-128"/>
              </a:rPr>
              <a:t>$10,000</a:t>
            </a:r>
            <a:r>
              <a:rPr lang="en-US" altLang="en-US" sz="2400">
                <a:latin typeface="Times New Roman" panose="02020603050405020304" pitchFamily="18" charset="0"/>
                <a:ea typeface="ＭＳ Ｐゴシック" panose="020B0600070205080204" pitchFamily="34" charset="-128"/>
              </a:rPr>
              <a:t> is the principal repayment ($10,000 </a:t>
            </a:r>
            <a:r>
              <a:rPr lang="en-US" altLang="en-US" sz="2400">
                <a:latin typeface="Times New Roman" panose="02020603050405020304" pitchFamily="18" charset="0"/>
                <a:ea typeface="ＭＳ Ｐゴシック" panose="020B0600070205080204" pitchFamily="34" charset="-128"/>
                <a:cs typeface="Times New Roman" panose="02020603050405020304" pitchFamily="18" charset="0"/>
              </a:rPr>
              <a:t>× 1)</a:t>
            </a:r>
            <a:endParaRPr lang="en-US" altLang="en-US" sz="2400">
              <a:latin typeface="Times New Roman" panose="02020603050405020304" pitchFamily="18" charset="0"/>
              <a:ea typeface="ＭＳ Ｐゴシック" panose="020B0600070205080204" pitchFamily="34" charset="-128"/>
            </a:endParaRPr>
          </a:p>
          <a:p>
            <a:pPr eaLnBrk="1" hangingPunct="1">
              <a:lnSpc>
                <a:spcPct val="90000"/>
              </a:lnSpc>
              <a:buFont typeface="Wingdings" panose="05000000000000000000" pitchFamily="2" charset="2"/>
              <a:buNone/>
            </a:pPr>
            <a:r>
              <a:rPr lang="en-US" altLang="en-US" sz="2400">
                <a:latin typeface="Times New Roman" panose="02020603050405020304" pitchFamily="18" charset="0"/>
                <a:ea typeface="ＭＳ Ｐゴシック" panose="020B0600070205080204" pitchFamily="34" charset="-128"/>
                <a:cs typeface="Times New Roman" panose="02020603050405020304" pitchFamily="18" charset="0"/>
              </a:rPr>
              <a:t>$10,500 is the total due. It can be calculated as:</a:t>
            </a:r>
          </a:p>
          <a:p>
            <a:pPr algn="ctr" eaLnBrk="1" hangingPunct="1">
              <a:lnSpc>
                <a:spcPct val="90000"/>
              </a:lnSpc>
              <a:buFont typeface="Wingdings" panose="05000000000000000000" pitchFamily="2" charset="2"/>
              <a:buNone/>
            </a:pPr>
            <a:endParaRPr lang="en-US" altLang="en-US" sz="2400">
              <a:latin typeface="Times New Roman" panose="02020603050405020304" pitchFamily="18" charset="0"/>
              <a:ea typeface="ＭＳ Ｐゴシック" panose="020B0600070205080204" pitchFamily="34" charset="-128"/>
              <a:cs typeface="Times New Roman" panose="02020603050405020304" pitchFamily="18" charset="0"/>
            </a:endParaRPr>
          </a:p>
          <a:p>
            <a:pPr algn="ctr" eaLnBrk="1" hangingPunct="1">
              <a:lnSpc>
                <a:spcPct val="90000"/>
              </a:lnSpc>
              <a:buFont typeface="Wingdings" panose="05000000000000000000" pitchFamily="2" charset="2"/>
              <a:buNone/>
            </a:pPr>
            <a:r>
              <a:rPr lang="en-US" altLang="en-US" sz="2400">
                <a:latin typeface="Times New Roman" panose="02020603050405020304" pitchFamily="18" charset="0"/>
                <a:ea typeface="ＭＳ Ｐゴシック" panose="020B0600070205080204" pitchFamily="34" charset="-128"/>
                <a:cs typeface="Times New Roman" panose="02020603050405020304" pitchFamily="18" charset="0"/>
              </a:rPr>
              <a:t>$10,500</a:t>
            </a:r>
            <a:r>
              <a:rPr lang="en-US" altLang="en-US" sz="2400">
                <a:latin typeface="Times New Roman" panose="02020603050405020304" pitchFamily="18" charset="0"/>
                <a:ea typeface="ＭＳ Ｐゴシック" panose="020B0600070205080204" pitchFamily="34" charset="-128"/>
              </a:rPr>
              <a:t> = $10,000</a:t>
            </a:r>
            <a:r>
              <a:rPr lang="en-US" altLang="en-US" sz="2400">
                <a:latin typeface="Times New Roman" panose="02020603050405020304" pitchFamily="18" charset="0"/>
                <a:ea typeface="ＭＳ Ｐゴシック" panose="020B0600070205080204" pitchFamily="34" charset="-128"/>
                <a:cs typeface="Times New Roman" panose="02020603050405020304" pitchFamily="18" charset="0"/>
              </a:rPr>
              <a:t>×(1.05)</a:t>
            </a:r>
          </a:p>
          <a:p>
            <a:pPr eaLnBrk="1" hangingPunct="1">
              <a:lnSpc>
                <a:spcPct val="90000"/>
              </a:lnSpc>
              <a:buFont typeface="Wingdings" panose="05000000000000000000" pitchFamily="2" charset="2"/>
              <a:buNone/>
            </a:pPr>
            <a:endParaRPr lang="en-US" altLang="en-US" sz="2400">
              <a:latin typeface="Times New Roman" panose="02020603050405020304" pitchFamily="18" charset="0"/>
              <a:ea typeface="ＭＳ Ｐゴシック" panose="020B0600070205080204" pitchFamily="34" charset="-128"/>
              <a:cs typeface="Times New Roman" panose="02020603050405020304" pitchFamily="18" charset="0"/>
            </a:endParaRPr>
          </a:p>
          <a:p>
            <a:pPr eaLnBrk="1" hangingPunct="1">
              <a:lnSpc>
                <a:spcPct val="90000"/>
              </a:lnSpc>
              <a:buFont typeface="Wingdings" panose="05000000000000000000" pitchFamily="2" charset="2"/>
              <a:buChar char="q"/>
            </a:pPr>
            <a:r>
              <a:rPr lang="en-US" altLang="en-US" sz="2400">
                <a:latin typeface="Times New Roman" panose="02020603050405020304" pitchFamily="18" charset="0"/>
                <a:ea typeface="ＭＳ Ｐゴシック" panose="020B0600070205080204" pitchFamily="34" charset="-128"/>
                <a:cs typeface="Times New Roman" panose="02020603050405020304" pitchFamily="18" charset="0"/>
              </a:rPr>
              <a:t>The total amount due at the end of the investment is call the </a:t>
            </a:r>
            <a:r>
              <a:rPr lang="en-US" altLang="en-US" sz="2400" i="1">
                <a:latin typeface="Times New Roman" panose="02020603050405020304" pitchFamily="18" charset="0"/>
                <a:ea typeface="ＭＳ Ｐゴシック" panose="020B0600070205080204" pitchFamily="34" charset="-128"/>
                <a:cs typeface="Times New Roman" panose="02020603050405020304" pitchFamily="18" charset="0"/>
              </a:rPr>
              <a:t>Future Value</a:t>
            </a:r>
            <a:r>
              <a:rPr lang="en-US" altLang="en-US" sz="2400">
                <a:latin typeface="Times New Roman" panose="02020603050405020304" pitchFamily="18" charset="0"/>
                <a:ea typeface="ＭＳ Ｐゴシック" panose="020B0600070205080204" pitchFamily="34" charset="-128"/>
                <a:cs typeface="Times New Roman" panose="02020603050405020304" pitchFamily="18" charset="0"/>
              </a:rPr>
              <a:t> (</a:t>
            </a:r>
            <a:r>
              <a:rPr lang="en-US" altLang="en-US" sz="2400" i="1">
                <a:latin typeface="Times New Roman" panose="02020603050405020304" pitchFamily="18" charset="0"/>
                <a:ea typeface="ＭＳ Ｐゴシック" panose="020B0600070205080204" pitchFamily="34" charset="-128"/>
                <a:cs typeface="Times New Roman" panose="02020603050405020304" pitchFamily="18" charset="0"/>
              </a:rPr>
              <a:t>FV</a:t>
            </a:r>
            <a:r>
              <a:rPr lang="en-US" altLang="en-US" sz="2400">
                <a:latin typeface="Times New Roman" panose="02020603050405020304" pitchFamily="18" charset="0"/>
                <a:ea typeface="ＭＳ Ｐゴシック" panose="020B0600070205080204" pitchFamily="34" charset="-128"/>
                <a:cs typeface="Times New Roman" panose="02020603050405020304" pitchFamily="18" charset="0"/>
              </a:rPr>
              <a:t>). </a:t>
            </a:r>
          </a:p>
        </p:txBody>
      </p:sp>
      <p:sp>
        <p:nvSpPr>
          <p:cNvPr id="11266" name="Rectangle 2">
            <a:extLst>
              <a:ext uri="{FF2B5EF4-FFF2-40B4-BE49-F238E27FC236}">
                <a16:creationId xmlns:a16="http://schemas.microsoft.com/office/drawing/2014/main" id="{B878C2AC-99ED-1F42-8088-1CD2C7F46251}"/>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The One-Period Case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3363">
                                            <p:txEl>
                                              <p:pRg st="0" end="0"/>
                                            </p:txEl>
                                          </p:spTgt>
                                        </p:tgtEl>
                                        <p:attrNameLst>
                                          <p:attrName>style.visibility</p:attrName>
                                        </p:attrNameLst>
                                      </p:cBhvr>
                                      <p:to>
                                        <p:strVal val="visible"/>
                                      </p:to>
                                    </p:set>
                                    <p:animEffect transition="in" filter="fade">
                                      <p:cBhvr>
                                        <p:cTn id="7" dur="1000"/>
                                        <p:tgtEl>
                                          <p:spTgt spid="143363">
                                            <p:txEl>
                                              <p:pRg st="0" end="0"/>
                                            </p:txEl>
                                          </p:spTgt>
                                        </p:tgtEl>
                                      </p:cBhvr>
                                    </p:animEffect>
                                    <p:anim calcmode="lin" valueType="num">
                                      <p:cBhvr>
                                        <p:cTn id="8" dur="1000" fill="hold"/>
                                        <p:tgtEl>
                                          <p:spTgt spid="14336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336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43363">
                                            <p:txEl>
                                              <p:pRg st="2" end="2"/>
                                            </p:txEl>
                                          </p:spTgt>
                                        </p:tgtEl>
                                        <p:attrNameLst>
                                          <p:attrName>style.visibility</p:attrName>
                                        </p:attrNameLst>
                                      </p:cBhvr>
                                      <p:to>
                                        <p:strVal val="visible"/>
                                      </p:to>
                                    </p:set>
                                    <p:animEffect transition="in" filter="fade">
                                      <p:cBhvr>
                                        <p:cTn id="14" dur="1000"/>
                                        <p:tgtEl>
                                          <p:spTgt spid="143363">
                                            <p:txEl>
                                              <p:pRg st="2" end="2"/>
                                            </p:txEl>
                                          </p:spTgt>
                                        </p:tgtEl>
                                      </p:cBhvr>
                                    </p:animEffect>
                                    <p:anim calcmode="lin" valueType="num">
                                      <p:cBhvr>
                                        <p:cTn id="15" dur="1000" fill="hold"/>
                                        <p:tgtEl>
                                          <p:spTgt spid="14336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4336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43363">
                                            <p:txEl>
                                              <p:pRg st="3" end="3"/>
                                            </p:txEl>
                                          </p:spTgt>
                                        </p:tgtEl>
                                        <p:attrNameLst>
                                          <p:attrName>style.visibility</p:attrName>
                                        </p:attrNameLst>
                                      </p:cBhvr>
                                      <p:to>
                                        <p:strVal val="visible"/>
                                      </p:to>
                                    </p:set>
                                    <p:animEffect transition="in" filter="fade">
                                      <p:cBhvr>
                                        <p:cTn id="21" dur="1000"/>
                                        <p:tgtEl>
                                          <p:spTgt spid="143363">
                                            <p:txEl>
                                              <p:pRg st="3" end="3"/>
                                            </p:txEl>
                                          </p:spTgt>
                                        </p:tgtEl>
                                      </p:cBhvr>
                                    </p:animEffect>
                                    <p:anim calcmode="lin" valueType="num">
                                      <p:cBhvr>
                                        <p:cTn id="22" dur="1000" fill="hold"/>
                                        <p:tgtEl>
                                          <p:spTgt spid="14336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4336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43363">
                                            <p:txEl>
                                              <p:pRg st="4" end="4"/>
                                            </p:txEl>
                                          </p:spTgt>
                                        </p:tgtEl>
                                        <p:attrNameLst>
                                          <p:attrName>style.visibility</p:attrName>
                                        </p:attrNameLst>
                                      </p:cBhvr>
                                      <p:to>
                                        <p:strVal val="visible"/>
                                      </p:to>
                                    </p:set>
                                    <p:animEffect transition="in" filter="fade">
                                      <p:cBhvr>
                                        <p:cTn id="28" dur="1000"/>
                                        <p:tgtEl>
                                          <p:spTgt spid="143363">
                                            <p:txEl>
                                              <p:pRg st="4" end="4"/>
                                            </p:txEl>
                                          </p:spTgt>
                                        </p:tgtEl>
                                      </p:cBhvr>
                                    </p:animEffect>
                                    <p:anim calcmode="lin" valueType="num">
                                      <p:cBhvr>
                                        <p:cTn id="29" dur="1000" fill="hold"/>
                                        <p:tgtEl>
                                          <p:spTgt spid="14336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14336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43363">
                                            <p:txEl>
                                              <p:pRg st="6" end="6"/>
                                            </p:txEl>
                                          </p:spTgt>
                                        </p:tgtEl>
                                        <p:attrNameLst>
                                          <p:attrName>style.visibility</p:attrName>
                                        </p:attrNameLst>
                                      </p:cBhvr>
                                      <p:to>
                                        <p:strVal val="visible"/>
                                      </p:to>
                                    </p:set>
                                    <p:animEffect transition="in" filter="fade">
                                      <p:cBhvr>
                                        <p:cTn id="35" dur="1000"/>
                                        <p:tgtEl>
                                          <p:spTgt spid="143363">
                                            <p:txEl>
                                              <p:pRg st="6" end="6"/>
                                            </p:txEl>
                                          </p:spTgt>
                                        </p:tgtEl>
                                      </p:cBhvr>
                                    </p:animEffect>
                                    <p:anim calcmode="lin" valueType="num">
                                      <p:cBhvr>
                                        <p:cTn id="36" dur="1000" fill="hold"/>
                                        <p:tgtEl>
                                          <p:spTgt spid="143363">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14336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43363">
                                            <p:txEl>
                                              <p:pRg st="8" end="8"/>
                                            </p:txEl>
                                          </p:spTgt>
                                        </p:tgtEl>
                                        <p:attrNameLst>
                                          <p:attrName>style.visibility</p:attrName>
                                        </p:attrNameLst>
                                      </p:cBhvr>
                                      <p:to>
                                        <p:strVal val="visible"/>
                                      </p:to>
                                    </p:set>
                                    <p:animEffect transition="in" filter="fade">
                                      <p:cBhvr>
                                        <p:cTn id="42" dur="1000"/>
                                        <p:tgtEl>
                                          <p:spTgt spid="143363">
                                            <p:txEl>
                                              <p:pRg st="8" end="8"/>
                                            </p:txEl>
                                          </p:spTgt>
                                        </p:tgtEl>
                                      </p:cBhvr>
                                    </p:animEffect>
                                    <p:anim calcmode="lin" valueType="num">
                                      <p:cBhvr>
                                        <p:cTn id="43" dur="1000" fill="hold"/>
                                        <p:tgtEl>
                                          <p:spTgt spid="143363">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14336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build="p"/>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5411" name="Rectangle 3">
            <a:extLst>
              <a:ext uri="{FF2B5EF4-FFF2-40B4-BE49-F238E27FC236}">
                <a16:creationId xmlns:a16="http://schemas.microsoft.com/office/drawing/2014/main" id="{0F776A89-5541-C0C0-160E-ACA52641B75E}"/>
              </a:ext>
            </a:extLst>
          </p:cNvPr>
          <p:cNvSpPr>
            <a:spLocks noGrp="1"/>
          </p:cNvSpPr>
          <p:nvPr>
            <p:ph idx="1"/>
          </p:nvPr>
        </p:nvSpPr>
        <p:spPr>
          <a:xfrm>
            <a:off x="1981200" y="1905000"/>
            <a:ext cx="8229600" cy="4114800"/>
          </a:xfrm>
        </p:spPr>
        <p:txBody>
          <a:bodyPr/>
          <a:lstStyle/>
          <a:p>
            <a:pPr eaLnBrk="1" hangingPunct="1"/>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In the one-period case, the formula for </a:t>
            </a:r>
            <a:r>
              <a:rPr lang="en-US" altLang="en-US" sz="2800" i="1">
                <a:latin typeface="Times New Roman" panose="02020603050405020304" pitchFamily="18" charset="0"/>
                <a:ea typeface="ＭＳ Ｐゴシック" panose="020B0600070205080204" pitchFamily="34" charset="-128"/>
                <a:cs typeface="Times New Roman" panose="02020603050405020304" pitchFamily="18" charset="0"/>
              </a:rPr>
              <a:t>FV</a:t>
            </a: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 can be written as:</a:t>
            </a:r>
          </a:p>
          <a:p>
            <a:pPr algn="ctr" eaLnBrk="1" hangingPunct="1">
              <a:buFont typeface="Wingdings" panose="05000000000000000000" pitchFamily="2" charset="2"/>
              <a:buNone/>
            </a:pPr>
            <a:r>
              <a:rPr lang="en-US" altLang="en-US" sz="2800" i="1">
                <a:latin typeface="Times New Roman" panose="02020603050405020304" pitchFamily="18" charset="0"/>
                <a:ea typeface="ＭＳ Ｐゴシック" panose="020B0600070205080204" pitchFamily="34" charset="-128"/>
                <a:cs typeface="Times New Roman" panose="02020603050405020304" pitchFamily="18" charset="0"/>
              </a:rPr>
              <a:t>FV</a:t>
            </a: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 = </a:t>
            </a:r>
            <a:r>
              <a:rPr lang="en-US" altLang="en-US" sz="2800" i="1">
                <a:latin typeface="Times New Roman" panose="02020603050405020304" pitchFamily="18" charset="0"/>
                <a:ea typeface="ＭＳ Ｐゴシック" panose="020B0600070205080204" pitchFamily="34" charset="-128"/>
                <a:cs typeface="Times New Roman" panose="02020603050405020304" pitchFamily="18" charset="0"/>
              </a:rPr>
              <a:t>C</a:t>
            </a:r>
            <a:r>
              <a:rPr lang="en-US" altLang="en-US" sz="2800" baseline="-25000">
                <a:latin typeface="Times New Roman" panose="02020603050405020304" pitchFamily="18" charset="0"/>
                <a:ea typeface="ＭＳ Ｐゴシック" panose="020B0600070205080204" pitchFamily="34" charset="-128"/>
                <a:cs typeface="Times New Roman" panose="02020603050405020304" pitchFamily="18" charset="0"/>
              </a:rPr>
              <a:t>0</a:t>
            </a: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×(1 + </a:t>
            </a:r>
            <a:r>
              <a:rPr lang="en-US" altLang="en-US" sz="2800" i="1">
                <a:latin typeface="Times New Roman" panose="02020603050405020304" pitchFamily="18" charset="0"/>
                <a:ea typeface="ＭＳ Ｐゴシック" panose="020B0600070205080204" pitchFamily="34" charset="-128"/>
                <a:cs typeface="Times New Roman" panose="02020603050405020304" pitchFamily="18" charset="0"/>
              </a:rPr>
              <a:t>r</a:t>
            </a: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a:t>
            </a:r>
            <a:endParaRPr lang="en-US" altLang="en-US" sz="2800" i="1" baseline="30000">
              <a:latin typeface="Times New Roman" panose="02020603050405020304" pitchFamily="18" charset="0"/>
              <a:ea typeface="ＭＳ Ｐゴシック" panose="020B0600070205080204" pitchFamily="34" charset="-128"/>
              <a:cs typeface="Times New Roman" panose="02020603050405020304" pitchFamily="18" charset="0"/>
            </a:endParaRPr>
          </a:p>
          <a:p>
            <a:pPr eaLnBrk="1" hangingPunct="1">
              <a:buFont typeface="Wingdings" panose="05000000000000000000" pitchFamily="2" charset="2"/>
              <a:buNone/>
            </a:pPr>
            <a:endPar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endParaRPr>
          </a:p>
          <a:p>
            <a:pPr lvl="1" eaLnBrk="1" hangingPunct="1">
              <a:buFont typeface="Wingdings" panose="05000000000000000000" pitchFamily="2" charset="2"/>
              <a:buNone/>
            </a:pP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Where </a:t>
            </a:r>
            <a:r>
              <a:rPr lang="en-US" altLang="en-US" sz="2800" i="1">
                <a:latin typeface="Times New Roman" panose="02020603050405020304" pitchFamily="18" charset="0"/>
                <a:ea typeface="ＭＳ Ｐゴシック" panose="020B0600070205080204" pitchFamily="34" charset="-128"/>
                <a:cs typeface="Times New Roman" panose="02020603050405020304" pitchFamily="18" charset="0"/>
              </a:rPr>
              <a:t>C</a:t>
            </a:r>
            <a:r>
              <a:rPr lang="en-US" altLang="en-US" sz="2800" baseline="-25000">
                <a:latin typeface="Times New Roman" panose="02020603050405020304" pitchFamily="18" charset="0"/>
                <a:ea typeface="ＭＳ Ｐゴシック" panose="020B0600070205080204" pitchFamily="34" charset="-128"/>
                <a:cs typeface="Times New Roman" panose="02020603050405020304" pitchFamily="18" charset="0"/>
              </a:rPr>
              <a:t>0</a:t>
            </a: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 is cash flow today (time zero), and </a:t>
            </a:r>
          </a:p>
          <a:p>
            <a:pPr lvl="1" eaLnBrk="1" hangingPunct="1">
              <a:buFont typeface="Wingdings" panose="05000000000000000000" pitchFamily="2" charset="2"/>
              <a:buNone/>
            </a:pPr>
            <a:r>
              <a:rPr lang="en-US" altLang="en-US" sz="2800" i="1">
                <a:latin typeface="Times New Roman" panose="02020603050405020304" pitchFamily="18" charset="0"/>
                <a:ea typeface="ＭＳ Ｐゴシック" panose="020B0600070205080204" pitchFamily="34" charset="-128"/>
                <a:cs typeface="Times New Roman" panose="02020603050405020304" pitchFamily="18" charset="0"/>
              </a:rPr>
              <a:t>r </a:t>
            </a: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is the appropriate interest rate.</a:t>
            </a:r>
          </a:p>
        </p:txBody>
      </p:sp>
      <p:sp>
        <p:nvSpPr>
          <p:cNvPr id="13314" name="Rectangle 2">
            <a:extLst>
              <a:ext uri="{FF2B5EF4-FFF2-40B4-BE49-F238E27FC236}">
                <a16:creationId xmlns:a16="http://schemas.microsoft.com/office/drawing/2014/main" id="{A372DD32-8639-7FEF-A531-DC426236445C}"/>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Future Value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5411">
                                            <p:txEl>
                                              <p:pRg st="0" end="0"/>
                                            </p:txEl>
                                          </p:spTgt>
                                        </p:tgtEl>
                                        <p:attrNameLst>
                                          <p:attrName>style.visibility</p:attrName>
                                        </p:attrNameLst>
                                      </p:cBhvr>
                                      <p:to>
                                        <p:strVal val="visible"/>
                                      </p:to>
                                    </p:set>
                                    <p:animEffect transition="in" filter="fade">
                                      <p:cBhvr>
                                        <p:cTn id="7" dur="1000"/>
                                        <p:tgtEl>
                                          <p:spTgt spid="145411">
                                            <p:txEl>
                                              <p:pRg st="0" end="0"/>
                                            </p:txEl>
                                          </p:spTgt>
                                        </p:tgtEl>
                                      </p:cBhvr>
                                    </p:animEffect>
                                    <p:anim calcmode="lin" valueType="num">
                                      <p:cBhvr>
                                        <p:cTn id="8" dur="1000" fill="hold"/>
                                        <p:tgtEl>
                                          <p:spTgt spid="14541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54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45411">
                                            <p:txEl>
                                              <p:pRg st="1" end="1"/>
                                            </p:txEl>
                                          </p:spTgt>
                                        </p:tgtEl>
                                        <p:attrNameLst>
                                          <p:attrName>style.visibility</p:attrName>
                                        </p:attrNameLst>
                                      </p:cBhvr>
                                      <p:to>
                                        <p:strVal val="visible"/>
                                      </p:to>
                                    </p:set>
                                    <p:animEffect transition="in" filter="fade">
                                      <p:cBhvr>
                                        <p:cTn id="14" dur="1000"/>
                                        <p:tgtEl>
                                          <p:spTgt spid="145411">
                                            <p:txEl>
                                              <p:pRg st="1" end="1"/>
                                            </p:txEl>
                                          </p:spTgt>
                                        </p:tgtEl>
                                      </p:cBhvr>
                                    </p:animEffect>
                                    <p:anim calcmode="lin" valueType="num">
                                      <p:cBhvr>
                                        <p:cTn id="15" dur="1000" fill="hold"/>
                                        <p:tgtEl>
                                          <p:spTgt spid="145411">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5411">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45411">
                                            <p:txEl>
                                              <p:pRg st="3" end="3"/>
                                            </p:txEl>
                                          </p:spTgt>
                                        </p:tgtEl>
                                        <p:attrNameLst>
                                          <p:attrName>style.visibility</p:attrName>
                                        </p:attrNameLst>
                                      </p:cBhvr>
                                      <p:to>
                                        <p:strVal val="visible"/>
                                      </p:to>
                                    </p:set>
                                    <p:animEffect transition="in" filter="fade">
                                      <p:cBhvr>
                                        <p:cTn id="19" dur="1000"/>
                                        <p:tgtEl>
                                          <p:spTgt spid="145411">
                                            <p:txEl>
                                              <p:pRg st="3" end="3"/>
                                            </p:txEl>
                                          </p:spTgt>
                                        </p:tgtEl>
                                      </p:cBhvr>
                                    </p:animEffect>
                                    <p:anim calcmode="lin" valueType="num">
                                      <p:cBhvr>
                                        <p:cTn id="20" dur="1000" fill="hold"/>
                                        <p:tgtEl>
                                          <p:spTgt spid="145411">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45411">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45411">
                                            <p:txEl>
                                              <p:pRg st="4" end="4"/>
                                            </p:txEl>
                                          </p:spTgt>
                                        </p:tgtEl>
                                        <p:attrNameLst>
                                          <p:attrName>style.visibility</p:attrName>
                                        </p:attrNameLst>
                                      </p:cBhvr>
                                      <p:to>
                                        <p:strVal val="visible"/>
                                      </p:to>
                                    </p:set>
                                    <p:animEffect transition="in" filter="fade">
                                      <p:cBhvr>
                                        <p:cTn id="24" dur="1000"/>
                                        <p:tgtEl>
                                          <p:spTgt spid="145411">
                                            <p:txEl>
                                              <p:pRg st="4" end="4"/>
                                            </p:txEl>
                                          </p:spTgt>
                                        </p:tgtEl>
                                      </p:cBhvr>
                                    </p:animEffect>
                                    <p:anim calcmode="lin" valueType="num">
                                      <p:cBhvr>
                                        <p:cTn id="25" dur="1000" fill="hold"/>
                                        <p:tgtEl>
                                          <p:spTgt spid="145411">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145411">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1" grpId="0" build="p"/>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4387" name="Rectangle 3">
            <a:extLst>
              <a:ext uri="{FF2B5EF4-FFF2-40B4-BE49-F238E27FC236}">
                <a16:creationId xmlns:a16="http://schemas.microsoft.com/office/drawing/2014/main" id="{65B36DF0-9152-DF89-B367-A0CD9F115BA2}"/>
              </a:ext>
            </a:extLst>
          </p:cNvPr>
          <p:cNvSpPr>
            <a:spLocks noGrp="1"/>
          </p:cNvSpPr>
          <p:nvPr>
            <p:ph idx="1"/>
          </p:nvPr>
        </p:nvSpPr>
        <p:spPr>
          <a:xfrm>
            <a:off x="1974850" y="1325563"/>
            <a:ext cx="8229600" cy="1604962"/>
          </a:xfrm>
        </p:spPr>
        <p:txBody>
          <a:bodyPr/>
          <a:lstStyle/>
          <a:p>
            <a:pPr eaLnBrk="1" hangingPunct="1">
              <a:lnSpc>
                <a:spcPct val="90000"/>
              </a:lnSpc>
            </a:pPr>
            <a:r>
              <a:rPr lang="en-US" altLang="en-US" sz="2800">
                <a:latin typeface="Times New Roman" panose="02020603050405020304" pitchFamily="18" charset="0"/>
                <a:ea typeface="ＭＳ Ｐゴシック" panose="020B0600070205080204" pitchFamily="34" charset="-128"/>
              </a:rPr>
              <a:t>If you were to be promised $10,000 due in one year when interest rates are 5-percent, your investment would be worth $9,523.81 in today’s dollars. </a:t>
            </a:r>
          </a:p>
        </p:txBody>
      </p:sp>
      <p:sp>
        <p:nvSpPr>
          <p:cNvPr id="15362" name="Rectangle 2">
            <a:extLst>
              <a:ext uri="{FF2B5EF4-FFF2-40B4-BE49-F238E27FC236}">
                <a16:creationId xmlns:a16="http://schemas.microsoft.com/office/drawing/2014/main" id="{B02DBA18-6E14-CA8D-A610-215962074B42}"/>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Present Value</a:t>
            </a:r>
          </a:p>
        </p:txBody>
      </p:sp>
      <p:graphicFrame>
        <p:nvGraphicFramePr>
          <p:cNvPr id="144388" name="Object 4">
            <a:extLst>
              <a:ext uri="{FF2B5EF4-FFF2-40B4-BE49-F238E27FC236}">
                <a16:creationId xmlns:a16="http://schemas.microsoft.com/office/drawing/2014/main" id="{47D3FB05-7D88-5D78-1D01-EB6B58F5C1A0}"/>
              </a:ext>
            </a:extLst>
          </p:cNvPr>
          <p:cNvGraphicFramePr>
            <a:graphicFrameLocks noChangeAspect="1"/>
          </p:cNvGraphicFramePr>
          <p:nvPr/>
        </p:nvGraphicFramePr>
        <p:xfrm>
          <a:off x="4038600" y="2667001"/>
          <a:ext cx="3340100" cy="1031875"/>
        </p:xfrm>
        <a:graphic>
          <a:graphicData uri="http://schemas.openxmlformats.org/presentationml/2006/ole">
            <mc:AlternateContent xmlns:mc="http://schemas.openxmlformats.org/markup-compatibility/2006">
              <mc:Choice xmlns:v="urn:schemas-microsoft-com:vml" Requires="v">
                <p:oleObj name="Equation" r:id="rId3" imgW="1257416" imgH="321097" progId="Equation.3">
                  <p:embed/>
                </p:oleObj>
              </mc:Choice>
              <mc:Fallback>
                <p:oleObj name="Equation" r:id="rId3" imgW="1257416" imgH="321097" progId="Equation.3">
                  <p:embed/>
                  <p:pic>
                    <p:nvPicPr>
                      <p:cNvPr id="144388" name="Object 4">
                        <a:extLst>
                          <a:ext uri="{FF2B5EF4-FFF2-40B4-BE49-F238E27FC236}">
                            <a16:creationId xmlns:a16="http://schemas.microsoft.com/office/drawing/2014/main" id="{47D3FB05-7D88-5D78-1D01-EB6B58F5C1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8600" y="2667001"/>
                        <a:ext cx="3340100" cy="1031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4389" name="Rectangle 5">
            <a:extLst>
              <a:ext uri="{FF2B5EF4-FFF2-40B4-BE49-F238E27FC236}">
                <a16:creationId xmlns:a16="http://schemas.microsoft.com/office/drawing/2014/main" id="{126EDFB6-980B-53C7-3A69-BF6BF188ABFE}"/>
              </a:ext>
            </a:extLst>
          </p:cNvPr>
          <p:cNvSpPr>
            <a:spLocks noChangeArrowheads="1"/>
          </p:cNvSpPr>
          <p:nvPr/>
        </p:nvSpPr>
        <p:spPr bwMode="auto">
          <a:xfrm>
            <a:off x="2133600" y="3810000"/>
            <a:ext cx="80772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20000"/>
              </a:spcBef>
              <a:spcAft>
                <a:spcPct val="0"/>
              </a:spcAft>
              <a:buClr>
                <a:srgbClr val="671739"/>
              </a:buClr>
            </a:pPr>
            <a:r>
              <a:rPr lang="en-US" altLang="en-US" sz="2800">
                <a:solidFill>
                  <a:prstClr val="black"/>
                </a:solidFill>
                <a:cs typeface="Times New Roman" panose="02020603050405020304" pitchFamily="18" charset="0"/>
              </a:rPr>
              <a:t>The amount that a borrower would need to set aside today to be able to meet the promised payment of $10,000 in one year is called the </a:t>
            </a:r>
            <a:r>
              <a:rPr lang="en-US" altLang="en-US" sz="2800" i="1">
                <a:solidFill>
                  <a:prstClr val="black"/>
                </a:solidFill>
                <a:cs typeface="Times New Roman" panose="02020603050405020304" pitchFamily="18" charset="0"/>
              </a:rPr>
              <a:t>Present Value</a:t>
            </a:r>
            <a:r>
              <a:rPr lang="en-US" altLang="en-US" sz="2800">
                <a:solidFill>
                  <a:prstClr val="black"/>
                </a:solidFill>
                <a:cs typeface="Times New Roman" panose="02020603050405020304" pitchFamily="18" charset="0"/>
              </a:rPr>
              <a:t> (</a:t>
            </a:r>
            <a:r>
              <a:rPr lang="en-US" altLang="en-US" sz="2800" i="1">
                <a:solidFill>
                  <a:prstClr val="black"/>
                </a:solidFill>
                <a:cs typeface="Times New Roman" panose="02020603050405020304" pitchFamily="18" charset="0"/>
              </a:rPr>
              <a:t>PV</a:t>
            </a:r>
            <a:r>
              <a:rPr lang="en-US" altLang="en-US" sz="2800">
                <a:solidFill>
                  <a:prstClr val="black"/>
                </a:solidFill>
                <a:cs typeface="Times New Roman" panose="02020603050405020304" pitchFamily="18" charset="0"/>
              </a:rPr>
              <a:t>).</a:t>
            </a:r>
          </a:p>
        </p:txBody>
      </p:sp>
      <p:sp>
        <p:nvSpPr>
          <p:cNvPr id="144391" name="Rectangle 7">
            <a:extLst>
              <a:ext uri="{FF2B5EF4-FFF2-40B4-BE49-F238E27FC236}">
                <a16:creationId xmlns:a16="http://schemas.microsoft.com/office/drawing/2014/main" id="{E90BD9B1-EAFB-D43B-8021-8C680BEAB1BA}"/>
              </a:ext>
            </a:extLst>
          </p:cNvPr>
          <p:cNvSpPr>
            <a:spLocks noChangeArrowheads="1"/>
          </p:cNvSpPr>
          <p:nvPr/>
        </p:nvSpPr>
        <p:spPr bwMode="auto">
          <a:xfrm>
            <a:off x="2279650" y="5211763"/>
            <a:ext cx="6019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buClr>
                <a:srgbClr val="671739"/>
              </a:buClr>
            </a:pPr>
            <a:r>
              <a:rPr lang="en-US" altLang="en-US" sz="2800">
                <a:solidFill>
                  <a:prstClr val="black"/>
                </a:solidFill>
                <a:cs typeface="Times New Roman" panose="02020603050405020304" pitchFamily="18" charset="0"/>
              </a:rPr>
              <a:t>Note that $10,000 = $9,523.81×(1.05).</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4387">
                                            <p:txEl>
                                              <p:pRg st="0" end="0"/>
                                            </p:txEl>
                                          </p:spTgt>
                                        </p:tgtEl>
                                        <p:attrNameLst>
                                          <p:attrName>style.visibility</p:attrName>
                                        </p:attrNameLst>
                                      </p:cBhvr>
                                      <p:to>
                                        <p:strVal val="visible"/>
                                      </p:to>
                                    </p:set>
                                    <p:animEffect transition="in" filter="fade">
                                      <p:cBhvr>
                                        <p:cTn id="7" dur="1000"/>
                                        <p:tgtEl>
                                          <p:spTgt spid="144387">
                                            <p:txEl>
                                              <p:pRg st="0" end="0"/>
                                            </p:txEl>
                                          </p:spTgt>
                                        </p:tgtEl>
                                      </p:cBhvr>
                                    </p:animEffect>
                                    <p:anim calcmode="lin" valueType="num">
                                      <p:cBhvr>
                                        <p:cTn id="8" dur="1000" fill="hold"/>
                                        <p:tgtEl>
                                          <p:spTgt spid="14438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438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144388"/>
                                        </p:tgtEl>
                                        <p:attrNameLst>
                                          <p:attrName>style.visibility</p:attrName>
                                        </p:attrNameLst>
                                      </p:cBhvr>
                                      <p:to>
                                        <p:strVal val="visible"/>
                                      </p:to>
                                    </p:set>
                                    <p:animEffect transition="in" filter="fade">
                                      <p:cBhvr>
                                        <p:cTn id="14" dur="1000"/>
                                        <p:tgtEl>
                                          <p:spTgt spid="144388"/>
                                        </p:tgtEl>
                                      </p:cBhvr>
                                    </p:animEffect>
                                    <p:anim calcmode="lin" valueType="num">
                                      <p:cBhvr>
                                        <p:cTn id="15" dur="1000" fill="hold"/>
                                        <p:tgtEl>
                                          <p:spTgt spid="144388"/>
                                        </p:tgtEl>
                                        <p:attrNameLst>
                                          <p:attrName>ppt_x</p:attrName>
                                        </p:attrNameLst>
                                      </p:cBhvr>
                                      <p:tavLst>
                                        <p:tav tm="0">
                                          <p:val>
                                            <p:strVal val="#ppt_x"/>
                                          </p:val>
                                        </p:tav>
                                        <p:tav tm="100000">
                                          <p:val>
                                            <p:strVal val="#ppt_x"/>
                                          </p:val>
                                        </p:tav>
                                      </p:tavLst>
                                    </p:anim>
                                    <p:anim calcmode="lin" valueType="num">
                                      <p:cBhvr>
                                        <p:cTn id="16" dur="1000" fill="hold"/>
                                        <p:tgtEl>
                                          <p:spTgt spid="144388"/>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44389"/>
                                        </p:tgtEl>
                                        <p:attrNameLst>
                                          <p:attrName>style.visibility</p:attrName>
                                        </p:attrNameLst>
                                      </p:cBhvr>
                                      <p:to>
                                        <p:strVal val="visible"/>
                                      </p:to>
                                    </p:set>
                                    <p:animEffect transition="in" filter="fade">
                                      <p:cBhvr>
                                        <p:cTn id="21" dur="1000"/>
                                        <p:tgtEl>
                                          <p:spTgt spid="144389"/>
                                        </p:tgtEl>
                                      </p:cBhvr>
                                    </p:animEffect>
                                    <p:anim calcmode="lin" valueType="num">
                                      <p:cBhvr>
                                        <p:cTn id="22" dur="1000" fill="hold"/>
                                        <p:tgtEl>
                                          <p:spTgt spid="144389"/>
                                        </p:tgtEl>
                                        <p:attrNameLst>
                                          <p:attrName>ppt_x</p:attrName>
                                        </p:attrNameLst>
                                      </p:cBhvr>
                                      <p:tavLst>
                                        <p:tav tm="0">
                                          <p:val>
                                            <p:strVal val="#ppt_x"/>
                                          </p:val>
                                        </p:tav>
                                        <p:tav tm="100000">
                                          <p:val>
                                            <p:strVal val="#ppt_x"/>
                                          </p:val>
                                        </p:tav>
                                      </p:tavLst>
                                    </p:anim>
                                    <p:anim calcmode="lin" valueType="num">
                                      <p:cBhvr>
                                        <p:cTn id="23" dur="1000" fill="hold"/>
                                        <p:tgtEl>
                                          <p:spTgt spid="144389"/>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44391"/>
                                        </p:tgtEl>
                                        <p:attrNameLst>
                                          <p:attrName>style.visibility</p:attrName>
                                        </p:attrNameLst>
                                      </p:cBhvr>
                                      <p:to>
                                        <p:strVal val="visible"/>
                                      </p:to>
                                    </p:set>
                                    <p:animEffect transition="in" filter="fade">
                                      <p:cBhvr>
                                        <p:cTn id="28" dur="1000"/>
                                        <p:tgtEl>
                                          <p:spTgt spid="144391"/>
                                        </p:tgtEl>
                                      </p:cBhvr>
                                    </p:animEffect>
                                    <p:anim calcmode="lin" valueType="num">
                                      <p:cBhvr>
                                        <p:cTn id="29" dur="1000" fill="hold"/>
                                        <p:tgtEl>
                                          <p:spTgt spid="144391"/>
                                        </p:tgtEl>
                                        <p:attrNameLst>
                                          <p:attrName>ppt_x</p:attrName>
                                        </p:attrNameLst>
                                      </p:cBhvr>
                                      <p:tavLst>
                                        <p:tav tm="0">
                                          <p:val>
                                            <p:strVal val="#ppt_x"/>
                                          </p:val>
                                        </p:tav>
                                        <p:tav tm="100000">
                                          <p:val>
                                            <p:strVal val="#ppt_x"/>
                                          </p:val>
                                        </p:tav>
                                      </p:tavLst>
                                    </p:anim>
                                    <p:anim calcmode="lin" valueType="num">
                                      <p:cBhvr>
                                        <p:cTn id="30" dur="1000" fill="hold"/>
                                        <p:tgtEl>
                                          <p:spTgt spid="14439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7" grpId="0" build="p"/>
      <p:bldP spid="144389" grpId="0"/>
      <p:bldP spid="144391" grpId="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6435" name="Rectangle 3">
            <a:extLst>
              <a:ext uri="{FF2B5EF4-FFF2-40B4-BE49-F238E27FC236}">
                <a16:creationId xmlns:a16="http://schemas.microsoft.com/office/drawing/2014/main" id="{8C071126-D050-1CA8-400F-B1F71EB06670}"/>
              </a:ext>
            </a:extLst>
          </p:cNvPr>
          <p:cNvSpPr>
            <a:spLocks noGrp="1"/>
          </p:cNvSpPr>
          <p:nvPr>
            <p:ph idx="1"/>
          </p:nvPr>
        </p:nvSpPr>
        <p:spPr>
          <a:xfrm>
            <a:off x="1990725" y="1371600"/>
            <a:ext cx="8229600" cy="990600"/>
          </a:xfrm>
        </p:spPr>
        <p:txBody>
          <a:bodyPr/>
          <a:lstStyle/>
          <a:p>
            <a:pPr eaLnBrk="1" hangingPunct="1">
              <a:lnSpc>
                <a:spcPct val="90000"/>
              </a:lnSpc>
            </a:pP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In the one-period case, the formula for </a:t>
            </a:r>
            <a:r>
              <a:rPr lang="en-US" altLang="en-US" sz="2800" i="1">
                <a:latin typeface="Times New Roman" panose="02020603050405020304" pitchFamily="18" charset="0"/>
                <a:ea typeface="ＭＳ Ｐゴシック" panose="020B0600070205080204" pitchFamily="34" charset="-128"/>
                <a:cs typeface="Times New Roman" panose="02020603050405020304" pitchFamily="18" charset="0"/>
              </a:rPr>
              <a:t>PV</a:t>
            </a: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 can be written as:</a:t>
            </a:r>
          </a:p>
          <a:p>
            <a:pPr eaLnBrk="1" hangingPunct="1">
              <a:lnSpc>
                <a:spcPct val="90000"/>
              </a:lnSpc>
              <a:buFont typeface="Wingdings" panose="05000000000000000000" pitchFamily="2" charset="2"/>
              <a:buNone/>
            </a:pPr>
            <a:endParaRPr lang="en-US" altLang="en-US">
              <a:ea typeface="ＭＳ Ｐゴシック" panose="020B0600070205080204" pitchFamily="34" charset="-128"/>
              <a:cs typeface="Times New Roman" panose="02020603050405020304" pitchFamily="18" charset="0"/>
            </a:endParaRPr>
          </a:p>
        </p:txBody>
      </p:sp>
      <p:sp>
        <p:nvSpPr>
          <p:cNvPr id="17410" name="Rectangle 2">
            <a:extLst>
              <a:ext uri="{FF2B5EF4-FFF2-40B4-BE49-F238E27FC236}">
                <a16:creationId xmlns:a16="http://schemas.microsoft.com/office/drawing/2014/main" id="{658C993B-98EA-2E75-6FDF-B805384EC3F1}"/>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Present Value</a:t>
            </a:r>
          </a:p>
        </p:txBody>
      </p:sp>
      <p:graphicFrame>
        <p:nvGraphicFramePr>
          <p:cNvPr id="146436" name="Object 4">
            <a:extLst>
              <a:ext uri="{FF2B5EF4-FFF2-40B4-BE49-F238E27FC236}">
                <a16:creationId xmlns:a16="http://schemas.microsoft.com/office/drawing/2014/main" id="{73133BF7-2157-6D87-A33F-4523BA3E76E5}"/>
              </a:ext>
            </a:extLst>
          </p:cNvPr>
          <p:cNvGraphicFramePr>
            <a:graphicFrameLocks noChangeAspect="1"/>
          </p:cNvGraphicFramePr>
          <p:nvPr/>
        </p:nvGraphicFramePr>
        <p:xfrm>
          <a:off x="4364039" y="2486025"/>
          <a:ext cx="1804987" cy="1030288"/>
        </p:xfrm>
        <a:graphic>
          <a:graphicData uri="http://schemas.openxmlformats.org/presentationml/2006/ole">
            <mc:AlternateContent xmlns:mc="http://schemas.openxmlformats.org/markup-compatibility/2006">
              <mc:Choice xmlns:v="urn:schemas-microsoft-com:vml" Requires="v">
                <p:oleObj name="Equation" r:id="rId3" imgW="631414" imgH="321097" progId="Equation.3">
                  <p:embed/>
                </p:oleObj>
              </mc:Choice>
              <mc:Fallback>
                <p:oleObj name="Equation" r:id="rId3" imgW="631414" imgH="321097" progId="Equation.3">
                  <p:embed/>
                  <p:pic>
                    <p:nvPicPr>
                      <p:cNvPr id="146436" name="Object 4">
                        <a:extLst>
                          <a:ext uri="{FF2B5EF4-FFF2-40B4-BE49-F238E27FC236}">
                            <a16:creationId xmlns:a16="http://schemas.microsoft.com/office/drawing/2014/main" id="{73133BF7-2157-6D87-A33F-4523BA3E76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64039" y="2486025"/>
                        <a:ext cx="1804987" cy="1030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6437" name="Rectangle 5">
            <a:extLst>
              <a:ext uri="{FF2B5EF4-FFF2-40B4-BE49-F238E27FC236}">
                <a16:creationId xmlns:a16="http://schemas.microsoft.com/office/drawing/2014/main" id="{16CF4327-6106-7673-2AFC-785B8BBC11C8}"/>
              </a:ext>
            </a:extLst>
          </p:cNvPr>
          <p:cNvSpPr>
            <a:spLocks noChangeArrowheads="1"/>
          </p:cNvSpPr>
          <p:nvPr/>
        </p:nvSpPr>
        <p:spPr bwMode="auto">
          <a:xfrm>
            <a:off x="2143125" y="3962401"/>
            <a:ext cx="6781800" cy="116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marL="24161750" indent="-24161750">
              <a:defRPr>
                <a:solidFill>
                  <a:schemeClr val="tx1"/>
                </a:solidFill>
                <a:latin typeface="Times New Roman" panose="02020603050405020304" pitchFamily="18" charset="0"/>
                <a:ea typeface="ＭＳ Ｐゴシック" panose="020B0600070205080204" pitchFamily="34" charset="-128"/>
              </a:defRPr>
            </a:lvl1pPr>
            <a:lvl2pPr>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lvl="1" fontAlgn="base">
              <a:spcBef>
                <a:spcPct val="50000"/>
              </a:spcBef>
              <a:spcAft>
                <a:spcPct val="0"/>
              </a:spcAft>
              <a:buClr>
                <a:srgbClr val="671739"/>
              </a:buClr>
            </a:pPr>
            <a:r>
              <a:rPr lang="en-US" altLang="en-US" sz="2800">
                <a:solidFill>
                  <a:prstClr val="black"/>
                </a:solidFill>
                <a:cs typeface="Times New Roman" panose="02020603050405020304" pitchFamily="18" charset="0"/>
              </a:rPr>
              <a:t>Where </a:t>
            </a:r>
            <a:r>
              <a:rPr lang="en-US" altLang="en-US" sz="2800" i="1">
                <a:solidFill>
                  <a:prstClr val="black"/>
                </a:solidFill>
                <a:cs typeface="Times New Roman" panose="02020603050405020304" pitchFamily="18" charset="0"/>
              </a:rPr>
              <a:t>C</a:t>
            </a:r>
            <a:r>
              <a:rPr lang="en-US" altLang="en-US" sz="2800" baseline="-25000">
                <a:solidFill>
                  <a:prstClr val="black"/>
                </a:solidFill>
                <a:cs typeface="Times New Roman" panose="02020603050405020304" pitchFamily="18" charset="0"/>
              </a:rPr>
              <a:t>1</a:t>
            </a:r>
            <a:r>
              <a:rPr lang="en-US" altLang="en-US" sz="2800">
                <a:solidFill>
                  <a:prstClr val="black"/>
                </a:solidFill>
                <a:cs typeface="Times New Roman" panose="02020603050405020304" pitchFamily="18" charset="0"/>
              </a:rPr>
              <a:t> is cash flow at date 1, and </a:t>
            </a:r>
          </a:p>
          <a:p>
            <a:pPr lvl="1" fontAlgn="base">
              <a:spcBef>
                <a:spcPct val="50000"/>
              </a:spcBef>
              <a:spcAft>
                <a:spcPct val="0"/>
              </a:spcAft>
              <a:buClr>
                <a:srgbClr val="671739"/>
              </a:buClr>
            </a:pPr>
            <a:r>
              <a:rPr lang="en-US" altLang="en-US" sz="2800" i="1">
                <a:solidFill>
                  <a:prstClr val="black"/>
                </a:solidFill>
                <a:cs typeface="Times New Roman" panose="02020603050405020304" pitchFamily="18" charset="0"/>
              </a:rPr>
              <a:t>r </a:t>
            </a:r>
            <a:r>
              <a:rPr lang="en-US" altLang="en-US" sz="2800">
                <a:solidFill>
                  <a:prstClr val="black"/>
                </a:solidFill>
                <a:cs typeface="Times New Roman" panose="02020603050405020304" pitchFamily="18" charset="0"/>
              </a:rPr>
              <a:t>is the appropriate interest rate.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6435">
                                            <p:txEl>
                                              <p:pRg st="0" end="0"/>
                                            </p:txEl>
                                          </p:spTgt>
                                        </p:tgtEl>
                                        <p:attrNameLst>
                                          <p:attrName>style.visibility</p:attrName>
                                        </p:attrNameLst>
                                      </p:cBhvr>
                                      <p:to>
                                        <p:strVal val="visible"/>
                                      </p:to>
                                    </p:set>
                                    <p:animEffect transition="in" filter="fade">
                                      <p:cBhvr>
                                        <p:cTn id="7" dur="1000"/>
                                        <p:tgtEl>
                                          <p:spTgt spid="146435">
                                            <p:txEl>
                                              <p:pRg st="0" end="0"/>
                                            </p:txEl>
                                          </p:spTgt>
                                        </p:tgtEl>
                                      </p:cBhvr>
                                    </p:animEffect>
                                    <p:anim calcmode="lin" valueType="num">
                                      <p:cBhvr>
                                        <p:cTn id="8" dur="1000" fill="hold"/>
                                        <p:tgtEl>
                                          <p:spTgt spid="14643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643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146436"/>
                                        </p:tgtEl>
                                        <p:attrNameLst>
                                          <p:attrName>style.visibility</p:attrName>
                                        </p:attrNameLst>
                                      </p:cBhvr>
                                      <p:to>
                                        <p:strVal val="visible"/>
                                      </p:to>
                                    </p:set>
                                    <p:animEffect transition="in" filter="fade">
                                      <p:cBhvr>
                                        <p:cTn id="14" dur="1000"/>
                                        <p:tgtEl>
                                          <p:spTgt spid="146436"/>
                                        </p:tgtEl>
                                      </p:cBhvr>
                                    </p:animEffect>
                                    <p:anim calcmode="lin" valueType="num">
                                      <p:cBhvr>
                                        <p:cTn id="15" dur="1000" fill="hold"/>
                                        <p:tgtEl>
                                          <p:spTgt spid="146436"/>
                                        </p:tgtEl>
                                        <p:attrNameLst>
                                          <p:attrName>ppt_x</p:attrName>
                                        </p:attrNameLst>
                                      </p:cBhvr>
                                      <p:tavLst>
                                        <p:tav tm="0">
                                          <p:val>
                                            <p:strVal val="#ppt_x"/>
                                          </p:val>
                                        </p:tav>
                                        <p:tav tm="100000">
                                          <p:val>
                                            <p:strVal val="#ppt_x"/>
                                          </p:val>
                                        </p:tav>
                                      </p:tavLst>
                                    </p:anim>
                                    <p:anim calcmode="lin" valueType="num">
                                      <p:cBhvr>
                                        <p:cTn id="16" dur="1000" fill="hold"/>
                                        <p:tgtEl>
                                          <p:spTgt spid="146436"/>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46437"/>
                                        </p:tgtEl>
                                        <p:attrNameLst>
                                          <p:attrName>style.visibility</p:attrName>
                                        </p:attrNameLst>
                                      </p:cBhvr>
                                      <p:to>
                                        <p:strVal val="visible"/>
                                      </p:to>
                                    </p:set>
                                    <p:animEffect transition="in" filter="fade">
                                      <p:cBhvr>
                                        <p:cTn id="21" dur="1000"/>
                                        <p:tgtEl>
                                          <p:spTgt spid="146437"/>
                                        </p:tgtEl>
                                      </p:cBhvr>
                                    </p:animEffect>
                                    <p:anim calcmode="lin" valueType="num">
                                      <p:cBhvr>
                                        <p:cTn id="22" dur="1000" fill="hold"/>
                                        <p:tgtEl>
                                          <p:spTgt spid="146437"/>
                                        </p:tgtEl>
                                        <p:attrNameLst>
                                          <p:attrName>ppt_x</p:attrName>
                                        </p:attrNameLst>
                                      </p:cBhvr>
                                      <p:tavLst>
                                        <p:tav tm="0">
                                          <p:val>
                                            <p:strVal val="#ppt_x"/>
                                          </p:val>
                                        </p:tav>
                                        <p:tav tm="100000">
                                          <p:val>
                                            <p:strVal val="#ppt_x"/>
                                          </p:val>
                                        </p:tav>
                                      </p:tavLst>
                                    </p:anim>
                                    <p:anim calcmode="lin" valueType="num">
                                      <p:cBhvr>
                                        <p:cTn id="23" dur="1000" fill="hold"/>
                                        <p:tgtEl>
                                          <p:spTgt spid="1464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5" grpId="0" build="p"/>
      <p:bldP spid="146437" grpId="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7459" name="Rectangle 3">
            <a:extLst>
              <a:ext uri="{FF2B5EF4-FFF2-40B4-BE49-F238E27FC236}">
                <a16:creationId xmlns:a16="http://schemas.microsoft.com/office/drawing/2014/main" id="{69C4266A-4FC4-2ECD-0841-85B8DDE82A59}"/>
              </a:ext>
            </a:extLst>
          </p:cNvPr>
          <p:cNvSpPr>
            <a:spLocks noGrp="1"/>
          </p:cNvSpPr>
          <p:nvPr>
            <p:ph idx="1"/>
          </p:nvPr>
        </p:nvSpPr>
        <p:spPr>
          <a:xfrm>
            <a:off x="2057400" y="1828800"/>
            <a:ext cx="8229600" cy="3962400"/>
          </a:xfrm>
        </p:spPr>
        <p:txBody>
          <a:bodyPr/>
          <a:lstStyle/>
          <a:p>
            <a:pPr eaLnBrk="1" hangingPunct="1"/>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The Net Present Value (</a:t>
            </a:r>
            <a:r>
              <a:rPr lang="en-US" altLang="en-US" sz="2800" i="1">
                <a:latin typeface="Times New Roman" panose="02020603050405020304" pitchFamily="18" charset="0"/>
                <a:ea typeface="ＭＳ Ｐゴシック" panose="020B0600070205080204" pitchFamily="34" charset="-128"/>
                <a:cs typeface="Times New Roman" panose="02020603050405020304" pitchFamily="18" charset="0"/>
              </a:rPr>
              <a:t>NPV</a:t>
            </a: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 of an investment is the present value of the expected cash flows, less the cost of the investment.</a:t>
            </a:r>
          </a:p>
          <a:p>
            <a:pPr eaLnBrk="1" hangingPunct="1"/>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Suppose an investment that promises to pay $10,000 in one year is offered for sale for $9,500. Your interest rate is 5%. Should you buy?</a:t>
            </a:r>
          </a:p>
        </p:txBody>
      </p:sp>
      <p:sp>
        <p:nvSpPr>
          <p:cNvPr id="19458" name="Rectangle 2">
            <a:extLst>
              <a:ext uri="{FF2B5EF4-FFF2-40B4-BE49-F238E27FC236}">
                <a16:creationId xmlns:a16="http://schemas.microsoft.com/office/drawing/2014/main" id="{9F1BD394-B994-2111-E3C6-49AF974DF9E9}"/>
              </a:ext>
            </a:extLst>
          </p:cNvPr>
          <p:cNvSpPr>
            <a:spLocks noGrp="1" noChangeArrowheads="1"/>
          </p:cNvSpPr>
          <p:nvPr>
            <p:ph type="title"/>
          </p:nvPr>
        </p:nvSpPr>
        <p:spPr>
          <a:xfrm>
            <a:off x="1981201" y="533400"/>
            <a:ext cx="8316913" cy="1206500"/>
          </a:xfrm>
        </p:spPr>
        <p:txBody>
          <a:bodyPr/>
          <a:lstStyle/>
          <a:p>
            <a:pPr eaLnBrk="1" fontAlgn="auto" hangingPunct="1">
              <a:spcAft>
                <a:spcPts val="0"/>
              </a:spcAft>
              <a:defRPr/>
            </a:pPr>
            <a:r>
              <a:rPr lang="en-US" altLang="en-US" sz="3400" dirty="0">
                <a:ea typeface="+mj-ea"/>
                <a:cs typeface="+mj-cs"/>
              </a:rPr>
              <a:t>Net Present Value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7459">
                                            <p:txEl>
                                              <p:pRg st="0" end="0"/>
                                            </p:txEl>
                                          </p:spTgt>
                                        </p:tgtEl>
                                        <p:attrNameLst>
                                          <p:attrName>style.visibility</p:attrName>
                                        </p:attrNameLst>
                                      </p:cBhvr>
                                      <p:to>
                                        <p:strVal val="visible"/>
                                      </p:to>
                                    </p:set>
                                    <p:animEffect transition="in" filter="fade">
                                      <p:cBhvr>
                                        <p:cTn id="7" dur="1000"/>
                                        <p:tgtEl>
                                          <p:spTgt spid="147459">
                                            <p:txEl>
                                              <p:pRg st="0" end="0"/>
                                            </p:txEl>
                                          </p:spTgt>
                                        </p:tgtEl>
                                      </p:cBhvr>
                                    </p:animEffect>
                                    <p:anim calcmode="lin" valueType="num">
                                      <p:cBhvr>
                                        <p:cTn id="8" dur="1000" fill="hold"/>
                                        <p:tgtEl>
                                          <p:spTgt spid="14745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745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47459">
                                            <p:txEl>
                                              <p:pRg st="1" end="1"/>
                                            </p:txEl>
                                          </p:spTgt>
                                        </p:tgtEl>
                                        <p:attrNameLst>
                                          <p:attrName>style.visibility</p:attrName>
                                        </p:attrNameLst>
                                      </p:cBhvr>
                                      <p:to>
                                        <p:strVal val="visible"/>
                                      </p:to>
                                    </p:set>
                                    <p:animEffect transition="in" filter="fade">
                                      <p:cBhvr>
                                        <p:cTn id="14" dur="1000"/>
                                        <p:tgtEl>
                                          <p:spTgt spid="147459">
                                            <p:txEl>
                                              <p:pRg st="1" end="1"/>
                                            </p:txEl>
                                          </p:spTgt>
                                        </p:tgtEl>
                                      </p:cBhvr>
                                    </p:animEffect>
                                    <p:anim calcmode="lin" valueType="num">
                                      <p:cBhvr>
                                        <p:cTn id="15" dur="1000" fill="hold"/>
                                        <p:tgtEl>
                                          <p:spTgt spid="14745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7459">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9"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5284" name="Object 4">
            <a:extLst>
              <a:ext uri="{FF2B5EF4-FFF2-40B4-BE49-F238E27FC236}">
                <a16:creationId xmlns:a16="http://schemas.microsoft.com/office/drawing/2014/main" id="{F785071E-503D-E7D0-C4E7-4D5F5939922F}"/>
              </a:ext>
            </a:extLst>
          </p:cNvPr>
          <p:cNvGraphicFramePr>
            <a:graphicFrameLocks noGrp="1" noChangeAspect="1"/>
          </p:cNvGraphicFramePr>
          <p:nvPr>
            <p:ph idx="1"/>
          </p:nvPr>
        </p:nvGraphicFramePr>
        <p:xfrm>
          <a:off x="2057400" y="1447800"/>
          <a:ext cx="4451350" cy="2014538"/>
        </p:xfrm>
        <a:graphic>
          <a:graphicData uri="http://schemas.openxmlformats.org/presentationml/2006/ole">
            <mc:AlternateContent xmlns:mc="http://schemas.openxmlformats.org/markup-compatibility/2006">
              <mc:Choice xmlns:v="urn:schemas-microsoft-com:vml" Requires="v">
                <p:oleObj name="Equation" r:id="rId3" imgW="1698087" imgH="745829" progId="Equation.3">
                  <p:embed/>
                </p:oleObj>
              </mc:Choice>
              <mc:Fallback>
                <p:oleObj name="Equation" r:id="rId3" imgW="1698087" imgH="745829" progId="Equation.3">
                  <p:embed/>
                  <p:pic>
                    <p:nvPicPr>
                      <p:cNvPr id="225284" name="Object 4">
                        <a:extLst>
                          <a:ext uri="{FF2B5EF4-FFF2-40B4-BE49-F238E27FC236}">
                            <a16:creationId xmlns:a16="http://schemas.microsoft.com/office/drawing/2014/main" id="{F785071E-503D-E7D0-C4E7-4D5F5939922F}"/>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1447800"/>
                        <a:ext cx="4451350" cy="2014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06" name="Rectangle 2">
            <a:extLst>
              <a:ext uri="{FF2B5EF4-FFF2-40B4-BE49-F238E27FC236}">
                <a16:creationId xmlns:a16="http://schemas.microsoft.com/office/drawing/2014/main" id="{74868AC0-B3DD-1289-5C93-1A84A5B3EBB5}"/>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Net Present Value</a:t>
            </a:r>
          </a:p>
        </p:txBody>
      </p:sp>
      <p:sp>
        <p:nvSpPr>
          <p:cNvPr id="225287" name="Rectangle 7">
            <a:extLst>
              <a:ext uri="{FF2B5EF4-FFF2-40B4-BE49-F238E27FC236}">
                <a16:creationId xmlns:a16="http://schemas.microsoft.com/office/drawing/2014/main" id="{EEA431DA-553C-6895-B8F4-1723CCB09067}"/>
              </a:ext>
            </a:extLst>
          </p:cNvPr>
          <p:cNvSpPr>
            <a:spLocks noChangeArrowheads="1"/>
          </p:cNvSpPr>
          <p:nvPr/>
        </p:nvSpPr>
        <p:spPr bwMode="auto">
          <a:xfrm>
            <a:off x="2057401" y="3886200"/>
            <a:ext cx="6824663"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a:solidFill>
                  <a:prstClr val="black"/>
                </a:solidFill>
                <a:cs typeface="Times New Roman" panose="02020603050405020304" pitchFamily="18" charset="0"/>
              </a:rPr>
              <a:t>The present value of the cash inflow is greater</a:t>
            </a:r>
          </a:p>
          <a:p>
            <a:pPr fontAlgn="base">
              <a:spcBef>
                <a:spcPct val="0"/>
              </a:spcBef>
              <a:spcAft>
                <a:spcPct val="0"/>
              </a:spcAft>
            </a:pPr>
            <a:r>
              <a:rPr lang="en-US" altLang="en-US" sz="2800">
                <a:solidFill>
                  <a:prstClr val="black"/>
                </a:solidFill>
                <a:cs typeface="Times New Roman" panose="02020603050405020304" pitchFamily="18" charset="0"/>
              </a:rPr>
              <a:t>than the cost. In other words, the Net Present</a:t>
            </a:r>
          </a:p>
          <a:p>
            <a:pPr fontAlgn="base">
              <a:spcBef>
                <a:spcPct val="0"/>
              </a:spcBef>
              <a:spcAft>
                <a:spcPct val="0"/>
              </a:spcAft>
            </a:pPr>
            <a:r>
              <a:rPr lang="en-US" altLang="en-US" sz="2800">
                <a:solidFill>
                  <a:prstClr val="black"/>
                </a:solidFill>
                <a:cs typeface="Times New Roman" panose="02020603050405020304" pitchFamily="18" charset="0"/>
              </a:rPr>
              <a:t>Value is positive, so the investment should be </a:t>
            </a:r>
          </a:p>
          <a:p>
            <a:pPr fontAlgn="base">
              <a:spcBef>
                <a:spcPct val="0"/>
              </a:spcBef>
              <a:spcAft>
                <a:spcPct val="0"/>
              </a:spcAft>
            </a:pPr>
            <a:r>
              <a:rPr lang="en-US" altLang="en-US" sz="2800">
                <a:solidFill>
                  <a:prstClr val="black"/>
                </a:solidFill>
                <a:cs typeface="Times New Roman" panose="02020603050405020304" pitchFamily="18" charset="0"/>
              </a:rPr>
              <a:t>purchased.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225284"/>
                                        </p:tgtEl>
                                        <p:attrNameLst>
                                          <p:attrName>style.visibility</p:attrName>
                                        </p:attrNameLst>
                                      </p:cBhvr>
                                      <p:to>
                                        <p:strVal val="visible"/>
                                      </p:to>
                                    </p:set>
                                    <p:animEffect transition="in" filter="fade">
                                      <p:cBhvr>
                                        <p:cTn id="7" dur="1000"/>
                                        <p:tgtEl>
                                          <p:spTgt spid="225284"/>
                                        </p:tgtEl>
                                      </p:cBhvr>
                                    </p:animEffect>
                                    <p:anim calcmode="lin" valueType="num">
                                      <p:cBhvr>
                                        <p:cTn id="8" dur="1000" fill="hold"/>
                                        <p:tgtEl>
                                          <p:spTgt spid="225284"/>
                                        </p:tgtEl>
                                        <p:attrNameLst>
                                          <p:attrName>ppt_x</p:attrName>
                                        </p:attrNameLst>
                                      </p:cBhvr>
                                      <p:tavLst>
                                        <p:tav tm="0">
                                          <p:val>
                                            <p:strVal val="#ppt_x"/>
                                          </p:val>
                                        </p:tav>
                                        <p:tav tm="100000">
                                          <p:val>
                                            <p:strVal val="#ppt_x"/>
                                          </p:val>
                                        </p:tav>
                                      </p:tavLst>
                                    </p:anim>
                                    <p:anim calcmode="lin" valueType="num">
                                      <p:cBhvr>
                                        <p:cTn id="9" dur="1000" fill="hold"/>
                                        <p:tgtEl>
                                          <p:spTgt spid="225284"/>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25287"/>
                                        </p:tgtEl>
                                        <p:attrNameLst>
                                          <p:attrName>style.visibility</p:attrName>
                                        </p:attrNameLst>
                                      </p:cBhvr>
                                      <p:to>
                                        <p:strVal val="visible"/>
                                      </p:to>
                                    </p:set>
                                    <p:animEffect transition="in" filter="fade">
                                      <p:cBhvr>
                                        <p:cTn id="14" dur="1000"/>
                                        <p:tgtEl>
                                          <p:spTgt spid="225287"/>
                                        </p:tgtEl>
                                      </p:cBhvr>
                                    </p:animEffect>
                                    <p:anim calcmode="lin" valueType="num">
                                      <p:cBhvr>
                                        <p:cTn id="15" dur="1000" fill="hold"/>
                                        <p:tgtEl>
                                          <p:spTgt spid="225287"/>
                                        </p:tgtEl>
                                        <p:attrNameLst>
                                          <p:attrName>ppt_x</p:attrName>
                                        </p:attrNameLst>
                                      </p:cBhvr>
                                      <p:tavLst>
                                        <p:tav tm="0">
                                          <p:val>
                                            <p:strVal val="#ppt_x"/>
                                          </p:val>
                                        </p:tav>
                                        <p:tav tm="100000">
                                          <p:val>
                                            <p:strVal val="#ppt_x"/>
                                          </p:val>
                                        </p:tav>
                                      </p:tavLst>
                                    </p:anim>
                                    <p:anim calcmode="lin" valueType="num">
                                      <p:cBhvr>
                                        <p:cTn id="16" dur="1000" fill="hold"/>
                                        <p:tgtEl>
                                          <p:spTgt spid="22528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87" grpId="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8483" name="Rectangle 3">
            <a:extLst>
              <a:ext uri="{FF2B5EF4-FFF2-40B4-BE49-F238E27FC236}">
                <a16:creationId xmlns:a16="http://schemas.microsoft.com/office/drawing/2014/main" id="{102E5D3D-7A46-98EC-8F23-1409161C4243}"/>
              </a:ext>
            </a:extLst>
          </p:cNvPr>
          <p:cNvSpPr>
            <a:spLocks noGrp="1"/>
          </p:cNvSpPr>
          <p:nvPr>
            <p:ph idx="1"/>
          </p:nvPr>
        </p:nvSpPr>
        <p:spPr>
          <a:xfrm>
            <a:off x="2057400" y="1371600"/>
            <a:ext cx="8001000" cy="1189038"/>
          </a:xfrm>
        </p:spPr>
        <p:txBody>
          <a:bodyPr/>
          <a:lstStyle/>
          <a:p>
            <a:pPr marL="0" indent="0" eaLnBrk="1" hangingPunct="1">
              <a:lnSpc>
                <a:spcPct val="90000"/>
              </a:lnSpc>
              <a:spcBef>
                <a:spcPct val="0"/>
              </a:spcBef>
              <a:buClrTx/>
              <a:buNone/>
            </a:pP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In the one-period case, the formula for </a:t>
            </a:r>
            <a:r>
              <a:rPr lang="en-US" altLang="en-US" sz="2800" i="1">
                <a:latin typeface="Times New Roman" panose="02020603050405020304" pitchFamily="18" charset="0"/>
                <a:ea typeface="ＭＳ Ｐゴシック" panose="020B0600070205080204" pitchFamily="34" charset="-128"/>
                <a:cs typeface="Times New Roman" panose="02020603050405020304" pitchFamily="18" charset="0"/>
              </a:rPr>
              <a:t>NPV</a:t>
            </a: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 can be written as:</a:t>
            </a:r>
          </a:p>
          <a:p>
            <a:pPr marL="0" indent="0" algn="ctr" eaLnBrk="1" hangingPunct="1">
              <a:lnSpc>
                <a:spcPct val="90000"/>
              </a:lnSpc>
              <a:spcBef>
                <a:spcPct val="0"/>
              </a:spcBef>
              <a:buClrTx/>
              <a:buNone/>
            </a:pPr>
            <a:r>
              <a:rPr lang="en-US" altLang="en-US" sz="2800" i="1">
                <a:latin typeface="Times New Roman" panose="02020603050405020304" pitchFamily="18" charset="0"/>
                <a:ea typeface="ＭＳ Ｐゴシック" panose="020B0600070205080204" pitchFamily="34" charset="-128"/>
                <a:cs typeface="Times New Roman" panose="02020603050405020304" pitchFamily="18" charset="0"/>
              </a:rPr>
              <a:t>NPV</a:t>
            </a: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 = –</a:t>
            </a:r>
            <a:r>
              <a:rPr lang="en-US" altLang="en-US" sz="2800" i="1">
                <a:latin typeface="Times New Roman" panose="02020603050405020304" pitchFamily="18" charset="0"/>
                <a:ea typeface="ＭＳ Ｐゴシック" panose="020B0600070205080204" pitchFamily="34" charset="-128"/>
                <a:cs typeface="Times New Roman" panose="02020603050405020304" pitchFamily="18" charset="0"/>
              </a:rPr>
              <a:t>Cost</a:t>
            </a: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 + </a:t>
            </a:r>
            <a:r>
              <a:rPr lang="en-US" altLang="en-US" sz="2800" i="1">
                <a:latin typeface="Times New Roman" panose="02020603050405020304" pitchFamily="18" charset="0"/>
                <a:ea typeface="ＭＳ Ｐゴシック" panose="020B0600070205080204" pitchFamily="34" charset="-128"/>
                <a:cs typeface="Times New Roman" panose="02020603050405020304" pitchFamily="18" charset="0"/>
              </a:rPr>
              <a:t>PV</a:t>
            </a:r>
          </a:p>
        </p:txBody>
      </p:sp>
      <p:sp>
        <p:nvSpPr>
          <p:cNvPr id="23554" name="Rectangle 2">
            <a:extLst>
              <a:ext uri="{FF2B5EF4-FFF2-40B4-BE49-F238E27FC236}">
                <a16:creationId xmlns:a16="http://schemas.microsoft.com/office/drawing/2014/main" id="{0DB8B615-90B6-53DE-6EC6-7ED43AF46D15}"/>
              </a:ext>
            </a:extLst>
          </p:cNvPr>
          <p:cNvSpPr>
            <a:spLocks noGrp="1" noChangeArrowheads="1"/>
          </p:cNvSpPr>
          <p:nvPr>
            <p:ph type="title"/>
          </p:nvPr>
        </p:nvSpPr>
        <p:spPr>
          <a:xfrm>
            <a:off x="1905001" y="304800"/>
            <a:ext cx="8316913" cy="1206500"/>
          </a:xfrm>
        </p:spPr>
        <p:txBody>
          <a:bodyPr/>
          <a:lstStyle/>
          <a:p>
            <a:pPr eaLnBrk="1" fontAlgn="auto" hangingPunct="1">
              <a:spcAft>
                <a:spcPts val="0"/>
              </a:spcAft>
              <a:defRPr/>
            </a:pPr>
            <a:r>
              <a:rPr lang="en-US" altLang="en-US" sz="3400" dirty="0">
                <a:ea typeface="+mj-ea"/>
                <a:cs typeface="+mj-cs"/>
              </a:rPr>
              <a:t>Net Present Value</a:t>
            </a:r>
          </a:p>
        </p:txBody>
      </p:sp>
      <p:sp>
        <p:nvSpPr>
          <p:cNvPr id="148487" name="Rectangle 7">
            <a:extLst>
              <a:ext uri="{FF2B5EF4-FFF2-40B4-BE49-F238E27FC236}">
                <a16:creationId xmlns:a16="http://schemas.microsoft.com/office/drawing/2014/main" id="{84C8FA47-C51B-2091-70E2-F912CC6126BC}"/>
              </a:ext>
            </a:extLst>
          </p:cNvPr>
          <p:cNvSpPr>
            <a:spLocks noChangeArrowheads="1"/>
          </p:cNvSpPr>
          <p:nvPr/>
        </p:nvSpPr>
        <p:spPr bwMode="auto">
          <a:xfrm>
            <a:off x="2133600" y="2895600"/>
            <a:ext cx="80010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r>
              <a:rPr lang="en-US" altLang="en-US" sz="2800">
                <a:solidFill>
                  <a:prstClr val="black"/>
                </a:solidFill>
                <a:cs typeface="Times New Roman" panose="02020603050405020304" pitchFamily="18" charset="0"/>
              </a:rPr>
              <a:t>If we had </a:t>
            </a:r>
            <a:r>
              <a:rPr lang="en-US" altLang="en-US" sz="2800" i="1">
                <a:solidFill>
                  <a:prstClr val="black"/>
                </a:solidFill>
                <a:cs typeface="Times New Roman" panose="02020603050405020304" pitchFamily="18" charset="0"/>
              </a:rPr>
              <a:t>not</a:t>
            </a:r>
            <a:r>
              <a:rPr lang="en-US" altLang="en-US" sz="2800">
                <a:solidFill>
                  <a:prstClr val="black"/>
                </a:solidFill>
                <a:cs typeface="Times New Roman" panose="02020603050405020304" pitchFamily="18" charset="0"/>
              </a:rPr>
              <a:t> undertaken the positive </a:t>
            </a:r>
            <a:r>
              <a:rPr lang="en-US" altLang="en-US" sz="2800" i="1">
                <a:solidFill>
                  <a:prstClr val="black"/>
                </a:solidFill>
                <a:cs typeface="Times New Roman" panose="02020603050405020304" pitchFamily="18" charset="0"/>
              </a:rPr>
              <a:t>NPV</a:t>
            </a:r>
            <a:r>
              <a:rPr lang="en-US" altLang="en-US" sz="2800">
                <a:solidFill>
                  <a:prstClr val="black"/>
                </a:solidFill>
                <a:cs typeface="Times New Roman" panose="02020603050405020304" pitchFamily="18" charset="0"/>
              </a:rPr>
              <a:t> project considered on the last slide, and instead invested our $9,500 elsewhere at 5 percent, our </a:t>
            </a:r>
            <a:r>
              <a:rPr lang="en-US" altLang="en-US" sz="2800" i="1">
                <a:solidFill>
                  <a:prstClr val="black"/>
                </a:solidFill>
                <a:cs typeface="Times New Roman" panose="02020603050405020304" pitchFamily="18" charset="0"/>
              </a:rPr>
              <a:t>FV</a:t>
            </a:r>
            <a:r>
              <a:rPr lang="en-US" altLang="en-US" sz="2800">
                <a:solidFill>
                  <a:prstClr val="black"/>
                </a:solidFill>
                <a:cs typeface="Times New Roman" panose="02020603050405020304" pitchFamily="18" charset="0"/>
              </a:rPr>
              <a:t> would be less than the $10,000 the investment promised, and we would be worse off in </a:t>
            </a:r>
            <a:r>
              <a:rPr lang="en-US" altLang="en-US" sz="2800" i="1">
                <a:solidFill>
                  <a:prstClr val="black"/>
                </a:solidFill>
                <a:cs typeface="Times New Roman" panose="02020603050405020304" pitchFamily="18" charset="0"/>
              </a:rPr>
              <a:t>FV</a:t>
            </a:r>
            <a:r>
              <a:rPr lang="en-US" altLang="en-US" sz="2800">
                <a:solidFill>
                  <a:prstClr val="black"/>
                </a:solidFill>
                <a:cs typeface="Times New Roman" panose="02020603050405020304" pitchFamily="18" charset="0"/>
              </a:rPr>
              <a:t> terms :</a:t>
            </a:r>
          </a:p>
          <a:p>
            <a:pPr eaLnBrk="0" fontAlgn="base" hangingPunct="0">
              <a:spcBef>
                <a:spcPct val="0"/>
              </a:spcBef>
              <a:spcAft>
                <a:spcPct val="0"/>
              </a:spcAft>
            </a:pPr>
            <a:endParaRPr lang="en-US" altLang="en-US" sz="2800">
              <a:solidFill>
                <a:prstClr val="black"/>
              </a:solidFill>
              <a:cs typeface="Times New Roman" panose="02020603050405020304" pitchFamily="18" charset="0"/>
            </a:endParaRPr>
          </a:p>
          <a:p>
            <a:pPr algn="ctr" eaLnBrk="0" fontAlgn="base" hangingPunct="0">
              <a:spcBef>
                <a:spcPct val="0"/>
              </a:spcBef>
              <a:spcAft>
                <a:spcPct val="0"/>
              </a:spcAft>
            </a:pPr>
            <a:r>
              <a:rPr lang="en-US" altLang="en-US" sz="2800">
                <a:solidFill>
                  <a:prstClr val="black"/>
                </a:solidFill>
                <a:cs typeface="Times New Roman" panose="02020603050405020304" pitchFamily="18" charset="0"/>
              </a:rPr>
              <a:t>$9,500×(1.05) = $9,975 &lt; $10,000</a:t>
            </a:r>
          </a:p>
          <a:p>
            <a:pPr eaLnBrk="0" fontAlgn="base" hangingPunct="0">
              <a:spcBef>
                <a:spcPct val="0"/>
              </a:spcBef>
              <a:spcAft>
                <a:spcPct val="0"/>
              </a:spcAft>
            </a:pPr>
            <a:endParaRPr lang="en-US" altLang="en-US" sz="2800">
              <a:solidFill>
                <a:prstClr val="black"/>
              </a:solidFill>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8483">
                                            <p:txEl>
                                              <p:pRg st="0" end="0"/>
                                            </p:txEl>
                                          </p:spTgt>
                                        </p:tgtEl>
                                        <p:attrNameLst>
                                          <p:attrName>style.visibility</p:attrName>
                                        </p:attrNameLst>
                                      </p:cBhvr>
                                      <p:to>
                                        <p:strVal val="visible"/>
                                      </p:to>
                                    </p:set>
                                    <p:animEffect transition="in" filter="fade">
                                      <p:cBhvr>
                                        <p:cTn id="7" dur="1000"/>
                                        <p:tgtEl>
                                          <p:spTgt spid="148483">
                                            <p:txEl>
                                              <p:pRg st="0" end="0"/>
                                            </p:txEl>
                                          </p:spTgt>
                                        </p:tgtEl>
                                      </p:cBhvr>
                                    </p:animEffect>
                                    <p:anim calcmode="lin" valueType="num">
                                      <p:cBhvr>
                                        <p:cTn id="8" dur="1000" fill="hold"/>
                                        <p:tgtEl>
                                          <p:spTgt spid="14848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848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48483">
                                            <p:txEl>
                                              <p:pRg st="1" end="1"/>
                                            </p:txEl>
                                          </p:spTgt>
                                        </p:tgtEl>
                                        <p:attrNameLst>
                                          <p:attrName>style.visibility</p:attrName>
                                        </p:attrNameLst>
                                      </p:cBhvr>
                                      <p:to>
                                        <p:strVal val="visible"/>
                                      </p:to>
                                    </p:set>
                                    <p:animEffect transition="in" filter="fade">
                                      <p:cBhvr>
                                        <p:cTn id="14" dur="1000"/>
                                        <p:tgtEl>
                                          <p:spTgt spid="148483">
                                            <p:txEl>
                                              <p:pRg st="1" end="1"/>
                                            </p:txEl>
                                          </p:spTgt>
                                        </p:tgtEl>
                                      </p:cBhvr>
                                    </p:animEffect>
                                    <p:anim calcmode="lin" valueType="num">
                                      <p:cBhvr>
                                        <p:cTn id="15" dur="1000" fill="hold"/>
                                        <p:tgtEl>
                                          <p:spTgt spid="14848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848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48487"/>
                                        </p:tgtEl>
                                        <p:attrNameLst>
                                          <p:attrName>style.visibility</p:attrName>
                                        </p:attrNameLst>
                                      </p:cBhvr>
                                      <p:to>
                                        <p:strVal val="visible"/>
                                      </p:to>
                                    </p:set>
                                    <p:animEffect transition="in" filter="fade">
                                      <p:cBhvr>
                                        <p:cTn id="21" dur="1000"/>
                                        <p:tgtEl>
                                          <p:spTgt spid="148487"/>
                                        </p:tgtEl>
                                      </p:cBhvr>
                                    </p:animEffect>
                                    <p:anim calcmode="lin" valueType="num">
                                      <p:cBhvr>
                                        <p:cTn id="22" dur="1000" fill="hold"/>
                                        <p:tgtEl>
                                          <p:spTgt spid="148487"/>
                                        </p:tgtEl>
                                        <p:attrNameLst>
                                          <p:attrName>ppt_x</p:attrName>
                                        </p:attrNameLst>
                                      </p:cBhvr>
                                      <p:tavLst>
                                        <p:tav tm="0">
                                          <p:val>
                                            <p:strVal val="#ppt_x"/>
                                          </p:val>
                                        </p:tav>
                                        <p:tav tm="100000">
                                          <p:val>
                                            <p:strVal val="#ppt_x"/>
                                          </p:val>
                                        </p:tav>
                                      </p:tavLst>
                                    </p:anim>
                                    <p:anim calcmode="lin" valueType="num">
                                      <p:cBhvr>
                                        <p:cTn id="23" dur="1000" fill="hold"/>
                                        <p:tgtEl>
                                          <p:spTgt spid="14848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3" grpId="0" build="p"/>
      <p:bldP spid="148487" grpId="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2339" name="Rectangle 3">
            <a:extLst>
              <a:ext uri="{FF2B5EF4-FFF2-40B4-BE49-F238E27FC236}">
                <a16:creationId xmlns:a16="http://schemas.microsoft.com/office/drawing/2014/main" id="{2D69CDB5-0268-8277-8F66-E786EBC75442}"/>
              </a:ext>
            </a:extLst>
          </p:cNvPr>
          <p:cNvSpPr>
            <a:spLocks noGrp="1"/>
          </p:cNvSpPr>
          <p:nvPr>
            <p:ph idx="1"/>
          </p:nvPr>
        </p:nvSpPr>
        <p:spPr/>
        <p:txBody>
          <a:bodyPr/>
          <a:lstStyle/>
          <a:p>
            <a:pPr eaLnBrk="1" hangingPunct="1">
              <a:lnSpc>
                <a:spcPct val="90000"/>
              </a:lnSpc>
            </a:pPr>
            <a:r>
              <a:rPr lang="en-US" altLang="en-US" sz="2800">
                <a:latin typeface="Times New Roman" panose="02020603050405020304" pitchFamily="18" charset="0"/>
                <a:ea typeface="ＭＳ Ｐゴシック" panose="020B0600070205080204" pitchFamily="34" charset="-128"/>
              </a:rPr>
              <a:t>The general formula for the future value of an investment over many periods can be written as:</a:t>
            </a:r>
          </a:p>
          <a:p>
            <a:pPr algn="ctr" eaLnBrk="1" hangingPunct="1">
              <a:lnSpc>
                <a:spcPct val="90000"/>
              </a:lnSpc>
              <a:buFont typeface="Wingdings" panose="05000000000000000000" pitchFamily="2" charset="2"/>
              <a:buNone/>
            </a:pPr>
            <a:r>
              <a:rPr lang="en-US" altLang="en-US" sz="2800" i="1">
                <a:latin typeface="Times New Roman" panose="02020603050405020304" pitchFamily="18" charset="0"/>
                <a:ea typeface="ＭＳ Ｐゴシック" panose="020B0600070205080204" pitchFamily="34" charset="-128"/>
                <a:cs typeface="Times New Roman" panose="02020603050405020304" pitchFamily="18" charset="0"/>
              </a:rPr>
              <a:t>FV</a:t>
            </a: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 = </a:t>
            </a:r>
            <a:r>
              <a:rPr lang="en-US" altLang="en-US" sz="2800" i="1">
                <a:latin typeface="Times New Roman" panose="02020603050405020304" pitchFamily="18" charset="0"/>
                <a:ea typeface="ＭＳ Ｐゴシック" panose="020B0600070205080204" pitchFamily="34" charset="-128"/>
                <a:cs typeface="Times New Roman" panose="02020603050405020304" pitchFamily="18" charset="0"/>
              </a:rPr>
              <a:t>C</a:t>
            </a:r>
            <a:r>
              <a:rPr lang="en-US" altLang="en-US" sz="2800" baseline="-25000">
                <a:latin typeface="Times New Roman" panose="02020603050405020304" pitchFamily="18" charset="0"/>
                <a:ea typeface="ＭＳ Ｐゴシック" panose="020B0600070205080204" pitchFamily="34" charset="-128"/>
                <a:cs typeface="Times New Roman" panose="02020603050405020304" pitchFamily="18" charset="0"/>
              </a:rPr>
              <a:t>0</a:t>
            </a: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×(1 + </a:t>
            </a:r>
            <a:r>
              <a:rPr lang="en-US" altLang="en-US" sz="2800" i="1">
                <a:latin typeface="Times New Roman" panose="02020603050405020304" pitchFamily="18" charset="0"/>
                <a:ea typeface="ＭＳ Ｐゴシック" panose="020B0600070205080204" pitchFamily="34" charset="-128"/>
                <a:cs typeface="Times New Roman" panose="02020603050405020304" pitchFamily="18" charset="0"/>
              </a:rPr>
              <a:t>r</a:t>
            </a: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a:t>
            </a:r>
            <a:r>
              <a:rPr lang="en-US" altLang="en-US" sz="2800" i="1" baseline="30000">
                <a:latin typeface="Times New Roman" panose="02020603050405020304" pitchFamily="18" charset="0"/>
                <a:ea typeface="ＭＳ Ｐゴシック" panose="020B0600070205080204" pitchFamily="34" charset="-128"/>
                <a:cs typeface="Times New Roman" panose="02020603050405020304" pitchFamily="18" charset="0"/>
              </a:rPr>
              <a:t>T</a:t>
            </a:r>
          </a:p>
          <a:p>
            <a:pPr eaLnBrk="1" hangingPunct="1">
              <a:lnSpc>
                <a:spcPct val="90000"/>
              </a:lnSpc>
              <a:buFont typeface="Wingdings" panose="05000000000000000000" pitchFamily="2" charset="2"/>
              <a:buNone/>
            </a:pP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Where </a:t>
            </a:r>
          </a:p>
          <a:p>
            <a:pPr eaLnBrk="1" hangingPunct="1">
              <a:lnSpc>
                <a:spcPct val="90000"/>
              </a:lnSpc>
              <a:buFont typeface="Wingdings" panose="05000000000000000000" pitchFamily="2" charset="2"/>
              <a:buNone/>
            </a:pPr>
            <a:r>
              <a:rPr lang="en-US" altLang="en-US" sz="2800" i="1">
                <a:latin typeface="Times New Roman" panose="02020603050405020304" pitchFamily="18" charset="0"/>
                <a:ea typeface="ＭＳ Ｐゴシック" panose="020B0600070205080204" pitchFamily="34" charset="-128"/>
                <a:cs typeface="Times New Roman" panose="02020603050405020304" pitchFamily="18" charset="0"/>
              </a:rPr>
              <a:t>	C</a:t>
            </a:r>
            <a:r>
              <a:rPr lang="en-US" altLang="en-US" sz="2800" baseline="-25000">
                <a:latin typeface="Times New Roman" panose="02020603050405020304" pitchFamily="18" charset="0"/>
                <a:ea typeface="ＭＳ Ｐゴシック" panose="020B0600070205080204" pitchFamily="34" charset="-128"/>
                <a:cs typeface="Times New Roman" panose="02020603050405020304" pitchFamily="18" charset="0"/>
              </a:rPr>
              <a:t>0</a:t>
            </a: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 is cash flow at date 0,</a:t>
            </a:r>
          </a:p>
          <a:p>
            <a:pPr marL="584200" lvl="1" indent="-112713" eaLnBrk="1" hangingPunct="1">
              <a:lnSpc>
                <a:spcPct val="90000"/>
              </a:lnSpc>
              <a:spcBef>
                <a:spcPct val="50000"/>
              </a:spcBef>
              <a:buNone/>
            </a:pPr>
            <a:r>
              <a:rPr lang="en-US" altLang="en-US" sz="2800" i="1">
                <a:latin typeface="Times New Roman" panose="02020603050405020304" pitchFamily="18" charset="0"/>
                <a:ea typeface="ＭＳ Ｐゴシック" panose="020B0600070205080204" pitchFamily="34" charset="-128"/>
                <a:cs typeface="Times New Roman" panose="02020603050405020304" pitchFamily="18" charset="0"/>
              </a:rPr>
              <a:t>r </a:t>
            </a: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is the appropriate interest rate, and</a:t>
            </a:r>
          </a:p>
          <a:p>
            <a:pPr marL="584200" lvl="1" indent="-112713" eaLnBrk="1" hangingPunct="1">
              <a:lnSpc>
                <a:spcPct val="90000"/>
              </a:lnSpc>
              <a:spcBef>
                <a:spcPct val="50000"/>
              </a:spcBef>
              <a:buNone/>
            </a:pPr>
            <a:r>
              <a:rPr lang="en-US" altLang="en-US" sz="2800" i="1">
                <a:latin typeface="Times New Roman" panose="02020603050405020304" pitchFamily="18" charset="0"/>
                <a:ea typeface="ＭＳ Ｐゴシック" panose="020B0600070205080204" pitchFamily="34" charset="-128"/>
                <a:cs typeface="Times New Roman" panose="02020603050405020304" pitchFamily="18" charset="0"/>
              </a:rPr>
              <a:t>T</a:t>
            </a: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 is the number of periods over which the cash is invested.</a:t>
            </a:r>
            <a:endParaRPr lang="en-US" altLang="en-US" sz="2800">
              <a:latin typeface="Times New Roman" panose="02020603050405020304" pitchFamily="18" charset="0"/>
              <a:ea typeface="ＭＳ Ｐゴシック" panose="020B0600070205080204" pitchFamily="34" charset="-128"/>
            </a:endParaRPr>
          </a:p>
        </p:txBody>
      </p:sp>
      <p:sp>
        <p:nvSpPr>
          <p:cNvPr id="25602" name="Rectangle 2">
            <a:extLst>
              <a:ext uri="{FF2B5EF4-FFF2-40B4-BE49-F238E27FC236}">
                <a16:creationId xmlns:a16="http://schemas.microsoft.com/office/drawing/2014/main" id="{4DFE29F6-0641-E145-AFAA-5B6ED499F476}"/>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 The Multiperiod Case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2339">
                                            <p:txEl>
                                              <p:pRg st="0" end="0"/>
                                            </p:txEl>
                                          </p:spTgt>
                                        </p:tgtEl>
                                        <p:attrNameLst>
                                          <p:attrName>style.visibility</p:attrName>
                                        </p:attrNameLst>
                                      </p:cBhvr>
                                      <p:to>
                                        <p:strVal val="visible"/>
                                      </p:to>
                                    </p:set>
                                    <p:animEffect transition="in" filter="fade">
                                      <p:cBhvr>
                                        <p:cTn id="7" dur="1000"/>
                                        <p:tgtEl>
                                          <p:spTgt spid="142339">
                                            <p:txEl>
                                              <p:pRg st="0" end="0"/>
                                            </p:txEl>
                                          </p:spTgt>
                                        </p:tgtEl>
                                      </p:cBhvr>
                                    </p:animEffect>
                                    <p:anim calcmode="lin" valueType="num">
                                      <p:cBhvr>
                                        <p:cTn id="8" dur="1000" fill="hold"/>
                                        <p:tgtEl>
                                          <p:spTgt spid="14233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233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42339">
                                            <p:txEl>
                                              <p:pRg st="1" end="1"/>
                                            </p:txEl>
                                          </p:spTgt>
                                        </p:tgtEl>
                                        <p:attrNameLst>
                                          <p:attrName>style.visibility</p:attrName>
                                        </p:attrNameLst>
                                      </p:cBhvr>
                                      <p:to>
                                        <p:strVal val="visible"/>
                                      </p:to>
                                    </p:set>
                                    <p:animEffect transition="in" filter="fade">
                                      <p:cBhvr>
                                        <p:cTn id="14" dur="1000"/>
                                        <p:tgtEl>
                                          <p:spTgt spid="142339">
                                            <p:txEl>
                                              <p:pRg st="1" end="1"/>
                                            </p:txEl>
                                          </p:spTgt>
                                        </p:tgtEl>
                                      </p:cBhvr>
                                    </p:animEffect>
                                    <p:anim calcmode="lin" valueType="num">
                                      <p:cBhvr>
                                        <p:cTn id="15" dur="1000" fill="hold"/>
                                        <p:tgtEl>
                                          <p:spTgt spid="14233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233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42339">
                                            <p:txEl>
                                              <p:pRg st="2" end="2"/>
                                            </p:txEl>
                                          </p:spTgt>
                                        </p:tgtEl>
                                        <p:attrNameLst>
                                          <p:attrName>style.visibility</p:attrName>
                                        </p:attrNameLst>
                                      </p:cBhvr>
                                      <p:to>
                                        <p:strVal val="visible"/>
                                      </p:to>
                                    </p:set>
                                    <p:animEffect transition="in" filter="fade">
                                      <p:cBhvr>
                                        <p:cTn id="21" dur="1000"/>
                                        <p:tgtEl>
                                          <p:spTgt spid="142339">
                                            <p:txEl>
                                              <p:pRg st="2" end="2"/>
                                            </p:txEl>
                                          </p:spTgt>
                                        </p:tgtEl>
                                      </p:cBhvr>
                                    </p:animEffect>
                                    <p:anim calcmode="lin" valueType="num">
                                      <p:cBhvr>
                                        <p:cTn id="22" dur="1000" fill="hold"/>
                                        <p:tgtEl>
                                          <p:spTgt spid="142339">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4233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42339">
                                            <p:txEl>
                                              <p:pRg st="3" end="3"/>
                                            </p:txEl>
                                          </p:spTgt>
                                        </p:tgtEl>
                                        <p:attrNameLst>
                                          <p:attrName>style.visibility</p:attrName>
                                        </p:attrNameLst>
                                      </p:cBhvr>
                                      <p:to>
                                        <p:strVal val="visible"/>
                                      </p:to>
                                    </p:set>
                                    <p:animEffect transition="in" filter="fade">
                                      <p:cBhvr>
                                        <p:cTn id="28" dur="1000"/>
                                        <p:tgtEl>
                                          <p:spTgt spid="142339">
                                            <p:txEl>
                                              <p:pRg st="3" end="3"/>
                                            </p:txEl>
                                          </p:spTgt>
                                        </p:tgtEl>
                                      </p:cBhvr>
                                    </p:animEffect>
                                    <p:anim calcmode="lin" valueType="num">
                                      <p:cBhvr>
                                        <p:cTn id="29" dur="1000" fill="hold"/>
                                        <p:tgtEl>
                                          <p:spTgt spid="142339">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42339">
                                            <p:txEl>
                                              <p:pRg st="3" end="3"/>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42339">
                                            <p:txEl>
                                              <p:pRg st="4" end="4"/>
                                            </p:txEl>
                                          </p:spTgt>
                                        </p:tgtEl>
                                        <p:attrNameLst>
                                          <p:attrName>style.visibility</p:attrName>
                                        </p:attrNameLst>
                                      </p:cBhvr>
                                      <p:to>
                                        <p:strVal val="visible"/>
                                      </p:to>
                                    </p:set>
                                    <p:animEffect transition="in" filter="fade">
                                      <p:cBhvr>
                                        <p:cTn id="33" dur="1000"/>
                                        <p:tgtEl>
                                          <p:spTgt spid="142339">
                                            <p:txEl>
                                              <p:pRg st="4" end="4"/>
                                            </p:txEl>
                                          </p:spTgt>
                                        </p:tgtEl>
                                      </p:cBhvr>
                                    </p:animEffect>
                                    <p:anim calcmode="lin" valueType="num">
                                      <p:cBhvr>
                                        <p:cTn id="34" dur="1000" fill="hold"/>
                                        <p:tgtEl>
                                          <p:spTgt spid="142339">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142339">
                                            <p:txEl>
                                              <p:pRg st="4" end="4"/>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42339">
                                            <p:txEl>
                                              <p:pRg st="5" end="5"/>
                                            </p:txEl>
                                          </p:spTgt>
                                        </p:tgtEl>
                                        <p:attrNameLst>
                                          <p:attrName>style.visibility</p:attrName>
                                        </p:attrNameLst>
                                      </p:cBhvr>
                                      <p:to>
                                        <p:strVal val="visible"/>
                                      </p:to>
                                    </p:set>
                                    <p:animEffect transition="in" filter="fade">
                                      <p:cBhvr>
                                        <p:cTn id="38" dur="1000"/>
                                        <p:tgtEl>
                                          <p:spTgt spid="142339">
                                            <p:txEl>
                                              <p:pRg st="5" end="5"/>
                                            </p:txEl>
                                          </p:spTgt>
                                        </p:tgtEl>
                                      </p:cBhvr>
                                    </p:animEffect>
                                    <p:anim calcmode="lin" valueType="num">
                                      <p:cBhvr>
                                        <p:cTn id="39" dur="1000" fill="hold"/>
                                        <p:tgtEl>
                                          <p:spTgt spid="142339">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142339">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9" grpId="0" build="p"/>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9507" name="Rectangle 3">
            <a:extLst>
              <a:ext uri="{FF2B5EF4-FFF2-40B4-BE49-F238E27FC236}">
                <a16:creationId xmlns:a16="http://schemas.microsoft.com/office/drawing/2014/main" id="{2800B956-D7BA-CC85-07A5-8248902C4114}"/>
              </a:ext>
            </a:extLst>
          </p:cNvPr>
          <p:cNvSpPr>
            <a:spLocks noGrp="1"/>
          </p:cNvSpPr>
          <p:nvPr>
            <p:ph idx="1"/>
          </p:nvPr>
        </p:nvSpPr>
        <p:spPr>
          <a:xfrm>
            <a:off x="2057400" y="1371600"/>
            <a:ext cx="8001000" cy="4343400"/>
          </a:xfrm>
        </p:spPr>
        <p:txBody>
          <a:bodyPr/>
          <a:lstStyle/>
          <a:p>
            <a:pPr eaLnBrk="1" hangingPunct="1"/>
            <a:r>
              <a:rPr lang="en-US" altLang="en-US" sz="2800">
                <a:latin typeface="Times New Roman" panose="02020603050405020304" pitchFamily="18" charset="0"/>
                <a:ea typeface="ＭＳ Ｐゴシック" panose="020B0600070205080204" pitchFamily="34" charset="-128"/>
              </a:rPr>
              <a:t>Suppose a stock currently pays a dividend of $1.10, which is expected to grow at 40% per year for the next five years.</a:t>
            </a:r>
          </a:p>
          <a:p>
            <a:pPr eaLnBrk="1" hangingPunct="1"/>
            <a:r>
              <a:rPr lang="en-US" altLang="en-US" sz="2800">
                <a:latin typeface="Times New Roman" panose="02020603050405020304" pitchFamily="18" charset="0"/>
                <a:ea typeface="ＭＳ Ｐゴシック" panose="020B0600070205080204" pitchFamily="34" charset="-128"/>
              </a:rPr>
              <a:t>What will the dividend be in five years?</a:t>
            </a:r>
          </a:p>
          <a:p>
            <a:pPr eaLnBrk="1" hangingPunct="1"/>
            <a:endParaRPr lang="en-US" altLang="en-US" sz="2800">
              <a:latin typeface="Times New Roman" panose="02020603050405020304" pitchFamily="18" charset="0"/>
              <a:ea typeface="ＭＳ Ｐゴシック" panose="020B0600070205080204" pitchFamily="34" charset="-128"/>
            </a:endParaRPr>
          </a:p>
          <a:p>
            <a:pPr algn="ctr" eaLnBrk="1" hangingPunct="1">
              <a:buFont typeface="Wingdings" panose="05000000000000000000" pitchFamily="2" charset="2"/>
              <a:buNone/>
            </a:pPr>
            <a:r>
              <a:rPr lang="en-US" altLang="en-US" sz="2800" i="1">
                <a:latin typeface="Times New Roman" panose="02020603050405020304" pitchFamily="18" charset="0"/>
                <a:ea typeface="ＭＳ Ｐゴシック" panose="020B0600070205080204" pitchFamily="34" charset="-128"/>
                <a:cs typeface="Times New Roman" panose="02020603050405020304" pitchFamily="18" charset="0"/>
              </a:rPr>
              <a:t>FV</a:t>
            </a: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 = </a:t>
            </a:r>
            <a:r>
              <a:rPr lang="en-US" altLang="en-US" sz="2800" i="1">
                <a:latin typeface="Times New Roman" panose="02020603050405020304" pitchFamily="18" charset="0"/>
                <a:ea typeface="ＭＳ Ｐゴシック" panose="020B0600070205080204" pitchFamily="34" charset="-128"/>
                <a:cs typeface="Times New Roman" panose="02020603050405020304" pitchFamily="18" charset="0"/>
              </a:rPr>
              <a:t>C</a:t>
            </a:r>
            <a:r>
              <a:rPr lang="en-US" altLang="en-US" sz="2800" baseline="-25000">
                <a:latin typeface="Times New Roman" panose="02020603050405020304" pitchFamily="18" charset="0"/>
                <a:ea typeface="ＭＳ Ｐゴシック" panose="020B0600070205080204" pitchFamily="34" charset="-128"/>
                <a:cs typeface="Times New Roman" panose="02020603050405020304" pitchFamily="18" charset="0"/>
              </a:rPr>
              <a:t>0</a:t>
            </a: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×(1 + </a:t>
            </a:r>
            <a:r>
              <a:rPr lang="en-US" altLang="en-US" sz="2800" i="1">
                <a:latin typeface="Times New Roman" panose="02020603050405020304" pitchFamily="18" charset="0"/>
                <a:ea typeface="ＭＳ Ｐゴシック" panose="020B0600070205080204" pitchFamily="34" charset="-128"/>
                <a:cs typeface="Times New Roman" panose="02020603050405020304" pitchFamily="18" charset="0"/>
              </a:rPr>
              <a:t>r</a:t>
            </a: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a:t>
            </a:r>
            <a:r>
              <a:rPr lang="en-US" altLang="en-US" sz="2800" i="1" baseline="30000">
                <a:latin typeface="Times New Roman" panose="02020603050405020304" pitchFamily="18" charset="0"/>
                <a:ea typeface="ＭＳ Ｐゴシック" panose="020B0600070205080204" pitchFamily="34" charset="-128"/>
                <a:cs typeface="Times New Roman" panose="02020603050405020304" pitchFamily="18" charset="0"/>
              </a:rPr>
              <a:t>T</a:t>
            </a:r>
          </a:p>
          <a:p>
            <a:pPr algn="ctr" eaLnBrk="1" hangingPunct="1">
              <a:buFont typeface="Wingdings" panose="05000000000000000000" pitchFamily="2" charset="2"/>
              <a:buNone/>
            </a:pPr>
            <a:endPar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endParaRPr>
          </a:p>
          <a:p>
            <a:pPr algn="ctr" eaLnBrk="1" hangingPunct="1">
              <a:buFont typeface="Wingdings" panose="05000000000000000000" pitchFamily="2" charset="2"/>
              <a:buNone/>
            </a:pP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$5.92 = $1.10×(1.40)</a:t>
            </a:r>
            <a:r>
              <a:rPr lang="en-US" altLang="en-US" sz="2800" i="1" baseline="30000">
                <a:latin typeface="Times New Roman" panose="02020603050405020304" pitchFamily="18" charset="0"/>
                <a:ea typeface="ＭＳ Ｐゴシック" panose="020B0600070205080204" pitchFamily="34" charset="-128"/>
                <a:cs typeface="Times New Roman" panose="02020603050405020304" pitchFamily="18" charset="0"/>
              </a:rPr>
              <a:t>5</a:t>
            </a:r>
          </a:p>
        </p:txBody>
      </p:sp>
      <p:sp>
        <p:nvSpPr>
          <p:cNvPr id="27650" name="Rectangle 2">
            <a:extLst>
              <a:ext uri="{FF2B5EF4-FFF2-40B4-BE49-F238E27FC236}">
                <a16:creationId xmlns:a16="http://schemas.microsoft.com/office/drawing/2014/main" id="{2361C7A8-B0D2-AD05-180B-8E449F1E191E}"/>
              </a:ext>
            </a:extLst>
          </p:cNvPr>
          <p:cNvSpPr>
            <a:spLocks noGrp="1" noChangeArrowheads="1"/>
          </p:cNvSpPr>
          <p:nvPr>
            <p:ph type="title"/>
          </p:nvPr>
        </p:nvSpPr>
        <p:spPr/>
        <p:txBody>
          <a:bodyPr>
            <a:noAutofit/>
          </a:bodyPr>
          <a:lstStyle/>
          <a:p>
            <a:pPr eaLnBrk="1" fontAlgn="auto" hangingPunct="1">
              <a:spcAft>
                <a:spcPts val="0"/>
              </a:spcAft>
              <a:defRPr/>
            </a:pPr>
            <a:r>
              <a:rPr lang="en-US" altLang="en-US" sz="3400" dirty="0">
                <a:ea typeface="+mj-ea"/>
                <a:cs typeface="+mj-cs"/>
              </a:rPr>
              <a:t>Future Value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9507">
                                            <p:txEl>
                                              <p:pRg st="0" end="0"/>
                                            </p:txEl>
                                          </p:spTgt>
                                        </p:tgtEl>
                                        <p:attrNameLst>
                                          <p:attrName>style.visibility</p:attrName>
                                        </p:attrNameLst>
                                      </p:cBhvr>
                                      <p:to>
                                        <p:strVal val="visible"/>
                                      </p:to>
                                    </p:set>
                                    <p:animEffect transition="in" filter="fade">
                                      <p:cBhvr>
                                        <p:cTn id="7" dur="1000"/>
                                        <p:tgtEl>
                                          <p:spTgt spid="149507">
                                            <p:txEl>
                                              <p:pRg st="0" end="0"/>
                                            </p:txEl>
                                          </p:spTgt>
                                        </p:tgtEl>
                                      </p:cBhvr>
                                    </p:animEffect>
                                    <p:anim calcmode="lin" valueType="num">
                                      <p:cBhvr>
                                        <p:cTn id="8" dur="1000" fill="hold"/>
                                        <p:tgtEl>
                                          <p:spTgt spid="14950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950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49507">
                                            <p:txEl>
                                              <p:pRg st="1" end="1"/>
                                            </p:txEl>
                                          </p:spTgt>
                                        </p:tgtEl>
                                        <p:attrNameLst>
                                          <p:attrName>style.visibility</p:attrName>
                                        </p:attrNameLst>
                                      </p:cBhvr>
                                      <p:to>
                                        <p:strVal val="visible"/>
                                      </p:to>
                                    </p:set>
                                    <p:animEffect transition="in" filter="fade">
                                      <p:cBhvr>
                                        <p:cTn id="14" dur="1000"/>
                                        <p:tgtEl>
                                          <p:spTgt spid="149507">
                                            <p:txEl>
                                              <p:pRg st="1" end="1"/>
                                            </p:txEl>
                                          </p:spTgt>
                                        </p:tgtEl>
                                      </p:cBhvr>
                                    </p:animEffect>
                                    <p:anim calcmode="lin" valueType="num">
                                      <p:cBhvr>
                                        <p:cTn id="15" dur="1000" fill="hold"/>
                                        <p:tgtEl>
                                          <p:spTgt spid="14950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950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49507">
                                            <p:txEl>
                                              <p:pRg st="3" end="3"/>
                                            </p:txEl>
                                          </p:spTgt>
                                        </p:tgtEl>
                                        <p:attrNameLst>
                                          <p:attrName>style.visibility</p:attrName>
                                        </p:attrNameLst>
                                      </p:cBhvr>
                                      <p:to>
                                        <p:strVal val="visible"/>
                                      </p:to>
                                    </p:set>
                                    <p:animEffect transition="in" filter="fade">
                                      <p:cBhvr>
                                        <p:cTn id="21" dur="1000"/>
                                        <p:tgtEl>
                                          <p:spTgt spid="149507">
                                            <p:txEl>
                                              <p:pRg st="3" end="3"/>
                                            </p:txEl>
                                          </p:spTgt>
                                        </p:tgtEl>
                                      </p:cBhvr>
                                    </p:animEffect>
                                    <p:anim calcmode="lin" valueType="num">
                                      <p:cBhvr>
                                        <p:cTn id="22" dur="1000" fill="hold"/>
                                        <p:tgtEl>
                                          <p:spTgt spid="149507">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4950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49507">
                                            <p:txEl>
                                              <p:pRg st="5" end="5"/>
                                            </p:txEl>
                                          </p:spTgt>
                                        </p:tgtEl>
                                        <p:attrNameLst>
                                          <p:attrName>style.visibility</p:attrName>
                                        </p:attrNameLst>
                                      </p:cBhvr>
                                      <p:to>
                                        <p:strVal val="visible"/>
                                      </p:to>
                                    </p:set>
                                    <p:animEffect transition="in" filter="fade">
                                      <p:cBhvr>
                                        <p:cTn id="28" dur="1000"/>
                                        <p:tgtEl>
                                          <p:spTgt spid="149507">
                                            <p:txEl>
                                              <p:pRg st="5" end="5"/>
                                            </p:txEl>
                                          </p:spTgt>
                                        </p:tgtEl>
                                      </p:cBhvr>
                                    </p:animEffect>
                                    <p:anim calcmode="lin" valueType="num">
                                      <p:cBhvr>
                                        <p:cTn id="29" dur="1000" fill="hold"/>
                                        <p:tgtEl>
                                          <p:spTgt spid="149507">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14950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7" grpId="0" build="p"/>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0531" name="Rectangle 3">
            <a:extLst>
              <a:ext uri="{FF2B5EF4-FFF2-40B4-BE49-F238E27FC236}">
                <a16:creationId xmlns:a16="http://schemas.microsoft.com/office/drawing/2014/main" id="{04A2B5CE-F9A8-44D8-39E3-787994727960}"/>
              </a:ext>
            </a:extLst>
          </p:cNvPr>
          <p:cNvSpPr>
            <a:spLocks noGrp="1"/>
          </p:cNvSpPr>
          <p:nvPr>
            <p:ph idx="1"/>
          </p:nvPr>
        </p:nvSpPr>
        <p:spPr>
          <a:xfrm>
            <a:off x="1981200" y="1524000"/>
            <a:ext cx="8001000" cy="4114800"/>
          </a:xfrm>
        </p:spPr>
        <p:txBody>
          <a:bodyPr/>
          <a:lstStyle/>
          <a:p>
            <a:pPr eaLnBrk="1" hangingPunct="1"/>
            <a:r>
              <a:rPr lang="en-US" altLang="en-US" sz="2800">
                <a:latin typeface="Times New Roman" panose="02020603050405020304" pitchFamily="18" charset="0"/>
                <a:ea typeface="ＭＳ Ｐゴシック" panose="020B0600070205080204" pitchFamily="34" charset="-128"/>
              </a:rPr>
              <a:t>Notice that the dividend in year five, $5.92, is considerably higher than the sum of the original dividend plus five increases of 40-percent on the original $1.10 dividend:</a:t>
            </a:r>
          </a:p>
          <a:p>
            <a:pPr eaLnBrk="1" hangingPunct="1"/>
            <a:endParaRPr lang="en-US" altLang="en-US" sz="2800">
              <a:latin typeface="Times New Roman" panose="02020603050405020304" pitchFamily="18" charset="0"/>
              <a:ea typeface="ＭＳ Ｐゴシック" panose="020B0600070205080204" pitchFamily="34" charset="-128"/>
            </a:endParaRPr>
          </a:p>
          <a:p>
            <a:pPr algn="ctr" eaLnBrk="1" hangingPunct="1">
              <a:buFont typeface="Wingdings" panose="05000000000000000000" pitchFamily="2" charset="2"/>
              <a:buNone/>
            </a:pP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$5.92 &gt; $1.10</a:t>
            </a:r>
            <a:r>
              <a:rPr lang="en-US" altLang="en-US" sz="2800" i="1">
                <a:latin typeface="Times New Roman" panose="02020603050405020304" pitchFamily="18" charset="0"/>
                <a:ea typeface="ＭＳ Ｐゴシック" panose="020B0600070205080204" pitchFamily="34" charset="-128"/>
                <a:cs typeface="Times New Roman" panose="02020603050405020304" pitchFamily="18" charset="0"/>
              </a:rPr>
              <a:t> + </a:t>
            </a: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5×[$1.10×.40] = $3.30</a:t>
            </a:r>
          </a:p>
          <a:p>
            <a:pPr algn="ctr" eaLnBrk="1" hangingPunct="1">
              <a:buFont typeface="Wingdings" panose="05000000000000000000" pitchFamily="2" charset="2"/>
              <a:buNone/>
            </a:pPr>
            <a:endPar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endParaRPr>
          </a:p>
          <a:p>
            <a:pPr eaLnBrk="1" hangingPunct="1">
              <a:buFont typeface="Wingdings" panose="05000000000000000000" pitchFamily="2" charset="2"/>
              <a:buNone/>
            </a:pP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This is due to </a:t>
            </a:r>
            <a:r>
              <a:rPr lang="en-US" altLang="en-US" sz="2800" i="1">
                <a:latin typeface="Times New Roman" panose="02020603050405020304" pitchFamily="18" charset="0"/>
                <a:ea typeface="ＭＳ Ｐゴシック" panose="020B0600070205080204" pitchFamily="34" charset="-128"/>
                <a:cs typeface="Times New Roman" panose="02020603050405020304" pitchFamily="18" charset="0"/>
              </a:rPr>
              <a:t>compounding</a:t>
            </a: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a:t>
            </a:r>
          </a:p>
        </p:txBody>
      </p:sp>
      <p:sp>
        <p:nvSpPr>
          <p:cNvPr id="29698" name="Rectangle 2">
            <a:extLst>
              <a:ext uri="{FF2B5EF4-FFF2-40B4-BE49-F238E27FC236}">
                <a16:creationId xmlns:a16="http://schemas.microsoft.com/office/drawing/2014/main" id="{CAE4E861-40BA-DC0F-CE8F-CF89E97E04BA}"/>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Future Value and Compounding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0531">
                                            <p:txEl>
                                              <p:pRg st="0" end="0"/>
                                            </p:txEl>
                                          </p:spTgt>
                                        </p:tgtEl>
                                        <p:attrNameLst>
                                          <p:attrName>style.visibility</p:attrName>
                                        </p:attrNameLst>
                                      </p:cBhvr>
                                      <p:to>
                                        <p:strVal val="visible"/>
                                      </p:to>
                                    </p:set>
                                    <p:animEffect transition="in" filter="fade">
                                      <p:cBhvr>
                                        <p:cTn id="7" dur="1000"/>
                                        <p:tgtEl>
                                          <p:spTgt spid="150531">
                                            <p:txEl>
                                              <p:pRg st="0" end="0"/>
                                            </p:txEl>
                                          </p:spTgt>
                                        </p:tgtEl>
                                      </p:cBhvr>
                                    </p:animEffect>
                                    <p:anim calcmode="lin" valueType="num">
                                      <p:cBhvr>
                                        <p:cTn id="8" dur="1000" fill="hold"/>
                                        <p:tgtEl>
                                          <p:spTgt spid="15053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5053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50531">
                                            <p:txEl>
                                              <p:pRg st="2" end="2"/>
                                            </p:txEl>
                                          </p:spTgt>
                                        </p:tgtEl>
                                        <p:attrNameLst>
                                          <p:attrName>style.visibility</p:attrName>
                                        </p:attrNameLst>
                                      </p:cBhvr>
                                      <p:to>
                                        <p:strVal val="visible"/>
                                      </p:to>
                                    </p:set>
                                    <p:animEffect transition="in" filter="fade">
                                      <p:cBhvr>
                                        <p:cTn id="14" dur="1000"/>
                                        <p:tgtEl>
                                          <p:spTgt spid="150531">
                                            <p:txEl>
                                              <p:pRg st="2" end="2"/>
                                            </p:txEl>
                                          </p:spTgt>
                                        </p:tgtEl>
                                      </p:cBhvr>
                                    </p:animEffect>
                                    <p:anim calcmode="lin" valueType="num">
                                      <p:cBhvr>
                                        <p:cTn id="15" dur="1000" fill="hold"/>
                                        <p:tgtEl>
                                          <p:spTgt spid="150531">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5053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50531">
                                            <p:txEl>
                                              <p:pRg st="4" end="4"/>
                                            </p:txEl>
                                          </p:spTgt>
                                        </p:tgtEl>
                                        <p:attrNameLst>
                                          <p:attrName>style.visibility</p:attrName>
                                        </p:attrNameLst>
                                      </p:cBhvr>
                                      <p:to>
                                        <p:strVal val="visible"/>
                                      </p:to>
                                    </p:set>
                                    <p:animEffect transition="in" filter="fade">
                                      <p:cBhvr>
                                        <p:cTn id="21" dur="1000"/>
                                        <p:tgtEl>
                                          <p:spTgt spid="150531">
                                            <p:txEl>
                                              <p:pRg st="4" end="4"/>
                                            </p:txEl>
                                          </p:spTgt>
                                        </p:tgtEl>
                                      </p:cBhvr>
                                    </p:animEffect>
                                    <p:anim calcmode="lin" valueType="num">
                                      <p:cBhvr>
                                        <p:cTn id="22" dur="1000" fill="hold"/>
                                        <p:tgtEl>
                                          <p:spTgt spid="150531">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150531">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1" grpId="0" build="p"/>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C53124A3-F985-A083-E7C2-F768B04FF6A4}"/>
              </a:ext>
            </a:extLst>
          </p:cNvPr>
          <p:cNvSpPr>
            <a:spLocks noGrp="1" noChangeArrowheads="1"/>
          </p:cNvSpPr>
          <p:nvPr>
            <p:ph type="title"/>
          </p:nvPr>
        </p:nvSpPr>
        <p:spPr>
          <a:xfrm>
            <a:off x="1981200" y="152400"/>
            <a:ext cx="8229600" cy="1143000"/>
          </a:xfrm>
        </p:spPr>
        <p:txBody>
          <a:bodyPr/>
          <a:lstStyle/>
          <a:p>
            <a:pPr eaLnBrk="1" fontAlgn="auto" hangingPunct="1">
              <a:spcAft>
                <a:spcPts val="0"/>
              </a:spcAft>
              <a:defRPr/>
            </a:pPr>
            <a:r>
              <a:rPr lang="en-US" altLang="en-US" sz="3400" dirty="0">
                <a:solidFill>
                  <a:schemeClr val="bg2"/>
                </a:solidFill>
                <a:ea typeface="+mj-ea"/>
                <a:cs typeface="+mj-cs"/>
              </a:rPr>
              <a:t>Future Value and Compounding</a:t>
            </a:r>
          </a:p>
        </p:txBody>
      </p:sp>
      <p:grpSp>
        <p:nvGrpSpPr>
          <p:cNvPr id="2" name="Group 62">
            <a:extLst>
              <a:ext uri="{FF2B5EF4-FFF2-40B4-BE49-F238E27FC236}">
                <a16:creationId xmlns:a16="http://schemas.microsoft.com/office/drawing/2014/main" id="{C823A804-0A6B-4736-4676-F79294561073}"/>
              </a:ext>
            </a:extLst>
          </p:cNvPr>
          <p:cNvGrpSpPr>
            <a:grpSpLocks/>
          </p:cNvGrpSpPr>
          <p:nvPr/>
        </p:nvGrpSpPr>
        <p:grpSpPr bwMode="auto">
          <a:xfrm>
            <a:off x="2514600" y="4948238"/>
            <a:ext cx="7143750" cy="1052512"/>
            <a:chOff x="720" y="3369"/>
            <a:chExt cx="4500" cy="663"/>
          </a:xfrm>
        </p:grpSpPr>
        <p:sp>
          <p:nvSpPr>
            <p:cNvPr id="154649" name="Line 5">
              <a:extLst>
                <a:ext uri="{FF2B5EF4-FFF2-40B4-BE49-F238E27FC236}">
                  <a16:creationId xmlns:a16="http://schemas.microsoft.com/office/drawing/2014/main" id="{9A0455F2-9CC8-5418-8049-7CC925048248}"/>
                </a:ext>
              </a:extLst>
            </p:cNvPr>
            <p:cNvSpPr>
              <a:spLocks noChangeShapeType="1"/>
            </p:cNvSpPr>
            <p:nvPr/>
          </p:nvSpPr>
          <p:spPr bwMode="auto">
            <a:xfrm>
              <a:off x="864" y="3513"/>
              <a:ext cx="4272" cy="0"/>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154650" name="Line 6">
              <a:extLst>
                <a:ext uri="{FF2B5EF4-FFF2-40B4-BE49-F238E27FC236}">
                  <a16:creationId xmlns:a16="http://schemas.microsoft.com/office/drawing/2014/main" id="{81CD645D-B198-F0B9-2040-72CAF73EB340}"/>
                </a:ext>
              </a:extLst>
            </p:cNvPr>
            <p:cNvSpPr>
              <a:spLocks noChangeShapeType="1"/>
            </p:cNvSpPr>
            <p:nvPr/>
          </p:nvSpPr>
          <p:spPr bwMode="auto">
            <a:xfrm>
              <a:off x="864" y="3369"/>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154651" name="Line 7">
              <a:extLst>
                <a:ext uri="{FF2B5EF4-FFF2-40B4-BE49-F238E27FC236}">
                  <a16:creationId xmlns:a16="http://schemas.microsoft.com/office/drawing/2014/main" id="{A8BB565C-38B6-B01D-7643-98845B95CFDD}"/>
                </a:ext>
              </a:extLst>
            </p:cNvPr>
            <p:cNvSpPr>
              <a:spLocks noChangeShapeType="1"/>
            </p:cNvSpPr>
            <p:nvPr/>
          </p:nvSpPr>
          <p:spPr bwMode="auto">
            <a:xfrm>
              <a:off x="1718" y="3369"/>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154652" name="Line 8">
              <a:extLst>
                <a:ext uri="{FF2B5EF4-FFF2-40B4-BE49-F238E27FC236}">
                  <a16:creationId xmlns:a16="http://schemas.microsoft.com/office/drawing/2014/main" id="{15D6604E-508C-BD60-6212-EF190DCE53BF}"/>
                </a:ext>
              </a:extLst>
            </p:cNvPr>
            <p:cNvSpPr>
              <a:spLocks noChangeShapeType="1"/>
            </p:cNvSpPr>
            <p:nvPr/>
          </p:nvSpPr>
          <p:spPr bwMode="auto">
            <a:xfrm>
              <a:off x="2572" y="3369"/>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154653" name="Line 11">
              <a:extLst>
                <a:ext uri="{FF2B5EF4-FFF2-40B4-BE49-F238E27FC236}">
                  <a16:creationId xmlns:a16="http://schemas.microsoft.com/office/drawing/2014/main" id="{1013B4BE-23BD-11AD-F698-3FDFB43037C9}"/>
                </a:ext>
              </a:extLst>
            </p:cNvPr>
            <p:cNvSpPr>
              <a:spLocks noChangeShapeType="1"/>
            </p:cNvSpPr>
            <p:nvPr/>
          </p:nvSpPr>
          <p:spPr bwMode="auto">
            <a:xfrm>
              <a:off x="3427" y="3369"/>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154654" name="Line 12">
              <a:extLst>
                <a:ext uri="{FF2B5EF4-FFF2-40B4-BE49-F238E27FC236}">
                  <a16:creationId xmlns:a16="http://schemas.microsoft.com/office/drawing/2014/main" id="{8D03EE97-22C3-4189-5FA0-8E5B73502D4B}"/>
                </a:ext>
              </a:extLst>
            </p:cNvPr>
            <p:cNvSpPr>
              <a:spLocks noChangeShapeType="1"/>
            </p:cNvSpPr>
            <p:nvPr/>
          </p:nvSpPr>
          <p:spPr bwMode="auto">
            <a:xfrm>
              <a:off x="4281" y="3369"/>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154655" name="Line 28">
              <a:extLst>
                <a:ext uri="{FF2B5EF4-FFF2-40B4-BE49-F238E27FC236}">
                  <a16:creationId xmlns:a16="http://schemas.microsoft.com/office/drawing/2014/main" id="{22075D9C-76F1-CBCC-120C-4D2B46FCF124}"/>
                </a:ext>
              </a:extLst>
            </p:cNvPr>
            <p:cNvSpPr>
              <a:spLocks noChangeShapeType="1"/>
            </p:cNvSpPr>
            <p:nvPr/>
          </p:nvSpPr>
          <p:spPr bwMode="auto">
            <a:xfrm>
              <a:off x="5136" y="3369"/>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154656" name="Rectangle 29">
              <a:extLst>
                <a:ext uri="{FF2B5EF4-FFF2-40B4-BE49-F238E27FC236}">
                  <a16:creationId xmlns:a16="http://schemas.microsoft.com/office/drawing/2014/main" id="{5F2A7F18-CB9E-76D6-6ED1-A4F76FFC935C}"/>
                </a:ext>
              </a:extLst>
            </p:cNvPr>
            <p:cNvSpPr>
              <a:spLocks noChangeArrowheads="1"/>
            </p:cNvSpPr>
            <p:nvPr/>
          </p:nvSpPr>
          <p:spPr bwMode="auto">
            <a:xfrm>
              <a:off x="720" y="3705"/>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0</a:t>
              </a:r>
            </a:p>
          </p:txBody>
        </p:sp>
        <p:sp>
          <p:nvSpPr>
            <p:cNvPr id="154657" name="Rectangle 30">
              <a:extLst>
                <a:ext uri="{FF2B5EF4-FFF2-40B4-BE49-F238E27FC236}">
                  <a16:creationId xmlns:a16="http://schemas.microsoft.com/office/drawing/2014/main" id="{50FB1ED0-BBBE-2D18-572B-D677DF675A38}"/>
                </a:ext>
              </a:extLst>
            </p:cNvPr>
            <p:cNvSpPr>
              <a:spLocks noChangeArrowheads="1"/>
            </p:cNvSpPr>
            <p:nvPr/>
          </p:nvSpPr>
          <p:spPr bwMode="auto">
            <a:xfrm>
              <a:off x="1574" y="3705"/>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1</a:t>
              </a:r>
            </a:p>
          </p:txBody>
        </p:sp>
        <p:sp>
          <p:nvSpPr>
            <p:cNvPr id="154658" name="Rectangle 31">
              <a:extLst>
                <a:ext uri="{FF2B5EF4-FFF2-40B4-BE49-F238E27FC236}">
                  <a16:creationId xmlns:a16="http://schemas.microsoft.com/office/drawing/2014/main" id="{EA82F2FA-8E3D-92E8-AF9B-1A88670FE198}"/>
                </a:ext>
              </a:extLst>
            </p:cNvPr>
            <p:cNvSpPr>
              <a:spLocks noChangeArrowheads="1"/>
            </p:cNvSpPr>
            <p:nvPr/>
          </p:nvSpPr>
          <p:spPr bwMode="auto">
            <a:xfrm>
              <a:off x="2428" y="3705"/>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2</a:t>
              </a:r>
            </a:p>
          </p:txBody>
        </p:sp>
        <p:sp>
          <p:nvSpPr>
            <p:cNvPr id="154659" name="Rectangle 32">
              <a:extLst>
                <a:ext uri="{FF2B5EF4-FFF2-40B4-BE49-F238E27FC236}">
                  <a16:creationId xmlns:a16="http://schemas.microsoft.com/office/drawing/2014/main" id="{1F705A89-4FF7-D191-36A1-C70F4C417CCD}"/>
                </a:ext>
              </a:extLst>
            </p:cNvPr>
            <p:cNvSpPr>
              <a:spLocks noChangeArrowheads="1"/>
            </p:cNvSpPr>
            <p:nvPr/>
          </p:nvSpPr>
          <p:spPr bwMode="auto">
            <a:xfrm>
              <a:off x="3283" y="3705"/>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3</a:t>
              </a:r>
            </a:p>
          </p:txBody>
        </p:sp>
        <p:sp>
          <p:nvSpPr>
            <p:cNvPr id="154660" name="Rectangle 33">
              <a:extLst>
                <a:ext uri="{FF2B5EF4-FFF2-40B4-BE49-F238E27FC236}">
                  <a16:creationId xmlns:a16="http://schemas.microsoft.com/office/drawing/2014/main" id="{DECD5FF3-EC8A-3014-7FD0-70C2B5E1BB5E}"/>
                </a:ext>
              </a:extLst>
            </p:cNvPr>
            <p:cNvSpPr>
              <a:spLocks noChangeArrowheads="1"/>
            </p:cNvSpPr>
            <p:nvPr/>
          </p:nvSpPr>
          <p:spPr bwMode="auto">
            <a:xfrm>
              <a:off x="4137" y="3705"/>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4</a:t>
              </a:r>
            </a:p>
          </p:txBody>
        </p:sp>
        <p:sp>
          <p:nvSpPr>
            <p:cNvPr id="154661" name="Rectangle 34">
              <a:extLst>
                <a:ext uri="{FF2B5EF4-FFF2-40B4-BE49-F238E27FC236}">
                  <a16:creationId xmlns:a16="http://schemas.microsoft.com/office/drawing/2014/main" id="{62153B51-0B19-ED78-2B32-E792835D8438}"/>
                </a:ext>
              </a:extLst>
            </p:cNvPr>
            <p:cNvSpPr>
              <a:spLocks noChangeArrowheads="1"/>
            </p:cNvSpPr>
            <p:nvPr/>
          </p:nvSpPr>
          <p:spPr bwMode="auto">
            <a:xfrm>
              <a:off x="4992" y="3705"/>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5</a:t>
              </a:r>
            </a:p>
          </p:txBody>
        </p:sp>
      </p:grpSp>
      <p:graphicFrame>
        <p:nvGraphicFramePr>
          <p:cNvPr id="151587" name="Object 35">
            <a:extLst>
              <a:ext uri="{FF2B5EF4-FFF2-40B4-BE49-F238E27FC236}">
                <a16:creationId xmlns:a16="http://schemas.microsoft.com/office/drawing/2014/main" id="{F059E09D-33F0-3B1A-E83E-FC978BF0309C}"/>
              </a:ext>
            </a:extLst>
          </p:cNvPr>
          <p:cNvGraphicFramePr>
            <a:graphicFrameLocks noChangeAspect="1"/>
          </p:cNvGraphicFramePr>
          <p:nvPr/>
        </p:nvGraphicFramePr>
        <p:xfrm>
          <a:off x="2286000" y="4343400"/>
          <a:ext cx="941388" cy="438150"/>
        </p:xfrm>
        <a:graphic>
          <a:graphicData uri="http://schemas.openxmlformats.org/presentationml/2006/ole">
            <mc:AlternateContent xmlns:mc="http://schemas.openxmlformats.org/markup-compatibility/2006">
              <mc:Choice xmlns:v="urn:schemas-microsoft-com:vml" Requires="v">
                <p:oleObj name="Equation" r:id="rId3" imgW="288482" imgH="92422" progId="Equation.3">
                  <p:embed/>
                </p:oleObj>
              </mc:Choice>
              <mc:Fallback>
                <p:oleObj name="Equation" r:id="rId3" imgW="288482" imgH="92422" progId="Equation.3">
                  <p:embed/>
                  <p:pic>
                    <p:nvPicPr>
                      <p:cNvPr id="151587" name="Object 35">
                        <a:extLst>
                          <a:ext uri="{FF2B5EF4-FFF2-40B4-BE49-F238E27FC236}">
                            <a16:creationId xmlns:a16="http://schemas.microsoft.com/office/drawing/2014/main" id="{F059E09D-33F0-3B1A-E83E-FC978BF030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4343400"/>
                        <a:ext cx="941388"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63">
            <a:extLst>
              <a:ext uri="{FF2B5EF4-FFF2-40B4-BE49-F238E27FC236}">
                <a16:creationId xmlns:a16="http://schemas.microsoft.com/office/drawing/2014/main" id="{51B0FA25-A9A9-AA6D-3FDB-A6D43EEC6E73}"/>
              </a:ext>
            </a:extLst>
          </p:cNvPr>
          <p:cNvGrpSpPr>
            <a:grpSpLocks/>
          </p:cNvGrpSpPr>
          <p:nvPr/>
        </p:nvGrpSpPr>
        <p:grpSpPr bwMode="auto">
          <a:xfrm>
            <a:off x="3352800" y="2311400"/>
            <a:ext cx="3913188" cy="2451100"/>
            <a:chOff x="1248" y="1708"/>
            <a:chExt cx="2465" cy="1544"/>
          </a:xfrm>
        </p:grpSpPr>
        <p:graphicFrame>
          <p:nvGraphicFramePr>
            <p:cNvPr id="154646" name="Object 38">
              <a:extLst>
                <a:ext uri="{FF2B5EF4-FFF2-40B4-BE49-F238E27FC236}">
                  <a16:creationId xmlns:a16="http://schemas.microsoft.com/office/drawing/2014/main" id="{DE54EC39-9193-98A2-599B-D36534DC5D47}"/>
                </a:ext>
              </a:extLst>
            </p:cNvPr>
            <p:cNvGraphicFramePr>
              <a:graphicFrameLocks noChangeAspect="1"/>
            </p:cNvGraphicFramePr>
            <p:nvPr/>
          </p:nvGraphicFramePr>
          <p:xfrm>
            <a:off x="1248" y="1708"/>
            <a:ext cx="1404" cy="356"/>
          </p:xfrm>
          <a:graphic>
            <a:graphicData uri="http://schemas.openxmlformats.org/presentationml/2006/ole">
              <mc:AlternateContent xmlns:mc="http://schemas.openxmlformats.org/markup-compatibility/2006">
                <mc:Choice xmlns:v="urn:schemas-microsoft-com:vml" Requires="v">
                  <p:oleObj name="Equation" r:id="rId5" imgW="805585" imgH="135914" progId="Equation.3">
                    <p:embed/>
                  </p:oleObj>
                </mc:Choice>
                <mc:Fallback>
                  <p:oleObj name="Equation" r:id="rId5" imgW="805585" imgH="135914" progId="Equation.3">
                    <p:embed/>
                    <p:pic>
                      <p:nvPicPr>
                        <p:cNvPr id="154646" name="Object 38">
                          <a:extLst>
                            <a:ext uri="{FF2B5EF4-FFF2-40B4-BE49-F238E27FC236}">
                              <a16:creationId xmlns:a16="http://schemas.microsoft.com/office/drawing/2014/main" id="{DE54EC39-9193-98A2-599B-D36534DC5D4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48" y="1708"/>
                          <a:ext cx="1404" cy="3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4647" name="Object 39">
              <a:extLst>
                <a:ext uri="{FF2B5EF4-FFF2-40B4-BE49-F238E27FC236}">
                  <a16:creationId xmlns:a16="http://schemas.microsoft.com/office/drawing/2014/main" id="{3B20B112-ED10-C826-527A-C05B51865A81}"/>
                </a:ext>
              </a:extLst>
            </p:cNvPr>
            <p:cNvGraphicFramePr>
              <a:graphicFrameLocks noChangeAspect="1"/>
            </p:cNvGraphicFramePr>
            <p:nvPr/>
          </p:nvGraphicFramePr>
          <p:xfrm>
            <a:off x="3120" y="2976"/>
            <a:ext cx="593" cy="276"/>
          </p:xfrm>
          <a:graphic>
            <a:graphicData uri="http://schemas.openxmlformats.org/presentationml/2006/ole">
              <mc:AlternateContent xmlns:mc="http://schemas.openxmlformats.org/markup-compatibility/2006">
                <mc:Choice xmlns:v="urn:schemas-microsoft-com:vml" Requires="v">
                  <p:oleObj name="Equation" r:id="rId7" imgW="288482" imgH="92422" progId="Equation.3">
                    <p:embed/>
                  </p:oleObj>
                </mc:Choice>
                <mc:Fallback>
                  <p:oleObj name="Equation" r:id="rId7" imgW="288482" imgH="92422" progId="Equation.3">
                    <p:embed/>
                    <p:pic>
                      <p:nvPicPr>
                        <p:cNvPr id="154647" name="Object 39">
                          <a:extLst>
                            <a:ext uri="{FF2B5EF4-FFF2-40B4-BE49-F238E27FC236}">
                              <a16:creationId xmlns:a16="http://schemas.microsoft.com/office/drawing/2014/main" id="{3B20B112-ED10-C826-527A-C05B51865A8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20" y="2976"/>
                          <a:ext cx="593"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4648" name="Arc 41">
              <a:extLst>
                <a:ext uri="{FF2B5EF4-FFF2-40B4-BE49-F238E27FC236}">
                  <a16:creationId xmlns:a16="http://schemas.microsoft.com/office/drawing/2014/main" id="{266F8697-78DD-2151-CD01-23D80048D6B9}"/>
                </a:ext>
              </a:extLst>
            </p:cNvPr>
            <p:cNvSpPr>
              <a:spLocks/>
            </p:cNvSpPr>
            <p:nvPr/>
          </p:nvSpPr>
          <p:spPr bwMode="auto">
            <a:xfrm>
              <a:off x="2592" y="1920"/>
              <a:ext cx="923" cy="1008"/>
            </a:xfrm>
            <a:custGeom>
              <a:avLst/>
              <a:gdLst>
                <a:gd name="T0" fmla="*/ 0 w 21600"/>
                <a:gd name="T1" fmla="*/ 0 h 23278"/>
                <a:gd name="T2" fmla="*/ 0 w 21600"/>
                <a:gd name="T3" fmla="*/ 0 h 23278"/>
                <a:gd name="T4" fmla="*/ 0 w 21600"/>
                <a:gd name="T5" fmla="*/ 0 h 23278"/>
                <a:gd name="T6" fmla="*/ 0 60000 65536"/>
                <a:gd name="T7" fmla="*/ 0 60000 65536"/>
                <a:gd name="T8" fmla="*/ 0 60000 65536"/>
                <a:gd name="T9" fmla="*/ 0 w 21600"/>
                <a:gd name="T10" fmla="*/ 0 h 23278"/>
                <a:gd name="T11" fmla="*/ 21600 w 21600"/>
                <a:gd name="T12" fmla="*/ 23278 h 23278"/>
              </a:gdLst>
              <a:ahLst/>
              <a:cxnLst>
                <a:cxn ang="T6">
                  <a:pos x="T0" y="T1"/>
                </a:cxn>
                <a:cxn ang="T7">
                  <a:pos x="T2" y="T3"/>
                </a:cxn>
                <a:cxn ang="T8">
                  <a:pos x="T4" y="T5"/>
                </a:cxn>
              </a:cxnLst>
              <a:rect l="T9" t="T10" r="T11" b="T12"/>
              <a:pathLst>
                <a:path w="21600" h="23278" fill="none" extrusionOk="0">
                  <a:moveTo>
                    <a:pt x="905" y="0"/>
                  </a:moveTo>
                  <a:cubicBezTo>
                    <a:pt x="12472" y="485"/>
                    <a:pt x="21600" y="10004"/>
                    <a:pt x="21600" y="21581"/>
                  </a:cubicBezTo>
                  <a:cubicBezTo>
                    <a:pt x="21600" y="22147"/>
                    <a:pt x="21577" y="22713"/>
                    <a:pt x="21533" y="23278"/>
                  </a:cubicBezTo>
                </a:path>
                <a:path w="21600" h="23278" stroke="0" extrusionOk="0">
                  <a:moveTo>
                    <a:pt x="905" y="0"/>
                  </a:moveTo>
                  <a:cubicBezTo>
                    <a:pt x="12472" y="485"/>
                    <a:pt x="21600" y="10004"/>
                    <a:pt x="21600" y="21581"/>
                  </a:cubicBezTo>
                  <a:cubicBezTo>
                    <a:pt x="21600" y="22147"/>
                    <a:pt x="21577" y="22713"/>
                    <a:pt x="21533" y="23278"/>
                  </a:cubicBezTo>
                  <a:lnTo>
                    <a:pt x="0" y="21581"/>
                  </a:lnTo>
                  <a:lnTo>
                    <a:pt x="905" y="0"/>
                  </a:lnTo>
                  <a:close/>
                </a:path>
              </a:pathLst>
            </a:custGeom>
            <a:noFill/>
            <a:ln w="38100" cap="sq">
              <a:solidFill>
                <a:srgbClr val="644A1A"/>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grpSp>
      <p:grpSp>
        <p:nvGrpSpPr>
          <p:cNvPr id="4" name="Group 46">
            <a:extLst>
              <a:ext uri="{FF2B5EF4-FFF2-40B4-BE49-F238E27FC236}">
                <a16:creationId xmlns:a16="http://schemas.microsoft.com/office/drawing/2014/main" id="{FB2F25F8-28A6-D90B-02DB-2017BDD6AB51}"/>
              </a:ext>
            </a:extLst>
          </p:cNvPr>
          <p:cNvGrpSpPr>
            <a:grpSpLocks/>
          </p:cNvGrpSpPr>
          <p:nvPr/>
        </p:nvGrpSpPr>
        <p:grpSpPr bwMode="auto">
          <a:xfrm>
            <a:off x="2286000" y="3495676"/>
            <a:ext cx="2312988" cy="1285875"/>
            <a:chOff x="3072" y="1527"/>
            <a:chExt cx="1457" cy="810"/>
          </a:xfrm>
        </p:grpSpPr>
        <p:graphicFrame>
          <p:nvGraphicFramePr>
            <p:cNvPr id="154643" name="Object 43">
              <a:extLst>
                <a:ext uri="{FF2B5EF4-FFF2-40B4-BE49-F238E27FC236}">
                  <a16:creationId xmlns:a16="http://schemas.microsoft.com/office/drawing/2014/main" id="{CF423D71-B22C-31D3-B608-4AE0891BD535}"/>
                </a:ext>
              </a:extLst>
            </p:cNvPr>
            <p:cNvGraphicFramePr>
              <a:graphicFrameLocks noChangeAspect="1"/>
            </p:cNvGraphicFramePr>
            <p:nvPr/>
          </p:nvGraphicFramePr>
          <p:xfrm>
            <a:off x="3072" y="1527"/>
            <a:ext cx="1345" cy="316"/>
          </p:xfrm>
          <a:graphic>
            <a:graphicData uri="http://schemas.openxmlformats.org/presentationml/2006/ole">
              <mc:AlternateContent xmlns:mc="http://schemas.openxmlformats.org/markup-compatibility/2006">
                <mc:Choice xmlns:v="urn:schemas-microsoft-com:vml" Requires="v">
                  <p:oleObj name="Equation" r:id="rId9" imgW="778191" imgH="108731" progId="Equation.3">
                    <p:embed/>
                  </p:oleObj>
                </mc:Choice>
                <mc:Fallback>
                  <p:oleObj name="Equation" r:id="rId9" imgW="778191" imgH="108731" progId="Equation.3">
                    <p:embed/>
                    <p:pic>
                      <p:nvPicPr>
                        <p:cNvPr id="154643" name="Object 43">
                          <a:extLst>
                            <a:ext uri="{FF2B5EF4-FFF2-40B4-BE49-F238E27FC236}">
                              <a16:creationId xmlns:a16="http://schemas.microsoft.com/office/drawing/2014/main" id="{CF423D71-B22C-31D3-B608-4AE0891BD53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72" y="1527"/>
                          <a:ext cx="1345" cy="3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4644" name="Object 44">
              <a:extLst>
                <a:ext uri="{FF2B5EF4-FFF2-40B4-BE49-F238E27FC236}">
                  <a16:creationId xmlns:a16="http://schemas.microsoft.com/office/drawing/2014/main" id="{A8FB281D-0519-8C6C-C9D3-13AB6820FCCC}"/>
                </a:ext>
              </a:extLst>
            </p:cNvPr>
            <p:cNvGraphicFramePr>
              <a:graphicFrameLocks noChangeAspect="1"/>
            </p:cNvGraphicFramePr>
            <p:nvPr/>
          </p:nvGraphicFramePr>
          <p:xfrm>
            <a:off x="3936" y="2061"/>
            <a:ext cx="593" cy="276"/>
          </p:xfrm>
          <a:graphic>
            <a:graphicData uri="http://schemas.openxmlformats.org/presentationml/2006/ole">
              <mc:AlternateContent xmlns:mc="http://schemas.openxmlformats.org/markup-compatibility/2006">
                <mc:Choice xmlns:v="urn:schemas-microsoft-com:vml" Requires="v">
                  <p:oleObj name="Equation" r:id="rId11" imgW="288482" imgH="92422" progId="Equation.3">
                    <p:embed/>
                  </p:oleObj>
                </mc:Choice>
                <mc:Fallback>
                  <p:oleObj name="Equation" r:id="rId11" imgW="288482" imgH="92422" progId="Equation.3">
                    <p:embed/>
                    <p:pic>
                      <p:nvPicPr>
                        <p:cNvPr id="154644" name="Object 44">
                          <a:extLst>
                            <a:ext uri="{FF2B5EF4-FFF2-40B4-BE49-F238E27FC236}">
                              <a16:creationId xmlns:a16="http://schemas.microsoft.com/office/drawing/2014/main" id="{A8FB281D-0519-8C6C-C9D3-13AB6820FCC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36" y="2061"/>
                          <a:ext cx="593"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4645" name="Arc 45">
              <a:extLst>
                <a:ext uri="{FF2B5EF4-FFF2-40B4-BE49-F238E27FC236}">
                  <a16:creationId xmlns:a16="http://schemas.microsoft.com/office/drawing/2014/main" id="{5BDD94F3-7716-FA14-D36A-C7BCC129CBF3}"/>
                </a:ext>
              </a:extLst>
            </p:cNvPr>
            <p:cNvSpPr>
              <a:spLocks/>
            </p:cNvSpPr>
            <p:nvPr/>
          </p:nvSpPr>
          <p:spPr bwMode="auto">
            <a:xfrm>
              <a:off x="3936" y="1789"/>
              <a:ext cx="384" cy="267"/>
            </a:xfrm>
            <a:custGeom>
              <a:avLst/>
              <a:gdLst>
                <a:gd name="T0" fmla="*/ 0 w 21600"/>
                <a:gd name="T1" fmla="*/ 0 h 14998"/>
                <a:gd name="T2" fmla="*/ 0 w 21600"/>
                <a:gd name="T3" fmla="*/ 0 h 14998"/>
                <a:gd name="T4" fmla="*/ 0 w 21600"/>
                <a:gd name="T5" fmla="*/ 0 h 14998"/>
                <a:gd name="T6" fmla="*/ 0 60000 65536"/>
                <a:gd name="T7" fmla="*/ 0 60000 65536"/>
                <a:gd name="T8" fmla="*/ 0 60000 65536"/>
                <a:gd name="T9" fmla="*/ 0 w 21600"/>
                <a:gd name="T10" fmla="*/ 0 h 14998"/>
                <a:gd name="T11" fmla="*/ 21600 w 21600"/>
                <a:gd name="T12" fmla="*/ 14998 h 14998"/>
              </a:gdLst>
              <a:ahLst/>
              <a:cxnLst>
                <a:cxn ang="T6">
                  <a:pos x="T0" y="T1"/>
                </a:cxn>
                <a:cxn ang="T7">
                  <a:pos x="T2" y="T3"/>
                </a:cxn>
                <a:cxn ang="T8">
                  <a:pos x="T4" y="T5"/>
                </a:cxn>
              </a:cxnLst>
              <a:rect l="T9" t="T10" r="T11" b="T12"/>
              <a:pathLst>
                <a:path w="21600" h="14998" fill="none" extrusionOk="0">
                  <a:moveTo>
                    <a:pt x="15544" y="-1"/>
                  </a:moveTo>
                  <a:cubicBezTo>
                    <a:pt x="19428" y="4026"/>
                    <a:pt x="21600" y="9402"/>
                    <a:pt x="21600" y="14998"/>
                  </a:cubicBezTo>
                </a:path>
                <a:path w="21600" h="14998" stroke="0" extrusionOk="0">
                  <a:moveTo>
                    <a:pt x="15544" y="-1"/>
                  </a:moveTo>
                  <a:cubicBezTo>
                    <a:pt x="19428" y="4026"/>
                    <a:pt x="21600" y="9402"/>
                    <a:pt x="21600" y="14998"/>
                  </a:cubicBezTo>
                  <a:lnTo>
                    <a:pt x="0" y="14998"/>
                  </a:lnTo>
                  <a:lnTo>
                    <a:pt x="15544" y="-1"/>
                  </a:lnTo>
                  <a:close/>
                </a:path>
              </a:pathLst>
            </a:custGeom>
            <a:noFill/>
            <a:ln w="38100" cap="sq">
              <a:solidFill>
                <a:srgbClr val="644A1A"/>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grpSp>
      <p:grpSp>
        <p:nvGrpSpPr>
          <p:cNvPr id="5" name="Group 56">
            <a:extLst>
              <a:ext uri="{FF2B5EF4-FFF2-40B4-BE49-F238E27FC236}">
                <a16:creationId xmlns:a16="http://schemas.microsoft.com/office/drawing/2014/main" id="{F3AF03BF-54D7-6F43-D26D-8A5417C91959}"/>
              </a:ext>
            </a:extLst>
          </p:cNvPr>
          <p:cNvGrpSpPr>
            <a:grpSpLocks/>
          </p:cNvGrpSpPr>
          <p:nvPr/>
        </p:nvGrpSpPr>
        <p:grpSpPr bwMode="auto">
          <a:xfrm>
            <a:off x="2590800" y="2876550"/>
            <a:ext cx="3429000" cy="1905000"/>
            <a:chOff x="912" y="2076"/>
            <a:chExt cx="2124" cy="1188"/>
          </a:xfrm>
        </p:grpSpPr>
        <p:graphicFrame>
          <p:nvGraphicFramePr>
            <p:cNvPr id="154640" name="Object 49">
              <a:extLst>
                <a:ext uri="{FF2B5EF4-FFF2-40B4-BE49-F238E27FC236}">
                  <a16:creationId xmlns:a16="http://schemas.microsoft.com/office/drawing/2014/main" id="{1020BD2D-8537-FC81-64DC-19B6E9AC8793}"/>
                </a:ext>
              </a:extLst>
            </p:cNvPr>
            <p:cNvGraphicFramePr>
              <a:graphicFrameLocks noChangeAspect="1"/>
            </p:cNvGraphicFramePr>
            <p:nvPr/>
          </p:nvGraphicFramePr>
          <p:xfrm>
            <a:off x="912" y="2076"/>
            <a:ext cx="1424" cy="356"/>
          </p:xfrm>
          <a:graphic>
            <a:graphicData uri="http://schemas.openxmlformats.org/presentationml/2006/ole">
              <mc:AlternateContent xmlns:mc="http://schemas.openxmlformats.org/markup-compatibility/2006">
                <mc:Choice xmlns:v="urn:schemas-microsoft-com:vml" Requires="v">
                  <p:oleObj name="Equation" r:id="rId13" imgW="821819" imgH="135914" progId="Equation.3">
                    <p:embed/>
                  </p:oleObj>
                </mc:Choice>
                <mc:Fallback>
                  <p:oleObj name="Equation" r:id="rId13" imgW="821819" imgH="135914" progId="Equation.3">
                    <p:embed/>
                    <p:pic>
                      <p:nvPicPr>
                        <p:cNvPr id="154640" name="Object 49">
                          <a:extLst>
                            <a:ext uri="{FF2B5EF4-FFF2-40B4-BE49-F238E27FC236}">
                              <a16:creationId xmlns:a16="http://schemas.microsoft.com/office/drawing/2014/main" id="{1020BD2D-8537-FC81-64DC-19B6E9AC879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12" y="2076"/>
                          <a:ext cx="1424" cy="3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4641" name="Object 50">
              <a:extLst>
                <a:ext uri="{FF2B5EF4-FFF2-40B4-BE49-F238E27FC236}">
                  <a16:creationId xmlns:a16="http://schemas.microsoft.com/office/drawing/2014/main" id="{59B27DAA-881A-BF85-8573-B9DDF2131B36}"/>
                </a:ext>
              </a:extLst>
            </p:cNvPr>
            <p:cNvGraphicFramePr>
              <a:graphicFrameLocks noChangeAspect="1"/>
            </p:cNvGraphicFramePr>
            <p:nvPr/>
          </p:nvGraphicFramePr>
          <p:xfrm>
            <a:off x="2324" y="2988"/>
            <a:ext cx="712" cy="276"/>
          </p:xfrm>
          <a:graphic>
            <a:graphicData uri="http://schemas.openxmlformats.org/presentationml/2006/ole">
              <mc:AlternateContent xmlns:mc="http://schemas.openxmlformats.org/markup-compatibility/2006">
                <mc:Choice xmlns:v="urn:schemas-microsoft-com:vml" Requires="v">
                  <p:oleObj name="Equation" r:id="rId15" imgW="288482" imgH="92422" progId="Equation.3">
                    <p:embed/>
                  </p:oleObj>
                </mc:Choice>
                <mc:Fallback>
                  <p:oleObj name="Equation" r:id="rId15" imgW="288482" imgH="92422" progId="Equation.3">
                    <p:embed/>
                    <p:pic>
                      <p:nvPicPr>
                        <p:cNvPr id="154641" name="Object 50">
                          <a:extLst>
                            <a:ext uri="{FF2B5EF4-FFF2-40B4-BE49-F238E27FC236}">
                              <a16:creationId xmlns:a16="http://schemas.microsoft.com/office/drawing/2014/main" id="{59B27DAA-881A-BF85-8573-B9DDF2131B3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324" y="2988"/>
                          <a:ext cx="712"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4642" name="Arc 51">
              <a:extLst>
                <a:ext uri="{FF2B5EF4-FFF2-40B4-BE49-F238E27FC236}">
                  <a16:creationId xmlns:a16="http://schemas.microsoft.com/office/drawing/2014/main" id="{B1B695B2-E45B-58FA-9B50-487E66A424C5}"/>
                </a:ext>
              </a:extLst>
            </p:cNvPr>
            <p:cNvSpPr>
              <a:spLocks/>
            </p:cNvSpPr>
            <p:nvPr/>
          </p:nvSpPr>
          <p:spPr bwMode="auto">
            <a:xfrm>
              <a:off x="2352" y="2316"/>
              <a:ext cx="384" cy="604"/>
            </a:xfrm>
            <a:custGeom>
              <a:avLst/>
              <a:gdLst>
                <a:gd name="T0" fmla="*/ 0 w 21600"/>
                <a:gd name="T1" fmla="*/ 0 h 21579"/>
                <a:gd name="T2" fmla="*/ 0 w 21600"/>
                <a:gd name="T3" fmla="*/ 0 h 21579"/>
                <a:gd name="T4" fmla="*/ 0 w 21600"/>
                <a:gd name="T5" fmla="*/ 0 h 21579"/>
                <a:gd name="T6" fmla="*/ 0 60000 65536"/>
                <a:gd name="T7" fmla="*/ 0 60000 65536"/>
                <a:gd name="T8" fmla="*/ 0 60000 65536"/>
                <a:gd name="T9" fmla="*/ 0 w 21600"/>
                <a:gd name="T10" fmla="*/ 0 h 21579"/>
                <a:gd name="T11" fmla="*/ 21600 w 21600"/>
                <a:gd name="T12" fmla="*/ 21579 h 21579"/>
              </a:gdLst>
              <a:ahLst/>
              <a:cxnLst>
                <a:cxn ang="T6">
                  <a:pos x="T0" y="T1"/>
                </a:cxn>
                <a:cxn ang="T7">
                  <a:pos x="T2" y="T3"/>
                </a:cxn>
                <a:cxn ang="T8">
                  <a:pos x="T4" y="T5"/>
                </a:cxn>
              </a:cxnLst>
              <a:rect l="T9" t="T10" r="T11" b="T12"/>
              <a:pathLst>
                <a:path w="21600" h="21579" fill="none" extrusionOk="0">
                  <a:moveTo>
                    <a:pt x="959" y="0"/>
                  </a:moveTo>
                  <a:cubicBezTo>
                    <a:pt x="12504" y="513"/>
                    <a:pt x="21600" y="10022"/>
                    <a:pt x="21600" y="21579"/>
                  </a:cubicBezTo>
                </a:path>
                <a:path w="21600" h="21579" stroke="0" extrusionOk="0">
                  <a:moveTo>
                    <a:pt x="959" y="0"/>
                  </a:moveTo>
                  <a:cubicBezTo>
                    <a:pt x="12504" y="513"/>
                    <a:pt x="21600" y="10022"/>
                    <a:pt x="21600" y="21579"/>
                  </a:cubicBezTo>
                  <a:lnTo>
                    <a:pt x="0" y="21579"/>
                  </a:lnTo>
                  <a:lnTo>
                    <a:pt x="959" y="0"/>
                  </a:lnTo>
                  <a:close/>
                </a:path>
              </a:pathLst>
            </a:custGeom>
            <a:noFill/>
            <a:ln w="38100" cap="sq">
              <a:solidFill>
                <a:srgbClr val="644A1A"/>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grpSp>
      <p:grpSp>
        <p:nvGrpSpPr>
          <p:cNvPr id="6" name="Group 61">
            <a:extLst>
              <a:ext uri="{FF2B5EF4-FFF2-40B4-BE49-F238E27FC236}">
                <a16:creationId xmlns:a16="http://schemas.microsoft.com/office/drawing/2014/main" id="{5363445C-A3BE-E55B-7251-F38387F2E919}"/>
              </a:ext>
            </a:extLst>
          </p:cNvPr>
          <p:cNvGrpSpPr>
            <a:grpSpLocks/>
          </p:cNvGrpSpPr>
          <p:nvPr/>
        </p:nvGrpSpPr>
        <p:grpSpPr bwMode="auto">
          <a:xfrm>
            <a:off x="5181600" y="1123950"/>
            <a:ext cx="4827588" cy="3657600"/>
            <a:chOff x="2400" y="960"/>
            <a:chExt cx="3041" cy="2304"/>
          </a:xfrm>
        </p:grpSpPr>
        <p:graphicFrame>
          <p:nvGraphicFramePr>
            <p:cNvPr id="154637" name="Object 52">
              <a:extLst>
                <a:ext uri="{FF2B5EF4-FFF2-40B4-BE49-F238E27FC236}">
                  <a16:creationId xmlns:a16="http://schemas.microsoft.com/office/drawing/2014/main" id="{E7B08E29-015C-F462-01A3-2B5B67F81AD9}"/>
                </a:ext>
              </a:extLst>
            </p:cNvPr>
            <p:cNvGraphicFramePr>
              <a:graphicFrameLocks noChangeAspect="1"/>
            </p:cNvGraphicFramePr>
            <p:nvPr/>
          </p:nvGraphicFramePr>
          <p:xfrm>
            <a:off x="2400" y="960"/>
            <a:ext cx="1424" cy="356"/>
          </p:xfrm>
          <a:graphic>
            <a:graphicData uri="http://schemas.openxmlformats.org/presentationml/2006/ole">
              <mc:AlternateContent xmlns:mc="http://schemas.openxmlformats.org/markup-compatibility/2006">
                <mc:Choice xmlns:v="urn:schemas-microsoft-com:vml" Requires="v">
                  <p:oleObj name="Equation" r:id="rId17" imgW="821819" imgH="135914" progId="Equation.3">
                    <p:embed/>
                  </p:oleObj>
                </mc:Choice>
                <mc:Fallback>
                  <p:oleObj name="Equation" r:id="rId17" imgW="821819" imgH="135914" progId="Equation.3">
                    <p:embed/>
                    <p:pic>
                      <p:nvPicPr>
                        <p:cNvPr id="154637" name="Object 52">
                          <a:extLst>
                            <a:ext uri="{FF2B5EF4-FFF2-40B4-BE49-F238E27FC236}">
                              <a16:creationId xmlns:a16="http://schemas.microsoft.com/office/drawing/2014/main" id="{E7B08E29-015C-F462-01A3-2B5B67F81AD9}"/>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400" y="960"/>
                          <a:ext cx="1424" cy="3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4638" name="Object 53">
              <a:extLst>
                <a:ext uri="{FF2B5EF4-FFF2-40B4-BE49-F238E27FC236}">
                  <a16:creationId xmlns:a16="http://schemas.microsoft.com/office/drawing/2014/main" id="{6B947C26-1475-63F0-21BB-B7381CB3C866}"/>
                </a:ext>
              </a:extLst>
            </p:cNvPr>
            <p:cNvGraphicFramePr>
              <a:graphicFrameLocks noChangeAspect="1"/>
            </p:cNvGraphicFramePr>
            <p:nvPr/>
          </p:nvGraphicFramePr>
          <p:xfrm>
            <a:off x="4848" y="2988"/>
            <a:ext cx="593" cy="276"/>
          </p:xfrm>
          <a:graphic>
            <a:graphicData uri="http://schemas.openxmlformats.org/presentationml/2006/ole">
              <mc:AlternateContent xmlns:mc="http://schemas.openxmlformats.org/markup-compatibility/2006">
                <mc:Choice xmlns:v="urn:schemas-microsoft-com:vml" Requires="v">
                  <p:oleObj name="Equation" r:id="rId19" imgW="288482" imgH="92422" progId="Equation.3">
                    <p:embed/>
                  </p:oleObj>
                </mc:Choice>
                <mc:Fallback>
                  <p:oleObj name="Equation" r:id="rId19" imgW="288482" imgH="92422" progId="Equation.3">
                    <p:embed/>
                    <p:pic>
                      <p:nvPicPr>
                        <p:cNvPr id="154638" name="Object 53">
                          <a:extLst>
                            <a:ext uri="{FF2B5EF4-FFF2-40B4-BE49-F238E27FC236}">
                              <a16:creationId xmlns:a16="http://schemas.microsoft.com/office/drawing/2014/main" id="{6B947C26-1475-63F0-21BB-B7381CB3C866}"/>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848" y="2988"/>
                          <a:ext cx="593"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4639" name="Arc 54">
              <a:extLst>
                <a:ext uri="{FF2B5EF4-FFF2-40B4-BE49-F238E27FC236}">
                  <a16:creationId xmlns:a16="http://schemas.microsoft.com/office/drawing/2014/main" id="{714540A5-DF7A-C032-18C1-D69E90706334}"/>
                </a:ext>
              </a:extLst>
            </p:cNvPr>
            <p:cNvSpPr>
              <a:spLocks/>
            </p:cNvSpPr>
            <p:nvPr/>
          </p:nvSpPr>
          <p:spPr bwMode="auto">
            <a:xfrm>
              <a:off x="3744" y="1201"/>
              <a:ext cx="1391" cy="1776"/>
            </a:xfrm>
            <a:custGeom>
              <a:avLst/>
              <a:gdLst>
                <a:gd name="T0" fmla="*/ 0 w 21582"/>
                <a:gd name="T1" fmla="*/ 0 h 21579"/>
                <a:gd name="T2" fmla="*/ 0 w 21582"/>
                <a:gd name="T3" fmla="*/ 0 h 21579"/>
                <a:gd name="T4" fmla="*/ 0 w 21582"/>
                <a:gd name="T5" fmla="*/ 0 h 21579"/>
                <a:gd name="T6" fmla="*/ 0 60000 65536"/>
                <a:gd name="T7" fmla="*/ 0 60000 65536"/>
                <a:gd name="T8" fmla="*/ 0 60000 65536"/>
                <a:gd name="T9" fmla="*/ 0 w 21582"/>
                <a:gd name="T10" fmla="*/ 0 h 21579"/>
                <a:gd name="T11" fmla="*/ 21582 w 21582"/>
                <a:gd name="T12" fmla="*/ 21579 h 21579"/>
              </a:gdLst>
              <a:ahLst/>
              <a:cxnLst>
                <a:cxn ang="T6">
                  <a:pos x="T0" y="T1"/>
                </a:cxn>
                <a:cxn ang="T7">
                  <a:pos x="T2" y="T3"/>
                </a:cxn>
                <a:cxn ang="T8">
                  <a:pos x="T4" y="T5"/>
                </a:cxn>
              </a:cxnLst>
              <a:rect l="T9" t="T10" r="T11" b="T12"/>
              <a:pathLst>
                <a:path w="21582" h="21579" fill="none" extrusionOk="0">
                  <a:moveTo>
                    <a:pt x="959" y="0"/>
                  </a:moveTo>
                  <a:cubicBezTo>
                    <a:pt x="12167" y="498"/>
                    <a:pt x="21127" y="9494"/>
                    <a:pt x="21582" y="20703"/>
                  </a:cubicBezTo>
                </a:path>
                <a:path w="21582" h="21579" stroke="0" extrusionOk="0">
                  <a:moveTo>
                    <a:pt x="959" y="0"/>
                  </a:moveTo>
                  <a:cubicBezTo>
                    <a:pt x="12167" y="498"/>
                    <a:pt x="21127" y="9494"/>
                    <a:pt x="21582" y="20703"/>
                  </a:cubicBezTo>
                  <a:lnTo>
                    <a:pt x="0" y="21579"/>
                  </a:lnTo>
                  <a:lnTo>
                    <a:pt x="959" y="0"/>
                  </a:lnTo>
                  <a:close/>
                </a:path>
              </a:pathLst>
            </a:custGeom>
            <a:noFill/>
            <a:ln w="38100" cap="sq">
              <a:solidFill>
                <a:srgbClr val="644A1A"/>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grpSp>
      <p:grpSp>
        <p:nvGrpSpPr>
          <p:cNvPr id="7" name="Group 60">
            <a:extLst>
              <a:ext uri="{FF2B5EF4-FFF2-40B4-BE49-F238E27FC236}">
                <a16:creationId xmlns:a16="http://schemas.microsoft.com/office/drawing/2014/main" id="{50276A1B-C40B-6CD0-F332-DE875AFB06EC}"/>
              </a:ext>
            </a:extLst>
          </p:cNvPr>
          <p:cNvGrpSpPr>
            <a:grpSpLocks/>
          </p:cNvGrpSpPr>
          <p:nvPr/>
        </p:nvGrpSpPr>
        <p:grpSpPr bwMode="auto">
          <a:xfrm>
            <a:off x="4343400" y="1701800"/>
            <a:ext cx="4267200" cy="3079750"/>
            <a:chOff x="1872" y="1324"/>
            <a:chExt cx="2688" cy="1940"/>
          </a:xfrm>
        </p:grpSpPr>
        <p:graphicFrame>
          <p:nvGraphicFramePr>
            <p:cNvPr id="154634" name="Object 57">
              <a:extLst>
                <a:ext uri="{FF2B5EF4-FFF2-40B4-BE49-F238E27FC236}">
                  <a16:creationId xmlns:a16="http://schemas.microsoft.com/office/drawing/2014/main" id="{64ED2AA1-87B2-AC6C-3811-B5654BE67EC5}"/>
                </a:ext>
              </a:extLst>
            </p:cNvPr>
            <p:cNvGraphicFramePr>
              <a:graphicFrameLocks noChangeAspect="1"/>
            </p:cNvGraphicFramePr>
            <p:nvPr/>
          </p:nvGraphicFramePr>
          <p:xfrm>
            <a:off x="1872" y="1324"/>
            <a:ext cx="1424" cy="356"/>
          </p:xfrm>
          <a:graphic>
            <a:graphicData uri="http://schemas.openxmlformats.org/presentationml/2006/ole">
              <mc:AlternateContent xmlns:mc="http://schemas.openxmlformats.org/markup-compatibility/2006">
                <mc:Choice xmlns:v="urn:schemas-microsoft-com:vml" Requires="v">
                  <p:oleObj name="Equation" r:id="rId21" imgW="821819" imgH="135914" progId="Equation.3">
                    <p:embed/>
                  </p:oleObj>
                </mc:Choice>
                <mc:Fallback>
                  <p:oleObj name="Equation" r:id="rId21" imgW="821819" imgH="135914" progId="Equation.3">
                    <p:embed/>
                    <p:pic>
                      <p:nvPicPr>
                        <p:cNvPr id="154634" name="Object 57">
                          <a:extLst>
                            <a:ext uri="{FF2B5EF4-FFF2-40B4-BE49-F238E27FC236}">
                              <a16:creationId xmlns:a16="http://schemas.microsoft.com/office/drawing/2014/main" id="{64ED2AA1-87B2-AC6C-3811-B5654BE67EC5}"/>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872" y="1324"/>
                          <a:ext cx="1424" cy="3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4635" name="Object 58">
              <a:extLst>
                <a:ext uri="{FF2B5EF4-FFF2-40B4-BE49-F238E27FC236}">
                  <a16:creationId xmlns:a16="http://schemas.microsoft.com/office/drawing/2014/main" id="{08477F7A-A6F2-CB6F-158B-6FD999941FB5}"/>
                </a:ext>
              </a:extLst>
            </p:cNvPr>
            <p:cNvGraphicFramePr>
              <a:graphicFrameLocks noChangeAspect="1"/>
            </p:cNvGraphicFramePr>
            <p:nvPr/>
          </p:nvGraphicFramePr>
          <p:xfrm>
            <a:off x="3967" y="2988"/>
            <a:ext cx="593" cy="276"/>
          </p:xfrm>
          <a:graphic>
            <a:graphicData uri="http://schemas.openxmlformats.org/presentationml/2006/ole">
              <mc:AlternateContent xmlns:mc="http://schemas.openxmlformats.org/markup-compatibility/2006">
                <mc:Choice xmlns:v="urn:schemas-microsoft-com:vml" Requires="v">
                  <p:oleObj name="Equation" r:id="rId23" imgW="288482" imgH="92422" progId="Equation.3">
                    <p:embed/>
                  </p:oleObj>
                </mc:Choice>
                <mc:Fallback>
                  <p:oleObj name="Equation" r:id="rId23" imgW="288482" imgH="92422" progId="Equation.3">
                    <p:embed/>
                    <p:pic>
                      <p:nvPicPr>
                        <p:cNvPr id="154635" name="Object 58">
                          <a:extLst>
                            <a:ext uri="{FF2B5EF4-FFF2-40B4-BE49-F238E27FC236}">
                              <a16:creationId xmlns:a16="http://schemas.microsoft.com/office/drawing/2014/main" id="{08477F7A-A6F2-CB6F-158B-6FD999941FB5}"/>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967" y="2988"/>
                          <a:ext cx="593"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4636" name="Arc 59">
              <a:extLst>
                <a:ext uri="{FF2B5EF4-FFF2-40B4-BE49-F238E27FC236}">
                  <a16:creationId xmlns:a16="http://schemas.microsoft.com/office/drawing/2014/main" id="{575A02E0-6350-149C-1A85-7EFC4A96FD76}"/>
                </a:ext>
              </a:extLst>
            </p:cNvPr>
            <p:cNvSpPr>
              <a:spLocks/>
            </p:cNvSpPr>
            <p:nvPr/>
          </p:nvSpPr>
          <p:spPr bwMode="auto">
            <a:xfrm>
              <a:off x="3216" y="1541"/>
              <a:ext cx="1104" cy="1380"/>
            </a:xfrm>
            <a:custGeom>
              <a:avLst/>
              <a:gdLst>
                <a:gd name="T0" fmla="*/ 0 w 21600"/>
                <a:gd name="T1" fmla="*/ 0 h 21520"/>
                <a:gd name="T2" fmla="*/ 0 w 21600"/>
                <a:gd name="T3" fmla="*/ 0 h 21520"/>
                <a:gd name="T4" fmla="*/ 0 w 21600"/>
                <a:gd name="T5" fmla="*/ 0 h 21520"/>
                <a:gd name="T6" fmla="*/ 0 60000 65536"/>
                <a:gd name="T7" fmla="*/ 0 60000 65536"/>
                <a:gd name="T8" fmla="*/ 0 60000 65536"/>
                <a:gd name="T9" fmla="*/ 0 w 21600"/>
                <a:gd name="T10" fmla="*/ 0 h 21520"/>
                <a:gd name="T11" fmla="*/ 21600 w 21600"/>
                <a:gd name="T12" fmla="*/ 21520 h 21520"/>
              </a:gdLst>
              <a:ahLst/>
              <a:cxnLst>
                <a:cxn ang="T6">
                  <a:pos x="T0" y="T1"/>
                </a:cxn>
                <a:cxn ang="T7">
                  <a:pos x="T2" y="T3"/>
                </a:cxn>
                <a:cxn ang="T8">
                  <a:pos x="T4" y="T5"/>
                </a:cxn>
              </a:cxnLst>
              <a:rect l="T9" t="T10" r="T11" b="T12"/>
              <a:pathLst>
                <a:path w="21600" h="21520" fill="none" extrusionOk="0">
                  <a:moveTo>
                    <a:pt x="1854" y="-1"/>
                  </a:moveTo>
                  <a:cubicBezTo>
                    <a:pt x="13023" y="961"/>
                    <a:pt x="21600" y="10309"/>
                    <a:pt x="21600" y="21520"/>
                  </a:cubicBezTo>
                </a:path>
                <a:path w="21600" h="21520" stroke="0" extrusionOk="0">
                  <a:moveTo>
                    <a:pt x="1854" y="-1"/>
                  </a:moveTo>
                  <a:cubicBezTo>
                    <a:pt x="13023" y="961"/>
                    <a:pt x="21600" y="10309"/>
                    <a:pt x="21600" y="21520"/>
                  </a:cubicBezTo>
                  <a:lnTo>
                    <a:pt x="0" y="21520"/>
                  </a:lnTo>
                  <a:lnTo>
                    <a:pt x="1854" y="-1"/>
                  </a:lnTo>
                  <a:close/>
                </a:path>
              </a:pathLst>
            </a:custGeom>
            <a:noFill/>
            <a:ln w="38100" cap="sq">
              <a:solidFill>
                <a:srgbClr val="644A1A"/>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499"/>
                                          </p:stCondLst>
                                        </p:cTn>
                                        <p:tgtEl>
                                          <p:spTgt spid="151587"/>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up)">
                                      <p:cBhvr>
                                        <p:cTn id="16" dur="500"/>
                                        <p:tgtEl>
                                          <p:spTgt spid="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up)">
                                      <p:cBhvr>
                                        <p:cTn id="21" dur="500"/>
                                        <p:tgtEl>
                                          <p:spTgt spid="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up)">
                                      <p:cBhvr>
                                        <p:cTn id="26" dur="500"/>
                                        <p:tgtEl>
                                          <p:spTgt spid="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up)">
                                      <p:cBhvr>
                                        <p:cTn id="31" dur="500"/>
                                        <p:tgtEl>
                                          <p:spTgt spid="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up)">
                                      <p:cBhvr>
                                        <p:cTn id="3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2579" name="Rectangle 3">
            <a:extLst>
              <a:ext uri="{FF2B5EF4-FFF2-40B4-BE49-F238E27FC236}">
                <a16:creationId xmlns:a16="http://schemas.microsoft.com/office/drawing/2014/main" id="{EDB9C6C9-E6B7-3FC1-2E58-670DA8E61412}"/>
              </a:ext>
            </a:extLst>
          </p:cNvPr>
          <p:cNvSpPr>
            <a:spLocks noGrp="1"/>
          </p:cNvSpPr>
          <p:nvPr>
            <p:ph idx="1"/>
          </p:nvPr>
        </p:nvSpPr>
        <p:spPr>
          <a:xfrm>
            <a:off x="1981200" y="1371600"/>
            <a:ext cx="8229600" cy="1676400"/>
          </a:xfrm>
        </p:spPr>
        <p:txBody>
          <a:bodyPr/>
          <a:lstStyle/>
          <a:p>
            <a:pPr eaLnBrk="1" hangingPunct="1"/>
            <a:r>
              <a:rPr lang="en-US" altLang="en-US" sz="2800">
                <a:latin typeface="Times New Roman" panose="02020603050405020304" pitchFamily="18" charset="0"/>
                <a:ea typeface="ＭＳ Ｐゴシック" panose="020B0600070205080204" pitchFamily="34" charset="-128"/>
              </a:rPr>
              <a:t>How much would an investor have to set aside today in order to have $20,000 five years from now if the current rate is 15%?</a:t>
            </a:r>
          </a:p>
        </p:txBody>
      </p:sp>
      <p:sp>
        <p:nvSpPr>
          <p:cNvPr id="33794" name="Rectangle 2">
            <a:extLst>
              <a:ext uri="{FF2B5EF4-FFF2-40B4-BE49-F238E27FC236}">
                <a16:creationId xmlns:a16="http://schemas.microsoft.com/office/drawing/2014/main" id="{BE1C76A1-47F3-0AF8-C93A-392AD34D2BCC}"/>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Present Value and Discounting</a:t>
            </a:r>
          </a:p>
        </p:txBody>
      </p:sp>
      <p:grpSp>
        <p:nvGrpSpPr>
          <p:cNvPr id="2" name="Group 4">
            <a:extLst>
              <a:ext uri="{FF2B5EF4-FFF2-40B4-BE49-F238E27FC236}">
                <a16:creationId xmlns:a16="http://schemas.microsoft.com/office/drawing/2014/main" id="{19D75169-BEC8-CF67-FE42-33097B0707DB}"/>
              </a:ext>
            </a:extLst>
          </p:cNvPr>
          <p:cNvGrpSpPr>
            <a:grpSpLocks/>
          </p:cNvGrpSpPr>
          <p:nvPr/>
        </p:nvGrpSpPr>
        <p:grpSpPr bwMode="auto">
          <a:xfrm>
            <a:off x="2514600" y="3581401"/>
            <a:ext cx="7143750" cy="1052513"/>
            <a:chOff x="720" y="3369"/>
            <a:chExt cx="4500" cy="663"/>
          </a:xfrm>
        </p:grpSpPr>
        <p:sp>
          <p:nvSpPr>
            <p:cNvPr id="156681" name="Line 5">
              <a:extLst>
                <a:ext uri="{FF2B5EF4-FFF2-40B4-BE49-F238E27FC236}">
                  <a16:creationId xmlns:a16="http://schemas.microsoft.com/office/drawing/2014/main" id="{14537B44-32B5-7EFB-3DBF-F18A9225D5CC}"/>
                </a:ext>
              </a:extLst>
            </p:cNvPr>
            <p:cNvSpPr>
              <a:spLocks noChangeShapeType="1"/>
            </p:cNvSpPr>
            <p:nvPr/>
          </p:nvSpPr>
          <p:spPr bwMode="auto">
            <a:xfrm>
              <a:off x="864" y="3513"/>
              <a:ext cx="4272" cy="0"/>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56682" name="Line 6">
              <a:extLst>
                <a:ext uri="{FF2B5EF4-FFF2-40B4-BE49-F238E27FC236}">
                  <a16:creationId xmlns:a16="http://schemas.microsoft.com/office/drawing/2014/main" id="{4953AF9F-489A-8A81-4C63-7008E1BD9A29}"/>
                </a:ext>
              </a:extLst>
            </p:cNvPr>
            <p:cNvSpPr>
              <a:spLocks noChangeShapeType="1"/>
            </p:cNvSpPr>
            <p:nvPr/>
          </p:nvSpPr>
          <p:spPr bwMode="auto">
            <a:xfrm>
              <a:off x="864" y="3369"/>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56683" name="Line 7">
              <a:extLst>
                <a:ext uri="{FF2B5EF4-FFF2-40B4-BE49-F238E27FC236}">
                  <a16:creationId xmlns:a16="http://schemas.microsoft.com/office/drawing/2014/main" id="{8288CF26-124F-F6AD-60D3-6FA7B8B30341}"/>
                </a:ext>
              </a:extLst>
            </p:cNvPr>
            <p:cNvSpPr>
              <a:spLocks noChangeShapeType="1"/>
            </p:cNvSpPr>
            <p:nvPr/>
          </p:nvSpPr>
          <p:spPr bwMode="auto">
            <a:xfrm>
              <a:off x="1718" y="3369"/>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56684" name="Line 8">
              <a:extLst>
                <a:ext uri="{FF2B5EF4-FFF2-40B4-BE49-F238E27FC236}">
                  <a16:creationId xmlns:a16="http://schemas.microsoft.com/office/drawing/2014/main" id="{66F85CE7-ED85-8391-1842-726F86F27588}"/>
                </a:ext>
              </a:extLst>
            </p:cNvPr>
            <p:cNvSpPr>
              <a:spLocks noChangeShapeType="1"/>
            </p:cNvSpPr>
            <p:nvPr/>
          </p:nvSpPr>
          <p:spPr bwMode="auto">
            <a:xfrm>
              <a:off x="2572" y="3369"/>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56685" name="Line 9">
              <a:extLst>
                <a:ext uri="{FF2B5EF4-FFF2-40B4-BE49-F238E27FC236}">
                  <a16:creationId xmlns:a16="http://schemas.microsoft.com/office/drawing/2014/main" id="{DB6203AF-7C21-2FEF-CB6E-5495574B633A}"/>
                </a:ext>
              </a:extLst>
            </p:cNvPr>
            <p:cNvSpPr>
              <a:spLocks noChangeShapeType="1"/>
            </p:cNvSpPr>
            <p:nvPr/>
          </p:nvSpPr>
          <p:spPr bwMode="auto">
            <a:xfrm>
              <a:off x="3427" y="3369"/>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56686" name="Line 10">
              <a:extLst>
                <a:ext uri="{FF2B5EF4-FFF2-40B4-BE49-F238E27FC236}">
                  <a16:creationId xmlns:a16="http://schemas.microsoft.com/office/drawing/2014/main" id="{737A08D9-38D9-0346-7DDD-4D08DAF2EBB7}"/>
                </a:ext>
              </a:extLst>
            </p:cNvPr>
            <p:cNvSpPr>
              <a:spLocks noChangeShapeType="1"/>
            </p:cNvSpPr>
            <p:nvPr/>
          </p:nvSpPr>
          <p:spPr bwMode="auto">
            <a:xfrm>
              <a:off x="4281" y="3369"/>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56687" name="Line 11">
              <a:extLst>
                <a:ext uri="{FF2B5EF4-FFF2-40B4-BE49-F238E27FC236}">
                  <a16:creationId xmlns:a16="http://schemas.microsoft.com/office/drawing/2014/main" id="{CE894CAB-FAEF-AEC4-F3D3-B9C281632149}"/>
                </a:ext>
              </a:extLst>
            </p:cNvPr>
            <p:cNvSpPr>
              <a:spLocks noChangeShapeType="1"/>
            </p:cNvSpPr>
            <p:nvPr/>
          </p:nvSpPr>
          <p:spPr bwMode="auto">
            <a:xfrm>
              <a:off x="5136" y="3369"/>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56688" name="Rectangle 12">
              <a:extLst>
                <a:ext uri="{FF2B5EF4-FFF2-40B4-BE49-F238E27FC236}">
                  <a16:creationId xmlns:a16="http://schemas.microsoft.com/office/drawing/2014/main" id="{EC61C6B8-F5FE-D703-668B-A623E2F04A68}"/>
                </a:ext>
              </a:extLst>
            </p:cNvPr>
            <p:cNvSpPr>
              <a:spLocks noChangeArrowheads="1"/>
            </p:cNvSpPr>
            <p:nvPr/>
          </p:nvSpPr>
          <p:spPr bwMode="auto">
            <a:xfrm>
              <a:off x="720" y="3705"/>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0</a:t>
              </a:r>
            </a:p>
          </p:txBody>
        </p:sp>
        <p:sp>
          <p:nvSpPr>
            <p:cNvPr id="156689" name="Rectangle 13">
              <a:extLst>
                <a:ext uri="{FF2B5EF4-FFF2-40B4-BE49-F238E27FC236}">
                  <a16:creationId xmlns:a16="http://schemas.microsoft.com/office/drawing/2014/main" id="{15C83AC0-2FE5-018A-E057-EB1A26CE4AB0}"/>
                </a:ext>
              </a:extLst>
            </p:cNvPr>
            <p:cNvSpPr>
              <a:spLocks noChangeArrowheads="1"/>
            </p:cNvSpPr>
            <p:nvPr/>
          </p:nvSpPr>
          <p:spPr bwMode="auto">
            <a:xfrm>
              <a:off x="1574" y="3705"/>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1</a:t>
              </a:r>
            </a:p>
          </p:txBody>
        </p:sp>
        <p:sp>
          <p:nvSpPr>
            <p:cNvPr id="156690" name="Rectangle 14">
              <a:extLst>
                <a:ext uri="{FF2B5EF4-FFF2-40B4-BE49-F238E27FC236}">
                  <a16:creationId xmlns:a16="http://schemas.microsoft.com/office/drawing/2014/main" id="{EBB15358-A8AB-EF36-895C-EC4223FDDBD1}"/>
                </a:ext>
              </a:extLst>
            </p:cNvPr>
            <p:cNvSpPr>
              <a:spLocks noChangeArrowheads="1"/>
            </p:cNvSpPr>
            <p:nvPr/>
          </p:nvSpPr>
          <p:spPr bwMode="auto">
            <a:xfrm>
              <a:off x="2428" y="3705"/>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2</a:t>
              </a:r>
            </a:p>
          </p:txBody>
        </p:sp>
        <p:sp>
          <p:nvSpPr>
            <p:cNvPr id="156691" name="Rectangle 15">
              <a:extLst>
                <a:ext uri="{FF2B5EF4-FFF2-40B4-BE49-F238E27FC236}">
                  <a16:creationId xmlns:a16="http://schemas.microsoft.com/office/drawing/2014/main" id="{49BEF8E7-B7D9-C630-C9BF-117A47EECE61}"/>
                </a:ext>
              </a:extLst>
            </p:cNvPr>
            <p:cNvSpPr>
              <a:spLocks noChangeArrowheads="1"/>
            </p:cNvSpPr>
            <p:nvPr/>
          </p:nvSpPr>
          <p:spPr bwMode="auto">
            <a:xfrm>
              <a:off x="3283" y="3705"/>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3</a:t>
              </a:r>
            </a:p>
          </p:txBody>
        </p:sp>
        <p:sp>
          <p:nvSpPr>
            <p:cNvPr id="156692" name="Rectangle 16">
              <a:extLst>
                <a:ext uri="{FF2B5EF4-FFF2-40B4-BE49-F238E27FC236}">
                  <a16:creationId xmlns:a16="http://schemas.microsoft.com/office/drawing/2014/main" id="{8DA7DB9D-0BE4-9A86-F7C1-461AF0D73AB8}"/>
                </a:ext>
              </a:extLst>
            </p:cNvPr>
            <p:cNvSpPr>
              <a:spLocks noChangeArrowheads="1"/>
            </p:cNvSpPr>
            <p:nvPr/>
          </p:nvSpPr>
          <p:spPr bwMode="auto">
            <a:xfrm>
              <a:off x="4137" y="3705"/>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4</a:t>
              </a:r>
            </a:p>
          </p:txBody>
        </p:sp>
        <p:sp>
          <p:nvSpPr>
            <p:cNvPr id="156693" name="Rectangle 17">
              <a:extLst>
                <a:ext uri="{FF2B5EF4-FFF2-40B4-BE49-F238E27FC236}">
                  <a16:creationId xmlns:a16="http://schemas.microsoft.com/office/drawing/2014/main" id="{98C3D1C9-9454-ACD0-2BB2-29ED25819323}"/>
                </a:ext>
              </a:extLst>
            </p:cNvPr>
            <p:cNvSpPr>
              <a:spLocks noChangeArrowheads="1"/>
            </p:cNvSpPr>
            <p:nvPr/>
          </p:nvSpPr>
          <p:spPr bwMode="auto">
            <a:xfrm>
              <a:off x="4992" y="3705"/>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5</a:t>
              </a:r>
            </a:p>
          </p:txBody>
        </p:sp>
      </p:grpSp>
      <p:sp>
        <p:nvSpPr>
          <p:cNvPr id="152594" name="Rectangle 18">
            <a:extLst>
              <a:ext uri="{FF2B5EF4-FFF2-40B4-BE49-F238E27FC236}">
                <a16:creationId xmlns:a16="http://schemas.microsoft.com/office/drawing/2014/main" id="{361537B8-8FA6-BC63-FDD3-38149E3AB83C}"/>
              </a:ext>
            </a:extLst>
          </p:cNvPr>
          <p:cNvSpPr>
            <a:spLocks noChangeArrowheads="1"/>
          </p:cNvSpPr>
          <p:nvPr/>
        </p:nvSpPr>
        <p:spPr bwMode="auto">
          <a:xfrm>
            <a:off x="8782050" y="2819400"/>
            <a:ext cx="15049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3200">
                <a:solidFill>
                  <a:srgbClr val="644A1A"/>
                </a:solidFill>
              </a:rPr>
              <a:t>$20,000</a:t>
            </a:r>
          </a:p>
        </p:txBody>
      </p:sp>
      <p:sp>
        <p:nvSpPr>
          <p:cNvPr id="152595" name="Rectangle 19">
            <a:extLst>
              <a:ext uri="{FF2B5EF4-FFF2-40B4-BE49-F238E27FC236}">
                <a16:creationId xmlns:a16="http://schemas.microsoft.com/office/drawing/2014/main" id="{7D2D7CE7-E946-B328-72BD-19A6FBA7C50D}"/>
              </a:ext>
            </a:extLst>
          </p:cNvPr>
          <p:cNvSpPr>
            <a:spLocks noChangeArrowheads="1"/>
          </p:cNvSpPr>
          <p:nvPr/>
        </p:nvSpPr>
        <p:spPr bwMode="auto">
          <a:xfrm>
            <a:off x="2362200" y="2819400"/>
            <a:ext cx="679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3200" i="1">
                <a:solidFill>
                  <a:srgbClr val="644A1A"/>
                </a:solidFill>
              </a:rPr>
              <a:t>PV</a:t>
            </a:r>
          </a:p>
        </p:txBody>
      </p:sp>
      <p:graphicFrame>
        <p:nvGraphicFramePr>
          <p:cNvPr id="152596" name="Object 20">
            <a:extLst>
              <a:ext uri="{FF2B5EF4-FFF2-40B4-BE49-F238E27FC236}">
                <a16:creationId xmlns:a16="http://schemas.microsoft.com/office/drawing/2014/main" id="{037210F0-B831-33B0-94A5-5D4CC7D78A8C}"/>
              </a:ext>
            </a:extLst>
          </p:cNvPr>
          <p:cNvGraphicFramePr>
            <a:graphicFrameLocks noChangeAspect="1"/>
          </p:cNvGraphicFramePr>
          <p:nvPr/>
        </p:nvGraphicFramePr>
        <p:xfrm>
          <a:off x="2438400" y="4800601"/>
          <a:ext cx="3232150" cy="1033463"/>
        </p:xfrm>
        <a:graphic>
          <a:graphicData uri="http://schemas.openxmlformats.org/presentationml/2006/ole">
            <mc:AlternateContent xmlns:mc="http://schemas.openxmlformats.org/markup-compatibility/2006">
              <mc:Choice xmlns:v="urn:schemas-microsoft-com:vml" Requires="v">
                <p:oleObj name="Equation" r:id="rId3" imgW="1213789" imgH="326534" progId="Equation.3">
                  <p:embed/>
                </p:oleObj>
              </mc:Choice>
              <mc:Fallback>
                <p:oleObj name="Equation" r:id="rId3" imgW="1213789" imgH="326534" progId="Equation.3">
                  <p:embed/>
                  <p:pic>
                    <p:nvPicPr>
                      <p:cNvPr id="152596" name="Object 20">
                        <a:extLst>
                          <a:ext uri="{FF2B5EF4-FFF2-40B4-BE49-F238E27FC236}">
                            <a16:creationId xmlns:a16="http://schemas.microsoft.com/office/drawing/2014/main" id="{037210F0-B831-33B0-94A5-5D4CC7D78A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4800601"/>
                        <a:ext cx="3232150" cy="1033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2598" name="Arc 22">
            <a:extLst>
              <a:ext uri="{FF2B5EF4-FFF2-40B4-BE49-F238E27FC236}">
                <a16:creationId xmlns:a16="http://schemas.microsoft.com/office/drawing/2014/main" id="{CD9D0E22-45D5-4615-2B73-545F3B70B467}"/>
              </a:ext>
            </a:extLst>
          </p:cNvPr>
          <p:cNvSpPr>
            <a:spLocks/>
          </p:cNvSpPr>
          <p:nvPr/>
        </p:nvSpPr>
        <p:spPr bwMode="auto">
          <a:xfrm flipH="1">
            <a:off x="5562601" y="4648200"/>
            <a:ext cx="4010025" cy="1219200"/>
          </a:xfrm>
          <a:custGeom>
            <a:avLst/>
            <a:gdLst>
              <a:gd name="T0" fmla="*/ 2147483646 w 37013"/>
              <a:gd name="T1" fmla="*/ 2147483646 h 24208"/>
              <a:gd name="T2" fmla="*/ 2147483646 w 37013"/>
              <a:gd name="T3" fmla="*/ 0 h 24208"/>
              <a:gd name="T4" fmla="*/ 2147483646 w 37013"/>
              <a:gd name="T5" fmla="*/ 2147483646 h 24208"/>
              <a:gd name="T6" fmla="*/ 0 60000 65536"/>
              <a:gd name="T7" fmla="*/ 0 60000 65536"/>
              <a:gd name="T8" fmla="*/ 0 60000 65536"/>
              <a:gd name="T9" fmla="*/ 0 w 37013"/>
              <a:gd name="T10" fmla="*/ 0 h 24208"/>
              <a:gd name="T11" fmla="*/ 37013 w 37013"/>
              <a:gd name="T12" fmla="*/ 24208 h 24208"/>
            </a:gdLst>
            <a:ahLst/>
            <a:cxnLst>
              <a:cxn ang="T6">
                <a:pos x="T0" y="T1"/>
              </a:cxn>
              <a:cxn ang="T7">
                <a:pos x="T2" y="T3"/>
              </a:cxn>
              <a:cxn ang="T8">
                <a:pos x="T4" y="T5"/>
              </a:cxn>
            </a:cxnLst>
            <a:rect l="T9" t="T10" r="T11" b="T12"/>
            <a:pathLst>
              <a:path w="37013" h="24208" fill="none" extrusionOk="0">
                <a:moveTo>
                  <a:pt x="37012" y="17740"/>
                </a:moveTo>
                <a:cubicBezTo>
                  <a:pt x="32951" y="21877"/>
                  <a:pt x="27397" y="24207"/>
                  <a:pt x="21600" y="24208"/>
                </a:cubicBezTo>
                <a:cubicBezTo>
                  <a:pt x="9670" y="24208"/>
                  <a:pt x="0" y="14537"/>
                  <a:pt x="0" y="2608"/>
                </a:cubicBezTo>
                <a:cubicBezTo>
                  <a:pt x="-1" y="1736"/>
                  <a:pt x="52" y="865"/>
                  <a:pt x="158" y="0"/>
                </a:cubicBezTo>
              </a:path>
              <a:path w="37013" h="24208" stroke="0" extrusionOk="0">
                <a:moveTo>
                  <a:pt x="37012" y="17740"/>
                </a:moveTo>
                <a:cubicBezTo>
                  <a:pt x="32951" y="21877"/>
                  <a:pt x="27397" y="24207"/>
                  <a:pt x="21600" y="24208"/>
                </a:cubicBezTo>
                <a:cubicBezTo>
                  <a:pt x="9670" y="24208"/>
                  <a:pt x="0" y="14537"/>
                  <a:pt x="0" y="2608"/>
                </a:cubicBezTo>
                <a:cubicBezTo>
                  <a:pt x="-1" y="1736"/>
                  <a:pt x="52" y="865"/>
                  <a:pt x="158" y="0"/>
                </a:cubicBezTo>
                <a:lnTo>
                  <a:pt x="21600" y="2608"/>
                </a:lnTo>
                <a:lnTo>
                  <a:pt x="37012" y="17740"/>
                </a:lnTo>
                <a:close/>
              </a:path>
            </a:pathLst>
          </a:custGeom>
          <a:noFill/>
          <a:ln w="38100">
            <a:solidFill>
              <a:srgbClr val="644A1A"/>
            </a:solidFill>
            <a:prstDash val="dashDot"/>
            <a:round/>
            <a:headEnd type="triangle" w="med" len="med"/>
            <a:tailEnd type="none" w="sm" len="sm"/>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2579">
                                            <p:txEl>
                                              <p:pRg st="0" end="0"/>
                                            </p:txEl>
                                          </p:spTgt>
                                        </p:tgtEl>
                                        <p:attrNameLst>
                                          <p:attrName>style.visibility</p:attrName>
                                        </p:attrNameLst>
                                      </p:cBhvr>
                                      <p:to>
                                        <p:strVal val="visible"/>
                                      </p:to>
                                    </p:set>
                                    <p:animEffect transition="in" filter="fade">
                                      <p:cBhvr>
                                        <p:cTn id="7" dur="1000"/>
                                        <p:tgtEl>
                                          <p:spTgt spid="152579">
                                            <p:txEl>
                                              <p:pRg st="0" end="0"/>
                                            </p:txEl>
                                          </p:spTgt>
                                        </p:tgtEl>
                                      </p:cBhvr>
                                    </p:animEffect>
                                    <p:anim calcmode="lin" valueType="num">
                                      <p:cBhvr>
                                        <p:cTn id="8" dur="1000" fill="hold"/>
                                        <p:tgtEl>
                                          <p:spTgt spid="15257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5257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left)">
                                      <p:cBhvr>
                                        <p:cTn id="14" dur="500"/>
                                        <p:tgtEl>
                                          <p:spTgt spid="2"/>
                                        </p:tgtEl>
                                      </p:cBhvr>
                                    </p:animEffect>
                                  </p:childTnLst>
                                </p:cTn>
                              </p:par>
                            </p:childTnLst>
                          </p:cTn>
                        </p:par>
                        <p:par>
                          <p:cTn id="15" fill="hold" nodeType="afterGroup">
                            <p:stCondLst>
                              <p:cond delay="500"/>
                            </p:stCondLst>
                            <p:childTnLst>
                              <p:par>
                                <p:cTn id="16" presetID="1" presetClass="entr" presetSubtype="0" fill="hold" grpId="0" nodeType="afterEffect">
                                  <p:stCondLst>
                                    <p:cond delay="0"/>
                                  </p:stCondLst>
                                  <p:childTnLst>
                                    <p:set>
                                      <p:cBhvr>
                                        <p:cTn id="17" dur="1" fill="hold">
                                          <p:stCondLst>
                                            <p:cond delay="499"/>
                                          </p:stCondLst>
                                        </p:cTn>
                                        <p:tgtEl>
                                          <p:spTgt spid="152595"/>
                                        </p:tgtEl>
                                        <p:attrNameLst>
                                          <p:attrName>style.visibility</p:attrName>
                                        </p:attrNameLst>
                                      </p:cBhvr>
                                      <p:to>
                                        <p:strVal val="visible"/>
                                      </p:to>
                                    </p:set>
                                  </p:childTnLst>
                                </p:cTn>
                              </p:par>
                            </p:childTnLst>
                          </p:cTn>
                        </p:par>
                        <p:par>
                          <p:cTn id="18" fill="hold" nodeType="afterGroup">
                            <p:stCondLst>
                              <p:cond delay="1000"/>
                            </p:stCondLst>
                            <p:childTnLst>
                              <p:par>
                                <p:cTn id="19" presetID="1" presetClass="entr" presetSubtype="0" fill="hold" grpId="0" nodeType="afterEffect">
                                  <p:stCondLst>
                                    <p:cond delay="0"/>
                                  </p:stCondLst>
                                  <p:childTnLst>
                                    <p:set>
                                      <p:cBhvr>
                                        <p:cTn id="20" dur="1" fill="hold">
                                          <p:stCondLst>
                                            <p:cond delay="499"/>
                                          </p:stCondLst>
                                        </p:cTn>
                                        <p:tgtEl>
                                          <p:spTgt spid="152594"/>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2" fill="hold" nodeType="clickEffect">
                                  <p:stCondLst>
                                    <p:cond delay="0"/>
                                  </p:stCondLst>
                                  <p:childTnLst>
                                    <p:set>
                                      <p:cBhvr>
                                        <p:cTn id="24" dur="1" fill="hold">
                                          <p:stCondLst>
                                            <p:cond delay="0"/>
                                          </p:stCondLst>
                                        </p:cTn>
                                        <p:tgtEl>
                                          <p:spTgt spid="152598"/>
                                        </p:tgtEl>
                                        <p:attrNameLst>
                                          <p:attrName>style.visibility</p:attrName>
                                        </p:attrNameLst>
                                      </p:cBhvr>
                                      <p:to>
                                        <p:strVal val="visible"/>
                                      </p:to>
                                    </p:set>
                                    <p:animEffect transition="in" filter="wipe(right)">
                                      <p:cBhvr>
                                        <p:cTn id="25" dur="500"/>
                                        <p:tgtEl>
                                          <p:spTgt spid="152598"/>
                                        </p:tgtEl>
                                      </p:cBhvr>
                                    </p:animEffect>
                                  </p:childTnLst>
                                </p:cTn>
                              </p:par>
                            </p:childTnLst>
                          </p:cTn>
                        </p:par>
                        <p:par>
                          <p:cTn id="26" fill="hold" nodeType="afterGroup">
                            <p:stCondLst>
                              <p:cond delay="500"/>
                            </p:stCondLst>
                            <p:childTnLst>
                              <p:par>
                                <p:cTn id="27" presetID="1" presetClass="entr" presetSubtype="0" fill="hold" nodeType="afterEffect">
                                  <p:stCondLst>
                                    <p:cond delay="0"/>
                                  </p:stCondLst>
                                  <p:childTnLst>
                                    <p:set>
                                      <p:cBhvr>
                                        <p:cTn id="28" dur="1" fill="hold">
                                          <p:stCondLst>
                                            <p:cond delay="499"/>
                                          </p:stCondLst>
                                        </p:cTn>
                                        <p:tgtEl>
                                          <p:spTgt spid="1525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79" grpId="0" build="p"/>
      <p:bldP spid="152594" grpId="0" autoUpdateAnimBg="0"/>
      <p:bldP spid="152595"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8787" name="Rectangle 3">
            <a:extLst>
              <a:ext uri="{FF2B5EF4-FFF2-40B4-BE49-F238E27FC236}">
                <a16:creationId xmlns:a16="http://schemas.microsoft.com/office/drawing/2014/main" id="{20D199C5-D172-11DD-0646-EA8FB9D39BC8}"/>
              </a:ext>
            </a:extLst>
          </p:cNvPr>
          <p:cNvSpPr>
            <a:spLocks noGrp="1"/>
          </p:cNvSpPr>
          <p:nvPr>
            <p:ph idx="1"/>
          </p:nvPr>
        </p:nvSpPr>
        <p:spPr>
          <a:xfrm>
            <a:off x="1981200" y="1295401"/>
            <a:ext cx="8229600" cy="1020763"/>
          </a:xfrm>
        </p:spPr>
        <p:txBody>
          <a:bodyPr vert="horz" wrap="square" lIns="92075" tIns="46038" rIns="92075" bIns="46038" numCol="1" anchor="t" anchorCtr="0" compatLnSpc="1">
            <a:prstTxWarp prst="textNoShape">
              <a:avLst/>
            </a:prstTxWarp>
          </a:bodyPr>
          <a:lstStyle/>
          <a:p>
            <a:pPr marL="0" indent="0" eaLnBrk="1" hangingPunct="1">
              <a:spcBef>
                <a:spcPct val="0"/>
              </a:spcBef>
              <a:buNone/>
            </a:pPr>
            <a:r>
              <a:rPr lang="en-US" altLang="en-US" sz="2600">
                <a:latin typeface="Times New Roman" panose="02020603050405020304" pitchFamily="18" charset="0"/>
                <a:ea typeface="ＭＳ Ｐゴシック" panose="020B0600070205080204" pitchFamily="34" charset="-128"/>
              </a:rPr>
              <a:t>If we deposit $5,000 today in an account paying 10%, how long does it take to grow to $10,000?</a:t>
            </a:r>
            <a:endParaRPr lang="en-US" altLang="en-US" sz="2500">
              <a:latin typeface="Times New Roman" panose="02020603050405020304" pitchFamily="18" charset="0"/>
              <a:ea typeface="ＭＳ Ｐゴシック" panose="020B0600070205080204" pitchFamily="34" charset="-128"/>
            </a:endParaRPr>
          </a:p>
        </p:txBody>
      </p:sp>
      <p:sp>
        <p:nvSpPr>
          <p:cNvPr id="35842" name="Rectangle 2">
            <a:extLst>
              <a:ext uri="{FF2B5EF4-FFF2-40B4-BE49-F238E27FC236}">
                <a16:creationId xmlns:a16="http://schemas.microsoft.com/office/drawing/2014/main" id="{F744EAF1-42D1-1B9D-B898-D9EE3E347099}"/>
              </a:ext>
            </a:extLst>
          </p:cNvPr>
          <p:cNvSpPr>
            <a:spLocks noGrp="1" noChangeArrowheads="1"/>
          </p:cNvSpPr>
          <p:nvPr>
            <p:ph type="title"/>
          </p:nvPr>
        </p:nvSpPr>
        <p:spPr>
          <a:xfrm>
            <a:off x="1905000" y="457200"/>
            <a:ext cx="8153400" cy="661988"/>
          </a:xfrm>
        </p:spPr>
        <p:txBody>
          <a:bodyPr vert="horz" lIns="92075" tIns="46038" rIns="92075" bIns="46038" rtlCol="0" anchor="ctr">
            <a:normAutofit/>
            <a:scene3d>
              <a:camera prst="orthographicFront"/>
              <a:lightRig rig="soft" dir="t"/>
            </a:scene3d>
            <a:sp3d prstMaterial="softEdge">
              <a:bevelT w="25400" h="25400"/>
            </a:sp3d>
          </a:bodyPr>
          <a:lstStyle/>
          <a:p>
            <a:pPr eaLnBrk="1" fontAlgn="auto" hangingPunct="1">
              <a:spcAft>
                <a:spcPts val="0"/>
              </a:spcAft>
              <a:defRPr/>
            </a:pPr>
            <a:r>
              <a:rPr lang="en-US" altLang="en-US" sz="3400" dirty="0">
                <a:ea typeface="+mj-ea"/>
                <a:cs typeface="+mj-cs"/>
              </a:rPr>
              <a:t> Finding the Number of Periods</a:t>
            </a:r>
          </a:p>
        </p:txBody>
      </p:sp>
      <p:graphicFrame>
        <p:nvGraphicFramePr>
          <p:cNvPr id="118788" name="Object 4">
            <a:extLst>
              <a:ext uri="{FF2B5EF4-FFF2-40B4-BE49-F238E27FC236}">
                <a16:creationId xmlns:a16="http://schemas.microsoft.com/office/drawing/2014/main" id="{1FF13E5A-FABC-CDE3-4660-C06850E3849D}"/>
              </a:ext>
            </a:extLst>
          </p:cNvPr>
          <p:cNvGraphicFramePr>
            <a:graphicFrameLocks noChangeAspect="1"/>
          </p:cNvGraphicFramePr>
          <p:nvPr/>
        </p:nvGraphicFramePr>
        <p:xfrm>
          <a:off x="2514601" y="2209801"/>
          <a:ext cx="2760663" cy="595313"/>
        </p:xfrm>
        <a:graphic>
          <a:graphicData uri="http://schemas.openxmlformats.org/presentationml/2006/ole">
            <mc:AlternateContent xmlns:mc="http://schemas.openxmlformats.org/markup-compatibility/2006">
              <mc:Choice xmlns:v="urn:schemas-microsoft-com:vml" Requires="v">
                <p:oleObj name="Equation" r:id="rId3" imgW="1023384" imgH="146787" progId="Equation.3">
                  <p:embed/>
                </p:oleObj>
              </mc:Choice>
              <mc:Fallback>
                <p:oleObj name="Equation" r:id="rId3" imgW="1023384" imgH="146787" progId="Equation.3">
                  <p:embed/>
                  <p:pic>
                    <p:nvPicPr>
                      <p:cNvPr id="118788" name="Object 4">
                        <a:extLst>
                          <a:ext uri="{FF2B5EF4-FFF2-40B4-BE49-F238E27FC236}">
                            <a16:creationId xmlns:a16="http://schemas.microsoft.com/office/drawing/2014/main" id="{1FF13E5A-FABC-CDE3-4660-C06850E384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1" y="2209801"/>
                        <a:ext cx="2760663" cy="595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8789" name="Object 5">
            <a:extLst>
              <a:ext uri="{FF2B5EF4-FFF2-40B4-BE49-F238E27FC236}">
                <a16:creationId xmlns:a16="http://schemas.microsoft.com/office/drawing/2014/main" id="{EA5880ED-D95A-3276-270D-700782A6C0B7}"/>
              </a:ext>
            </a:extLst>
          </p:cNvPr>
          <p:cNvGraphicFramePr>
            <a:graphicFrameLocks noChangeAspect="1"/>
          </p:cNvGraphicFramePr>
          <p:nvPr/>
        </p:nvGraphicFramePr>
        <p:xfrm>
          <a:off x="6096000" y="2209801"/>
          <a:ext cx="4046538" cy="563563"/>
        </p:xfrm>
        <a:graphic>
          <a:graphicData uri="http://schemas.openxmlformats.org/presentationml/2006/ole">
            <mc:AlternateContent xmlns:mc="http://schemas.openxmlformats.org/markup-compatibility/2006">
              <mc:Choice xmlns:v="urn:schemas-microsoft-com:vml" Requires="v">
                <p:oleObj name="Equation" r:id="rId5" imgW="1545898" imgH="135914" progId="Equation.3">
                  <p:embed/>
                </p:oleObj>
              </mc:Choice>
              <mc:Fallback>
                <p:oleObj name="Equation" r:id="rId5" imgW="1545898" imgH="135914" progId="Equation.3">
                  <p:embed/>
                  <p:pic>
                    <p:nvPicPr>
                      <p:cNvPr id="118789" name="Object 5">
                        <a:extLst>
                          <a:ext uri="{FF2B5EF4-FFF2-40B4-BE49-F238E27FC236}">
                            <a16:creationId xmlns:a16="http://schemas.microsoft.com/office/drawing/2014/main" id="{EA5880ED-D95A-3276-270D-700782A6C0B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0" y="2209801"/>
                        <a:ext cx="4046538" cy="563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8790" name="Object 6">
            <a:extLst>
              <a:ext uri="{FF2B5EF4-FFF2-40B4-BE49-F238E27FC236}">
                <a16:creationId xmlns:a16="http://schemas.microsoft.com/office/drawing/2014/main" id="{CF2F7677-8E90-03FF-E856-E2A7C87A915A}"/>
              </a:ext>
            </a:extLst>
          </p:cNvPr>
          <p:cNvGraphicFramePr>
            <a:graphicFrameLocks noChangeAspect="1"/>
          </p:cNvGraphicFramePr>
          <p:nvPr/>
        </p:nvGraphicFramePr>
        <p:xfrm>
          <a:off x="4375151" y="2959101"/>
          <a:ext cx="3387725" cy="1033463"/>
        </p:xfrm>
        <a:graphic>
          <a:graphicData uri="http://schemas.openxmlformats.org/presentationml/2006/ole">
            <mc:AlternateContent xmlns:mc="http://schemas.openxmlformats.org/markup-compatibility/2006">
              <mc:Choice xmlns:v="urn:schemas-microsoft-com:vml" Requires="v">
                <p:oleObj name="Equation" r:id="rId7" imgW="1279061" imgH="326534" progId="Equation.3">
                  <p:embed/>
                </p:oleObj>
              </mc:Choice>
              <mc:Fallback>
                <p:oleObj name="Equation" r:id="rId7" imgW="1279061" imgH="326534" progId="Equation.3">
                  <p:embed/>
                  <p:pic>
                    <p:nvPicPr>
                      <p:cNvPr id="118790" name="Object 6">
                        <a:extLst>
                          <a:ext uri="{FF2B5EF4-FFF2-40B4-BE49-F238E27FC236}">
                            <a16:creationId xmlns:a16="http://schemas.microsoft.com/office/drawing/2014/main" id="{CF2F7677-8E90-03FF-E856-E2A7C87A915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75151" y="2959101"/>
                        <a:ext cx="3387725" cy="1033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8791" name="Object 7">
            <a:extLst>
              <a:ext uri="{FF2B5EF4-FFF2-40B4-BE49-F238E27FC236}">
                <a16:creationId xmlns:a16="http://schemas.microsoft.com/office/drawing/2014/main" id="{F69C71BD-49F8-DDC3-5B0F-B6988F70E7A6}"/>
              </a:ext>
            </a:extLst>
          </p:cNvPr>
          <p:cNvGraphicFramePr>
            <a:graphicFrameLocks noChangeAspect="1"/>
          </p:cNvGraphicFramePr>
          <p:nvPr/>
        </p:nvGraphicFramePr>
        <p:xfrm>
          <a:off x="4783138" y="4114801"/>
          <a:ext cx="2571750" cy="563563"/>
        </p:xfrm>
        <a:graphic>
          <a:graphicData uri="http://schemas.openxmlformats.org/presentationml/2006/ole">
            <mc:AlternateContent xmlns:mc="http://schemas.openxmlformats.org/markup-compatibility/2006">
              <mc:Choice xmlns:v="urn:schemas-microsoft-com:vml" Requires="v">
                <p:oleObj name="Equation" r:id="rId9" imgW="946951" imgH="135914" progId="Equation.3">
                  <p:embed/>
                </p:oleObj>
              </mc:Choice>
              <mc:Fallback>
                <p:oleObj name="Equation" r:id="rId9" imgW="946951" imgH="135914" progId="Equation.3">
                  <p:embed/>
                  <p:pic>
                    <p:nvPicPr>
                      <p:cNvPr id="118791" name="Object 7">
                        <a:extLst>
                          <a:ext uri="{FF2B5EF4-FFF2-40B4-BE49-F238E27FC236}">
                            <a16:creationId xmlns:a16="http://schemas.microsoft.com/office/drawing/2014/main" id="{F69C71BD-49F8-DDC3-5B0F-B6988F70E7A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83138" y="4114801"/>
                        <a:ext cx="2571750" cy="563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8792" name="Object 8">
            <a:extLst>
              <a:ext uri="{FF2B5EF4-FFF2-40B4-BE49-F238E27FC236}">
                <a16:creationId xmlns:a16="http://schemas.microsoft.com/office/drawing/2014/main" id="{DF033D04-5563-1C12-8865-87699CB877FF}"/>
              </a:ext>
            </a:extLst>
          </p:cNvPr>
          <p:cNvGraphicFramePr>
            <a:graphicFrameLocks noChangeAspect="1"/>
          </p:cNvGraphicFramePr>
          <p:nvPr/>
        </p:nvGraphicFramePr>
        <p:xfrm>
          <a:off x="3444875" y="5062538"/>
          <a:ext cx="5302250" cy="1033462"/>
        </p:xfrm>
        <a:graphic>
          <a:graphicData uri="http://schemas.openxmlformats.org/presentationml/2006/ole">
            <mc:AlternateContent xmlns:mc="http://schemas.openxmlformats.org/markup-compatibility/2006">
              <mc:Choice xmlns:v="urn:schemas-microsoft-com:vml" Requires="v">
                <p:oleObj name="Equation" r:id="rId11" imgW="2051841" imgH="326534" progId="Equation.3">
                  <p:embed/>
                </p:oleObj>
              </mc:Choice>
              <mc:Fallback>
                <p:oleObj name="Equation" r:id="rId11" imgW="2051841" imgH="326534" progId="Equation.3">
                  <p:embed/>
                  <p:pic>
                    <p:nvPicPr>
                      <p:cNvPr id="118792" name="Object 8">
                        <a:extLst>
                          <a:ext uri="{FF2B5EF4-FFF2-40B4-BE49-F238E27FC236}">
                            <a16:creationId xmlns:a16="http://schemas.microsoft.com/office/drawing/2014/main" id="{DF033D04-5563-1C12-8865-87699CB877F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44875" y="5062538"/>
                        <a:ext cx="5302250" cy="1033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8787">
                                            <p:txEl>
                                              <p:pRg st="0" end="0"/>
                                            </p:txEl>
                                          </p:spTgt>
                                        </p:tgtEl>
                                        <p:attrNameLst>
                                          <p:attrName>style.visibility</p:attrName>
                                        </p:attrNameLst>
                                      </p:cBhvr>
                                      <p:to>
                                        <p:strVal val="visible"/>
                                      </p:to>
                                    </p:set>
                                    <p:animEffect transition="in" filter="fade">
                                      <p:cBhvr>
                                        <p:cTn id="7" dur="1000"/>
                                        <p:tgtEl>
                                          <p:spTgt spid="118787">
                                            <p:txEl>
                                              <p:pRg st="0" end="0"/>
                                            </p:txEl>
                                          </p:spTgt>
                                        </p:tgtEl>
                                      </p:cBhvr>
                                    </p:animEffect>
                                    <p:anim calcmode="lin" valueType="num">
                                      <p:cBhvr>
                                        <p:cTn id="8" dur="1000" fill="hold"/>
                                        <p:tgtEl>
                                          <p:spTgt spid="11878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1878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118788"/>
                                        </p:tgtEl>
                                        <p:attrNameLst>
                                          <p:attrName>style.visibility</p:attrName>
                                        </p:attrNameLst>
                                      </p:cBhvr>
                                      <p:to>
                                        <p:strVal val="visible"/>
                                      </p:to>
                                    </p:set>
                                    <p:animEffect transition="in" filter="fade">
                                      <p:cBhvr>
                                        <p:cTn id="14" dur="1000"/>
                                        <p:tgtEl>
                                          <p:spTgt spid="118788"/>
                                        </p:tgtEl>
                                      </p:cBhvr>
                                    </p:animEffect>
                                    <p:anim calcmode="lin" valueType="num">
                                      <p:cBhvr>
                                        <p:cTn id="15" dur="1000" fill="hold"/>
                                        <p:tgtEl>
                                          <p:spTgt spid="118788"/>
                                        </p:tgtEl>
                                        <p:attrNameLst>
                                          <p:attrName>ppt_x</p:attrName>
                                        </p:attrNameLst>
                                      </p:cBhvr>
                                      <p:tavLst>
                                        <p:tav tm="0">
                                          <p:val>
                                            <p:strVal val="#ppt_x"/>
                                          </p:val>
                                        </p:tav>
                                        <p:tav tm="100000">
                                          <p:val>
                                            <p:strVal val="#ppt_x"/>
                                          </p:val>
                                        </p:tav>
                                      </p:tavLst>
                                    </p:anim>
                                    <p:anim calcmode="lin" valueType="num">
                                      <p:cBhvr>
                                        <p:cTn id="16" dur="1000" fill="hold"/>
                                        <p:tgtEl>
                                          <p:spTgt spid="118788"/>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118789"/>
                                        </p:tgtEl>
                                        <p:attrNameLst>
                                          <p:attrName>style.visibility</p:attrName>
                                        </p:attrNameLst>
                                      </p:cBhvr>
                                      <p:to>
                                        <p:strVal val="visible"/>
                                      </p:to>
                                    </p:set>
                                    <p:animEffect transition="in" filter="fade">
                                      <p:cBhvr>
                                        <p:cTn id="21" dur="1000"/>
                                        <p:tgtEl>
                                          <p:spTgt spid="118789"/>
                                        </p:tgtEl>
                                      </p:cBhvr>
                                    </p:animEffect>
                                    <p:anim calcmode="lin" valueType="num">
                                      <p:cBhvr>
                                        <p:cTn id="22" dur="1000" fill="hold"/>
                                        <p:tgtEl>
                                          <p:spTgt spid="118789"/>
                                        </p:tgtEl>
                                        <p:attrNameLst>
                                          <p:attrName>ppt_x</p:attrName>
                                        </p:attrNameLst>
                                      </p:cBhvr>
                                      <p:tavLst>
                                        <p:tav tm="0">
                                          <p:val>
                                            <p:strVal val="#ppt_x"/>
                                          </p:val>
                                        </p:tav>
                                        <p:tav tm="100000">
                                          <p:val>
                                            <p:strVal val="#ppt_x"/>
                                          </p:val>
                                        </p:tav>
                                      </p:tavLst>
                                    </p:anim>
                                    <p:anim calcmode="lin" valueType="num">
                                      <p:cBhvr>
                                        <p:cTn id="23" dur="1000" fill="hold"/>
                                        <p:tgtEl>
                                          <p:spTgt spid="118789"/>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118790"/>
                                        </p:tgtEl>
                                        <p:attrNameLst>
                                          <p:attrName>style.visibility</p:attrName>
                                        </p:attrNameLst>
                                      </p:cBhvr>
                                      <p:to>
                                        <p:strVal val="visible"/>
                                      </p:to>
                                    </p:set>
                                    <p:animEffect transition="in" filter="fade">
                                      <p:cBhvr>
                                        <p:cTn id="28" dur="1000"/>
                                        <p:tgtEl>
                                          <p:spTgt spid="118790"/>
                                        </p:tgtEl>
                                      </p:cBhvr>
                                    </p:animEffect>
                                    <p:anim calcmode="lin" valueType="num">
                                      <p:cBhvr>
                                        <p:cTn id="29" dur="1000" fill="hold"/>
                                        <p:tgtEl>
                                          <p:spTgt spid="118790"/>
                                        </p:tgtEl>
                                        <p:attrNameLst>
                                          <p:attrName>ppt_x</p:attrName>
                                        </p:attrNameLst>
                                      </p:cBhvr>
                                      <p:tavLst>
                                        <p:tav tm="0">
                                          <p:val>
                                            <p:strVal val="#ppt_x"/>
                                          </p:val>
                                        </p:tav>
                                        <p:tav tm="100000">
                                          <p:val>
                                            <p:strVal val="#ppt_x"/>
                                          </p:val>
                                        </p:tav>
                                      </p:tavLst>
                                    </p:anim>
                                    <p:anim calcmode="lin" valueType="num">
                                      <p:cBhvr>
                                        <p:cTn id="30" dur="1000" fill="hold"/>
                                        <p:tgtEl>
                                          <p:spTgt spid="118790"/>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nodeType="clickEffect">
                                  <p:stCondLst>
                                    <p:cond delay="0"/>
                                  </p:stCondLst>
                                  <p:childTnLst>
                                    <p:set>
                                      <p:cBhvr>
                                        <p:cTn id="34" dur="1" fill="hold">
                                          <p:stCondLst>
                                            <p:cond delay="0"/>
                                          </p:stCondLst>
                                        </p:cTn>
                                        <p:tgtEl>
                                          <p:spTgt spid="118791"/>
                                        </p:tgtEl>
                                        <p:attrNameLst>
                                          <p:attrName>style.visibility</p:attrName>
                                        </p:attrNameLst>
                                      </p:cBhvr>
                                      <p:to>
                                        <p:strVal val="visible"/>
                                      </p:to>
                                    </p:set>
                                    <p:animEffect transition="in" filter="fade">
                                      <p:cBhvr>
                                        <p:cTn id="35" dur="1000"/>
                                        <p:tgtEl>
                                          <p:spTgt spid="118791"/>
                                        </p:tgtEl>
                                      </p:cBhvr>
                                    </p:animEffect>
                                    <p:anim calcmode="lin" valueType="num">
                                      <p:cBhvr>
                                        <p:cTn id="36" dur="1000" fill="hold"/>
                                        <p:tgtEl>
                                          <p:spTgt spid="118791"/>
                                        </p:tgtEl>
                                        <p:attrNameLst>
                                          <p:attrName>ppt_x</p:attrName>
                                        </p:attrNameLst>
                                      </p:cBhvr>
                                      <p:tavLst>
                                        <p:tav tm="0">
                                          <p:val>
                                            <p:strVal val="#ppt_x"/>
                                          </p:val>
                                        </p:tav>
                                        <p:tav tm="100000">
                                          <p:val>
                                            <p:strVal val="#ppt_x"/>
                                          </p:val>
                                        </p:tav>
                                      </p:tavLst>
                                    </p:anim>
                                    <p:anim calcmode="lin" valueType="num">
                                      <p:cBhvr>
                                        <p:cTn id="37" dur="1000" fill="hold"/>
                                        <p:tgtEl>
                                          <p:spTgt spid="118791"/>
                                        </p:tgtEl>
                                        <p:attrNameLst>
                                          <p:attrName>ppt_y</p:attrName>
                                        </p:attrNameLst>
                                      </p:cBhvr>
                                      <p:tavLst>
                                        <p:tav tm="0">
                                          <p:val>
                                            <p:strVal val="#ppt_y+.1"/>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2" presetClass="entr" presetSubtype="0" fill="hold" nodeType="clickEffect">
                                  <p:stCondLst>
                                    <p:cond delay="0"/>
                                  </p:stCondLst>
                                  <p:childTnLst>
                                    <p:set>
                                      <p:cBhvr>
                                        <p:cTn id="41" dur="1" fill="hold">
                                          <p:stCondLst>
                                            <p:cond delay="0"/>
                                          </p:stCondLst>
                                        </p:cTn>
                                        <p:tgtEl>
                                          <p:spTgt spid="118792"/>
                                        </p:tgtEl>
                                        <p:attrNameLst>
                                          <p:attrName>style.visibility</p:attrName>
                                        </p:attrNameLst>
                                      </p:cBhvr>
                                      <p:to>
                                        <p:strVal val="visible"/>
                                      </p:to>
                                    </p:set>
                                    <p:animEffect transition="in" filter="fade">
                                      <p:cBhvr>
                                        <p:cTn id="42" dur="1000"/>
                                        <p:tgtEl>
                                          <p:spTgt spid="118792"/>
                                        </p:tgtEl>
                                      </p:cBhvr>
                                    </p:animEffect>
                                    <p:anim calcmode="lin" valueType="num">
                                      <p:cBhvr>
                                        <p:cTn id="43" dur="1000" fill="hold"/>
                                        <p:tgtEl>
                                          <p:spTgt spid="118792"/>
                                        </p:tgtEl>
                                        <p:attrNameLst>
                                          <p:attrName>ppt_x</p:attrName>
                                        </p:attrNameLst>
                                      </p:cBhvr>
                                      <p:tavLst>
                                        <p:tav tm="0">
                                          <p:val>
                                            <p:strVal val="#ppt_x"/>
                                          </p:val>
                                        </p:tav>
                                        <p:tav tm="100000">
                                          <p:val>
                                            <p:strVal val="#ppt_x"/>
                                          </p:val>
                                        </p:tav>
                                      </p:tavLst>
                                    </p:anim>
                                    <p:anim calcmode="lin" valueType="num">
                                      <p:cBhvr>
                                        <p:cTn id="44" dur="1000" fill="hold"/>
                                        <p:tgtEl>
                                          <p:spTgt spid="11879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7" grpId="0" build="p"/>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EE37A7D5-DAB1-7BF6-FB22-AA8AE8F10C20}"/>
              </a:ext>
            </a:extLst>
          </p:cNvPr>
          <p:cNvSpPr>
            <a:spLocks noGrp="1"/>
          </p:cNvSpPr>
          <p:nvPr>
            <p:ph idx="1"/>
          </p:nvPr>
        </p:nvSpPr>
        <p:spPr>
          <a:xfrm>
            <a:off x="2057400" y="1143000"/>
            <a:ext cx="7931150" cy="1828800"/>
          </a:xfrm>
        </p:spPr>
        <p:txBody>
          <a:bodyPr vert="horz" wrap="square" lIns="80962" tIns="41275" rIns="80962" bIns="41275" numCol="1" anchor="t" anchorCtr="0" compatLnSpc="1">
            <a:prstTxWarp prst="textNoShape">
              <a:avLst/>
            </a:prstTxWarp>
          </a:bodyPr>
          <a:lstStyle/>
          <a:p>
            <a:pPr marL="0" indent="0" defTabSz="804863" eaLnBrk="1" hangingPunct="1">
              <a:lnSpc>
                <a:spcPct val="70000"/>
              </a:lnSpc>
              <a:spcBef>
                <a:spcPct val="0"/>
              </a:spcBef>
              <a:buNone/>
            </a:pPr>
            <a:r>
              <a:rPr lang="en-US" altLang="en-US" sz="2600">
                <a:latin typeface="Times New Roman" panose="02020603050405020304" pitchFamily="18" charset="0"/>
                <a:ea typeface="ＭＳ Ｐゴシック" panose="020B0600070205080204" pitchFamily="34" charset="-128"/>
              </a:rPr>
              <a:t>Assume the total cost of a college education will be $50,000 when your child enters college in 12 years. You have $5,000 to invest today. What rate of interest must you earn on your investment to cover the cost of your child’s education? </a:t>
            </a:r>
            <a:r>
              <a:rPr lang="en-US" altLang="en-US" sz="2600">
                <a:ea typeface="ＭＳ Ｐゴシック" panose="020B0600070205080204" pitchFamily="34" charset="-128"/>
              </a:rPr>
              <a:t>	</a:t>
            </a:r>
          </a:p>
        </p:txBody>
      </p:sp>
      <p:sp>
        <p:nvSpPr>
          <p:cNvPr id="37890" name="Rectangle 3">
            <a:extLst>
              <a:ext uri="{FF2B5EF4-FFF2-40B4-BE49-F238E27FC236}">
                <a16:creationId xmlns:a16="http://schemas.microsoft.com/office/drawing/2014/main" id="{14E927B7-3329-3A3D-1AE0-BDA0E0A63341}"/>
              </a:ext>
            </a:extLst>
          </p:cNvPr>
          <p:cNvSpPr>
            <a:spLocks noGrp="1" noChangeArrowheads="1"/>
          </p:cNvSpPr>
          <p:nvPr>
            <p:ph type="title"/>
          </p:nvPr>
        </p:nvSpPr>
        <p:spPr>
          <a:xfrm>
            <a:off x="1905000" y="381000"/>
            <a:ext cx="8077200" cy="666750"/>
          </a:xfrm>
        </p:spPr>
        <p:txBody>
          <a:bodyPr vert="horz" lIns="92075" tIns="46038" rIns="92075" bIns="46038" rtlCol="0" anchor="ctr">
            <a:normAutofit/>
            <a:scene3d>
              <a:camera prst="orthographicFront"/>
              <a:lightRig rig="soft" dir="t"/>
            </a:scene3d>
            <a:sp3d prstMaterial="softEdge">
              <a:bevelT w="25400" h="25400"/>
            </a:sp3d>
          </a:bodyPr>
          <a:lstStyle/>
          <a:p>
            <a:pPr eaLnBrk="1" fontAlgn="auto" hangingPunct="1">
              <a:spcAft>
                <a:spcPts val="0"/>
              </a:spcAft>
              <a:defRPr/>
            </a:pPr>
            <a:r>
              <a:rPr lang="en-US" altLang="en-US" sz="3400" dirty="0">
                <a:ea typeface="+mj-ea"/>
                <a:cs typeface="+mj-cs"/>
              </a:rPr>
              <a:t>What Rate Is Enough?</a:t>
            </a:r>
          </a:p>
        </p:txBody>
      </p:sp>
      <p:graphicFrame>
        <p:nvGraphicFramePr>
          <p:cNvPr id="119812" name="Object 4">
            <a:extLst>
              <a:ext uri="{FF2B5EF4-FFF2-40B4-BE49-F238E27FC236}">
                <a16:creationId xmlns:a16="http://schemas.microsoft.com/office/drawing/2014/main" id="{C7291AD7-D1CC-D3B0-1727-1977AD0AD178}"/>
              </a:ext>
            </a:extLst>
          </p:cNvPr>
          <p:cNvGraphicFramePr>
            <a:graphicFrameLocks noChangeAspect="1"/>
          </p:cNvGraphicFramePr>
          <p:nvPr/>
        </p:nvGraphicFramePr>
        <p:xfrm>
          <a:off x="2133600" y="3048001"/>
          <a:ext cx="2762250" cy="595313"/>
        </p:xfrm>
        <a:graphic>
          <a:graphicData uri="http://schemas.openxmlformats.org/presentationml/2006/ole">
            <mc:AlternateContent xmlns:mc="http://schemas.openxmlformats.org/markup-compatibility/2006">
              <mc:Choice xmlns:v="urn:schemas-microsoft-com:vml" Requires="v">
                <p:oleObj name="Equation" r:id="rId3" imgW="1023384" imgH="146787" progId="Equation.3">
                  <p:embed/>
                </p:oleObj>
              </mc:Choice>
              <mc:Fallback>
                <p:oleObj name="Equation" r:id="rId3" imgW="1023384" imgH="146787" progId="Equation.3">
                  <p:embed/>
                  <p:pic>
                    <p:nvPicPr>
                      <p:cNvPr id="119812" name="Object 4">
                        <a:extLst>
                          <a:ext uri="{FF2B5EF4-FFF2-40B4-BE49-F238E27FC236}">
                            <a16:creationId xmlns:a16="http://schemas.microsoft.com/office/drawing/2014/main" id="{C7291AD7-D1CC-D3B0-1727-1977AD0AD1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3048001"/>
                        <a:ext cx="2762250" cy="595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9813" name="Object 5">
            <a:extLst>
              <a:ext uri="{FF2B5EF4-FFF2-40B4-BE49-F238E27FC236}">
                <a16:creationId xmlns:a16="http://schemas.microsoft.com/office/drawing/2014/main" id="{D0AD6226-49D6-83F3-0F44-0BC98EE5FBCE}"/>
              </a:ext>
            </a:extLst>
          </p:cNvPr>
          <p:cNvGraphicFramePr>
            <a:graphicFrameLocks noChangeAspect="1"/>
          </p:cNvGraphicFramePr>
          <p:nvPr/>
        </p:nvGraphicFramePr>
        <p:xfrm>
          <a:off x="5684839" y="3094038"/>
          <a:ext cx="4111625" cy="563562"/>
        </p:xfrm>
        <a:graphic>
          <a:graphicData uri="http://schemas.openxmlformats.org/presentationml/2006/ole">
            <mc:AlternateContent xmlns:mc="http://schemas.openxmlformats.org/markup-compatibility/2006">
              <mc:Choice xmlns:v="urn:schemas-microsoft-com:vml" Requires="v">
                <p:oleObj name="Equation" r:id="rId5" imgW="1567543" imgH="135914" progId="Equation.3">
                  <p:embed/>
                </p:oleObj>
              </mc:Choice>
              <mc:Fallback>
                <p:oleObj name="Equation" r:id="rId5" imgW="1567543" imgH="135914" progId="Equation.3">
                  <p:embed/>
                  <p:pic>
                    <p:nvPicPr>
                      <p:cNvPr id="119813" name="Object 5">
                        <a:extLst>
                          <a:ext uri="{FF2B5EF4-FFF2-40B4-BE49-F238E27FC236}">
                            <a16:creationId xmlns:a16="http://schemas.microsoft.com/office/drawing/2014/main" id="{D0AD6226-49D6-83F3-0F44-0BC98EE5FBC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84839" y="3094038"/>
                        <a:ext cx="4111625" cy="563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9814" name="Object 6">
            <a:extLst>
              <a:ext uri="{FF2B5EF4-FFF2-40B4-BE49-F238E27FC236}">
                <a16:creationId xmlns:a16="http://schemas.microsoft.com/office/drawing/2014/main" id="{E7425B10-B64C-C4D3-1BA9-E7EED3146BFB}"/>
              </a:ext>
            </a:extLst>
          </p:cNvPr>
          <p:cNvGraphicFramePr>
            <a:graphicFrameLocks noChangeAspect="1"/>
          </p:cNvGraphicFramePr>
          <p:nvPr/>
        </p:nvGraphicFramePr>
        <p:xfrm>
          <a:off x="2024063" y="4037013"/>
          <a:ext cx="3611562" cy="1035050"/>
        </p:xfrm>
        <a:graphic>
          <a:graphicData uri="http://schemas.openxmlformats.org/presentationml/2006/ole">
            <mc:AlternateContent xmlns:mc="http://schemas.openxmlformats.org/markup-compatibility/2006">
              <mc:Choice xmlns:v="urn:schemas-microsoft-com:vml" Requires="v">
                <p:oleObj name="Equation" r:id="rId7" imgW="1366316" imgH="326534" progId="Equation.3">
                  <p:embed/>
                </p:oleObj>
              </mc:Choice>
              <mc:Fallback>
                <p:oleObj name="Equation" r:id="rId7" imgW="1366316" imgH="326534" progId="Equation.3">
                  <p:embed/>
                  <p:pic>
                    <p:nvPicPr>
                      <p:cNvPr id="119814" name="Object 6">
                        <a:extLst>
                          <a:ext uri="{FF2B5EF4-FFF2-40B4-BE49-F238E27FC236}">
                            <a16:creationId xmlns:a16="http://schemas.microsoft.com/office/drawing/2014/main" id="{E7425B10-B64C-C4D3-1BA9-E7EED3146BF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24063" y="4037013"/>
                        <a:ext cx="3611562" cy="103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9815" name="Object 7">
            <a:extLst>
              <a:ext uri="{FF2B5EF4-FFF2-40B4-BE49-F238E27FC236}">
                <a16:creationId xmlns:a16="http://schemas.microsoft.com/office/drawing/2014/main" id="{A6C43817-DAE5-D1E5-E222-E22C8536CEF6}"/>
              </a:ext>
            </a:extLst>
          </p:cNvPr>
          <p:cNvGraphicFramePr>
            <a:graphicFrameLocks noChangeAspect="1"/>
          </p:cNvGraphicFramePr>
          <p:nvPr/>
        </p:nvGraphicFramePr>
        <p:xfrm>
          <a:off x="6540500" y="4237038"/>
          <a:ext cx="2071688" cy="563562"/>
        </p:xfrm>
        <a:graphic>
          <a:graphicData uri="http://schemas.openxmlformats.org/presentationml/2006/ole">
            <mc:AlternateContent xmlns:mc="http://schemas.openxmlformats.org/markup-compatibility/2006">
              <mc:Choice xmlns:v="urn:schemas-microsoft-com:vml" Requires="v">
                <p:oleObj name="Equation" r:id="rId9" imgW="745724" imgH="135914" progId="Equation.3">
                  <p:embed/>
                </p:oleObj>
              </mc:Choice>
              <mc:Fallback>
                <p:oleObj name="Equation" r:id="rId9" imgW="745724" imgH="135914" progId="Equation.3">
                  <p:embed/>
                  <p:pic>
                    <p:nvPicPr>
                      <p:cNvPr id="119815" name="Object 7">
                        <a:extLst>
                          <a:ext uri="{FF2B5EF4-FFF2-40B4-BE49-F238E27FC236}">
                            <a16:creationId xmlns:a16="http://schemas.microsoft.com/office/drawing/2014/main" id="{A6C43817-DAE5-D1E5-E222-E22C8536CEF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40500" y="4237038"/>
                        <a:ext cx="2071688" cy="563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9816" name="Object 8">
            <a:extLst>
              <a:ext uri="{FF2B5EF4-FFF2-40B4-BE49-F238E27FC236}">
                <a16:creationId xmlns:a16="http://schemas.microsoft.com/office/drawing/2014/main" id="{FF42FC26-072E-A074-1362-DFDE90F67B64}"/>
              </a:ext>
            </a:extLst>
          </p:cNvPr>
          <p:cNvGraphicFramePr>
            <a:graphicFrameLocks noChangeAspect="1"/>
          </p:cNvGraphicFramePr>
          <p:nvPr/>
        </p:nvGraphicFramePr>
        <p:xfrm>
          <a:off x="3282950" y="5334000"/>
          <a:ext cx="4865688" cy="501650"/>
        </p:xfrm>
        <a:graphic>
          <a:graphicData uri="http://schemas.openxmlformats.org/presentationml/2006/ole">
            <mc:AlternateContent xmlns:mc="http://schemas.openxmlformats.org/markup-compatibility/2006">
              <mc:Choice xmlns:v="urn:schemas-microsoft-com:vml" Requires="v">
                <p:oleObj name="Equation" r:id="rId11" imgW="1877669" imgH="108731" progId="Equation.3">
                  <p:embed/>
                </p:oleObj>
              </mc:Choice>
              <mc:Fallback>
                <p:oleObj name="Equation" r:id="rId11" imgW="1877669" imgH="108731" progId="Equation.3">
                  <p:embed/>
                  <p:pic>
                    <p:nvPicPr>
                      <p:cNvPr id="119816" name="Object 8">
                        <a:extLst>
                          <a:ext uri="{FF2B5EF4-FFF2-40B4-BE49-F238E27FC236}">
                            <a16:creationId xmlns:a16="http://schemas.microsoft.com/office/drawing/2014/main" id="{FF42FC26-072E-A074-1362-DFDE90F67B6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82950" y="5334000"/>
                        <a:ext cx="4865688"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9817" name="Rectangle 9">
            <a:extLst>
              <a:ext uri="{FF2B5EF4-FFF2-40B4-BE49-F238E27FC236}">
                <a16:creationId xmlns:a16="http://schemas.microsoft.com/office/drawing/2014/main" id="{DFED388C-4A90-7A8D-2A58-DCC4AA754AC2}"/>
              </a:ext>
            </a:extLst>
          </p:cNvPr>
          <p:cNvSpPr>
            <a:spLocks noChangeArrowheads="1"/>
          </p:cNvSpPr>
          <p:nvPr/>
        </p:nvSpPr>
        <p:spPr bwMode="auto">
          <a:xfrm>
            <a:off x="6172201" y="2465388"/>
            <a:ext cx="23479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a:solidFill>
                  <a:srgbClr val="644A1A"/>
                </a:solidFill>
              </a:rPr>
              <a:t>About 21.15%.</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9810">
                                            <p:txEl>
                                              <p:pRg st="0" end="0"/>
                                            </p:txEl>
                                          </p:spTgt>
                                        </p:tgtEl>
                                        <p:attrNameLst>
                                          <p:attrName>style.visibility</p:attrName>
                                        </p:attrNameLst>
                                      </p:cBhvr>
                                      <p:to>
                                        <p:strVal val="visible"/>
                                      </p:to>
                                    </p:set>
                                    <p:animEffect transition="in" filter="fade">
                                      <p:cBhvr>
                                        <p:cTn id="7" dur="1000"/>
                                        <p:tgtEl>
                                          <p:spTgt spid="119810">
                                            <p:txEl>
                                              <p:pRg st="0" end="0"/>
                                            </p:txEl>
                                          </p:spTgt>
                                        </p:tgtEl>
                                      </p:cBhvr>
                                    </p:animEffect>
                                    <p:anim calcmode="lin" valueType="num">
                                      <p:cBhvr>
                                        <p:cTn id="8" dur="1000" fill="hold"/>
                                        <p:tgtEl>
                                          <p:spTgt spid="11981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198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119812"/>
                                        </p:tgtEl>
                                        <p:attrNameLst>
                                          <p:attrName>style.visibility</p:attrName>
                                        </p:attrNameLst>
                                      </p:cBhvr>
                                      <p:to>
                                        <p:strVal val="visible"/>
                                      </p:to>
                                    </p:set>
                                    <p:animEffect transition="in" filter="fade">
                                      <p:cBhvr>
                                        <p:cTn id="14" dur="1000"/>
                                        <p:tgtEl>
                                          <p:spTgt spid="119812"/>
                                        </p:tgtEl>
                                      </p:cBhvr>
                                    </p:animEffect>
                                    <p:anim calcmode="lin" valueType="num">
                                      <p:cBhvr>
                                        <p:cTn id="15" dur="1000" fill="hold"/>
                                        <p:tgtEl>
                                          <p:spTgt spid="119812"/>
                                        </p:tgtEl>
                                        <p:attrNameLst>
                                          <p:attrName>ppt_x</p:attrName>
                                        </p:attrNameLst>
                                      </p:cBhvr>
                                      <p:tavLst>
                                        <p:tav tm="0">
                                          <p:val>
                                            <p:strVal val="#ppt_x"/>
                                          </p:val>
                                        </p:tav>
                                        <p:tav tm="100000">
                                          <p:val>
                                            <p:strVal val="#ppt_x"/>
                                          </p:val>
                                        </p:tav>
                                      </p:tavLst>
                                    </p:anim>
                                    <p:anim calcmode="lin" valueType="num">
                                      <p:cBhvr>
                                        <p:cTn id="16" dur="1000" fill="hold"/>
                                        <p:tgtEl>
                                          <p:spTgt spid="119812"/>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119813"/>
                                        </p:tgtEl>
                                        <p:attrNameLst>
                                          <p:attrName>style.visibility</p:attrName>
                                        </p:attrNameLst>
                                      </p:cBhvr>
                                      <p:to>
                                        <p:strVal val="visible"/>
                                      </p:to>
                                    </p:set>
                                    <p:animEffect transition="in" filter="fade">
                                      <p:cBhvr>
                                        <p:cTn id="21" dur="1000"/>
                                        <p:tgtEl>
                                          <p:spTgt spid="119813"/>
                                        </p:tgtEl>
                                      </p:cBhvr>
                                    </p:animEffect>
                                    <p:anim calcmode="lin" valueType="num">
                                      <p:cBhvr>
                                        <p:cTn id="22" dur="1000" fill="hold"/>
                                        <p:tgtEl>
                                          <p:spTgt spid="119813"/>
                                        </p:tgtEl>
                                        <p:attrNameLst>
                                          <p:attrName>ppt_x</p:attrName>
                                        </p:attrNameLst>
                                      </p:cBhvr>
                                      <p:tavLst>
                                        <p:tav tm="0">
                                          <p:val>
                                            <p:strVal val="#ppt_x"/>
                                          </p:val>
                                        </p:tav>
                                        <p:tav tm="100000">
                                          <p:val>
                                            <p:strVal val="#ppt_x"/>
                                          </p:val>
                                        </p:tav>
                                      </p:tavLst>
                                    </p:anim>
                                    <p:anim calcmode="lin" valueType="num">
                                      <p:cBhvr>
                                        <p:cTn id="23" dur="1000" fill="hold"/>
                                        <p:tgtEl>
                                          <p:spTgt spid="119813"/>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119814"/>
                                        </p:tgtEl>
                                        <p:attrNameLst>
                                          <p:attrName>style.visibility</p:attrName>
                                        </p:attrNameLst>
                                      </p:cBhvr>
                                      <p:to>
                                        <p:strVal val="visible"/>
                                      </p:to>
                                    </p:set>
                                    <p:animEffect transition="in" filter="fade">
                                      <p:cBhvr>
                                        <p:cTn id="28" dur="1000"/>
                                        <p:tgtEl>
                                          <p:spTgt spid="119814"/>
                                        </p:tgtEl>
                                      </p:cBhvr>
                                    </p:animEffect>
                                    <p:anim calcmode="lin" valueType="num">
                                      <p:cBhvr>
                                        <p:cTn id="29" dur="1000" fill="hold"/>
                                        <p:tgtEl>
                                          <p:spTgt spid="119814"/>
                                        </p:tgtEl>
                                        <p:attrNameLst>
                                          <p:attrName>ppt_x</p:attrName>
                                        </p:attrNameLst>
                                      </p:cBhvr>
                                      <p:tavLst>
                                        <p:tav tm="0">
                                          <p:val>
                                            <p:strVal val="#ppt_x"/>
                                          </p:val>
                                        </p:tav>
                                        <p:tav tm="100000">
                                          <p:val>
                                            <p:strVal val="#ppt_x"/>
                                          </p:val>
                                        </p:tav>
                                      </p:tavLst>
                                    </p:anim>
                                    <p:anim calcmode="lin" valueType="num">
                                      <p:cBhvr>
                                        <p:cTn id="30" dur="1000" fill="hold"/>
                                        <p:tgtEl>
                                          <p:spTgt spid="119814"/>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nodeType="clickEffect">
                                  <p:stCondLst>
                                    <p:cond delay="0"/>
                                  </p:stCondLst>
                                  <p:childTnLst>
                                    <p:set>
                                      <p:cBhvr>
                                        <p:cTn id="34" dur="1" fill="hold">
                                          <p:stCondLst>
                                            <p:cond delay="0"/>
                                          </p:stCondLst>
                                        </p:cTn>
                                        <p:tgtEl>
                                          <p:spTgt spid="119815"/>
                                        </p:tgtEl>
                                        <p:attrNameLst>
                                          <p:attrName>style.visibility</p:attrName>
                                        </p:attrNameLst>
                                      </p:cBhvr>
                                      <p:to>
                                        <p:strVal val="visible"/>
                                      </p:to>
                                    </p:set>
                                    <p:animEffect transition="in" filter="fade">
                                      <p:cBhvr>
                                        <p:cTn id="35" dur="1000"/>
                                        <p:tgtEl>
                                          <p:spTgt spid="119815"/>
                                        </p:tgtEl>
                                      </p:cBhvr>
                                    </p:animEffect>
                                    <p:anim calcmode="lin" valueType="num">
                                      <p:cBhvr>
                                        <p:cTn id="36" dur="1000" fill="hold"/>
                                        <p:tgtEl>
                                          <p:spTgt spid="119815"/>
                                        </p:tgtEl>
                                        <p:attrNameLst>
                                          <p:attrName>ppt_x</p:attrName>
                                        </p:attrNameLst>
                                      </p:cBhvr>
                                      <p:tavLst>
                                        <p:tav tm="0">
                                          <p:val>
                                            <p:strVal val="#ppt_x"/>
                                          </p:val>
                                        </p:tav>
                                        <p:tav tm="100000">
                                          <p:val>
                                            <p:strVal val="#ppt_x"/>
                                          </p:val>
                                        </p:tav>
                                      </p:tavLst>
                                    </p:anim>
                                    <p:anim calcmode="lin" valueType="num">
                                      <p:cBhvr>
                                        <p:cTn id="37" dur="1000" fill="hold"/>
                                        <p:tgtEl>
                                          <p:spTgt spid="119815"/>
                                        </p:tgtEl>
                                        <p:attrNameLst>
                                          <p:attrName>ppt_y</p:attrName>
                                        </p:attrNameLst>
                                      </p:cBhvr>
                                      <p:tavLst>
                                        <p:tav tm="0">
                                          <p:val>
                                            <p:strVal val="#ppt_y+.1"/>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2" presetClass="entr" presetSubtype="0" fill="hold" nodeType="clickEffect">
                                  <p:stCondLst>
                                    <p:cond delay="0"/>
                                  </p:stCondLst>
                                  <p:childTnLst>
                                    <p:set>
                                      <p:cBhvr>
                                        <p:cTn id="41" dur="1" fill="hold">
                                          <p:stCondLst>
                                            <p:cond delay="0"/>
                                          </p:stCondLst>
                                        </p:cTn>
                                        <p:tgtEl>
                                          <p:spTgt spid="119816"/>
                                        </p:tgtEl>
                                        <p:attrNameLst>
                                          <p:attrName>style.visibility</p:attrName>
                                        </p:attrNameLst>
                                      </p:cBhvr>
                                      <p:to>
                                        <p:strVal val="visible"/>
                                      </p:to>
                                    </p:set>
                                    <p:animEffect transition="in" filter="fade">
                                      <p:cBhvr>
                                        <p:cTn id="42" dur="1000"/>
                                        <p:tgtEl>
                                          <p:spTgt spid="119816"/>
                                        </p:tgtEl>
                                      </p:cBhvr>
                                    </p:animEffect>
                                    <p:anim calcmode="lin" valueType="num">
                                      <p:cBhvr>
                                        <p:cTn id="43" dur="1000" fill="hold"/>
                                        <p:tgtEl>
                                          <p:spTgt spid="119816"/>
                                        </p:tgtEl>
                                        <p:attrNameLst>
                                          <p:attrName>ppt_x</p:attrName>
                                        </p:attrNameLst>
                                      </p:cBhvr>
                                      <p:tavLst>
                                        <p:tav tm="0">
                                          <p:val>
                                            <p:strVal val="#ppt_x"/>
                                          </p:val>
                                        </p:tav>
                                        <p:tav tm="100000">
                                          <p:val>
                                            <p:strVal val="#ppt_x"/>
                                          </p:val>
                                        </p:tav>
                                      </p:tavLst>
                                    </p:anim>
                                    <p:anim calcmode="lin" valueType="num">
                                      <p:cBhvr>
                                        <p:cTn id="44" dur="1000" fill="hold"/>
                                        <p:tgtEl>
                                          <p:spTgt spid="119816"/>
                                        </p:tgtEl>
                                        <p:attrNameLst>
                                          <p:attrName>ppt_y</p:attrName>
                                        </p:attrNameLst>
                                      </p:cBhvr>
                                      <p:tavLst>
                                        <p:tav tm="0">
                                          <p:val>
                                            <p:strVal val="#ppt_y+.1"/>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19817"/>
                                        </p:tgtEl>
                                        <p:attrNameLst>
                                          <p:attrName>style.visibility</p:attrName>
                                        </p:attrNameLst>
                                      </p:cBhvr>
                                      <p:to>
                                        <p:strVal val="visible"/>
                                      </p:to>
                                    </p:set>
                                    <p:animEffect transition="in" filter="fade">
                                      <p:cBhvr>
                                        <p:cTn id="49" dur="1000"/>
                                        <p:tgtEl>
                                          <p:spTgt spid="119817"/>
                                        </p:tgtEl>
                                      </p:cBhvr>
                                    </p:animEffect>
                                    <p:anim calcmode="lin" valueType="num">
                                      <p:cBhvr>
                                        <p:cTn id="50" dur="1000" fill="hold"/>
                                        <p:tgtEl>
                                          <p:spTgt spid="119817"/>
                                        </p:tgtEl>
                                        <p:attrNameLst>
                                          <p:attrName>ppt_x</p:attrName>
                                        </p:attrNameLst>
                                      </p:cBhvr>
                                      <p:tavLst>
                                        <p:tav tm="0">
                                          <p:val>
                                            <p:strVal val="#ppt_x"/>
                                          </p:val>
                                        </p:tav>
                                        <p:tav tm="100000">
                                          <p:val>
                                            <p:strVal val="#ppt_x"/>
                                          </p:val>
                                        </p:tav>
                                      </p:tavLst>
                                    </p:anim>
                                    <p:anim calcmode="lin" valueType="num">
                                      <p:cBhvr>
                                        <p:cTn id="51" dur="1000" fill="hold"/>
                                        <p:tgtEl>
                                          <p:spTgt spid="1198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0" grpId="0" build="p"/>
      <p:bldP spid="11981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3" name="Rectangle 3">
            <a:extLst>
              <a:ext uri="{FF2B5EF4-FFF2-40B4-BE49-F238E27FC236}">
                <a16:creationId xmlns:a16="http://schemas.microsoft.com/office/drawing/2014/main" id="{2C4736B3-10CB-4D55-9C0C-DADBE8061E1E}"/>
              </a:ext>
            </a:extLst>
          </p:cNvPr>
          <p:cNvSpPr>
            <a:spLocks noGrp="1"/>
          </p:cNvSpPr>
          <p:nvPr>
            <p:ph idx="1"/>
          </p:nvPr>
        </p:nvSpPr>
        <p:spPr/>
        <p:txBody>
          <a:bodyPr/>
          <a:lstStyle/>
          <a:p>
            <a:pPr eaLnBrk="1" hangingPunct="1"/>
            <a:r>
              <a:rPr lang="en-US" altLang="en-US" sz="2800">
                <a:latin typeface="Times New Roman" panose="02020603050405020304" pitchFamily="18" charset="0"/>
                <a:ea typeface="ＭＳ Ｐゴシック" panose="020B0600070205080204" pitchFamily="34" charset="-128"/>
              </a:rPr>
              <a:t>Consider an investment that pays $200 one year from now, with cash flows increasing by $200 per year through year 4. If the interest rate is 12%, what is the present value of this stream of cash flows?</a:t>
            </a:r>
          </a:p>
          <a:p>
            <a:pPr eaLnBrk="1" hangingPunct="1"/>
            <a:r>
              <a:rPr lang="en-US" altLang="en-US" sz="2800">
                <a:latin typeface="Times New Roman" panose="02020603050405020304" pitchFamily="18" charset="0"/>
                <a:ea typeface="ＭＳ Ｐゴシック" panose="020B0600070205080204" pitchFamily="34" charset="-128"/>
              </a:rPr>
              <a:t>If the issuer offers this investment for $1,500, should you purchase it?</a:t>
            </a:r>
          </a:p>
        </p:txBody>
      </p:sp>
      <p:sp>
        <p:nvSpPr>
          <p:cNvPr id="41986" name="Rectangle 2">
            <a:extLst>
              <a:ext uri="{FF2B5EF4-FFF2-40B4-BE49-F238E27FC236}">
                <a16:creationId xmlns:a16="http://schemas.microsoft.com/office/drawing/2014/main" id="{29B00A41-07D2-58C7-A1BB-81E9CFAB0727}"/>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Multiple Cash Flows</a:t>
            </a:r>
            <a:r>
              <a:rPr lang="en-US" altLang="en-US" dirty="0">
                <a:ea typeface="+mj-ea"/>
                <a:cs typeface="+mj-cs"/>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30403">
                                            <p:txEl>
                                              <p:pRg st="0" end="0"/>
                                            </p:txEl>
                                          </p:spTgt>
                                        </p:tgtEl>
                                        <p:attrNameLst>
                                          <p:attrName>style.visibility</p:attrName>
                                        </p:attrNameLst>
                                      </p:cBhvr>
                                      <p:to>
                                        <p:strVal val="visible"/>
                                      </p:to>
                                    </p:set>
                                    <p:animEffect transition="in" filter="fade">
                                      <p:cBhvr>
                                        <p:cTn id="7" dur="1000"/>
                                        <p:tgtEl>
                                          <p:spTgt spid="230403">
                                            <p:txEl>
                                              <p:pRg st="0" end="0"/>
                                            </p:txEl>
                                          </p:spTgt>
                                        </p:tgtEl>
                                      </p:cBhvr>
                                    </p:animEffect>
                                    <p:anim calcmode="lin" valueType="num">
                                      <p:cBhvr>
                                        <p:cTn id="8" dur="1000" fill="hold"/>
                                        <p:tgtEl>
                                          <p:spTgt spid="23040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3040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30403">
                                            <p:txEl>
                                              <p:pRg st="1" end="1"/>
                                            </p:txEl>
                                          </p:spTgt>
                                        </p:tgtEl>
                                        <p:attrNameLst>
                                          <p:attrName>style.visibility</p:attrName>
                                        </p:attrNameLst>
                                      </p:cBhvr>
                                      <p:to>
                                        <p:strVal val="visible"/>
                                      </p:to>
                                    </p:set>
                                    <p:animEffect transition="in" filter="fade">
                                      <p:cBhvr>
                                        <p:cTn id="14" dur="1000"/>
                                        <p:tgtEl>
                                          <p:spTgt spid="230403">
                                            <p:txEl>
                                              <p:pRg st="1" end="1"/>
                                            </p:txEl>
                                          </p:spTgt>
                                        </p:tgtEl>
                                      </p:cBhvr>
                                    </p:animEffect>
                                    <p:anim calcmode="lin" valueType="num">
                                      <p:cBhvr>
                                        <p:cTn id="15" dur="1000" fill="hold"/>
                                        <p:tgtEl>
                                          <p:spTgt spid="23040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3040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8395A516-7B26-E7FA-A1B0-0262D6670EEF}"/>
              </a:ext>
            </a:extLst>
          </p:cNvPr>
          <p:cNvSpPr>
            <a:spLocks noGrp="1" noChangeArrowheads="1"/>
          </p:cNvSpPr>
          <p:nvPr>
            <p:ph type="title"/>
          </p:nvPr>
        </p:nvSpPr>
        <p:spPr/>
        <p:txBody>
          <a:bodyPr/>
          <a:lstStyle/>
          <a:p>
            <a:pPr eaLnBrk="1" fontAlgn="auto" hangingPunct="1">
              <a:spcAft>
                <a:spcPts val="0"/>
              </a:spcAft>
              <a:defRPr/>
            </a:pPr>
            <a:r>
              <a:rPr lang="en-US" altLang="en-US" sz="3400" dirty="0">
                <a:solidFill>
                  <a:schemeClr val="bg2"/>
                </a:solidFill>
                <a:ea typeface="+mj-ea"/>
                <a:cs typeface="+mj-cs"/>
              </a:rPr>
              <a:t>Multiple Cash Flows</a:t>
            </a:r>
          </a:p>
        </p:txBody>
      </p:sp>
      <p:grpSp>
        <p:nvGrpSpPr>
          <p:cNvPr id="164867" name="Group 3">
            <a:extLst>
              <a:ext uri="{FF2B5EF4-FFF2-40B4-BE49-F238E27FC236}">
                <a16:creationId xmlns:a16="http://schemas.microsoft.com/office/drawing/2014/main" id="{EB596A14-5A29-6E7C-7E18-4E23FDDB56F6}"/>
              </a:ext>
            </a:extLst>
          </p:cNvPr>
          <p:cNvGrpSpPr>
            <a:grpSpLocks/>
          </p:cNvGrpSpPr>
          <p:nvPr/>
        </p:nvGrpSpPr>
        <p:grpSpPr bwMode="auto">
          <a:xfrm>
            <a:off x="2286000" y="1219201"/>
            <a:ext cx="7086600" cy="4405313"/>
            <a:chOff x="624" y="1056"/>
            <a:chExt cx="4464" cy="2775"/>
          </a:xfrm>
        </p:grpSpPr>
        <p:sp>
          <p:nvSpPr>
            <p:cNvPr id="164870" name="Line 4">
              <a:extLst>
                <a:ext uri="{FF2B5EF4-FFF2-40B4-BE49-F238E27FC236}">
                  <a16:creationId xmlns:a16="http://schemas.microsoft.com/office/drawing/2014/main" id="{88234302-9D79-4B96-10B6-D8892F1785EA}"/>
                </a:ext>
              </a:extLst>
            </p:cNvPr>
            <p:cNvSpPr>
              <a:spLocks noChangeShapeType="1"/>
            </p:cNvSpPr>
            <p:nvPr/>
          </p:nvSpPr>
          <p:spPr bwMode="auto">
            <a:xfrm>
              <a:off x="960" y="1728"/>
              <a:ext cx="4128" cy="0"/>
            </a:xfrm>
            <a:prstGeom prst="line">
              <a:avLst/>
            </a:prstGeom>
            <a:noFill/>
            <a:ln w="12700" cap="sq">
              <a:solidFill>
                <a:schemeClr val="bg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164871" name="Line 5">
              <a:extLst>
                <a:ext uri="{FF2B5EF4-FFF2-40B4-BE49-F238E27FC236}">
                  <a16:creationId xmlns:a16="http://schemas.microsoft.com/office/drawing/2014/main" id="{418A4A88-3581-799C-1F76-0FA58DE2EFAA}"/>
                </a:ext>
              </a:extLst>
            </p:cNvPr>
            <p:cNvSpPr>
              <a:spLocks noChangeShapeType="1"/>
            </p:cNvSpPr>
            <p:nvPr/>
          </p:nvSpPr>
          <p:spPr bwMode="auto">
            <a:xfrm>
              <a:off x="960" y="1344"/>
              <a:ext cx="0" cy="768"/>
            </a:xfrm>
            <a:prstGeom prst="line">
              <a:avLst/>
            </a:prstGeom>
            <a:noFill/>
            <a:ln w="12700" cap="sq">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164872" name="Line 6">
              <a:extLst>
                <a:ext uri="{FF2B5EF4-FFF2-40B4-BE49-F238E27FC236}">
                  <a16:creationId xmlns:a16="http://schemas.microsoft.com/office/drawing/2014/main" id="{FEB42E63-E045-66F1-6170-27994E5A37CD}"/>
                </a:ext>
              </a:extLst>
            </p:cNvPr>
            <p:cNvSpPr>
              <a:spLocks noChangeShapeType="1"/>
            </p:cNvSpPr>
            <p:nvPr/>
          </p:nvSpPr>
          <p:spPr bwMode="auto">
            <a:xfrm>
              <a:off x="1632" y="1344"/>
              <a:ext cx="0" cy="768"/>
            </a:xfrm>
            <a:prstGeom prst="line">
              <a:avLst/>
            </a:prstGeom>
            <a:noFill/>
            <a:ln w="12700" cap="sq">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164873" name="Line 7">
              <a:extLst>
                <a:ext uri="{FF2B5EF4-FFF2-40B4-BE49-F238E27FC236}">
                  <a16:creationId xmlns:a16="http://schemas.microsoft.com/office/drawing/2014/main" id="{D7C67262-754B-0317-008F-80F5CE3CF967}"/>
                </a:ext>
              </a:extLst>
            </p:cNvPr>
            <p:cNvSpPr>
              <a:spLocks noChangeShapeType="1"/>
            </p:cNvSpPr>
            <p:nvPr/>
          </p:nvSpPr>
          <p:spPr bwMode="auto">
            <a:xfrm>
              <a:off x="2304" y="1344"/>
              <a:ext cx="0" cy="768"/>
            </a:xfrm>
            <a:prstGeom prst="line">
              <a:avLst/>
            </a:prstGeom>
            <a:noFill/>
            <a:ln w="12700" cap="sq">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164874" name="Line 8">
              <a:extLst>
                <a:ext uri="{FF2B5EF4-FFF2-40B4-BE49-F238E27FC236}">
                  <a16:creationId xmlns:a16="http://schemas.microsoft.com/office/drawing/2014/main" id="{8A255D41-1BA9-CEEE-5F28-C077A2D78A38}"/>
                </a:ext>
              </a:extLst>
            </p:cNvPr>
            <p:cNvSpPr>
              <a:spLocks noChangeShapeType="1"/>
            </p:cNvSpPr>
            <p:nvPr/>
          </p:nvSpPr>
          <p:spPr bwMode="auto">
            <a:xfrm>
              <a:off x="3072" y="1344"/>
              <a:ext cx="0" cy="768"/>
            </a:xfrm>
            <a:prstGeom prst="line">
              <a:avLst/>
            </a:prstGeom>
            <a:noFill/>
            <a:ln w="12700" cap="sq">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164875" name="Line 9">
              <a:extLst>
                <a:ext uri="{FF2B5EF4-FFF2-40B4-BE49-F238E27FC236}">
                  <a16:creationId xmlns:a16="http://schemas.microsoft.com/office/drawing/2014/main" id="{035FA6D4-69FC-C096-FA2B-E199C0430521}"/>
                </a:ext>
              </a:extLst>
            </p:cNvPr>
            <p:cNvSpPr>
              <a:spLocks noChangeShapeType="1"/>
            </p:cNvSpPr>
            <p:nvPr/>
          </p:nvSpPr>
          <p:spPr bwMode="auto">
            <a:xfrm>
              <a:off x="3840" y="1344"/>
              <a:ext cx="0" cy="768"/>
            </a:xfrm>
            <a:prstGeom prst="line">
              <a:avLst/>
            </a:prstGeom>
            <a:noFill/>
            <a:ln w="12700" cap="sq">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164876" name="Text Box 10">
              <a:extLst>
                <a:ext uri="{FF2B5EF4-FFF2-40B4-BE49-F238E27FC236}">
                  <a16:creationId xmlns:a16="http://schemas.microsoft.com/office/drawing/2014/main" id="{4338F187-F59F-3505-D17F-A6A8CDB0294F}"/>
                </a:ext>
              </a:extLst>
            </p:cNvPr>
            <p:cNvSpPr txBox="1">
              <a:spLocks noChangeArrowheads="1"/>
            </p:cNvSpPr>
            <p:nvPr/>
          </p:nvSpPr>
          <p:spPr bwMode="auto">
            <a:xfrm>
              <a:off x="864" y="1056"/>
              <a:ext cx="336" cy="288"/>
            </a:xfrm>
            <a:prstGeom prst="rect">
              <a:avLst/>
            </a:prstGeom>
            <a:noFill/>
            <a:ln w="12700" cap="sq">
              <a:solidFill>
                <a:schemeClr val="bg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2400">
                  <a:solidFill>
                    <a:prstClr val="black"/>
                  </a:solidFill>
                </a:rPr>
                <a:t>0</a:t>
              </a:r>
            </a:p>
          </p:txBody>
        </p:sp>
        <p:sp>
          <p:nvSpPr>
            <p:cNvPr id="164877" name="Text Box 11">
              <a:extLst>
                <a:ext uri="{FF2B5EF4-FFF2-40B4-BE49-F238E27FC236}">
                  <a16:creationId xmlns:a16="http://schemas.microsoft.com/office/drawing/2014/main" id="{3B34489B-4606-C8C1-DD04-CFEE1B9C433C}"/>
                </a:ext>
              </a:extLst>
            </p:cNvPr>
            <p:cNvSpPr txBox="1">
              <a:spLocks noChangeArrowheads="1"/>
            </p:cNvSpPr>
            <p:nvPr/>
          </p:nvSpPr>
          <p:spPr bwMode="auto">
            <a:xfrm>
              <a:off x="1488" y="1056"/>
              <a:ext cx="336" cy="288"/>
            </a:xfrm>
            <a:prstGeom prst="rect">
              <a:avLst/>
            </a:prstGeom>
            <a:noFill/>
            <a:ln w="12700" cap="sq">
              <a:solidFill>
                <a:schemeClr val="bg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2400">
                  <a:solidFill>
                    <a:prstClr val="black"/>
                  </a:solidFill>
                </a:rPr>
                <a:t>1</a:t>
              </a:r>
            </a:p>
          </p:txBody>
        </p:sp>
        <p:sp>
          <p:nvSpPr>
            <p:cNvPr id="164878" name="Text Box 12">
              <a:extLst>
                <a:ext uri="{FF2B5EF4-FFF2-40B4-BE49-F238E27FC236}">
                  <a16:creationId xmlns:a16="http://schemas.microsoft.com/office/drawing/2014/main" id="{2CD7F87A-60A8-7152-81F4-2F6B225017E3}"/>
                </a:ext>
              </a:extLst>
            </p:cNvPr>
            <p:cNvSpPr txBox="1">
              <a:spLocks noChangeArrowheads="1"/>
            </p:cNvSpPr>
            <p:nvPr/>
          </p:nvSpPr>
          <p:spPr bwMode="auto">
            <a:xfrm>
              <a:off x="2208" y="1056"/>
              <a:ext cx="336" cy="288"/>
            </a:xfrm>
            <a:prstGeom prst="rect">
              <a:avLst/>
            </a:prstGeom>
            <a:noFill/>
            <a:ln w="12700" cap="sq">
              <a:solidFill>
                <a:schemeClr val="bg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2400">
                  <a:solidFill>
                    <a:prstClr val="black"/>
                  </a:solidFill>
                </a:rPr>
                <a:t>2</a:t>
              </a:r>
            </a:p>
          </p:txBody>
        </p:sp>
        <p:sp>
          <p:nvSpPr>
            <p:cNvPr id="164879" name="Text Box 13">
              <a:extLst>
                <a:ext uri="{FF2B5EF4-FFF2-40B4-BE49-F238E27FC236}">
                  <a16:creationId xmlns:a16="http://schemas.microsoft.com/office/drawing/2014/main" id="{18DC82BC-6932-84BC-27AE-1E60573C3874}"/>
                </a:ext>
              </a:extLst>
            </p:cNvPr>
            <p:cNvSpPr txBox="1">
              <a:spLocks noChangeArrowheads="1"/>
            </p:cNvSpPr>
            <p:nvPr/>
          </p:nvSpPr>
          <p:spPr bwMode="auto">
            <a:xfrm>
              <a:off x="2976" y="1056"/>
              <a:ext cx="336" cy="288"/>
            </a:xfrm>
            <a:prstGeom prst="rect">
              <a:avLst/>
            </a:prstGeom>
            <a:noFill/>
            <a:ln w="12700" cap="sq">
              <a:solidFill>
                <a:schemeClr val="bg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2400">
                  <a:solidFill>
                    <a:prstClr val="black"/>
                  </a:solidFill>
                </a:rPr>
                <a:t>3</a:t>
              </a:r>
            </a:p>
          </p:txBody>
        </p:sp>
        <p:sp>
          <p:nvSpPr>
            <p:cNvPr id="164880" name="Text Box 14">
              <a:extLst>
                <a:ext uri="{FF2B5EF4-FFF2-40B4-BE49-F238E27FC236}">
                  <a16:creationId xmlns:a16="http://schemas.microsoft.com/office/drawing/2014/main" id="{E12CAC43-20B2-EFE4-7B2D-66E8630BA0B5}"/>
                </a:ext>
              </a:extLst>
            </p:cNvPr>
            <p:cNvSpPr txBox="1">
              <a:spLocks noChangeArrowheads="1"/>
            </p:cNvSpPr>
            <p:nvPr/>
          </p:nvSpPr>
          <p:spPr bwMode="auto">
            <a:xfrm>
              <a:off x="3744" y="1056"/>
              <a:ext cx="336" cy="288"/>
            </a:xfrm>
            <a:prstGeom prst="rect">
              <a:avLst/>
            </a:prstGeom>
            <a:noFill/>
            <a:ln w="12700" cap="sq">
              <a:solidFill>
                <a:schemeClr val="bg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2400">
                  <a:solidFill>
                    <a:prstClr val="black"/>
                  </a:solidFill>
                </a:rPr>
                <a:t>4</a:t>
              </a:r>
            </a:p>
          </p:txBody>
        </p:sp>
        <p:sp>
          <p:nvSpPr>
            <p:cNvPr id="164881" name="Text Box 15">
              <a:extLst>
                <a:ext uri="{FF2B5EF4-FFF2-40B4-BE49-F238E27FC236}">
                  <a16:creationId xmlns:a16="http://schemas.microsoft.com/office/drawing/2014/main" id="{77969514-2406-CA91-D5D6-CA6183871E15}"/>
                </a:ext>
              </a:extLst>
            </p:cNvPr>
            <p:cNvSpPr txBox="1">
              <a:spLocks noChangeArrowheads="1"/>
            </p:cNvSpPr>
            <p:nvPr/>
          </p:nvSpPr>
          <p:spPr bwMode="auto">
            <a:xfrm>
              <a:off x="1488" y="2112"/>
              <a:ext cx="432" cy="288"/>
            </a:xfrm>
            <a:prstGeom prst="rect">
              <a:avLst/>
            </a:prstGeom>
            <a:noFill/>
            <a:ln w="12700" cap="sq">
              <a:solidFill>
                <a:schemeClr val="bg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2400">
                  <a:solidFill>
                    <a:prstClr val="black"/>
                  </a:solidFill>
                </a:rPr>
                <a:t>200</a:t>
              </a:r>
            </a:p>
          </p:txBody>
        </p:sp>
        <p:sp>
          <p:nvSpPr>
            <p:cNvPr id="164882" name="Text Box 16">
              <a:extLst>
                <a:ext uri="{FF2B5EF4-FFF2-40B4-BE49-F238E27FC236}">
                  <a16:creationId xmlns:a16="http://schemas.microsoft.com/office/drawing/2014/main" id="{C37A8EF6-6E25-F45F-27E2-382C2B77E4A9}"/>
                </a:ext>
              </a:extLst>
            </p:cNvPr>
            <p:cNvSpPr txBox="1">
              <a:spLocks noChangeArrowheads="1"/>
            </p:cNvSpPr>
            <p:nvPr/>
          </p:nvSpPr>
          <p:spPr bwMode="auto">
            <a:xfrm>
              <a:off x="2112" y="2112"/>
              <a:ext cx="432" cy="288"/>
            </a:xfrm>
            <a:prstGeom prst="rect">
              <a:avLst/>
            </a:prstGeom>
            <a:noFill/>
            <a:ln w="12700" cap="sq">
              <a:solidFill>
                <a:schemeClr val="bg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2400">
                  <a:solidFill>
                    <a:prstClr val="black"/>
                  </a:solidFill>
                </a:rPr>
                <a:t>400</a:t>
              </a:r>
            </a:p>
          </p:txBody>
        </p:sp>
        <p:sp>
          <p:nvSpPr>
            <p:cNvPr id="164883" name="Text Box 17">
              <a:extLst>
                <a:ext uri="{FF2B5EF4-FFF2-40B4-BE49-F238E27FC236}">
                  <a16:creationId xmlns:a16="http://schemas.microsoft.com/office/drawing/2014/main" id="{70A8420B-1E72-1DFA-14D4-5715DC68E4D5}"/>
                </a:ext>
              </a:extLst>
            </p:cNvPr>
            <p:cNvSpPr txBox="1">
              <a:spLocks noChangeArrowheads="1"/>
            </p:cNvSpPr>
            <p:nvPr/>
          </p:nvSpPr>
          <p:spPr bwMode="auto">
            <a:xfrm>
              <a:off x="2928" y="2112"/>
              <a:ext cx="432" cy="288"/>
            </a:xfrm>
            <a:prstGeom prst="rect">
              <a:avLst/>
            </a:prstGeom>
            <a:noFill/>
            <a:ln w="12700" cap="sq">
              <a:solidFill>
                <a:schemeClr val="bg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2400">
                  <a:solidFill>
                    <a:prstClr val="black"/>
                  </a:solidFill>
                </a:rPr>
                <a:t>600</a:t>
              </a:r>
            </a:p>
          </p:txBody>
        </p:sp>
        <p:sp>
          <p:nvSpPr>
            <p:cNvPr id="164884" name="Text Box 18">
              <a:extLst>
                <a:ext uri="{FF2B5EF4-FFF2-40B4-BE49-F238E27FC236}">
                  <a16:creationId xmlns:a16="http://schemas.microsoft.com/office/drawing/2014/main" id="{2D0E85B2-901F-FF2E-2081-5ABC534F522D}"/>
                </a:ext>
              </a:extLst>
            </p:cNvPr>
            <p:cNvSpPr txBox="1">
              <a:spLocks noChangeArrowheads="1"/>
            </p:cNvSpPr>
            <p:nvPr/>
          </p:nvSpPr>
          <p:spPr bwMode="auto">
            <a:xfrm>
              <a:off x="3648" y="2112"/>
              <a:ext cx="432" cy="288"/>
            </a:xfrm>
            <a:prstGeom prst="rect">
              <a:avLst/>
            </a:prstGeom>
            <a:noFill/>
            <a:ln w="12700" cap="sq">
              <a:solidFill>
                <a:schemeClr val="bg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2400">
                  <a:solidFill>
                    <a:prstClr val="black"/>
                  </a:solidFill>
                </a:rPr>
                <a:t>800</a:t>
              </a:r>
            </a:p>
          </p:txBody>
        </p:sp>
        <p:sp>
          <p:nvSpPr>
            <p:cNvPr id="164885" name="Line 19">
              <a:extLst>
                <a:ext uri="{FF2B5EF4-FFF2-40B4-BE49-F238E27FC236}">
                  <a16:creationId xmlns:a16="http://schemas.microsoft.com/office/drawing/2014/main" id="{2BD2E6E9-5981-2880-8BAF-B29A76C7C719}"/>
                </a:ext>
              </a:extLst>
            </p:cNvPr>
            <p:cNvSpPr>
              <a:spLocks noChangeShapeType="1"/>
            </p:cNvSpPr>
            <p:nvPr/>
          </p:nvSpPr>
          <p:spPr bwMode="auto">
            <a:xfrm>
              <a:off x="1632" y="2400"/>
              <a:ext cx="0" cy="96"/>
            </a:xfrm>
            <a:prstGeom prst="line">
              <a:avLst/>
            </a:prstGeom>
            <a:noFill/>
            <a:ln w="12700" cap="sq">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164886" name="Line 20">
              <a:extLst>
                <a:ext uri="{FF2B5EF4-FFF2-40B4-BE49-F238E27FC236}">
                  <a16:creationId xmlns:a16="http://schemas.microsoft.com/office/drawing/2014/main" id="{6D823084-259F-DB43-CE3F-005120CFD270}"/>
                </a:ext>
              </a:extLst>
            </p:cNvPr>
            <p:cNvSpPr>
              <a:spLocks noChangeShapeType="1"/>
            </p:cNvSpPr>
            <p:nvPr/>
          </p:nvSpPr>
          <p:spPr bwMode="auto">
            <a:xfrm flipH="1">
              <a:off x="1248" y="2496"/>
              <a:ext cx="384" cy="0"/>
            </a:xfrm>
            <a:prstGeom prst="line">
              <a:avLst/>
            </a:prstGeom>
            <a:noFill/>
            <a:ln w="12700" cap="sq">
              <a:solidFill>
                <a:schemeClr val="bg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164887" name="Line 21">
              <a:extLst>
                <a:ext uri="{FF2B5EF4-FFF2-40B4-BE49-F238E27FC236}">
                  <a16:creationId xmlns:a16="http://schemas.microsoft.com/office/drawing/2014/main" id="{EA246E2E-9EB1-3815-0A88-8246A6779B0C}"/>
                </a:ext>
              </a:extLst>
            </p:cNvPr>
            <p:cNvSpPr>
              <a:spLocks noChangeShapeType="1"/>
            </p:cNvSpPr>
            <p:nvPr/>
          </p:nvSpPr>
          <p:spPr bwMode="auto">
            <a:xfrm>
              <a:off x="2304" y="2400"/>
              <a:ext cx="0" cy="384"/>
            </a:xfrm>
            <a:prstGeom prst="line">
              <a:avLst/>
            </a:prstGeom>
            <a:noFill/>
            <a:ln w="12700" cap="sq">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164888" name="Line 22">
              <a:extLst>
                <a:ext uri="{FF2B5EF4-FFF2-40B4-BE49-F238E27FC236}">
                  <a16:creationId xmlns:a16="http://schemas.microsoft.com/office/drawing/2014/main" id="{54A5FFF4-3C49-F99A-49CE-F9AAE455FA4D}"/>
                </a:ext>
              </a:extLst>
            </p:cNvPr>
            <p:cNvSpPr>
              <a:spLocks noChangeShapeType="1"/>
            </p:cNvSpPr>
            <p:nvPr/>
          </p:nvSpPr>
          <p:spPr bwMode="auto">
            <a:xfrm flipH="1">
              <a:off x="1248" y="2784"/>
              <a:ext cx="1056" cy="0"/>
            </a:xfrm>
            <a:prstGeom prst="line">
              <a:avLst/>
            </a:prstGeom>
            <a:noFill/>
            <a:ln w="12700" cap="sq">
              <a:solidFill>
                <a:schemeClr val="bg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164889" name="Line 23">
              <a:extLst>
                <a:ext uri="{FF2B5EF4-FFF2-40B4-BE49-F238E27FC236}">
                  <a16:creationId xmlns:a16="http://schemas.microsoft.com/office/drawing/2014/main" id="{41FEA09E-D8AA-EC80-A360-FE8520062B13}"/>
                </a:ext>
              </a:extLst>
            </p:cNvPr>
            <p:cNvSpPr>
              <a:spLocks noChangeShapeType="1"/>
            </p:cNvSpPr>
            <p:nvPr/>
          </p:nvSpPr>
          <p:spPr bwMode="auto">
            <a:xfrm>
              <a:off x="3072" y="2400"/>
              <a:ext cx="0" cy="720"/>
            </a:xfrm>
            <a:prstGeom prst="line">
              <a:avLst/>
            </a:prstGeom>
            <a:noFill/>
            <a:ln w="12700" cap="sq">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164890" name="Line 24">
              <a:extLst>
                <a:ext uri="{FF2B5EF4-FFF2-40B4-BE49-F238E27FC236}">
                  <a16:creationId xmlns:a16="http://schemas.microsoft.com/office/drawing/2014/main" id="{83E66DF3-A03F-28C4-5AA8-8F72BFF93FF6}"/>
                </a:ext>
              </a:extLst>
            </p:cNvPr>
            <p:cNvSpPr>
              <a:spLocks noChangeShapeType="1"/>
            </p:cNvSpPr>
            <p:nvPr/>
          </p:nvSpPr>
          <p:spPr bwMode="auto">
            <a:xfrm flipH="1">
              <a:off x="1248" y="3120"/>
              <a:ext cx="1824" cy="0"/>
            </a:xfrm>
            <a:prstGeom prst="line">
              <a:avLst/>
            </a:prstGeom>
            <a:noFill/>
            <a:ln w="12700" cap="sq">
              <a:solidFill>
                <a:schemeClr val="bg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164891" name="Line 25">
              <a:extLst>
                <a:ext uri="{FF2B5EF4-FFF2-40B4-BE49-F238E27FC236}">
                  <a16:creationId xmlns:a16="http://schemas.microsoft.com/office/drawing/2014/main" id="{84A37A45-5E7B-89F7-A0DB-48FD26AC11F1}"/>
                </a:ext>
              </a:extLst>
            </p:cNvPr>
            <p:cNvSpPr>
              <a:spLocks noChangeShapeType="1"/>
            </p:cNvSpPr>
            <p:nvPr/>
          </p:nvSpPr>
          <p:spPr bwMode="auto">
            <a:xfrm>
              <a:off x="3792" y="2400"/>
              <a:ext cx="0" cy="1104"/>
            </a:xfrm>
            <a:prstGeom prst="line">
              <a:avLst/>
            </a:prstGeom>
            <a:noFill/>
            <a:ln w="12700" cap="sq">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164892" name="Line 26">
              <a:extLst>
                <a:ext uri="{FF2B5EF4-FFF2-40B4-BE49-F238E27FC236}">
                  <a16:creationId xmlns:a16="http://schemas.microsoft.com/office/drawing/2014/main" id="{D94C707B-240A-F444-2F6A-E43096D7EB8D}"/>
                </a:ext>
              </a:extLst>
            </p:cNvPr>
            <p:cNvSpPr>
              <a:spLocks noChangeShapeType="1"/>
            </p:cNvSpPr>
            <p:nvPr/>
          </p:nvSpPr>
          <p:spPr bwMode="auto">
            <a:xfrm flipH="1">
              <a:off x="1248" y="3504"/>
              <a:ext cx="2544" cy="0"/>
            </a:xfrm>
            <a:prstGeom prst="line">
              <a:avLst/>
            </a:prstGeom>
            <a:noFill/>
            <a:ln w="12700" cap="sq">
              <a:solidFill>
                <a:schemeClr val="bg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164893" name="Text Box 27">
              <a:extLst>
                <a:ext uri="{FF2B5EF4-FFF2-40B4-BE49-F238E27FC236}">
                  <a16:creationId xmlns:a16="http://schemas.microsoft.com/office/drawing/2014/main" id="{56B07E6E-4D38-0934-1FB9-C8B51182CCDC}"/>
                </a:ext>
              </a:extLst>
            </p:cNvPr>
            <p:cNvSpPr txBox="1">
              <a:spLocks noChangeArrowheads="1"/>
            </p:cNvSpPr>
            <p:nvPr/>
          </p:nvSpPr>
          <p:spPr bwMode="auto">
            <a:xfrm>
              <a:off x="720" y="2352"/>
              <a:ext cx="528" cy="231"/>
            </a:xfrm>
            <a:prstGeom prst="rect">
              <a:avLst/>
            </a:prstGeom>
            <a:noFill/>
            <a:ln w="12700" cap="sq">
              <a:solidFill>
                <a:schemeClr val="bg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a:solidFill>
                    <a:prstClr val="black"/>
                  </a:solidFill>
                </a:rPr>
                <a:t>178.57</a:t>
              </a:r>
            </a:p>
          </p:txBody>
        </p:sp>
        <p:sp>
          <p:nvSpPr>
            <p:cNvPr id="164894" name="Text Box 28">
              <a:extLst>
                <a:ext uri="{FF2B5EF4-FFF2-40B4-BE49-F238E27FC236}">
                  <a16:creationId xmlns:a16="http://schemas.microsoft.com/office/drawing/2014/main" id="{82FA82BE-CB94-5268-E9D8-FD4E2C8F3F61}"/>
                </a:ext>
              </a:extLst>
            </p:cNvPr>
            <p:cNvSpPr txBox="1">
              <a:spLocks noChangeArrowheads="1"/>
            </p:cNvSpPr>
            <p:nvPr/>
          </p:nvSpPr>
          <p:spPr bwMode="auto">
            <a:xfrm>
              <a:off x="720" y="2688"/>
              <a:ext cx="528" cy="231"/>
            </a:xfrm>
            <a:prstGeom prst="rect">
              <a:avLst/>
            </a:prstGeom>
            <a:noFill/>
            <a:ln w="12700" cap="sq">
              <a:solidFill>
                <a:schemeClr val="bg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a:solidFill>
                    <a:prstClr val="black"/>
                  </a:solidFill>
                </a:rPr>
                <a:t>318.88</a:t>
              </a:r>
            </a:p>
          </p:txBody>
        </p:sp>
        <p:sp>
          <p:nvSpPr>
            <p:cNvPr id="164895" name="Text Box 29">
              <a:extLst>
                <a:ext uri="{FF2B5EF4-FFF2-40B4-BE49-F238E27FC236}">
                  <a16:creationId xmlns:a16="http://schemas.microsoft.com/office/drawing/2014/main" id="{41A69001-75C0-78BC-9096-3E0E67A6E4CF}"/>
                </a:ext>
              </a:extLst>
            </p:cNvPr>
            <p:cNvSpPr txBox="1">
              <a:spLocks noChangeArrowheads="1"/>
            </p:cNvSpPr>
            <p:nvPr/>
          </p:nvSpPr>
          <p:spPr bwMode="auto">
            <a:xfrm>
              <a:off x="720" y="3024"/>
              <a:ext cx="528" cy="231"/>
            </a:xfrm>
            <a:prstGeom prst="rect">
              <a:avLst/>
            </a:prstGeom>
            <a:noFill/>
            <a:ln w="12700" cap="sq">
              <a:solidFill>
                <a:schemeClr val="bg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a:solidFill>
                    <a:prstClr val="black"/>
                  </a:solidFill>
                </a:rPr>
                <a:t>427.07</a:t>
              </a:r>
            </a:p>
          </p:txBody>
        </p:sp>
        <p:sp>
          <p:nvSpPr>
            <p:cNvPr id="164896" name="Text Box 30">
              <a:extLst>
                <a:ext uri="{FF2B5EF4-FFF2-40B4-BE49-F238E27FC236}">
                  <a16:creationId xmlns:a16="http://schemas.microsoft.com/office/drawing/2014/main" id="{947754FB-B755-A37C-02F2-AFBE110C51BB}"/>
                </a:ext>
              </a:extLst>
            </p:cNvPr>
            <p:cNvSpPr txBox="1">
              <a:spLocks noChangeArrowheads="1"/>
            </p:cNvSpPr>
            <p:nvPr/>
          </p:nvSpPr>
          <p:spPr bwMode="auto">
            <a:xfrm>
              <a:off x="720" y="3360"/>
              <a:ext cx="528" cy="231"/>
            </a:xfrm>
            <a:prstGeom prst="rect">
              <a:avLst/>
            </a:prstGeom>
            <a:noFill/>
            <a:ln w="12700" cap="sq">
              <a:solidFill>
                <a:schemeClr val="bg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a:solidFill>
                    <a:prstClr val="black"/>
                  </a:solidFill>
                </a:rPr>
                <a:t>508.41</a:t>
              </a:r>
            </a:p>
          </p:txBody>
        </p:sp>
        <p:sp>
          <p:nvSpPr>
            <p:cNvPr id="164897" name="Line 31">
              <a:extLst>
                <a:ext uri="{FF2B5EF4-FFF2-40B4-BE49-F238E27FC236}">
                  <a16:creationId xmlns:a16="http://schemas.microsoft.com/office/drawing/2014/main" id="{6902F9C3-C0D4-BAEF-FDC6-78CDACB8F74F}"/>
                </a:ext>
              </a:extLst>
            </p:cNvPr>
            <p:cNvSpPr>
              <a:spLocks noChangeShapeType="1"/>
            </p:cNvSpPr>
            <p:nvPr/>
          </p:nvSpPr>
          <p:spPr bwMode="auto">
            <a:xfrm>
              <a:off x="672" y="3552"/>
              <a:ext cx="576" cy="0"/>
            </a:xfrm>
            <a:prstGeom prst="line">
              <a:avLst/>
            </a:prstGeom>
            <a:noFill/>
            <a:ln w="12700" cap="sq">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164898" name="Text Box 32">
              <a:extLst>
                <a:ext uri="{FF2B5EF4-FFF2-40B4-BE49-F238E27FC236}">
                  <a16:creationId xmlns:a16="http://schemas.microsoft.com/office/drawing/2014/main" id="{F11E7B01-EA01-4AB6-A863-18C54D2F32D0}"/>
                </a:ext>
              </a:extLst>
            </p:cNvPr>
            <p:cNvSpPr txBox="1">
              <a:spLocks noChangeArrowheads="1"/>
            </p:cNvSpPr>
            <p:nvPr/>
          </p:nvSpPr>
          <p:spPr bwMode="auto">
            <a:xfrm>
              <a:off x="624" y="3600"/>
              <a:ext cx="624" cy="231"/>
            </a:xfrm>
            <a:prstGeom prst="rect">
              <a:avLst/>
            </a:prstGeom>
            <a:noFill/>
            <a:ln w="12700" cap="sq">
              <a:solidFill>
                <a:schemeClr val="bg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a:solidFill>
                    <a:prstClr val="black"/>
                  </a:solidFill>
                </a:rPr>
                <a:t>1,432.93</a:t>
              </a:r>
            </a:p>
          </p:txBody>
        </p:sp>
      </p:grpSp>
      <p:sp>
        <p:nvSpPr>
          <p:cNvPr id="229409" name="Text Box 33">
            <a:extLst>
              <a:ext uri="{FF2B5EF4-FFF2-40B4-BE49-F238E27FC236}">
                <a16:creationId xmlns:a16="http://schemas.microsoft.com/office/drawing/2014/main" id="{95A0DCC5-6BEB-D07E-0C03-B30BE1F38E08}"/>
              </a:ext>
            </a:extLst>
          </p:cNvPr>
          <p:cNvSpPr txBox="1">
            <a:spLocks noChangeArrowheads="1"/>
          </p:cNvSpPr>
          <p:nvPr/>
        </p:nvSpPr>
        <p:spPr bwMode="auto">
          <a:xfrm>
            <a:off x="3657600" y="5486401"/>
            <a:ext cx="6400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50000"/>
              </a:spcBef>
              <a:spcAft>
                <a:spcPct val="0"/>
              </a:spcAft>
            </a:pPr>
            <a:r>
              <a:rPr lang="en-US" altLang="en-US" sz="2800">
                <a:solidFill>
                  <a:prstClr val="black"/>
                </a:solidFill>
              </a:rPr>
              <a:t>Present Value &lt; Cost </a:t>
            </a:r>
            <a:r>
              <a:rPr lang="en-US" altLang="en-US" sz="2800">
                <a:solidFill>
                  <a:prstClr val="black"/>
                </a:solidFill>
                <a:cs typeface="Times New Roman" panose="02020603050405020304" pitchFamily="18" charset="0"/>
              </a:rPr>
              <a:t>→ Do Not Purchase</a:t>
            </a:r>
          </a:p>
        </p:txBody>
      </p:sp>
      <p:cxnSp>
        <p:nvCxnSpPr>
          <p:cNvPr id="41" name="Straight Connector 40">
            <a:extLst>
              <a:ext uri="{FF2B5EF4-FFF2-40B4-BE49-F238E27FC236}">
                <a16:creationId xmlns:a16="http://schemas.microsoft.com/office/drawing/2014/main" id="{948A8D1C-9B59-B7C2-ECC5-AD47AB5D4002}"/>
              </a:ext>
            </a:extLst>
          </p:cNvPr>
          <p:cNvCxnSpPr>
            <a:cxnSpLocks noChangeShapeType="1"/>
          </p:cNvCxnSpPr>
          <p:nvPr/>
        </p:nvCxnSpPr>
        <p:spPr bwMode="auto">
          <a:xfrm>
            <a:off x="2819400" y="2286000"/>
            <a:ext cx="6553200" cy="1588"/>
          </a:xfrm>
          <a:prstGeom prst="line">
            <a:avLst/>
          </a:prstGeom>
          <a:noFill/>
          <a:ln w="19050">
            <a:solidFill>
              <a:schemeClr val="bg1"/>
            </a:solidFill>
            <a:round/>
            <a:headEnd/>
            <a:tailEnd/>
          </a:ln>
          <a:effectLst>
            <a:outerShdw blurRad="50800" dist="38100" dir="5400000" rotWithShape="0">
              <a:srgbClr val="808080">
                <a:alpha val="34999"/>
              </a:srgbClr>
            </a:outerShdw>
          </a:effec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29409"/>
                                        </p:tgtEl>
                                        <p:attrNameLst>
                                          <p:attrName>style.visibility</p:attrName>
                                        </p:attrNameLst>
                                      </p:cBhvr>
                                      <p:to>
                                        <p:strVal val="visible"/>
                                      </p:to>
                                    </p:set>
                                    <p:animEffect transition="in" filter="fade">
                                      <p:cBhvr>
                                        <p:cTn id="7" dur="1000"/>
                                        <p:tgtEl>
                                          <p:spTgt spid="229409"/>
                                        </p:tgtEl>
                                      </p:cBhvr>
                                    </p:animEffect>
                                    <p:anim calcmode="lin" valueType="num">
                                      <p:cBhvr>
                                        <p:cTn id="8" dur="1000" fill="hold"/>
                                        <p:tgtEl>
                                          <p:spTgt spid="229409"/>
                                        </p:tgtEl>
                                        <p:attrNameLst>
                                          <p:attrName>ppt_x</p:attrName>
                                        </p:attrNameLst>
                                      </p:cBhvr>
                                      <p:tavLst>
                                        <p:tav tm="0">
                                          <p:val>
                                            <p:strVal val="#ppt_x"/>
                                          </p:val>
                                        </p:tav>
                                        <p:tav tm="100000">
                                          <p:val>
                                            <p:strVal val="#ppt_x"/>
                                          </p:val>
                                        </p:tav>
                                      </p:tavLst>
                                    </p:anim>
                                    <p:anim calcmode="lin" valueType="num">
                                      <p:cBhvr>
                                        <p:cTn id="9" dur="1000" fill="hold"/>
                                        <p:tgtEl>
                                          <p:spTgt spid="22940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409" grpId="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1315" name="Rectangle 3">
            <a:extLst>
              <a:ext uri="{FF2B5EF4-FFF2-40B4-BE49-F238E27FC236}">
                <a16:creationId xmlns:a16="http://schemas.microsoft.com/office/drawing/2014/main" id="{F7D08645-DE15-6FEA-C4CD-404CC2577003}"/>
              </a:ext>
            </a:extLst>
          </p:cNvPr>
          <p:cNvSpPr>
            <a:spLocks noGrp="1"/>
          </p:cNvSpPr>
          <p:nvPr>
            <p:ph idx="1"/>
          </p:nvPr>
        </p:nvSpPr>
        <p:spPr>
          <a:xfrm>
            <a:off x="2058989" y="1846263"/>
            <a:ext cx="8116887" cy="1536700"/>
          </a:xfrm>
        </p:spPr>
        <p:txBody>
          <a:bodyPr/>
          <a:lstStyle/>
          <a:p>
            <a:pPr marL="0" indent="0" eaLnBrk="1" hangingPunct="1">
              <a:buNone/>
            </a:pPr>
            <a:r>
              <a:rPr lang="en-US" altLang="en-US" sz="2800">
                <a:latin typeface="Times New Roman" panose="02020603050405020304" pitchFamily="18" charset="0"/>
                <a:ea typeface="ＭＳ Ｐゴシック" panose="020B0600070205080204" pitchFamily="34" charset="-128"/>
              </a:rPr>
              <a:t>Compounding an investment </a:t>
            </a:r>
            <a:r>
              <a:rPr lang="en-US" altLang="en-US" sz="2800" i="1">
                <a:latin typeface="Times New Roman" panose="02020603050405020304" pitchFamily="18" charset="0"/>
                <a:ea typeface="ＭＳ Ｐゴシック" panose="020B0600070205080204" pitchFamily="34" charset="-128"/>
              </a:rPr>
              <a:t>m</a:t>
            </a:r>
            <a:r>
              <a:rPr lang="en-US" altLang="en-US" sz="2800">
                <a:latin typeface="Times New Roman" panose="02020603050405020304" pitchFamily="18" charset="0"/>
                <a:ea typeface="ＭＳ Ｐゴシック" panose="020B0600070205080204" pitchFamily="34" charset="-128"/>
              </a:rPr>
              <a:t> times a year for </a:t>
            </a:r>
            <a:r>
              <a:rPr lang="en-US" altLang="en-US" sz="2800" i="1">
                <a:latin typeface="Times New Roman" panose="02020603050405020304" pitchFamily="18" charset="0"/>
                <a:ea typeface="ＭＳ Ｐゴシック" panose="020B0600070205080204" pitchFamily="34" charset="-128"/>
              </a:rPr>
              <a:t>T</a:t>
            </a:r>
            <a:r>
              <a:rPr lang="en-US" altLang="en-US" sz="2800">
                <a:latin typeface="Times New Roman" panose="02020603050405020304" pitchFamily="18" charset="0"/>
                <a:ea typeface="ＭＳ Ｐゴシック" panose="020B0600070205080204" pitchFamily="34" charset="-128"/>
              </a:rPr>
              <a:t> years provides for future value of wealth:</a:t>
            </a:r>
          </a:p>
        </p:txBody>
      </p:sp>
      <p:sp>
        <p:nvSpPr>
          <p:cNvPr id="48130" name="Rectangle 2">
            <a:extLst>
              <a:ext uri="{FF2B5EF4-FFF2-40B4-BE49-F238E27FC236}">
                <a16:creationId xmlns:a16="http://schemas.microsoft.com/office/drawing/2014/main" id="{84834C5B-8085-5F6B-54D9-B0278461B062}"/>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 Compounding Periods</a:t>
            </a:r>
          </a:p>
        </p:txBody>
      </p:sp>
      <p:graphicFrame>
        <p:nvGraphicFramePr>
          <p:cNvPr id="141316" name="Object 4">
            <a:extLst>
              <a:ext uri="{FF2B5EF4-FFF2-40B4-BE49-F238E27FC236}">
                <a16:creationId xmlns:a16="http://schemas.microsoft.com/office/drawing/2014/main" id="{56704FC5-F5A4-9297-399C-95FBABAA8CD2}"/>
              </a:ext>
            </a:extLst>
          </p:cNvPr>
          <p:cNvGraphicFramePr>
            <a:graphicFrameLocks noChangeAspect="1"/>
          </p:cNvGraphicFramePr>
          <p:nvPr/>
        </p:nvGraphicFramePr>
        <p:xfrm>
          <a:off x="4070350" y="3065463"/>
          <a:ext cx="3340100" cy="1174750"/>
        </p:xfrm>
        <a:graphic>
          <a:graphicData uri="http://schemas.openxmlformats.org/presentationml/2006/ole">
            <mc:AlternateContent xmlns:mc="http://schemas.openxmlformats.org/markup-compatibility/2006">
              <mc:Choice xmlns:v="urn:schemas-microsoft-com:vml" Requires="v">
                <p:oleObj name="Equation" r:id="rId3" imgW="1240845" imgH="375463" progId="Equation.3">
                  <p:embed/>
                </p:oleObj>
              </mc:Choice>
              <mc:Fallback>
                <p:oleObj name="Equation" r:id="rId3" imgW="1240845" imgH="375463" progId="Equation.3">
                  <p:embed/>
                  <p:pic>
                    <p:nvPicPr>
                      <p:cNvPr id="141316" name="Object 4">
                        <a:extLst>
                          <a:ext uri="{FF2B5EF4-FFF2-40B4-BE49-F238E27FC236}">
                            <a16:creationId xmlns:a16="http://schemas.microsoft.com/office/drawing/2014/main" id="{56704FC5-F5A4-9297-399C-95FBABAA8C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0350" y="3065463"/>
                        <a:ext cx="3340100" cy="1174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1315">
                                            <p:txEl>
                                              <p:pRg st="0" end="0"/>
                                            </p:txEl>
                                          </p:spTgt>
                                        </p:tgtEl>
                                        <p:attrNameLst>
                                          <p:attrName>style.visibility</p:attrName>
                                        </p:attrNameLst>
                                      </p:cBhvr>
                                      <p:to>
                                        <p:strVal val="visible"/>
                                      </p:to>
                                    </p:set>
                                    <p:animEffect transition="in" filter="fade">
                                      <p:cBhvr>
                                        <p:cTn id="7" dur="1000"/>
                                        <p:tgtEl>
                                          <p:spTgt spid="141315">
                                            <p:txEl>
                                              <p:pRg st="0" end="0"/>
                                            </p:txEl>
                                          </p:spTgt>
                                        </p:tgtEl>
                                      </p:cBhvr>
                                    </p:animEffect>
                                    <p:anim calcmode="lin" valueType="num">
                                      <p:cBhvr>
                                        <p:cTn id="8" dur="1000" fill="hold"/>
                                        <p:tgtEl>
                                          <p:spTgt spid="14131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131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141316"/>
                                        </p:tgtEl>
                                        <p:attrNameLst>
                                          <p:attrName>style.visibility</p:attrName>
                                        </p:attrNameLst>
                                      </p:cBhvr>
                                      <p:to>
                                        <p:strVal val="visible"/>
                                      </p:to>
                                    </p:set>
                                    <p:animEffect transition="in" filter="fade">
                                      <p:cBhvr>
                                        <p:cTn id="14" dur="1000"/>
                                        <p:tgtEl>
                                          <p:spTgt spid="141316"/>
                                        </p:tgtEl>
                                      </p:cBhvr>
                                    </p:animEffect>
                                    <p:anim calcmode="lin" valueType="num">
                                      <p:cBhvr>
                                        <p:cTn id="15" dur="1000" fill="hold"/>
                                        <p:tgtEl>
                                          <p:spTgt spid="141316"/>
                                        </p:tgtEl>
                                        <p:attrNameLst>
                                          <p:attrName>ppt_x</p:attrName>
                                        </p:attrNameLst>
                                      </p:cBhvr>
                                      <p:tavLst>
                                        <p:tav tm="0">
                                          <p:val>
                                            <p:strVal val="#ppt_x"/>
                                          </p:val>
                                        </p:tav>
                                        <p:tav tm="100000">
                                          <p:val>
                                            <p:strVal val="#ppt_x"/>
                                          </p:val>
                                        </p:tav>
                                      </p:tavLst>
                                    </p:anim>
                                    <p:anim calcmode="lin" valueType="num">
                                      <p:cBhvr>
                                        <p:cTn id="16" dur="1000" fill="hold"/>
                                        <p:tgtEl>
                                          <p:spTgt spid="1413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89B47B17-BE52-612D-1D8F-4D3ED56566AB}"/>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Compounding Periods</a:t>
            </a:r>
          </a:p>
        </p:txBody>
      </p:sp>
      <p:sp>
        <p:nvSpPr>
          <p:cNvPr id="232452" name="Rectangle 4">
            <a:extLst>
              <a:ext uri="{FF2B5EF4-FFF2-40B4-BE49-F238E27FC236}">
                <a16:creationId xmlns:a16="http://schemas.microsoft.com/office/drawing/2014/main" id="{D09928FC-77D5-9898-3E6E-0EA831F5DA0E}"/>
              </a:ext>
            </a:extLst>
          </p:cNvPr>
          <p:cNvSpPr>
            <a:spLocks noGrp="1"/>
          </p:cNvSpPr>
          <p:nvPr>
            <p:ph type="body" sz="half" idx="1"/>
          </p:nvPr>
        </p:nvSpPr>
        <p:spPr>
          <a:xfrm>
            <a:off x="1981200" y="1828800"/>
            <a:ext cx="8229600" cy="2286000"/>
          </a:xfrm>
          <a:noFill/>
        </p:spPr>
        <p:txBody>
          <a:bodyPr/>
          <a:lstStyle/>
          <a:p>
            <a:pPr marL="685800" indent="-685800" eaLnBrk="1" hangingPunct="1">
              <a:buSzTx/>
              <a:buFont typeface="Wingdings" panose="05000000000000000000" pitchFamily="2" charset="2"/>
              <a:buChar char="q"/>
            </a:pPr>
            <a:r>
              <a:rPr lang="en-US" altLang="en-US" sz="2800">
                <a:latin typeface="Times New Roman" panose="02020603050405020304" pitchFamily="18" charset="0"/>
                <a:ea typeface="ＭＳ Ｐゴシック" panose="020B0600070205080204" pitchFamily="34" charset="-128"/>
              </a:rPr>
              <a:t>For example, if you invest $50 for 3 years at 12% compounded semi-annually, your investment will grow to:</a:t>
            </a:r>
          </a:p>
        </p:txBody>
      </p:sp>
      <p:graphicFrame>
        <p:nvGraphicFramePr>
          <p:cNvPr id="232453" name="Object 5">
            <a:extLst>
              <a:ext uri="{FF2B5EF4-FFF2-40B4-BE49-F238E27FC236}">
                <a16:creationId xmlns:a16="http://schemas.microsoft.com/office/drawing/2014/main" id="{426AED88-8B34-E2B7-B2A2-BC4D611DB48E}"/>
              </a:ext>
            </a:extLst>
          </p:cNvPr>
          <p:cNvGraphicFramePr>
            <a:graphicFrameLocks noGrp="1" noChangeAspect="1"/>
          </p:cNvGraphicFramePr>
          <p:nvPr>
            <p:ph sz="half" idx="2"/>
          </p:nvPr>
        </p:nvGraphicFramePr>
        <p:xfrm>
          <a:off x="2438400" y="4017964"/>
          <a:ext cx="7391400" cy="1076325"/>
        </p:xfrm>
        <a:graphic>
          <a:graphicData uri="http://schemas.openxmlformats.org/presentationml/2006/ole">
            <mc:AlternateContent xmlns:mc="http://schemas.openxmlformats.org/markup-compatibility/2006">
              <mc:Choice xmlns:v="urn:schemas-microsoft-com:vml" Requires="v">
                <p:oleObj name="Equation" r:id="rId3" imgW="2830370" imgH="375463" progId="Equation.3">
                  <p:embed/>
                </p:oleObj>
              </mc:Choice>
              <mc:Fallback>
                <p:oleObj name="Equation" r:id="rId3" imgW="2830370" imgH="375463" progId="Equation.3">
                  <p:embed/>
                  <p:pic>
                    <p:nvPicPr>
                      <p:cNvPr id="232453" name="Object 5">
                        <a:extLst>
                          <a:ext uri="{FF2B5EF4-FFF2-40B4-BE49-F238E27FC236}">
                            <a16:creationId xmlns:a16="http://schemas.microsoft.com/office/drawing/2014/main" id="{426AED88-8B34-E2B7-B2A2-BC4D611DB48E}"/>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4017964"/>
                        <a:ext cx="7391400" cy="1076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32452"/>
                                        </p:tgtEl>
                                        <p:attrNameLst>
                                          <p:attrName>style.visibility</p:attrName>
                                        </p:attrNameLst>
                                      </p:cBhvr>
                                      <p:to>
                                        <p:strVal val="visible"/>
                                      </p:to>
                                    </p:set>
                                    <p:animEffect transition="in" filter="fade">
                                      <p:cBhvr>
                                        <p:cTn id="7" dur="1000"/>
                                        <p:tgtEl>
                                          <p:spTgt spid="232452"/>
                                        </p:tgtEl>
                                      </p:cBhvr>
                                    </p:animEffect>
                                    <p:anim calcmode="lin" valueType="num">
                                      <p:cBhvr>
                                        <p:cTn id="8" dur="1000" fill="hold"/>
                                        <p:tgtEl>
                                          <p:spTgt spid="232452"/>
                                        </p:tgtEl>
                                        <p:attrNameLst>
                                          <p:attrName>ppt_x</p:attrName>
                                        </p:attrNameLst>
                                      </p:cBhvr>
                                      <p:tavLst>
                                        <p:tav tm="0">
                                          <p:val>
                                            <p:strVal val="#ppt_x"/>
                                          </p:val>
                                        </p:tav>
                                        <p:tav tm="100000">
                                          <p:val>
                                            <p:strVal val="#ppt_x"/>
                                          </p:val>
                                        </p:tav>
                                      </p:tavLst>
                                    </p:anim>
                                    <p:anim calcmode="lin" valueType="num">
                                      <p:cBhvr>
                                        <p:cTn id="9" dur="1000" fill="hold"/>
                                        <p:tgtEl>
                                          <p:spTgt spid="232452"/>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232453"/>
                                        </p:tgtEl>
                                        <p:attrNameLst>
                                          <p:attrName>style.visibility</p:attrName>
                                        </p:attrNameLst>
                                      </p:cBhvr>
                                      <p:to>
                                        <p:strVal val="visible"/>
                                      </p:to>
                                    </p:set>
                                    <p:animEffect transition="in" filter="fade">
                                      <p:cBhvr>
                                        <p:cTn id="14" dur="1000"/>
                                        <p:tgtEl>
                                          <p:spTgt spid="232453"/>
                                        </p:tgtEl>
                                      </p:cBhvr>
                                    </p:animEffect>
                                    <p:anim calcmode="lin" valueType="num">
                                      <p:cBhvr>
                                        <p:cTn id="15" dur="1000" fill="hold"/>
                                        <p:tgtEl>
                                          <p:spTgt spid="232453"/>
                                        </p:tgtEl>
                                        <p:attrNameLst>
                                          <p:attrName>ppt_x</p:attrName>
                                        </p:attrNameLst>
                                      </p:cBhvr>
                                      <p:tavLst>
                                        <p:tav tm="0">
                                          <p:val>
                                            <p:strVal val="#ppt_x"/>
                                          </p:val>
                                        </p:tav>
                                        <p:tav tm="100000">
                                          <p:val>
                                            <p:strVal val="#ppt_x"/>
                                          </p:val>
                                        </p:tav>
                                      </p:tavLst>
                                    </p:anim>
                                    <p:anim calcmode="lin" valueType="num">
                                      <p:cBhvr>
                                        <p:cTn id="16" dur="1000" fill="hold"/>
                                        <p:tgtEl>
                                          <p:spTgt spid="23245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2" grpId="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1859" name="Rectangle 3">
            <a:extLst>
              <a:ext uri="{FF2B5EF4-FFF2-40B4-BE49-F238E27FC236}">
                <a16:creationId xmlns:a16="http://schemas.microsoft.com/office/drawing/2014/main" id="{C169E60A-F123-1045-0917-C1396F11AA6D}"/>
              </a:ext>
            </a:extLst>
          </p:cNvPr>
          <p:cNvSpPr>
            <a:spLocks noGrp="1"/>
          </p:cNvSpPr>
          <p:nvPr>
            <p:ph idx="1"/>
          </p:nvPr>
        </p:nvSpPr>
        <p:spPr>
          <a:xfrm>
            <a:off x="2209800" y="1295400"/>
            <a:ext cx="8001000" cy="1646238"/>
          </a:xfrm>
        </p:spPr>
        <p:txBody>
          <a:bodyPr/>
          <a:lstStyle/>
          <a:p>
            <a:pPr marL="0" indent="0" eaLnBrk="1" hangingPunct="1">
              <a:buNone/>
            </a:pPr>
            <a:r>
              <a:rPr lang="en-US" altLang="en-US" sz="2800">
                <a:latin typeface="Times New Roman" panose="02020603050405020304" pitchFamily="18" charset="0"/>
                <a:ea typeface="ＭＳ Ｐゴシック" panose="020B0600070205080204" pitchFamily="34" charset="-128"/>
              </a:rPr>
              <a:t>A reasonable question to ask in the above example is “what is the effective </a:t>
            </a:r>
            <a:r>
              <a:rPr lang="en-US" altLang="en-US" sz="2800" i="1">
                <a:latin typeface="Times New Roman" panose="02020603050405020304" pitchFamily="18" charset="0"/>
                <a:ea typeface="ＭＳ Ｐゴシック" panose="020B0600070205080204" pitchFamily="34" charset="-128"/>
              </a:rPr>
              <a:t>annual</a:t>
            </a:r>
            <a:r>
              <a:rPr lang="en-US" altLang="en-US" sz="2800">
                <a:latin typeface="Times New Roman" panose="02020603050405020304" pitchFamily="18" charset="0"/>
                <a:ea typeface="ＭＳ Ｐゴシック" panose="020B0600070205080204" pitchFamily="34" charset="-128"/>
              </a:rPr>
              <a:t> rate of interest on that investment?”</a:t>
            </a:r>
          </a:p>
        </p:txBody>
      </p:sp>
      <p:sp>
        <p:nvSpPr>
          <p:cNvPr id="52226" name="Rectangle 2">
            <a:extLst>
              <a:ext uri="{FF2B5EF4-FFF2-40B4-BE49-F238E27FC236}">
                <a16:creationId xmlns:a16="http://schemas.microsoft.com/office/drawing/2014/main" id="{7D0E3764-730D-B3AF-61AD-60A18991C387}"/>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Effective Annual Rates of Interest</a:t>
            </a:r>
          </a:p>
        </p:txBody>
      </p:sp>
      <p:sp>
        <p:nvSpPr>
          <p:cNvPr id="121862" name="Rectangle 6">
            <a:extLst>
              <a:ext uri="{FF2B5EF4-FFF2-40B4-BE49-F238E27FC236}">
                <a16:creationId xmlns:a16="http://schemas.microsoft.com/office/drawing/2014/main" id="{A6BC491B-49CA-4593-A481-2456B733E047}"/>
              </a:ext>
            </a:extLst>
          </p:cNvPr>
          <p:cNvSpPr>
            <a:spLocks noChangeArrowheads="1"/>
          </p:cNvSpPr>
          <p:nvPr/>
        </p:nvSpPr>
        <p:spPr bwMode="auto">
          <a:xfrm>
            <a:off x="2241550" y="3840163"/>
            <a:ext cx="80010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20000"/>
              </a:spcBef>
              <a:spcAft>
                <a:spcPct val="0"/>
              </a:spcAft>
              <a:buClr>
                <a:srgbClr val="671739"/>
              </a:buClr>
            </a:pPr>
            <a:r>
              <a:rPr lang="en-US" altLang="en-US" sz="2800">
                <a:solidFill>
                  <a:prstClr val="black"/>
                </a:solidFill>
              </a:rPr>
              <a:t>The Effective Annual Rate (EAR) of interest is the annual rate that would give us the same end-of-investment wealth after 3 years:</a:t>
            </a:r>
          </a:p>
        </p:txBody>
      </p:sp>
      <p:graphicFrame>
        <p:nvGraphicFramePr>
          <p:cNvPr id="121863" name="Object 7">
            <a:extLst>
              <a:ext uri="{FF2B5EF4-FFF2-40B4-BE49-F238E27FC236}">
                <a16:creationId xmlns:a16="http://schemas.microsoft.com/office/drawing/2014/main" id="{426C1698-03B3-A226-353B-04AC2D803714}"/>
              </a:ext>
            </a:extLst>
          </p:cNvPr>
          <p:cNvGraphicFramePr>
            <a:graphicFrameLocks noChangeAspect="1"/>
          </p:cNvGraphicFramePr>
          <p:nvPr/>
        </p:nvGraphicFramePr>
        <p:xfrm>
          <a:off x="2797175" y="2849563"/>
          <a:ext cx="7118350" cy="969962"/>
        </p:xfrm>
        <a:graphic>
          <a:graphicData uri="http://schemas.openxmlformats.org/presentationml/2006/ole">
            <mc:AlternateContent xmlns:mc="http://schemas.openxmlformats.org/markup-compatibility/2006">
              <mc:Choice xmlns:v="urn:schemas-microsoft-com:vml" Requires="v">
                <p:oleObj name="Equation" r:id="rId3" imgW="2786743" imgH="299351" progId="Equation.3">
                  <p:embed/>
                </p:oleObj>
              </mc:Choice>
              <mc:Fallback>
                <p:oleObj name="Equation" r:id="rId3" imgW="2786743" imgH="299351" progId="Equation.3">
                  <p:embed/>
                  <p:pic>
                    <p:nvPicPr>
                      <p:cNvPr id="121863" name="Object 7">
                        <a:extLst>
                          <a:ext uri="{FF2B5EF4-FFF2-40B4-BE49-F238E27FC236}">
                            <a16:creationId xmlns:a16="http://schemas.microsoft.com/office/drawing/2014/main" id="{426C1698-03B3-A226-353B-04AC2D8037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7175" y="2849563"/>
                        <a:ext cx="7118350" cy="969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1864" name="Object 8">
            <a:extLst>
              <a:ext uri="{FF2B5EF4-FFF2-40B4-BE49-F238E27FC236}">
                <a16:creationId xmlns:a16="http://schemas.microsoft.com/office/drawing/2014/main" id="{EBF5FCF6-FAB2-1B21-9F30-B0DF00E5C143}"/>
              </a:ext>
            </a:extLst>
          </p:cNvPr>
          <p:cNvGraphicFramePr>
            <a:graphicFrameLocks noChangeAspect="1"/>
          </p:cNvGraphicFramePr>
          <p:nvPr/>
        </p:nvGraphicFramePr>
        <p:xfrm>
          <a:off x="4114800" y="5562601"/>
          <a:ext cx="3919538" cy="563563"/>
        </p:xfrm>
        <a:graphic>
          <a:graphicData uri="http://schemas.openxmlformats.org/presentationml/2006/ole">
            <mc:AlternateContent xmlns:mc="http://schemas.openxmlformats.org/markup-compatibility/2006">
              <mc:Choice xmlns:v="urn:schemas-microsoft-com:vml" Requires="v">
                <p:oleObj name="Equation" r:id="rId5" imgW="1502271" imgH="135914" progId="Equation.3">
                  <p:embed/>
                </p:oleObj>
              </mc:Choice>
              <mc:Fallback>
                <p:oleObj name="Equation" r:id="rId5" imgW="1502271" imgH="135914" progId="Equation.3">
                  <p:embed/>
                  <p:pic>
                    <p:nvPicPr>
                      <p:cNvPr id="121864" name="Object 8">
                        <a:extLst>
                          <a:ext uri="{FF2B5EF4-FFF2-40B4-BE49-F238E27FC236}">
                            <a16:creationId xmlns:a16="http://schemas.microsoft.com/office/drawing/2014/main" id="{EBF5FCF6-FAB2-1B21-9F30-B0DF00E5C14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14800" y="5562601"/>
                        <a:ext cx="3919538" cy="563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1859">
                                            <p:txEl>
                                              <p:pRg st="0" end="0"/>
                                            </p:txEl>
                                          </p:spTgt>
                                        </p:tgtEl>
                                        <p:attrNameLst>
                                          <p:attrName>style.visibility</p:attrName>
                                        </p:attrNameLst>
                                      </p:cBhvr>
                                      <p:to>
                                        <p:strVal val="visible"/>
                                      </p:to>
                                    </p:set>
                                    <p:animEffect transition="in" filter="fade">
                                      <p:cBhvr>
                                        <p:cTn id="7" dur="1000"/>
                                        <p:tgtEl>
                                          <p:spTgt spid="121859">
                                            <p:txEl>
                                              <p:pRg st="0" end="0"/>
                                            </p:txEl>
                                          </p:spTgt>
                                        </p:tgtEl>
                                      </p:cBhvr>
                                    </p:animEffect>
                                    <p:anim calcmode="lin" valueType="num">
                                      <p:cBhvr>
                                        <p:cTn id="8" dur="1000" fill="hold"/>
                                        <p:tgtEl>
                                          <p:spTgt spid="12185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2185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121863"/>
                                        </p:tgtEl>
                                        <p:attrNameLst>
                                          <p:attrName>style.visibility</p:attrName>
                                        </p:attrNameLst>
                                      </p:cBhvr>
                                      <p:to>
                                        <p:strVal val="visible"/>
                                      </p:to>
                                    </p:set>
                                    <p:animEffect transition="in" filter="fade">
                                      <p:cBhvr>
                                        <p:cTn id="14" dur="1000"/>
                                        <p:tgtEl>
                                          <p:spTgt spid="121863"/>
                                        </p:tgtEl>
                                      </p:cBhvr>
                                    </p:animEffect>
                                    <p:anim calcmode="lin" valueType="num">
                                      <p:cBhvr>
                                        <p:cTn id="15" dur="1000" fill="hold"/>
                                        <p:tgtEl>
                                          <p:spTgt spid="121863"/>
                                        </p:tgtEl>
                                        <p:attrNameLst>
                                          <p:attrName>ppt_x</p:attrName>
                                        </p:attrNameLst>
                                      </p:cBhvr>
                                      <p:tavLst>
                                        <p:tav tm="0">
                                          <p:val>
                                            <p:strVal val="#ppt_x"/>
                                          </p:val>
                                        </p:tav>
                                        <p:tav tm="100000">
                                          <p:val>
                                            <p:strVal val="#ppt_x"/>
                                          </p:val>
                                        </p:tav>
                                      </p:tavLst>
                                    </p:anim>
                                    <p:anim calcmode="lin" valueType="num">
                                      <p:cBhvr>
                                        <p:cTn id="16" dur="1000" fill="hold"/>
                                        <p:tgtEl>
                                          <p:spTgt spid="121863"/>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21862"/>
                                        </p:tgtEl>
                                        <p:attrNameLst>
                                          <p:attrName>style.visibility</p:attrName>
                                        </p:attrNameLst>
                                      </p:cBhvr>
                                      <p:to>
                                        <p:strVal val="visible"/>
                                      </p:to>
                                    </p:set>
                                    <p:animEffect transition="in" filter="fade">
                                      <p:cBhvr>
                                        <p:cTn id="21" dur="1000"/>
                                        <p:tgtEl>
                                          <p:spTgt spid="121862"/>
                                        </p:tgtEl>
                                      </p:cBhvr>
                                    </p:animEffect>
                                    <p:anim calcmode="lin" valueType="num">
                                      <p:cBhvr>
                                        <p:cTn id="22" dur="1000" fill="hold"/>
                                        <p:tgtEl>
                                          <p:spTgt spid="121862"/>
                                        </p:tgtEl>
                                        <p:attrNameLst>
                                          <p:attrName>ppt_x</p:attrName>
                                        </p:attrNameLst>
                                      </p:cBhvr>
                                      <p:tavLst>
                                        <p:tav tm="0">
                                          <p:val>
                                            <p:strVal val="#ppt_x"/>
                                          </p:val>
                                        </p:tav>
                                        <p:tav tm="100000">
                                          <p:val>
                                            <p:strVal val="#ppt_x"/>
                                          </p:val>
                                        </p:tav>
                                      </p:tavLst>
                                    </p:anim>
                                    <p:anim calcmode="lin" valueType="num">
                                      <p:cBhvr>
                                        <p:cTn id="23" dur="1000" fill="hold"/>
                                        <p:tgtEl>
                                          <p:spTgt spid="121862"/>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121864"/>
                                        </p:tgtEl>
                                        <p:attrNameLst>
                                          <p:attrName>style.visibility</p:attrName>
                                        </p:attrNameLst>
                                      </p:cBhvr>
                                      <p:to>
                                        <p:strVal val="visible"/>
                                      </p:to>
                                    </p:set>
                                    <p:animEffect transition="in" filter="fade">
                                      <p:cBhvr>
                                        <p:cTn id="28" dur="1000"/>
                                        <p:tgtEl>
                                          <p:spTgt spid="121864"/>
                                        </p:tgtEl>
                                      </p:cBhvr>
                                    </p:animEffect>
                                    <p:anim calcmode="lin" valueType="num">
                                      <p:cBhvr>
                                        <p:cTn id="29" dur="1000" fill="hold"/>
                                        <p:tgtEl>
                                          <p:spTgt spid="121864"/>
                                        </p:tgtEl>
                                        <p:attrNameLst>
                                          <p:attrName>ppt_x</p:attrName>
                                        </p:attrNameLst>
                                      </p:cBhvr>
                                      <p:tavLst>
                                        <p:tav tm="0">
                                          <p:val>
                                            <p:strVal val="#ppt_x"/>
                                          </p:val>
                                        </p:tav>
                                        <p:tav tm="100000">
                                          <p:val>
                                            <p:strVal val="#ppt_x"/>
                                          </p:val>
                                        </p:tav>
                                      </p:tavLst>
                                    </p:anim>
                                    <p:anim calcmode="lin" valueType="num">
                                      <p:cBhvr>
                                        <p:cTn id="30" dur="1000" fill="hold"/>
                                        <p:tgtEl>
                                          <p:spTgt spid="12186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9" grpId="0" build="p"/>
      <p:bldP spid="121862"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03" name="Rectangle 3">
            <a:extLst>
              <a:ext uri="{FF2B5EF4-FFF2-40B4-BE49-F238E27FC236}">
                <a16:creationId xmlns:a16="http://schemas.microsoft.com/office/drawing/2014/main" id="{C09C3C97-B9E1-EB79-5B3D-7359FA4DE9E6}"/>
              </a:ext>
            </a:extLst>
          </p:cNvPr>
          <p:cNvSpPr>
            <a:spLocks noGrp="1"/>
          </p:cNvSpPr>
          <p:nvPr>
            <p:ph idx="1"/>
          </p:nvPr>
        </p:nvSpPr>
        <p:spPr>
          <a:xfrm>
            <a:off x="2362200" y="4419600"/>
            <a:ext cx="8001000" cy="1752600"/>
          </a:xfrm>
        </p:spPr>
        <p:txBody>
          <a:bodyPr/>
          <a:lstStyle/>
          <a:p>
            <a:pPr marL="0" indent="0" eaLnBrk="1" hangingPunct="1">
              <a:buNone/>
            </a:pPr>
            <a:r>
              <a:rPr lang="en-US" altLang="en-US" sz="2800">
                <a:latin typeface="Times New Roman" panose="02020603050405020304" pitchFamily="18" charset="0"/>
                <a:ea typeface="ＭＳ Ｐゴシック" panose="020B0600070205080204" pitchFamily="34" charset="-128"/>
              </a:rPr>
              <a:t>So, investing at 12.36% compounded annually is the same as investing at 12% compounded semi-annually.</a:t>
            </a:r>
          </a:p>
        </p:txBody>
      </p:sp>
      <p:sp>
        <p:nvSpPr>
          <p:cNvPr id="54274" name="Rectangle 2">
            <a:extLst>
              <a:ext uri="{FF2B5EF4-FFF2-40B4-BE49-F238E27FC236}">
                <a16:creationId xmlns:a16="http://schemas.microsoft.com/office/drawing/2014/main" id="{2C11C430-D62E-97B1-1F0A-5313870DA5BC}"/>
              </a:ext>
            </a:extLst>
          </p:cNvPr>
          <p:cNvSpPr>
            <a:spLocks noGrp="1" noChangeArrowheads="1"/>
          </p:cNvSpPr>
          <p:nvPr>
            <p:ph type="title"/>
          </p:nvPr>
        </p:nvSpPr>
        <p:spPr>
          <a:xfrm>
            <a:off x="1981201" y="304800"/>
            <a:ext cx="8316913" cy="1206500"/>
          </a:xfrm>
        </p:spPr>
        <p:txBody>
          <a:bodyPr/>
          <a:lstStyle/>
          <a:p>
            <a:pPr eaLnBrk="1" fontAlgn="auto" hangingPunct="1">
              <a:spcAft>
                <a:spcPts val="0"/>
              </a:spcAft>
              <a:defRPr/>
            </a:pPr>
            <a:r>
              <a:rPr lang="en-US" altLang="en-US" sz="3400" dirty="0">
                <a:ea typeface="+mj-ea"/>
                <a:cs typeface="+mj-cs"/>
              </a:rPr>
              <a:t>Effective Annual Rates of Interest</a:t>
            </a:r>
          </a:p>
        </p:txBody>
      </p:sp>
      <p:graphicFrame>
        <p:nvGraphicFramePr>
          <p:cNvPr id="153606" name="Object 6">
            <a:extLst>
              <a:ext uri="{FF2B5EF4-FFF2-40B4-BE49-F238E27FC236}">
                <a16:creationId xmlns:a16="http://schemas.microsoft.com/office/drawing/2014/main" id="{5D55058D-252D-D071-B7EF-4CCF42BD7D91}"/>
              </a:ext>
            </a:extLst>
          </p:cNvPr>
          <p:cNvGraphicFramePr>
            <a:graphicFrameLocks noChangeAspect="1"/>
          </p:cNvGraphicFramePr>
          <p:nvPr/>
        </p:nvGraphicFramePr>
        <p:xfrm>
          <a:off x="3581401" y="1447801"/>
          <a:ext cx="4829175" cy="563563"/>
        </p:xfrm>
        <a:graphic>
          <a:graphicData uri="http://schemas.openxmlformats.org/presentationml/2006/ole">
            <mc:AlternateContent xmlns:mc="http://schemas.openxmlformats.org/markup-compatibility/2006">
              <mc:Choice xmlns:v="urn:schemas-microsoft-com:vml" Requires="v">
                <p:oleObj name="Equation" r:id="rId3" imgW="1861436" imgH="135914" progId="Equation.3">
                  <p:embed/>
                </p:oleObj>
              </mc:Choice>
              <mc:Fallback>
                <p:oleObj name="Equation" r:id="rId3" imgW="1861436" imgH="135914" progId="Equation.3">
                  <p:embed/>
                  <p:pic>
                    <p:nvPicPr>
                      <p:cNvPr id="153606" name="Object 6">
                        <a:extLst>
                          <a:ext uri="{FF2B5EF4-FFF2-40B4-BE49-F238E27FC236}">
                            <a16:creationId xmlns:a16="http://schemas.microsoft.com/office/drawing/2014/main" id="{5D55058D-252D-D071-B7EF-4CCF42BD7D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1401" y="1447801"/>
                        <a:ext cx="4829175" cy="563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07" name="Object 7">
            <a:extLst>
              <a:ext uri="{FF2B5EF4-FFF2-40B4-BE49-F238E27FC236}">
                <a16:creationId xmlns:a16="http://schemas.microsoft.com/office/drawing/2014/main" id="{4D6EC4CF-90AC-B068-E2CB-C0C0F442F8A6}"/>
              </a:ext>
            </a:extLst>
          </p:cNvPr>
          <p:cNvGraphicFramePr>
            <a:graphicFrameLocks noChangeAspect="1"/>
          </p:cNvGraphicFramePr>
          <p:nvPr/>
        </p:nvGraphicFramePr>
        <p:xfrm>
          <a:off x="4495801" y="2209801"/>
          <a:ext cx="3135313" cy="1001713"/>
        </p:xfrm>
        <a:graphic>
          <a:graphicData uri="http://schemas.openxmlformats.org/presentationml/2006/ole">
            <mc:AlternateContent xmlns:mc="http://schemas.openxmlformats.org/markup-compatibility/2006">
              <mc:Choice xmlns:v="urn:schemas-microsoft-com:vml" Requires="v">
                <p:oleObj name="Equation" r:id="rId5" imgW="1175573" imgH="321097" progId="Equation.3">
                  <p:embed/>
                </p:oleObj>
              </mc:Choice>
              <mc:Fallback>
                <p:oleObj name="Equation" r:id="rId5" imgW="1175573" imgH="321097" progId="Equation.3">
                  <p:embed/>
                  <p:pic>
                    <p:nvPicPr>
                      <p:cNvPr id="153607" name="Object 7">
                        <a:extLst>
                          <a:ext uri="{FF2B5EF4-FFF2-40B4-BE49-F238E27FC236}">
                            <a16:creationId xmlns:a16="http://schemas.microsoft.com/office/drawing/2014/main" id="{4D6EC4CF-90AC-B068-E2CB-C0C0F442F8A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5801" y="2209801"/>
                        <a:ext cx="3135313" cy="1001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08" name="Object 8">
            <a:extLst>
              <a:ext uri="{FF2B5EF4-FFF2-40B4-BE49-F238E27FC236}">
                <a16:creationId xmlns:a16="http://schemas.microsoft.com/office/drawing/2014/main" id="{F161A86B-0096-59F3-8B06-CF0CAE70701B}"/>
              </a:ext>
            </a:extLst>
          </p:cNvPr>
          <p:cNvGraphicFramePr>
            <a:graphicFrameLocks noChangeAspect="1"/>
          </p:cNvGraphicFramePr>
          <p:nvPr/>
        </p:nvGraphicFramePr>
        <p:xfrm>
          <a:off x="3581400" y="3200401"/>
          <a:ext cx="4578350" cy="1158875"/>
        </p:xfrm>
        <a:graphic>
          <a:graphicData uri="http://schemas.openxmlformats.org/presentationml/2006/ole">
            <mc:AlternateContent xmlns:mc="http://schemas.openxmlformats.org/markup-compatibility/2006">
              <mc:Choice xmlns:v="urn:schemas-microsoft-com:vml" Requires="v">
                <p:oleObj name="Equation" r:id="rId7" imgW="1757948" imgH="375463" progId="Equation.3">
                  <p:embed/>
                </p:oleObj>
              </mc:Choice>
              <mc:Fallback>
                <p:oleObj name="Equation" r:id="rId7" imgW="1757948" imgH="375463" progId="Equation.3">
                  <p:embed/>
                  <p:pic>
                    <p:nvPicPr>
                      <p:cNvPr id="153608" name="Object 8">
                        <a:extLst>
                          <a:ext uri="{FF2B5EF4-FFF2-40B4-BE49-F238E27FC236}">
                            <a16:creationId xmlns:a16="http://schemas.microsoft.com/office/drawing/2014/main" id="{F161A86B-0096-59F3-8B06-CF0CAE70701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81400" y="3200401"/>
                        <a:ext cx="4578350" cy="1158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153606"/>
                                        </p:tgtEl>
                                        <p:attrNameLst>
                                          <p:attrName>style.visibility</p:attrName>
                                        </p:attrNameLst>
                                      </p:cBhvr>
                                      <p:to>
                                        <p:strVal val="visible"/>
                                      </p:to>
                                    </p:set>
                                    <p:animEffect transition="in" filter="fade">
                                      <p:cBhvr>
                                        <p:cTn id="7" dur="1000"/>
                                        <p:tgtEl>
                                          <p:spTgt spid="153606"/>
                                        </p:tgtEl>
                                      </p:cBhvr>
                                    </p:animEffect>
                                    <p:anim calcmode="lin" valueType="num">
                                      <p:cBhvr>
                                        <p:cTn id="8" dur="1000" fill="hold"/>
                                        <p:tgtEl>
                                          <p:spTgt spid="153606"/>
                                        </p:tgtEl>
                                        <p:attrNameLst>
                                          <p:attrName>ppt_x</p:attrName>
                                        </p:attrNameLst>
                                      </p:cBhvr>
                                      <p:tavLst>
                                        <p:tav tm="0">
                                          <p:val>
                                            <p:strVal val="#ppt_x"/>
                                          </p:val>
                                        </p:tav>
                                        <p:tav tm="100000">
                                          <p:val>
                                            <p:strVal val="#ppt_x"/>
                                          </p:val>
                                        </p:tav>
                                      </p:tavLst>
                                    </p:anim>
                                    <p:anim calcmode="lin" valueType="num">
                                      <p:cBhvr>
                                        <p:cTn id="9" dur="1000" fill="hold"/>
                                        <p:tgtEl>
                                          <p:spTgt spid="153606"/>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153607"/>
                                        </p:tgtEl>
                                        <p:attrNameLst>
                                          <p:attrName>style.visibility</p:attrName>
                                        </p:attrNameLst>
                                      </p:cBhvr>
                                      <p:to>
                                        <p:strVal val="visible"/>
                                      </p:to>
                                    </p:set>
                                    <p:animEffect transition="in" filter="fade">
                                      <p:cBhvr>
                                        <p:cTn id="14" dur="1000"/>
                                        <p:tgtEl>
                                          <p:spTgt spid="153607"/>
                                        </p:tgtEl>
                                      </p:cBhvr>
                                    </p:animEffect>
                                    <p:anim calcmode="lin" valueType="num">
                                      <p:cBhvr>
                                        <p:cTn id="15" dur="1000" fill="hold"/>
                                        <p:tgtEl>
                                          <p:spTgt spid="153607"/>
                                        </p:tgtEl>
                                        <p:attrNameLst>
                                          <p:attrName>ppt_x</p:attrName>
                                        </p:attrNameLst>
                                      </p:cBhvr>
                                      <p:tavLst>
                                        <p:tav tm="0">
                                          <p:val>
                                            <p:strVal val="#ppt_x"/>
                                          </p:val>
                                        </p:tav>
                                        <p:tav tm="100000">
                                          <p:val>
                                            <p:strVal val="#ppt_x"/>
                                          </p:val>
                                        </p:tav>
                                      </p:tavLst>
                                    </p:anim>
                                    <p:anim calcmode="lin" valueType="num">
                                      <p:cBhvr>
                                        <p:cTn id="16" dur="1000" fill="hold"/>
                                        <p:tgtEl>
                                          <p:spTgt spid="153607"/>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153608"/>
                                        </p:tgtEl>
                                        <p:attrNameLst>
                                          <p:attrName>style.visibility</p:attrName>
                                        </p:attrNameLst>
                                      </p:cBhvr>
                                      <p:to>
                                        <p:strVal val="visible"/>
                                      </p:to>
                                    </p:set>
                                    <p:animEffect transition="in" filter="fade">
                                      <p:cBhvr>
                                        <p:cTn id="21" dur="1000"/>
                                        <p:tgtEl>
                                          <p:spTgt spid="153608"/>
                                        </p:tgtEl>
                                      </p:cBhvr>
                                    </p:animEffect>
                                    <p:anim calcmode="lin" valueType="num">
                                      <p:cBhvr>
                                        <p:cTn id="22" dur="1000" fill="hold"/>
                                        <p:tgtEl>
                                          <p:spTgt spid="153608"/>
                                        </p:tgtEl>
                                        <p:attrNameLst>
                                          <p:attrName>ppt_x</p:attrName>
                                        </p:attrNameLst>
                                      </p:cBhvr>
                                      <p:tavLst>
                                        <p:tav tm="0">
                                          <p:val>
                                            <p:strVal val="#ppt_x"/>
                                          </p:val>
                                        </p:tav>
                                        <p:tav tm="100000">
                                          <p:val>
                                            <p:strVal val="#ppt_x"/>
                                          </p:val>
                                        </p:tav>
                                      </p:tavLst>
                                    </p:anim>
                                    <p:anim calcmode="lin" valueType="num">
                                      <p:cBhvr>
                                        <p:cTn id="23" dur="1000" fill="hold"/>
                                        <p:tgtEl>
                                          <p:spTgt spid="153608"/>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53603">
                                            <p:txEl>
                                              <p:pRg st="0" end="0"/>
                                            </p:txEl>
                                          </p:spTgt>
                                        </p:tgtEl>
                                        <p:attrNameLst>
                                          <p:attrName>style.visibility</p:attrName>
                                        </p:attrNameLst>
                                      </p:cBhvr>
                                      <p:to>
                                        <p:strVal val="visible"/>
                                      </p:to>
                                    </p:set>
                                    <p:animEffect transition="in" filter="fade">
                                      <p:cBhvr>
                                        <p:cTn id="28" dur="1000"/>
                                        <p:tgtEl>
                                          <p:spTgt spid="153603">
                                            <p:txEl>
                                              <p:pRg st="0" end="0"/>
                                            </p:txEl>
                                          </p:spTgt>
                                        </p:tgtEl>
                                      </p:cBhvr>
                                    </p:animEffect>
                                    <p:anim calcmode="lin" valueType="num">
                                      <p:cBhvr>
                                        <p:cTn id="29" dur="1000" fill="hold"/>
                                        <p:tgtEl>
                                          <p:spTgt spid="153603">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5360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3" grpId="0" build="p"/>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5107" name="Rectangle 3">
            <a:extLst>
              <a:ext uri="{FF2B5EF4-FFF2-40B4-BE49-F238E27FC236}">
                <a16:creationId xmlns:a16="http://schemas.microsoft.com/office/drawing/2014/main" id="{451C00B8-B386-3B9D-048D-1F41D440CA7F}"/>
              </a:ext>
            </a:extLst>
          </p:cNvPr>
          <p:cNvSpPr>
            <a:spLocks noGrp="1"/>
          </p:cNvSpPr>
          <p:nvPr>
            <p:ph idx="1"/>
          </p:nvPr>
        </p:nvSpPr>
        <p:spPr/>
        <p:txBody>
          <a:bodyPr/>
          <a:lstStyle/>
          <a:p>
            <a:pPr algn="just" eaLnBrk="1" hangingPunct="1">
              <a:spcAft>
                <a:spcPts val="650"/>
              </a:spcAft>
            </a:pPr>
            <a:r>
              <a:rPr lang="en-US" altLang="en-US" sz="2800">
                <a:latin typeface="Times New Roman" panose="02020603050405020304" pitchFamily="18" charset="0"/>
                <a:ea typeface="ＭＳ Ｐゴシック" panose="020B0600070205080204" pitchFamily="34" charset="-128"/>
              </a:rPr>
              <a:t>Find the Effective Annual Rate (EAR) of an 18% APR loan that is compounded monthly.</a:t>
            </a:r>
          </a:p>
          <a:p>
            <a:pPr algn="just" eaLnBrk="1" hangingPunct="1">
              <a:spcAft>
                <a:spcPts val="650"/>
              </a:spcAft>
            </a:pPr>
            <a:r>
              <a:rPr lang="en-US" altLang="en-US" sz="2800">
                <a:latin typeface="Times New Roman" panose="02020603050405020304" pitchFamily="18" charset="0"/>
                <a:ea typeface="ＭＳ Ｐゴシック" panose="020B0600070205080204" pitchFamily="34" charset="-128"/>
              </a:rPr>
              <a:t>What we have is a loan with a monthly interest rate rate of 1½%.</a:t>
            </a:r>
          </a:p>
          <a:p>
            <a:pPr algn="just" eaLnBrk="1" hangingPunct="1">
              <a:spcAft>
                <a:spcPts val="650"/>
              </a:spcAft>
            </a:pPr>
            <a:r>
              <a:rPr lang="en-US" altLang="en-US" sz="2800">
                <a:latin typeface="Times New Roman" panose="02020603050405020304" pitchFamily="18" charset="0"/>
                <a:ea typeface="ＭＳ Ｐゴシック" panose="020B0600070205080204" pitchFamily="34" charset="-128"/>
              </a:rPr>
              <a:t>This is equivalent to a loan with an annual interest rate of 19.56%.</a:t>
            </a:r>
          </a:p>
        </p:txBody>
      </p:sp>
      <p:sp>
        <p:nvSpPr>
          <p:cNvPr id="56322" name="Rectangle 2">
            <a:extLst>
              <a:ext uri="{FF2B5EF4-FFF2-40B4-BE49-F238E27FC236}">
                <a16:creationId xmlns:a16="http://schemas.microsoft.com/office/drawing/2014/main" id="{0A35B426-C409-E6F3-5FBE-5FB26E491DDB}"/>
              </a:ext>
            </a:extLst>
          </p:cNvPr>
          <p:cNvSpPr>
            <a:spLocks noGrp="1" noChangeArrowheads="1"/>
          </p:cNvSpPr>
          <p:nvPr>
            <p:ph type="title"/>
          </p:nvPr>
        </p:nvSpPr>
        <p:spPr>
          <a:xfrm>
            <a:off x="1981201" y="533400"/>
            <a:ext cx="8316913" cy="1206500"/>
          </a:xfrm>
        </p:spPr>
        <p:txBody>
          <a:bodyPr/>
          <a:lstStyle/>
          <a:p>
            <a:pPr algn="just" eaLnBrk="1" fontAlgn="auto" hangingPunct="1">
              <a:spcAft>
                <a:spcPts val="650"/>
              </a:spcAft>
              <a:defRPr/>
            </a:pPr>
            <a:r>
              <a:rPr lang="en-US" altLang="en-US" sz="3400" dirty="0">
                <a:ea typeface="+mj-ea"/>
                <a:cs typeface="+mj-cs"/>
              </a:rPr>
              <a:t>Effective Annual Rates of Interest</a:t>
            </a:r>
          </a:p>
        </p:txBody>
      </p:sp>
      <p:graphicFrame>
        <p:nvGraphicFramePr>
          <p:cNvPr id="175108" name="Object 4">
            <a:extLst>
              <a:ext uri="{FF2B5EF4-FFF2-40B4-BE49-F238E27FC236}">
                <a16:creationId xmlns:a16="http://schemas.microsoft.com/office/drawing/2014/main" id="{F10FF5CA-9D7B-F91D-C33E-A2A4C95604C5}"/>
              </a:ext>
            </a:extLst>
          </p:cNvPr>
          <p:cNvGraphicFramePr>
            <a:graphicFrameLocks noChangeAspect="1"/>
          </p:cNvGraphicFramePr>
          <p:nvPr/>
        </p:nvGraphicFramePr>
        <p:xfrm>
          <a:off x="3505201" y="4495801"/>
          <a:ext cx="5802313" cy="1039813"/>
        </p:xfrm>
        <a:graphic>
          <a:graphicData uri="http://schemas.openxmlformats.org/presentationml/2006/ole">
            <mc:AlternateContent xmlns:mc="http://schemas.openxmlformats.org/markup-compatibility/2006">
              <mc:Choice xmlns:v="urn:schemas-microsoft-com:vml" Requires="v">
                <p:oleObj name="Equation" r:id="rId3" imgW="2519905" imgH="375463" progId="Equation.3">
                  <p:embed/>
                </p:oleObj>
              </mc:Choice>
              <mc:Fallback>
                <p:oleObj name="Equation" r:id="rId3" imgW="2519905" imgH="375463" progId="Equation.3">
                  <p:embed/>
                  <p:pic>
                    <p:nvPicPr>
                      <p:cNvPr id="175108" name="Object 4">
                        <a:extLst>
                          <a:ext uri="{FF2B5EF4-FFF2-40B4-BE49-F238E27FC236}">
                            <a16:creationId xmlns:a16="http://schemas.microsoft.com/office/drawing/2014/main" id="{F10FF5CA-9D7B-F91D-C33E-A2A4C95604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5201" y="4495801"/>
                        <a:ext cx="5802313" cy="1039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5107">
                                            <p:txEl>
                                              <p:pRg st="0" end="0"/>
                                            </p:txEl>
                                          </p:spTgt>
                                        </p:tgtEl>
                                        <p:attrNameLst>
                                          <p:attrName>style.visibility</p:attrName>
                                        </p:attrNameLst>
                                      </p:cBhvr>
                                      <p:to>
                                        <p:strVal val="visible"/>
                                      </p:to>
                                    </p:set>
                                    <p:animEffect transition="in" filter="fade">
                                      <p:cBhvr>
                                        <p:cTn id="7" dur="1000"/>
                                        <p:tgtEl>
                                          <p:spTgt spid="175107">
                                            <p:txEl>
                                              <p:pRg st="0" end="0"/>
                                            </p:txEl>
                                          </p:spTgt>
                                        </p:tgtEl>
                                      </p:cBhvr>
                                    </p:animEffect>
                                    <p:anim calcmode="lin" valueType="num">
                                      <p:cBhvr>
                                        <p:cTn id="8" dur="1000" fill="hold"/>
                                        <p:tgtEl>
                                          <p:spTgt spid="17510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510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75107">
                                            <p:txEl>
                                              <p:pRg st="1" end="1"/>
                                            </p:txEl>
                                          </p:spTgt>
                                        </p:tgtEl>
                                        <p:attrNameLst>
                                          <p:attrName>style.visibility</p:attrName>
                                        </p:attrNameLst>
                                      </p:cBhvr>
                                      <p:to>
                                        <p:strVal val="visible"/>
                                      </p:to>
                                    </p:set>
                                    <p:animEffect transition="in" filter="fade">
                                      <p:cBhvr>
                                        <p:cTn id="14" dur="1000"/>
                                        <p:tgtEl>
                                          <p:spTgt spid="175107">
                                            <p:txEl>
                                              <p:pRg st="1" end="1"/>
                                            </p:txEl>
                                          </p:spTgt>
                                        </p:tgtEl>
                                      </p:cBhvr>
                                    </p:animEffect>
                                    <p:anim calcmode="lin" valueType="num">
                                      <p:cBhvr>
                                        <p:cTn id="15" dur="1000" fill="hold"/>
                                        <p:tgtEl>
                                          <p:spTgt spid="17510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7510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75107">
                                            <p:txEl>
                                              <p:pRg st="2" end="2"/>
                                            </p:txEl>
                                          </p:spTgt>
                                        </p:tgtEl>
                                        <p:attrNameLst>
                                          <p:attrName>style.visibility</p:attrName>
                                        </p:attrNameLst>
                                      </p:cBhvr>
                                      <p:to>
                                        <p:strVal val="visible"/>
                                      </p:to>
                                    </p:set>
                                    <p:animEffect transition="in" filter="fade">
                                      <p:cBhvr>
                                        <p:cTn id="21" dur="1000"/>
                                        <p:tgtEl>
                                          <p:spTgt spid="175107">
                                            <p:txEl>
                                              <p:pRg st="2" end="2"/>
                                            </p:txEl>
                                          </p:spTgt>
                                        </p:tgtEl>
                                      </p:cBhvr>
                                    </p:animEffect>
                                    <p:anim calcmode="lin" valueType="num">
                                      <p:cBhvr>
                                        <p:cTn id="22" dur="1000" fill="hold"/>
                                        <p:tgtEl>
                                          <p:spTgt spid="17510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7510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175108"/>
                                        </p:tgtEl>
                                        <p:attrNameLst>
                                          <p:attrName>style.visibility</p:attrName>
                                        </p:attrNameLst>
                                      </p:cBhvr>
                                      <p:to>
                                        <p:strVal val="visible"/>
                                      </p:to>
                                    </p:set>
                                    <p:animEffect transition="in" filter="fade">
                                      <p:cBhvr>
                                        <p:cTn id="28" dur="1000"/>
                                        <p:tgtEl>
                                          <p:spTgt spid="175108"/>
                                        </p:tgtEl>
                                      </p:cBhvr>
                                    </p:animEffect>
                                    <p:anim calcmode="lin" valueType="num">
                                      <p:cBhvr>
                                        <p:cTn id="29" dur="1000" fill="hold"/>
                                        <p:tgtEl>
                                          <p:spTgt spid="175108"/>
                                        </p:tgtEl>
                                        <p:attrNameLst>
                                          <p:attrName>ppt_x</p:attrName>
                                        </p:attrNameLst>
                                      </p:cBhvr>
                                      <p:tavLst>
                                        <p:tav tm="0">
                                          <p:val>
                                            <p:strVal val="#ppt_x"/>
                                          </p:val>
                                        </p:tav>
                                        <p:tav tm="100000">
                                          <p:val>
                                            <p:strVal val="#ppt_x"/>
                                          </p:val>
                                        </p:tav>
                                      </p:tavLst>
                                    </p:anim>
                                    <p:anim calcmode="lin" valueType="num">
                                      <p:cBhvr>
                                        <p:cTn id="30" dur="1000" fill="hold"/>
                                        <p:tgtEl>
                                          <p:spTgt spid="17510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07" grpId="0" build="p"/>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4627" name="Rectangle 3">
            <a:extLst>
              <a:ext uri="{FF2B5EF4-FFF2-40B4-BE49-F238E27FC236}">
                <a16:creationId xmlns:a16="http://schemas.microsoft.com/office/drawing/2014/main" id="{1F7D3569-E8B6-8B8E-BDFB-D7EA95E5E602}"/>
              </a:ext>
            </a:extLst>
          </p:cNvPr>
          <p:cNvSpPr>
            <a:spLocks noGrp="1"/>
          </p:cNvSpPr>
          <p:nvPr>
            <p:ph idx="1"/>
          </p:nvPr>
        </p:nvSpPr>
        <p:spPr>
          <a:xfrm>
            <a:off x="2209800" y="1295400"/>
            <a:ext cx="7924800" cy="4953000"/>
          </a:xfrm>
        </p:spPr>
        <p:txBody>
          <a:bodyPr/>
          <a:lstStyle/>
          <a:p>
            <a:pPr eaLnBrk="1" hangingPunct="1">
              <a:lnSpc>
                <a:spcPct val="90000"/>
              </a:lnSpc>
            </a:pPr>
            <a:r>
              <a:rPr lang="en-US" altLang="en-US" sz="2800">
                <a:latin typeface="Times New Roman" panose="02020603050405020304" pitchFamily="18" charset="0"/>
                <a:ea typeface="ＭＳ Ｐゴシック" panose="020B0600070205080204" pitchFamily="34" charset="-128"/>
              </a:rPr>
              <a:t>The general formula for the future value of an investment compounded continuously over many periods can be written as:</a:t>
            </a:r>
          </a:p>
          <a:p>
            <a:pPr algn="ctr" eaLnBrk="1" hangingPunct="1">
              <a:lnSpc>
                <a:spcPct val="90000"/>
              </a:lnSpc>
              <a:buFont typeface="Wingdings" panose="05000000000000000000" pitchFamily="2" charset="2"/>
              <a:buNone/>
            </a:pPr>
            <a:r>
              <a:rPr lang="en-US" altLang="en-US" sz="2800" i="1">
                <a:latin typeface="Times New Roman" panose="02020603050405020304" pitchFamily="18" charset="0"/>
                <a:ea typeface="ＭＳ Ｐゴシック" panose="020B0600070205080204" pitchFamily="34" charset="-128"/>
                <a:cs typeface="Times New Roman" panose="02020603050405020304" pitchFamily="18" charset="0"/>
              </a:rPr>
              <a:t>FV</a:t>
            </a: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 = </a:t>
            </a:r>
            <a:r>
              <a:rPr lang="en-US" altLang="en-US" sz="2800" i="1">
                <a:latin typeface="Times New Roman" panose="02020603050405020304" pitchFamily="18" charset="0"/>
                <a:ea typeface="ＭＳ Ｐゴシック" panose="020B0600070205080204" pitchFamily="34" charset="-128"/>
                <a:cs typeface="Times New Roman" panose="02020603050405020304" pitchFamily="18" charset="0"/>
              </a:rPr>
              <a:t>C</a:t>
            </a:r>
            <a:r>
              <a:rPr lang="en-US" altLang="en-US" sz="2800" baseline="-25000">
                <a:latin typeface="Times New Roman" panose="02020603050405020304" pitchFamily="18" charset="0"/>
                <a:ea typeface="ＭＳ Ｐゴシック" panose="020B0600070205080204" pitchFamily="34" charset="-128"/>
                <a:cs typeface="Times New Roman" panose="02020603050405020304" pitchFamily="18" charset="0"/>
              </a:rPr>
              <a:t>0</a:t>
            </a: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a:t>
            </a:r>
            <a:r>
              <a:rPr lang="en-US" altLang="en-US" sz="2800" i="1">
                <a:latin typeface="Times New Roman" panose="02020603050405020304" pitchFamily="18" charset="0"/>
                <a:ea typeface="ＭＳ Ｐゴシック" panose="020B0600070205080204" pitchFamily="34" charset="-128"/>
                <a:cs typeface="Times New Roman" panose="02020603050405020304" pitchFamily="18" charset="0"/>
              </a:rPr>
              <a:t>e</a:t>
            </a:r>
            <a:r>
              <a:rPr lang="en-US" altLang="en-US" sz="2800" i="1" baseline="30000">
                <a:latin typeface="Times New Roman" panose="02020603050405020304" pitchFamily="18" charset="0"/>
                <a:ea typeface="ＭＳ Ｐゴシック" panose="020B0600070205080204" pitchFamily="34" charset="-128"/>
                <a:cs typeface="Times New Roman" panose="02020603050405020304" pitchFamily="18" charset="0"/>
              </a:rPr>
              <a:t>rT</a:t>
            </a:r>
          </a:p>
          <a:p>
            <a:pPr eaLnBrk="1" hangingPunct="1">
              <a:lnSpc>
                <a:spcPct val="90000"/>
              </a:lnSpc>
              <a:buFont typeface="Wingdings" panose="05000000000000000000" pitchFamily="2" charset="2"/>
              <a:buNone/>
            </a:pP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Where </a:t>
            </a:r>
          </a:p>
          <a:p>
            <a:pPr eaLnBrk="1" hangingPunct="1">
              <a:lnSpc>
                <a:spcPct val="90000"/>
              </a:lnSpc>
              <a:buFont typeface="Wingdings" panose="05000000000000000000" pitchFamily="2" charset="2"/>
              <a:buNone/>
            </a:pPr>
            <a:r>
              <a:rPr lang="en-US" altLang="en-US" sz="2800" i="1">
                <a:latin typeface="Times New Roman" panose="02020603050405020304" pitchFamily="18" charset="0"/>
                <a:ea typeface="ＭＳ Ｐゴシック" panose="020B0600070205080204" pitchFamily="34" charset="-128"/>
                <a:cs typeface="Times New Roman" panose="02020603050405020304" pitchFamily="18" charset="0"/>
              </a:rPr>
              <a:t>	 C</a:t>
            </a:r>
            <a:r>
              <a:rPr lang="en-US" altLang="en-US" sz="2800" baseline="-25000">
                <a:latin typeface="Times New Roman" panose="02020603050405020304" pitchFamily="18" charset="0"/>
                <a:ea typeface="ＭＳ Ｐゴシック" panose="020B0600070205080204" pitchFamily="34" charset="-128"/>
                <a:cs typeface="Times New Roman" panose="02020603050405020304" pitchFamily="18" charset="0"/>
              </a:rPr>
              <a:t>0</a:t>
            </a: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 is cash flow at date 0,</a:t>
            </a:r>
          </a:p>
          <a:p>
            <a:pPr lvl="1" eaLnBrk="1" hangingPunct="1">
              <a:lnSpc>
                <a:spcPct val="90000"/>
              </a:lnSpc>
              <a:spcBef>
                <a:spcPct val="50000"/>
              </a:spcBef>
              <a:buFont typeface="Wingdings" panose="05000000000000000000" pitchFamily="2" charset="2"/>
              <a:buNone/>
            </a:pPr>
            <a:r>
              <a:rPr lang="en-US" altLang="en-US" sz="2800" i="1">
                <a:latin typeface="Times New Roman" panose="02020603050405020304" pitchFamily="18" charset="0"/>
                <a:ea typeface="ＭＳ Ｐゴシック" panose="020B0600070205080204" pitchFamily="34" charset="-128"/>
                <a:cs typeface="Times New Roman" panose="02020603050405020304" pitchFamily="18" charset="0"/>
              </a:rPr>
              <a:t>r </a:t>
            </a: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is the stated annual interest rate, </a:t>
            </a:r>
          </a:p>
          <a:p>
            <a:pPr lvl="1" eaLnBrk="1" hangingPunct="1">
              <a:lnSpc>
                <a:spcPct val="90000"/>
              </a:lnSpc>
              <a:spcBef>
                <a:spcPct val="50000"/>
              </a:spcBef>
              <a:buFont typeface="Wingdings" panose="05000000000000000000" pitchFamily="2" charset="2"/>
              <a:buNone/>
            </a:pPr>
            <a:r>
              <a:rPr lang="en-US" altLang="en-US" sz="2800" i="1">
                <a:latin typeface="Times New Roman" panose="02020603050405020304" pitchFamily="18" charset="0"/>
                <a:ea typeface="ＭＳ Ｐゴシック" panose="020B0600070205080204" pitchFamily="34" charset="-128"/>
                <a:cs typeface="Times New Roman" panose="02020603050405020304" pitchFamily="18" charset="0"/>
              </a:rPr>
              <a:t>T</a:t>
            </a: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 is the number of years, and</a:t>
            </a:r>
          </a:p>
          <a:p>
            <a:pPr lvl="1" eaLnBrk="1" hangingPunct="1">
              <a:lnSpc>
                <a:spcPct val="90000"/>
              </a:lnSpc>
              <a:spcBef>
                <a:spcPct val="50000"/>
              </a:spcBef>
              <a:buFont typeface="Wingdings" panose="05000000000000000000" pitchFamily="2" charset="2"/>
              <a:buNone/>
            </a:pPr>
            <a:r>
              <a:rPr lang="en-US" altLang="en-US" sz="2800" i="1">
                <a:latin typeface="Times New Roman" panose="02020603050405020304" pitchFamily="18" charset="0"/>
                <a:ea typeface="ＭＳ Ｐゴシック" panose="020B0600070205080204" pitchFamily="34" charset="-128"/>
                <a:cs typeface="Times New Roman" panose="02020603050405020304" pitchFamily="18" charset="0"/>
              </a:rPr>
              <a:t>e</a:t>
            </a: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 is a transcendental number approximately equal to 2.718. </a:t>
            </a:r>
            <a:r>
              <a:rPr lang="en-US" altLang="en-US" sz="2800" i="1">
                <a:latin typeface="Times New Roman" panose="02020603050405020304" pitchFamily="18" charset="0"/>
                <a:ea typeface="ＭＳ Ｐゴシック" panose="020B0600070205080204" pitchFamily="34" charset="-128"/>
                <a:cs typeface="Times New Roman" panose="02020603050405020304" pitchFamily="18" charset="0"/>
              </a:rPr>
              <a:t>e</a:t>
            </a:r>
            <a:r>
              <a:rPr lang="en-US" altLang="en-US" sz="2800" i="1" baseline="30000">
                <a:latin typeface="Times New Roman" panose="02020603050405020304" pitchFamily="18" charset="0"/>
                <a:ea typeface="ＭＳ Ｐゴシック" panose="020B0600070205080204" pitchFamily="34" charset="-128"/>
                <a:cs typeface="Times New Roman" panose="02020603050405020304" pitchFamily="18" charset="0"/>
              </a:rPr>
              <a:t>x</a:t>
            </a: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 is a key on your calculator.</a:t>
            </a:r>
          </a:p>
        </p:txBody>
      </p:sp>
      <p:sp>
        <p:nvSpPr>
          <p:cNvPr id="60418" name="Rectangle 2">
            <a:extLst>
              <a:ext uri="{FF2B5EF4-FFF2-40B4-BE49-F238E27FC236}">
                <a16:creationId xmlns:a16="http://schemas.microsoft.com/office/drawing/2014/main" id="{D29CC658-5528-5879-4DA4-1325EF58D38D}"/>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Continuous Compounding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4627">
                                            <p:txEl>
                                              <p:pRg st="0" end="0"/>
                                            </p:txEl>
                                          </p:spTgt>
                                        </p:tgtEl>
                                        <p:attrNameLst>
                                          <p:attrName>style.visibility</p:attrName>
                                        </p:attrNameLst>
                                      </p:cBhvr>
                                      <p:to>
                                        <p:strVal val="visible"/>
                                      </p:to>
                                    </p:set>
                                    <p:animEffect transition="in" filter="fade">
                                      <p:cBhvr>
                                        <p:cTn id="7" dur="1000"/>
                                        <p:tgtEl>
                                          <p:spTgt spid="154627">
                                            <p:txEl>
                                              <p:pRg st="0" end="0"/>
                                            </p:txEl>
                                          </p:spTgt>
                                        </p:tgtEl>
                                      </p:cBhvr>
                                    </p:animEffect>
                                    <p:anim calcmode="lin" valueType="num">
                                      <p:cBhvr>
                                        <p:cTn id="8" dur="1000" fill="hold"/>
                                        <p:tgtEl>
                                          <p:spTgt spid="15462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5462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54627">
                                            <p:txEl>
                                              <p:pRg st="1" end="1"/>
                                            </p:txEl>
                                          </p:spTgt>
                                        </p:tgtEl>
                                        <p:attrNameLst>
                                          <p:attrName>style.visibility</p:attrName>
                                        </p:attrNameLst>
                                      </p:cBhvr>
                                      <p:to>
                                        <p:strVal val="visible"/>
                                      </p:to>
                                    </p:set>
                                    <p:animEffect transition="in" filter="fade">
                                      <p:cBhvr>
                                        <p:cTn id="14" dur="1000"/>
                                        <p:tgtEl>
                                          <p:spTgt spid="154627">
                                            <p:txEl>
                                              <p:pRg st="1" end="1"/>
                                            </p:txEl>
                                          </p:spTgt>
                                        </p:tgtEl>
                                      </p:cBhvr>
                                    </p:animEffect>
                                    <p:anim calcmode="lin" valueType="num">
                                      <p:cBhvr>
                                        <p:cTn id="15" dur="1000" fill="hold"/>
                                        <p:tgtEl>
                                          <p:spTgt spid="15462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5462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54627">
                                            <p:txEl>
                                              <p:pRg st="2" end="2"/>
                                            </p:txEl>
                                          </p:spTgt>
                                        </p:tgtEl>
                                        <p:attrNameLst>
                                          <p:attrName>style.visibility</p:attrName>
                                        </p:attrNameLst>
                                      </p:cBhvr>
                                      <p:to>
                                        <p:strVal val="visible"/>
                                      </p:to>
                                    </p:set>
                                    <p:animEffect transition="in" filter="fade">
                                      <p:cBhvr>
                                        <p:cTn id="21" dur="1000"/>
                                        <p:tgtEl>
                                          <p:spTgt spid="154627">
                                            <p:txEl>
                                              <p:pRg st="2" end="2"/>
                                            </p:txEl>
                                          </p:spTgt>
                                        </p:tgtEl>
                                      </p:cBhvr>
                                    </p:animEffect>
                                    <p:anim calcmode="lin" valueType="num">
                                      <p:cBhvr>
                                        <p:cTn id="22" dur="1000" fill="hold"/>
                                        <p:tgtEl>
                                          <p:spTgt spid="15462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5462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54627">
                                            <p:txEl>
                                              <p:pRg st="3" end="3"/>
                                            </p:txEl>
                                          </p:spTgt>
                                        </p:tgtEl>
                                        <p:attrNameLst>
                                          <p:attrName>style.visibility</p:attrName>
                                        </p:attrNameLst>
                                      </p:cBhvr>
                                      <p:to>
                                        <p:strVal val="visible"/>
                                      </p:to>
                                    </p:set>
                                    <p:animEffect transition="in" filter="fade">
                                      <p:cBhvr>
                                        <p:cTn id="28" dur="1000"/>
                                        <p:tgtEl>
                                          <p:spTgt spid="154627">
                                            <p:txEl>
                                              <p:pRg st="3" end="3"/>
                                            </p:txEl>
                                          </p:spTgt>
                                        </p:tgtEl>
                                      </p:cBhvr>
                                    </p:animEffect>
                                    <p:anim calcmode="lin" valueType="num">
                                      <p:cBhvr>
                                        <p:cTn id="29" dur="1000" fill="hold"/>
                                        <p:tgtEl>
                                          <p:spTgt spid="15462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54627">
                                            <p:txEl>
                                              <p:pRg st="3" end="3"/>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54627">
                                            <p:txEl>
                                              <p:pRg st="4" end="4"/>
                                            </p:txEl>
                                          </p:spTgt>
                                        </p:tgtEl>
                                        <p:attrNameLst>
                                          <p:attrName>style.visibility</p:attrName>
                                        </p:attrNameLst>
                                      </p:cBhvr>
                                      <p:to>
                                        <p:strVal val="visible"/>
                                      </p:to>
                                    </p:set>
                                    <p:animEffect transition="in" filter="fade">
                                      <p:cBhvr>
                                        <p:cTn id="33" dur="1000"/>
                                        <p:tgtEl>
                                          <p:spTgt spid="154627">
                                            <p:txEl>
                                              <p:pRg st="4" end="4"/>
                                            </p:txEl>
                                          </p:spTgt>
                                        </p:tgtEl>
                                      </p:cBhvr>
                                    </p:animEffect>
                                    <p:anim calcmode="lin" valueType="num">
                                      <p:cBhvr>
                                        <p:cTn id="34" dur="1000" fill="hold"/>
                                        <p:tgtEl>
                                          <p:spTgt spid="154627">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154627">
                                            <p:txEl>
                                              <p:pRg st="4" end="4"/>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54627">
                                            <p:txEl>
                                              <p:pRg st="5" end="5"/>
                                            </p:txEl>
                                          </p:spTgt>
                                        </p:tgtEl>
                                        <p:attrNameLst>
                                          <p:attrName>style.visibility</p:attrName>
                                        </p:attrNameLst>
                                      </p:cBhvr>
                                      <p:to>
                                        <p:strVal val="visible"/>
                                      </p:to>
                                    </p:set>
                                    <p:animEffect transition="in" filter="fade">
                                      <p:cBhvr>
                                        <p:cTn id="38" dur="1000"/>
                                        <p:tgtEl>
                                          <p:spTgt spid="154627">
                                            <p:txEl>
                                              <p:pRg st="5" end="5"/>
                                            </p:txEl>
                                          </p:spTgt>
                                        </p:tgtEl>
                                      </p:cBhvr>
                                    </p:animEffect>
                                    <p:anim calcmode="lin" valueType="num">
                                      <p:cBhvr>
                                        <p:cTn id="39" dur="1000" fill="hold"/>
                                        <p:tgtEl>
                                          <p:spTgt spid="154627">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154627">
                                            <p:txEl>
                                              <p:pRg st="5" end="5"/>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54627">
                                            <p:txEl>
                                              <p:pRg st="6" end="6"/>
                                            </p:txEl>
                                          </p:spTgt>
                                        </p:tgtEl>
                                        <p:attrNameLst>
                                          <p:attrName>style.visibility</p:attrName>
                                        </p:attrNameLst>
                                      </p:cBhvr>
                                      <p:to>
                                        <p:strVal val="visible"/>
                                      </p:to>
                                    </p:set>
                                    <p:animEffect transition="in" filter="fade">
                                      <p:cBhvr>
                                        <p:cTn id="43" dur="1000"/>
                                        <p:tgtEl>
                                          <p:spTgt spid="154627">
                                            <p:txEl>
                                              <p:pRg st="6" end="6"/>
                                            </p:txEl>
                                          </p:spTgt>
                                        </p:tgtEl>
                                      </p:cBhvr>
                                    </p:animEffect>
                                    <p:anim calcmode="lin" valueType="num">
                                      <p:cBhvr>
                                        <p:cTn id="44" dur="1000" fill="hold"/>
                                        <p:tgtEl>
                                          <p:spTgt spid="154627">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15462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7" grpId="0" build="p"/>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0291" name="Rectangle 3">
            <a:extLst>
              <a:ext uri="{FF2B5EF4-FFF2-40B4-BE49-F238E27FC236}">
                <a16:creationId xmlns:a16="http://schemas.microsoft.com/office/drawing/2014/main" id="{940A1B5B-78DF-3754-8D29-926F41040909}"/>
              </a:ext>
            </a:extLst>
          </p:cNvPr>
          <p:cNvSpPr>
            <a:spLocks noGrp="1"/>
          </p:cNvSpPr>
          <p:nvPr>
            <p:ph idx="1"/>
          </p:nvPr>
        </p:nvSpPr>
        <p:spPr>
          <a:xfrm>
            <a:off x="2133600" y="1295400"/>
            <a:ext cx="8001000" cy="4724400"/>
          </a:xfrm>
        </p:spPr>
        <p:txBody>
          <a:bodyPr/>
          <a:lstStyle/>
          <a:p>
            <a:pPr eaLnBrk="1" hangingPunct="1"/>
            <a:r>
              <a:rPr lang="en-US" altLang="en-US" sz="2400">
                <a:latin typeface="Times New Roman" panose="02020603050405020304" pitchFamily="18" charset="0"/>
                <a:ea typeface="ＭＳ Ｐゴシック" panose="020B0600070205080204" pitchFamily="34" charset="-128"/>
              </a:rPr>
              <a:t>Perpetuity</a:t>
            </a:r>
          </a:p>
          <a:p>
            <a:pPr lvl="1" eaLnBrk="1" hangingPunct="1"/>
            <a:r>
              <a:rPr lang="en-US" altLang="en-US" sz="2400">
                <a:latin typeface="Times New Roman" panose="02020603050405020304" pitchFamily="18" charset="0"/>
                <a:ea typeface="ＭＳ Ｐゴシック" panose="020B0600070205080204" pitchFamily="34" charset="-128"/>
              </a:rPr>
              <a:t>A constant stream of cash flows that lasts forever</a:t>
            </a:r>
          </a:p>
          <a:p>
            <a:pPr eaLnBrk="1" hangingPunct="1"/>
            <a:r>
              <a:rPr lang="en-US" altLang="en-US" sz="2400">
                <a:latin typeface="Times New Roman" panose="02020603050405020304" pitchFamily="18" charset="0"/>
                <a:ea typeface="ＭＳ Ｐゴシック" panose="020B0600070205080204" pitchFamily="34" charset="-128"/>
              </a:rPr>
              <a:t>Growing perpetuity</a:t>
            </a:r>
          </a:p>
          <a:p>
            <a:pPr lvl="1" eaLnBrk="1" hangingPunct="1"/>
            <a:r>
              <a:rPr lang="en-US" altLang="en-US" sz="2400">
                <a:latin typeface="Times New Roman" panose="02020603050405020304" pitchFamily="18" charset="0"/>
                <a:ea typeface="ＭＳ Ｐゴシック" panose="020B0600070205080204" pitchFamily="34" charset="-128"/>
              </a:rPr>
              <a:t>A stream of cash flows that grows at a constant rate forever</a:t>
            </a:r>
          </a:p>
          <a:p>
            <a:pPr eaLnBrk="1" hangingPunct="1"/>
            <a:r>
              <a:rPr lang="en-US" altLang="en-US" sz="2400">
                <a:latin typeface="Times New Roman" panose="02020603050405020304" pitchFamily="18" charset="0"/>
                <a:ea typeface="ＭＳ Ｐゴシック" panose="020B0600070205080204" pitchFamily="34" charset="-128"/>
              </a:rPr>
              <a:t>Annuity</a:t>
            </a:r>
          </a:p>
          <a:p>
            <a:pPr lvl="1" eaLnBrk="1" hangingPunct="1"/>
            <a:r>
              <a:rPr lang="en-US" altLang="en-US" sz="2400">
                <a:latin typeface="Times New Roman" panose="02020603050405020304" pitchFamily="18" charset="0"/>
                <a:ea typeface="ＭＳ Ｐゴシック" panose="020B0600070205080204" pitchFamily="34" charset="-128"/>
              </a:rPr>
              <a:t>A stream of constant cash flows that lasts for a fixed number of periods</a:t>
            </a:r>
          </a:p>
          <a:p>
            <a:pPr eaLnBrk="1" hangingPunct="1"/>
            <a:r>
              <a:rPr lang="en-US" altLang="en-US" sz="2400">
                <a:latin typeface="Times New Roman" panose="02020603050405020304" pitchFamily="18" charset="0"/>
                <a:ea typeface="ＭＳ Ｐゴシック" panose="020B0600070205080204" pitchFamily="34" charset="-128"/>
              </a:rPr>
              <a:t>Growing annuity</a:t>
            </a:r>
          </a:p>
          <a:p>
            <a:pPr lvl="1" eaLnBrk="1" hangingPunct="1"/>
            <a:r>
              <a:rPr lang="en-US" altLang="en-US" sz="2400">
                <a:latin typeface="Times New Roman" panose="02020603050405020304" pitchFamily="18" charset="0"/>
                <a:ea typeface="ＭＳ Ｐゴシック" panose="020B0600070205080204" pitchFamily="34" charset="-128"/>
              </a:rPr>
              <a:t>A stream of cash flows that grows at a constant rate for a fixed number of periods</a:t>
            </a:r>
          </a:p>
        </p:txBody>
      </p:sp>
      <p:sp>
        <p:nvSpPr>
          <p:cNvPr id="62466" name="Rectangle 2">
            <a:extLst>
              <a:ext uri="{FF2B5EF4-FFF2-40B4-BE49-F238E27FC236}">
                <a16:creationId xmlns:a16="http://schemas.microsoft.com/office/drawing/2014/main" id="{E65A8D05-324C-3986-53FD-C0C84BBC070C}"/>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 Simplifications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Effect transition="in" filter="fade">
                                      <p:cBhvr>
                                        <p:cTn id="7" dur="1000"/>
                                        <p:tgtEl>
                                          <p:spTgt spid="140291">
                                            <p:txEl>
                                              <p:pRg st="0" end="0"/>
                                            </p:txEl>
                                          </p:spTgt>
                                        </p:tgtEl>
                                      </p:cBhvr>
                                    </p:animEffect>
                                    <p:anim calcmode="lin" valueType="num">
                                      <p:cBhvr>
                                        <p:cTn id="8" dur="1000" fill="hold"/>
                                        <p:tgtEl>
                                          <p:spTgt spid="14029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0291">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40291">
                                            <p:txEl>
                                              <p:pRg st="1" end="1"/>
                                            </p:txEl>
                                          </p:spTgt>
                                        </p:tgtEl>
                                        <p:attrNameLst>
                                          <p:attrName>style.visibility</p:attrName>
                                        </p:attrNameLst>
                                      </p:cBhvr>
                                      <p:to>
                                        <p:strVal val="visible"/>
                                      </p:to>
                                    </p:set>
                                    <p:animEffect transition="in" filter="fade">
                                      <p:cBhvr>
                                        <p:cTn id="12" dur="1000"/>
                                        <p:tgtEl>
                                          <p:spTgt spid="140291">
                                            <p:txEl>
                                              <p:pRg st="1" end="1"/>
                                            </p:txEl>
                                          </p:spTgt>
                                        </p:tgtEl>
                                      </p:cBhvr>
                                    </p:animEffect>
                                    <p:anim calcmode="lin" valueType="num">
                                      <p:cBhvr>
                                        <p:cTn id="13" dur="1000" fill="hold"/>
                                        <p:tgtEl>
                                          <p:spTgt spid="140291">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4029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40291">
                                            <p:txEl>
                                              <p:pRg st="2" end="2"/>
                                            </p:txEl>
                                          </p:spTgt>
                                        </p:tgtEl>
                                        <p:attrNameLst>
                                          <p:attrName>style.visibility</p:attrName>
                                        </p:attrNameLst>
                                      </p:cBhvr>
                                      <p:to>
                                        <p:strVal val="visible"/>
                                      </p:to>
                                    </p:set>
                                    <p:animEffect transition="in" filter="fade">
                                      <p:cBhvr>
                                        <p:cTn id="19" dur="1000"/>
                                        <p:tgtEl>
                                          <p:spTgt spid="140291">
                                            <p:txEl>
                                              <p:pRg st="2" end="2"/>
                                            </p:txEl>
                                          </p:spTgt>
                                        </p:tgtEl>
                                      </p:cBhvr>
                                    </p:animEffect>
                                    <p:anim calcmode="lin" valueType="num">
                                      <p:cBhvr>
                                        <p:cTn id="20" dur="1000" fill="hold"/>
                                        <p:tgtEl>
                                          <p:spTgt spid="140291">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40291">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40291">
                                            <p:txEl>
                                              <p:pRg st="3" end="3"/>
                                            </p:txEl>
                                          </p:spTgt>
                                        </p:tgtEl>
                                        <p:attrNameLst>
                                          <p:attrName>style.visibility</p:attrName>
                                        </p:attrNameLst>
                                      </p:cBhvr>
                                      <p:to>
                                        <p:strVal val="visible"/>
                                      </p:to>
                                    </p:set>
                                    <p:animEffect transition="in" filter="fade">
                                      <p:cBhvr>
                                        <p:cTn id="24" dur="1000"/>
                                        <p:tgtEl>
                                          <p:spTgt spid="140291">
                                            <p:txEl>
                                              <p:pRg st="3" end="3"/>
                                            </p:txEl>
                                          </p:spTgt>
                                        </p:tgtEl>
                                      </p:cBhvr>
                                    </p:animEffect>
                                    <p:anim calcmode="lin" valueType="num">
                                      <p:cBhvr>
                                        <p:cTn id="25" dur="1000" fill="hold"/>
                                        <p:tgtEl>
                                          <p:spTgt spid="140291">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14029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40291">
                                            <p:txEl>
                                              <p:pRg st="4" end="4"/>
                                            </p:txEl>
                                          </p:spTgt>
                                        </p:tgtEl>
                                        <p:attrNameLst>
                                          <p:attrName>style.visibility</p:attrName>
                                        </p:attrNameLst>
                                      </p:cBhvr>
                                      <p:to>
                                        <p:strVal val="visible"/>
                                      </p:to>
                                    </p:set>
                                    <p:animEffect transition="in" filter="fade">
                                      <p:cBhvr>
                                        <p:cTn id="31" dur="1000"/>
                                        <p:tgtEl>
                                          <p:spTgt spid="140291">
                                            <p:txEl>
                                              <p:pRg st="4" end="4"/>
                                            </p:txEl>
                                          </p:spTgt>
                                        </p:tgtEl>
                                      </p:cBhvr>
                                    </p:animEffect>
                                    <p:anim calcmode="lin" valueType="num">
                                      <p:cBhvr>
                                        <p:cTn id="32" dur="1000" fill="hold"/>
                                        <p:tgtEl>
                                          <p:spTgt spid="140291">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140291">
                                            <p:txEl>
                                              <p:pRg st="4" end="4"/>
                                            </p:tx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40291">
                                            <p:txEl>
                                              <p:pRg st="5" end="5"/>
                                            </p:txEl>
                                          </p:spTgt>
                                        </p:tgtEl>
                                        <p:attrNameLst>
                                          <p:attrName>style.visibility</p:attrName>
                                        </p:attrNameLst>
                                      </p:cBhvr>
                                      <p:to>
                                        <p:strVal val="visible"/>
                                      </p:to>
                                    </p:set>
                                    <p:animEffect transition="in" filter="fade">
                                      <p:cBhvr>
                                        <p:cTn id="36" dur="1000"/>
                                        <p:tgtEl>
                                          <p:spTgt spid="140291">
                                            <p:txEl>
                                              <p:pRg st="5" end="5"/>
                                            </p:txEl>
                                          </p:spTgt>
                                        </p:tgtEl>
                                      </p:cBhvr>
                                    </p:animEffect>
                                    <p:anim calcmode="lin" valueType="num">
                                      <p:cBhvr>
                                        <p:cTn id="37" dur="1000" fill="hold"/>
                                        <p:tgtEl>
                                          <p:spTgt spid="140291">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140291">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40291">
                                            <p:txEl>
                                              <p:pRg st="6" end="6"/>
                                            </p:txEl>
                                          </p:spTgt>
                                        </p:tgtEl>
                                        <p:attrNameLst>
                                          <p:attrName>style.visibility</p:attrName>
                                        </p:attrNameLst>
                                      </p:cBhvr>
                                      <p:to>
                                        <p:strVal val="visible"/>
                                      </p:to>
                                    </p:set>
                                    <p:animEffect transition="in" filter="fade">
                                      <p:cBhvr>
                                        <p:cTn id="43" dur="1000"/>
                                        <p:tgtEl>
                                          <p:spTgt spid="140291">
                                            <p:txEl>
                                              <p:pRg st="6" end="6"/>
                                            </p:txEl>
                                          </p:spTgt>
                                        </p:tgtEl>
                                      </p:cBhvr>
                                    </p:animEffect>
                                    <p:anim calcmode="lin" valueType="num">
                                      <p:cBhvr>
                                        <p:cTn id="44" dur="1000" fill="hold"/>
                                        <p:tgtEl>
                                          <p:spTgt spid="140291">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140291">
                                            <p:txEl>
                                              <p:pRg st="6" end="6"/>
                                            </p:txEl>
                                          </p:spTgt>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40291">
                                            <p:txEl>
                                              <p:pRg st="7" end="7"/>
                                            </p:txEl>
                                          </p:spTgt>
                                        </p:tgtEl>
                                        <p:attrNameLst>
                                          <p:attrName>style.visibility</p:attrName>
                                        </p:attrNameLst>
                                      </p:cBhvr>
                                      <p:to>
                                        <p:strVal val="visible"/>
                                      </p:to>
                                    </p:set>
                                    <p:animEffect transition="in" filter="fade">
                                      <p:cBhvr>
                                        <p:cTn id="48" dur="1000"/>
                                        <p:tgtEl>
                                          <p:spTgt spid="140291">
                                            <p:txEl>
                                              <p:pRg st="7" end="7"/>
                                            </p:txEl>
                                          </p:spTgt>
                                        </p:tgtEl>
                                      </p:cBhvr>
                                    </p:animEffect>
                                    <p:anim calcmode="lin" valueType="num">
                                      <p:cBhvr>
                                        <p:cTn id="49" dur="1000" fill="hold"/>
                                        <p:tgtEl>
                                          <p:spTgt spid="140291">
                                            <p:txEl>
                                              <p:pRg st="7" end="7"/>
                                            </p:txEl>
                                          </p:spTgt>
                                        </p:tgtEl>
                                        <p:attrNameLst>
                                          <p:attrName>ppt_x</p:attrName>
                                        </p:attrNameLst>
                                      </p:cBhvr>
                                      <p:tavLst>
                                        <p:tav tm="0">
                                          <p:val>
                                            <p:strVal val="#ppt_x"/>
                                          </p:val>
                                        </p:tav>
                                        <p:tav tm="100000">
                                          <p:val>
                                            <p:strVal val="#ppt_x"/>
                                          </p:val>
                                        </p:tav>
                                      </p:tavLst>
                                    </p:anim>
                                    <p:anim calcmode="lin" valueType="num">
                                      <p:cBhvr>
                                        <p:cTn id="50" dur="1000" fill="hold"/>
                                        <p:tgtEl>
                                          <p:spTgt spid="140291">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6675" name="Rectangle 1027">
            <a:extLst>
              <a:ext uri="{FF2B5EF4-FFF2-40B4-BE49-F238E27FC236}">
                <a16:creationId xmlns:a16="http://schemas.microsoft.com/office/drawing/2014/main" id="{17ECC6C6-C632-F7A4-1FE3-FE1B6F2E1802}"/>
              </a:ext>
            </a:extLst>
          </p:cNvPr>
          <p:cNvSpPr>
            <a:spLocks noGrp="1"/>
          </p:cNvSpPr>
          <p:nvPr>
            <p:ph idx="1"/>
          </p:nvPr>
        </p:nvSpPr>
        <p:spPr>
          <a:xfrm>
            <a:off x="2100263" y="1371600"/>
            <a:ext cx="8001000" cy="685800"/>
          </a:xfrm>
        </p:spPr>
        <p:txBody>
          <a:bodyPr/>
          <a:lstStyle/>
          <a:p>
            <a:pPr eaLnBrk="1" hangingPunct="1">
              <a:buFont typeface="Wingdings" panose="05000000000000000000" pitchFamily="2" charset="2"/>
              <a:buNone/>
            </a:pPr>
            <a:r>
              <a:rPr lang="en-US" altLang="en-US" sz="2800">
                <a:latin typeface="Times New Roman" panose="02020603050405020304" pitchFamily="18" charset="0"/>
                <a:ea typeface="ＭＳ Ｐゴシック" panose="020B0600070205080204" pitchFamily="34" charset="-128"/>
              </a:rPr>
              <a:t>A constant stream of cash flows that lasts forever</a:t>
            </a:r>
          </a:p>
        </p:txBody>
      </p:sp>
      <p:sp>
        <p:nvSpPr>
          <p:cNvPr id="64514" name="Rectangle 1026">
            <a:extLst>
              <a:ext uri="{FF2B5EF4-FFF2-40B4-BE49-F238E27FC236}">
                <a16:creationId xmlns:a16="http://schemas.microsoft.com/office/drawing/2014/main" id="{F42AE0B3-4070-21AE-B31E-0166F23E8D7B}"/>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Perpetuity</a:t>
            </a:r>
          </a:p>
        </p:txBody>
      </p:sp>
      <p:sp>
        <p:nvSpPr>
          <p:cNvPr id="156677" name="Line 1029">
            <a:extLst>
              <a:ext uri="{FF2B5EF4-FFF2-40B4-BE49-F238E27FC236}">
                <a16:creationId xmlns:a16="http://schemas.microsoft.com/office/drawing/2014/main" id="{5FFADDB9-F011-11C8-8F54-888484D3112E}"/>
              </a:ext>
            </a:extLst>
          </p:cNvPr>
          <p:cNvSpPr>
            <a:spLocks noChangeShapeType="1"/>
          </p:cNvSpPr>
          <p:nvPr/>
        </p:nvSpPr>
        <p:spPr bwMode="auto">
          <a:xfrm>
            <a:off x="3243263" y="2857500"/>
            <a:ext cx="5715000" cy="15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grpSp>
        <p:nvGrpSpPr>
          <p:cNvPr id="2" name="Group 1046">
            <a:extLst>
              <a:ext uri="{FF2B5EF4-FFF2-40B4-BE49-F238E27FC236}">
                <a16:creationId xmlns:a16="http://schemas.microsoft.com/office/drawing/2014/main" id="{DF0B9D2C-6527-C908-28AF-1828534AFDAD}"/>
              </a:ext>
            </a:extLst>
          </p:cNvPr>
          <p:cNvGrpSpPr>
            <a:grpSpLocks/>
          </p:cNvGrpSpPr>
          <p:nvPr/>
        </p:nvGrpSpPr>
        <p:grpSpPr bwMode="auto">
          <a:xfrm>
            <a:off x="3014662" y="2628901"/>
            <a:ext cx="363610" cy="963384"/>
            <a:chOff x="624" y="2544"/>
            <a:chExt cx="219" cy="735"/>
          </a:xfrm>
        </p:grpSpPr>
        <p:sp>
          <p:nvSpPr>
            <p:cNvPr id="181269" name="Line 1030">
              <a:extLst>
                <a:ext uri="{FF2B5EF4-FFF2-40B4-BE49-F238E27FC236}">
                  <a16:creationId xmlns:a16="http://schemas.microsoft.com/office/drawing/2014/main" id="{F267D6B5-2A87-8A81-B1D1-DBA2628FB713}"/>
                </a:ext>
              </a:extLst>
            </p:cNvPr>
            <p:cNvSpPr>
              <a:spLocks noChangeShapeType="1"/>
            </p:cNvSpPr>
            <p:nvPr/>
          </p:nvSpPr>
          <p:spPr bwMode="auto">
            <a:xfrm>
              <a:off x="768" y="2544"/>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81270" name="Rectangle 1036">
              <a:extLst>
                <a:ext uri="{FF2B5EF4-FFF2-40B4-BE49-F238E27FC236}">
                  <a16:creationId xmlns:a16="http://schemas.microsoft.com/office/drawing/2014/main" id="{987E79D1-3E01-FA17-C870-4B2CB89668FD}"/>
                </a:ext>
              </a:extLst>
            </p:cNvPr>
            <p:cNvSpPr>
              <a:spLocks noChangeArrowheads="1"/>
            </p:cNvSpPr>
            <p:nvPr/>
          </p:nvSpPr>
          <p:spPr bwMode="auto">
            <a:xfrm>
              <a:off x="624" y="2880"/>
              <a:ext cx="219" cy="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0</a:t>
              </a:r>
            </a:p>
          </p:txBody>
        </p:sp>
      </p:grpSp>
      <p:sp>
        <p:nvSpPr>
          <p:cNvPr id="156690" name="Text Box 1042">
            <a:extLst>
              <a:ext uri="{FF2B5EF4-FFF2-40B4-BE49-F238E27FC236}">
                <a16:creationId xmlns:a16="http://schemas.microsoft.com/office/drawing/2014/main" id="{C4C5CDA4-C140-1BBA-7849-E7B54E4E3C48}"/>
              </a:ext>
            </a:extLst>
          </p:cNvPr>
          <p:cNvSpPr txBox="1">
            <a:spLocks noChangeArrowheads="1"/>
          </p:cNvSpPr>
          <p:nvPr/>
        </p:nvSpPr>
        <p:spPr bwMode="auto">
          <a:xfrm>
            <a:off x="9034463" y="2324101"/>
            <a:ext cx="609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4000">
                <a:solidFill>
                  <a:srgbClr val="644A1A"/>
                </a:solidFill>
              </a:rPr>
              <a:t>…</a:t>
            </a:r>
          </a:p>
        </p:txBody>
      </p:sp>
      <p:grpSp>
        <p:nvGrpSpPr>
          <p:cNvPr id="3" name="Group 1047">
            <a:extLst>
              <a:ext uri="{FF2B5EF4-FFF2-40B4-BE49-F238E27FC236}">
                <a16:creationId xmlns:a16="http://schemas.microsoft.com/office/drawing/2014/main" id="{31A37401-D7EC-521F-72FB-7AB1CA7BC773}"/>
              </a:ext>
            </a:extLst>
          </p:cNvPr>
          <p:cNvGrpSpPr>
            <a:grpSpLocks/>
          </p:cNvGrpSpPr>
          <p:nvPr/>
        </p:nvGrpSpPr>
        <p:grpSpPr bwMode="auto">
          <a:xfrm>
            <a:off x="4511677" y="1981200"/>
            <a:ext cx="450979" cy="1568239"/>
            <a:chOff x="1567" y="2136"/>
            <a:chExt cx="273" cy="1117"/>
          </a:xfrm>
        </p:grpSpPr>
        <p:sp>
          <p:nvSpPr>
            <p:cNvPr id="181266" name="Line 1031">
              <a:extLst>
                <a:ext uri="{FF2B5EF4-FFF2-40B4-BE49-F238E27FC236}">
                  <a16:creationId xmlns:a16="http://schemas.microsoft.com/office/drawing/2014/main" id="{A6B96C44-11D8-4BF9-9C83-B0B84F6A67DC}"/>
                </a:ext>
              </a:extLst>
            </p:cNvPr>
            <p:cNvSpPr>
              <a:spLocks noChangeShapeType="1"/>
            </p:cNvSpPr>
            <p:nvPr/>
          </p:nvSpPr>
          <p:spPr bwMode="auto">
            <a:xfrm>
              <a:off x="1711" y="2544"/>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81267" name="Rectangle 1037">
              <a:extLst>
                <a:ext uri="{FF2B5EF4-FFF2-40B4-BE49-F238E27FC236}">
                  <a16:creationId xmlns:a16="http://schemas.microsoft.com/office/drawing/2014/main" id="{BE1313C3-5AE5-BCAB-B89C-2322B789B42B}"/>
                </a:ext>
              </a:extLst>
            </p:cNvPr>
            <p:cNvSpPr>
              <a:spLocks noChangeArrowheads="1"/>
            </p:cNvSpPr>
            <p:nvPr/>
          </p:nvSpPr>
          <p:spPr bwMode="auto">
            <a:xfrm>
              <a:off x="1567" y="2880"/>
              <a:ext cx="220" cy="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1</a:t>
              </a:r>
            </a:p>
          </p:txBody>
        </p:sp>
        <p:sp>
          <p:nvSpPr>
            <p:cNvPr id="181268" name="Rectangle 1043">
              <a:extLst>
                <a:ext uri="{FF2B5EF4-FFF2-40B4-BE49-F238E27FC236}">
                  <a16:creationId xmlns:a16="http://schemas.microsoft.com/office/drawing/2014/main" id="{25468A25-B458-9D94-35E4-FAC284F409CF}"/>
                </a:ext>
              </a:extLst>
            </p:cNvPr>
            <p:cNvSpPr>
              <a:spLocks noChangeArrowheads="1"/>
            </p:cNvSpPr>
            <p:nvPr/>
          </p:nvSpPr>
          <p:spPr bwMode="auto">
            <a:xfrm>
              <a:off x="1584" y="2136"/>
              <a:ext cx="256" cy="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C</a:t>
              </a:r>
            </a:p>
          </p:txBody>
        </p:sp>
      </p:grpSp>
      <p:grpSp>
        <p:nvGrpSpPr>
          <p:cNvPr id="4" name="Group 1048">
            <a:extLst>
              <a:ext uri="{FF2B5EF4-FFF2-40B4-BE49-F238E27FC236}">
                <a16:creationId xmlns:a16="http://schemas.microsoft.com/office/drawing/2014/main" id="{C2377C41-E3AC-B07D-A4B9-82475BF69958}"/>
              </a:ext>
            </a:extLst>
          </p:cNvPr>
          <p:cNvGrpSpPr>
            <a:grpSpLocks/>
          </p:cNvGrpSpPr>
          <p:nvPr/>
        </p:nvGrpSpPr>
        <p:grpSpPr bwMode="auto">
          <a:xfrm>
            <a:off x="6019796" y="1981200"/>
            <a:ext cx="427174" cy="1568239"/>
            <a:chOff x="2517" y="2136"/>
            <a:chExt cx="258" cy="1117"/>
          </a:xfrm>
        </p:grpSpPr>
        <p:sp>
          <p:nvSpPr>
            <p:cNvPr id="181263" name="Line 1032">
              <a:extLst>
                <a:ext uri="{FF2B5EF4-FFF2-40B4-BE49-F238E27FC236}">
                  <a16:creationId xmlns:a16="http://schemas.microsoft.com/office/drawing/2014/main" id="{BB201B16-FF05-C547-9CDB-D09AC034A958}"/>
                </a:ext>
              </a:extLst>
            </p:cNvPr>
            <p:cNvSpPr>
              <a:spLocks noChangeShapeType="1"/>
            </p:cNvSpPr>
            <p:nvPr/>
          </p:nvSpPr>
          <p:spPr bwMode="auto">
            <a:xfrm>
              <a:off x="2661" y="2544"/>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81264" name="Rectangle 1038">
              <a:extLst>
                <a:ext uri="{FF2B5EF4-FFF2-40B4-BE49-F238E27FC236}">
                  <a16:creationId xmlns:a16="http://schemas.microsoft.com/office/drawing/2014/main" id="{0DB24136-87F1-B84D-9491-ABA5E89EBBAA}"/>
                </a:ext>
              </a:extLst>
            </p:cNvPr>
            <p:cNvSpPr>
              <a:spLocks noChangeArrowheads="1"/>
            </p:cNvSpPr>
            <p:nvPr/>
          </p:nvSpPr>
          <p:spPr bwMode="auto">
            <a:xfrm>
              <a:off x="2517" y="2880"/>
              <a:ext cx="220" cy="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2</a:t>
              </a:r>
            </a:p>
          </p:txBody>
        </p:sp>
        <p:sp>
          <p:nvSpPr>
            <p:cNvPr id="181265" name="Rectangle 1044">
              <a:extLst>
                <a:ext uri="{FF2B5EF4-FFF2-40B4-BE49-F238E27FC236}">
                  <a16:creationId xmlns:a16="http://schemas.microsoft.com/office/drawing/2014/main" id="{5A6AE515-336A-CBFB-A640-E170EF4FC310}"/>
                </a:ext>
              </a:extLst>
            </p:cNvPr>
            <p:cNvSpPr>
              <a:spLocks noChangeArrowheads="1"/>
            </p:cNvSpPr>
            <p:nvPr/>
          </p:nvSpPr>
          <p:spPr bwMode="auto">
            <a:xfrm>
              <a:off x="2519" y="2136"/>
              <a:ext cx="256" cy="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C</a:t>
              </a:r>
            </a:p>
          </p:txBody>
        </p:sp>
      </p:grpSp>
      <p:grpSp>
        <p:nvGrpSpPr>
          <p:cNvPr id="5" name="Group 1049">
            <a:extLst>
              <a:ext uri="{FF2B5EF4-FFF2-40B4-BE49-F238E27FC236}">
                <a16:creationId xmlns:a16="http://schemas.microsoft.com/office/drawing/2014/main" id="{5DBD06A3-D00A-415E-8771-A1B723893558}"/>
              </a:ext>
            </a:extLst>
          </p:cNvPr>
          <p:cNvGrpSpPr>
            <a:grpSpLocks/>
          </p:cNvGrpSpPr>
          <p:nvPr/>
        </p:nvGrpSpPr>
        <p:grpSpPr bwMode="auto">
          <a:xfrm>
            <a:off x="7558082" y="1981200"/>
            <a:ext cx="423999" cy="1568239"/>
            <a:chOff x="3486" y="2136"/>
            <a:chExt cx="256" cy="1117"/>
          </a:xfrm>
        </p:grpSpPr>
        <p:sp>
          <p:nvSpPr>
            <p:cNvPr id="181260" name="Line 1033">
              <a:extLst>
                <a:ext uri="{FF2B5EF4-FFF2-40B4-BE49-F238E27FC236}">
                  <a16:creationId xmlns:a16="http://schemas.microsoft.com/office/drawing/2014/main" id="{CED15D0C-F6C7-DED9-775E-81758EACFC42}"/>
                </a:ext>
              </a:extLst>
            </p:cNvPr>
            <p:cNvSpPr>
              <a:spLocks noChangeShapeType="1"/>
            </p:cNvSpPr>
            <p:nvPr/>
          </p:nvSpPr>
          <p:spPr bwMode="auto">
            <a:xfrm>
              <a:off x="3618" y="2544"/>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81261" name="Rectangle 1039">
              <a:extLst>
                <a:ext uri="{FF2B5EF4-FFF2-40B4-BE49-F238E27FC236}">
                  <a16:creationId xmlns:a16="http://schemas.microsoft.com/office/drawing/2014/main" id="{E23E1C83-F091-1045-CAE6-BCE3030B2781}"/>
                </a:ext>
              </a:extLst>
            </p:cNvPr>
            <p:cNvSpPr>
              <a:spLocks noChangeArrowheads="1"/>
            </p:cNvSpPr>
            <p:nvPr/>
          </p:nvSpPr>
          <p:spPr bwMode="auto">
            <a:xfrm>
              <a:off x="3504" y="2880"/>
              <a:ext cx="220" cy="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3</a:t>
              </a:r>
            </a:p>
          </p:txBody>
        </p:sp>
        <p:sp>
          <p:nvSpPr>
            <p:cNvPr id="181262" name="Rectangle 1045">
              <a:extLst>
                <a:ext uri="{FF2B5EF4-FFF2-40B4-BE49-F238E27FC236}">
                  <a16:creationId xmlns:a16="http://schemas.microsoft.com/office/drawing/2014/main" id="{FF0A3545-CD98-9A24-62F4-312E4528112E}"/>
                </a:ext>
              </a:extLst>
            </p:cNvPr>
            <p:cNvSpPr>
              <a:spLocks noChangeArrowheads="1"/>
            </p:cNvSpPr>
            <p:nvPr/>
          </p:nvSpPr>
          <p:spPr bwMode="auto">
            <a:xfrm>
              <a:off x="3486" y="2136"/>
              <a:ext cx="256" cy="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C</a:t>
              </a:r>
            </a:p>
          </p:txBody>
        </p:sp>
      </p:grpSp>
      <p:graphicFrame>
        <p:nvGraphicFramePr>
          <p:cNvPr id="156699" name="Object 1051">
            <a:extLst>
              <a:ext uri="{FF2B5EF4-FFF2-40B4-BE49-F238E27FC236}">
                <a16:creationId xmlns:a16="http://schemas.microsoft.com/office/drawing/2014/main" id="{6ADC1867-9620-6500-684D-2587E8D9C8C6}"/>
              </a:ext>
            </a:extLst>
          </p:cNvPr>
          <p:cNvGraphicFramePr>
            <a:graphicFrameLocks noChangeAspect="1"/>
          </p:cNvGraphicFramePr>
          <p:nvPr/>
        </p:nvGraphicFramePr>
        <p:xfrm>
          <a:off x="3167063" y="3810000"/>
          <a:ext cx="6096000" cy="1150938"/>
        </p:xfrm>
        <a:graphic>
          <a:graphicData uri="http://schemas.openxmlformats.org/presentationml/2006/ole">
            <mc:AlternateContent xmlns:mc="http://schemas.openxmlformats.org/markup-compatibility/2006">
              <mc:Choice xmlns:v="urn:schemas-microsoft-com:vml" Requires="v">
                <p:oleObj name="Equation" r:id="rId3" imgW="2128273" imgH="326534" progId="Equation.3">
                  <p:embed/>
                </p:oleObj>
              </mc:Choice>
              <mc:Fallback>
                <p:oleObj name="Equation" r:id="rId3" imgW="2128273" imgH="326534" progId="Equation.3">
                  <p:embed/>
                  <p:pic>
                    <p:nvPicPr>
                      <p:cNvPr id="156699" name="Object 1051">
                        <a:extLst>
                          <a:ext uri="{FF2B5EF4-FFF2-40B4-BE49-F238E27FC236}">
                            <a16:creationId xmlns:a16="http://schemas.microsoft.com/office/drawing/2014/main" id="{6ADC1867-9620-6500-684D-2587E8D9C8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67063" y="3810000"/>
                        <a:ext cx="6096000" cy="1150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6700" name="Object 1052">
            <a:extLst>
              <a:ext uri="{FF2B5EF4-FFF2-40B4-BE49-F238E27FC236}">
                <a16:creationId xmlns:a16="http://schemas.microsoft.com/office/drawing/2014/main" id="{7550449B-8C76-42E2-8C6F-B59118457C0C}"/>
              </a:ext>
            </a:extLst>
          </p:cNvPr>
          <p:cNvGraphicFramePr>
            <a:graphicFrameLocks noChangeAspect="1"/>
          </p:cNvGraphicFramePr>
          <p:nvPr/>
        </p:nvGraphicFramePr>
        <p:xfrm>
          <a:off x="3205163" y="5029200"/>
          <a:ext cx="1498600" cy="1081088"/>
        </p:xfrm>
        <a:graphic>
          <a:graphicData uri="http://schemas.openxmlformats.org/presentationml/2006/ole">
            <mc:AlternateContent xmlns:mc="http://schemas.openxmlformats.org/markup-compatibility/2006">
              <mc:Choice xmlns:v="urn:schemas-microsoft-com:vml" Requires="v">
                <p:oleObj name="Equation" r:id="rId5" imgW="451831" imgH="299351" progId="Equation.3">
                  <p:embed/>
                </p:oleObj>
              </mc:Choice>
              <mc:Fallback>
                <p:oleObj name="Equation" r:id="rId5" imgW="451831" imgH="299351" progId="Equation.3">
                  <p:embed/>
                  <p:pic>
                    <p:nvPicPr>
                      <p:cNvPr id="156700" name="Object 1052">
                        <a:extLst>
                          <a:ext uri="{FF2B5EF4-FFF2-40B4-BE49-F238E27FC236}">
                            <a16:creationId xmlns:a16="http://schemas.microsoft.com/office/drawing/2014/main" id="{7550449B-8C76-42E2-8C6F-B59118457C0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5163" y="5029200"/>
                        <a:ext cx="1498600" cy="1081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6675">
                                            <p:txEl>
                                              <p:pRg st="0" end="0"/>
                                            </p:txEl>
                                          </p:spTgt>
                                        </p:tgtEl>
                                        <p:attrNameLst>
                                          <p:attrName>style.visibility</p:attrName>
                                        </p:attrNameLst>
                                      </p:cBhvr>
                                      <p:to>
                                        <p:strVal val="visible"/>
                                      </p:to>
                                    </p:set>
                                    <p:animEffect transition="in" filter="fade">
                                      <p:cBhvr>
                                        <p:cTn id="7" dur="1000"/>
                                        <p:tgtEl>
                                          <p:spTgt spid="156675">
                                            <p:txEl>
                                              <p:pRg st="0" end="0"/>
                                            </p:txEl>
                                          </p:spTgt>
                                        </p:tgtEl>
                                      </p:cBhvr>
                                    </p:animEffect>
                                    <p:anim calcmode="lin" valueType="num">
                                      <p:cBhvr>
                                        <p:cTn id="8" dur="1000" fill="hold"/>
                                        <p:tgtEl>
                                          <p:spTgt spid="15667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56675">
                                            <p:txEl>
                                              <p:pRg st="0" end="0"/>
                                            </p:txEl>
                                          </p:spTgt>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22" presetClass="entr" presetSubtype="8" fill="hold" nodeType="afterEffect">
                                  <p:stCondLst>
                                    <p:cond delay="0"/>
                                  </p:stCondLst>
                                  <p:childTnLst>
                                    <p:set>
                                      <p:cBhvr>
                                        <p:cTn id="12" dur="1" fill="hold">
                                          <p:stCondLst>
                                            <p:cond delay="0"/>
                                          </p:stCondLst>
                                        </p:cTn>
                                        <p:tgtEl>
                                          <p:spTgt spid="156677"/>
                                        </p:tgtEl>
                                        <p:attrNameLst>
                                          <p:attrName>style.visibility</p:attrName>
                                        </p:attrNameLst>
                                      </p:cBhvr>
                                      <p:to>
                                        <p:strVal val="visible"/>
                                      </p:to>
                                    </p:set>
                                    <p:animEffect transition="in" filter="wipe(left)">
                                      <p:cBhvr>
                                        <p:cTn id="13" dur="500"/>
                                        <p:tgtEl>
                                          <p:spTgt spid="156677"/>
                                        </p:tgtEl>
                                      </p:cBhvr>
                                    </p:animEffect>
                                  </p:childTnLst>
                                </p:cTn>
                              </p:par>
                            </p:childTnLst>
                          </p:cTn>
                        </p:par>
                        <p:par>
                          <p:cTn id="14" fill="hold" nodeType="afterGroup">
                            <p:stCondLst>
                              <p:cond delay="1500"/>
                            </p:stCondLst>
                            <p:childTnLst>
                              <p:par>
                                <p:cTn id="15" presetID="22" presetClass="entr" presetSubtype="8" fill="hold" grpId="0" nodeType="afterEffect">
                                  <p:stCondLst>
                                    <p:cond delay="0"/>
                                  </p:stCondLst>
                                  <p:childTnLst>
                                    <p:set>
                                      <p:cBhvr>
                                        <p:cTn id="16" dur="1" fill="hold">
                                          <p:stCondLst>
                                            <p:cond delay="0"/>
                                          </p:stCondLst>
                                        </p:cTn>
                                        <p:tgtEl>
                                          <p:spTgt spid="156690"/>
                                        </p:tgtEl>
                                        <p:attrNameLst>
                                          <p:attrName>style.visibility</p:attrName>
                                        </p:attrNameLst>
                                      </p:cBhvr>
                                      <p:to>
                                        <p:strVal val="visible"/>
                                      </p:to>
                                    </p:set>
                                    <p:animEffect transition="in" filter="wipe(left)">
                                      <p:cBhvr>
                                        <p:cTn id="17" dur="500"/>
                                        <p:tgtEl>
                                          <p:spTgt spid="156690"/>
                                        </p:tgtEl>
                                      </p:cBhvr>
                                    </p:animEffect>
                                  </p:childTnLst>
                                </p:cTn>
                              </p:par>
                            </p:childTnLst>
                          </p:cTn>
                        </p:par>
                        <p:par>
                          <p:cTn id="18" fill="hold" nodeType="afterGroup">
                            <p:stCondLst>
                              <p:cond delay="2000"/>
                            </p:stCondLst>
                            <p:childTnLst>
                              <p:par>
                                <p:cTn id="19" presetID="22" presetClass="entr" presetSubtype="1"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up)">
                                      <p:cBhvr>
                                        <p:cTn id="21" dur="500"/>
                                        <p:tgtEl>
                                          <p:spTgt spid="2"/>
                                        </p:tgtEl>
                                      </p:cBhvr>
                                    </p:animEffect>
                                  </p:childTnLst>
                                </p:cTn>
                              </p:par>
                            </p:childTnLst>
                          </p:cTn>
                        </p:par>
                        <p:par>
                          <p:cTn id="22" fill="hold" nodeType="afterGroup">
                            <p:stCondLst>
                              <p:cond delay="2500"/>
                            </p:stCondLst>
                            <p:childTnLst>
                              <p:par>
                                <p:cTn id="23" presetID="22" presetClass="entr" presetSubtype="1" fill="hold" nodeType="after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up)">
                                      <p:cBhvr>
                                        <p:cTn id="25" dur="500"/>
                                        <p:tgtEl>
                                          <p:spTgt spid="3"/>
                                        </p:tgtEl>
                                      </p:cBhvr>
                                    </p:animEffect>
                                  </p:childTnLst>
                                </p:cTn>
                              </p:par>
                            </p:childTnLst>
                          </p:cTn>
                        </p:par>
                        <p:par>
                          <p:cTn id="26" fill="hold" nodeType="afterGroup">
                            <p:stCondLst>
                              <p:cond delay="3000"/>
                            </p:stCondLst>
                            <p:childTnLst>
                              <p:par>
                                <p:cTn id="27" presetID="22" presetClass="entr" presetSubtype="1"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up)">
                                      <p:cBhvr>
                                        <p:cTn id="29" dur="500"/>
                                        <p:tgtEl>
                                          <p:spTgt spid="4"/>
                                        </p:tgtEl>
                                      </p:cBhvr>
                                    </p:animEffect>
                                  </p:childTnLst>
                                </p:cTn>
                              </p:par>
                            </p:childTnLst>
                          </p:cTn>
                        </p:par>
                        <p:par>
                          <p:cTn id="30" fill="hold" nodeType="afterGroup">
                            <p:stCondLst>
                              <p:cond delay="3500"/>
                            </p:stCondLst>
                            <p:childTnLst>
                              <p:par>
                                <p:cTn id="31" presetID="22" presetClass="entr" presetSubtype="1" fill="hold" nodeType="after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up)">
                                      <p:cBhvr>
                                        <p:cTn id="33" dur="500"/>
                                        <p:tgtEl>
                                          <p:spTgt spid="5"/>
                                        </p:tgtEl>
                                      </p:cBhvr>
                                    </p:animEffect>
                                  </p:childTnLst>
                                </p:cTn>
                              </p:par>
                            </p:childTnLst>
                          </p:cTn>
                        </p:par>
                        <p:par>
                          <p:cTn id="34" fill="hold" nodeType="afterGroup">
                            <p:stCondLst>
                              <p:cond delay="4000"/>
                            </p:stCondLst>
                            <p:childTnLst>
                              <p:par>
                                <p:cTn id="35" presetID="22" presetClass="entr" presetSubtype="8" fill="hold" nodeType="afterEffect">
                                  <p:stCondLst>
                                    <p:cond delay="0"/>
                                  </p:stCondLst>
                                  <p:childTnLst>
                                    <p:set>
                                      <p:cBhvr>
                                        <p:cTn id="36" dur="1" fill="hold">
                                          <p:stCondLst>
                                            <p:cond delay="0"/>
                                          </p:stCondLst>
                                        </p:cTn>
                                        <p:tgtEl>
                                          <p:spTgt spid="156699"/>
                                        </p:tgtEl>
                                        <p:attrNameLst>
                                          <p:attrName>style.visibility</p:attrName>
                                        </p:attrNameLst>
                                      </p:cBhvr>
                                      <p:to>
                                        <p:strVal val="visible"/>
                                      </p:to>
                                    </p:set>
                                    <p:animEffect transition="in" filter="wipe(left)">
                                      <p:cBhvr>
                                        <p:cTn id="37" dur="500"/>
                                        <p:tgtEl>
                                          <p:spTgt spid="15669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2" presetClass="entr" presetSubtype="0" fill="hold" nodeType="clickEffect">
                                  <p:stCondLst>
                                    <p:cond delay="0"/>
                                  </p:stCondLst>
                                  <p:childTnLst>
                                    <p:set>
                                      <p:cBhvr>
                                        <p:cTn id="41" dur="1" fill="hold">
                                          <p:stCondLst>
                                            <p:cond delay="0"/>
                                          </p:stCondLst>
                                        </p:cTn>
                                        <p:tgtEl>
                                          <p:spTgt spid="156700"/>
                                        </p:tgtEl>
                                        <p:attrNameLst>
                                          <p:attrName>style.visibility</p:attrName>
                                        </p:attrNameLst>
                                      </p:cBhvr>
                                      <p:to>
                                        <p:strVal val="visible"/>
                                      </p:to>
                                    </p:set>
                                    <p:animEffect transition="in" filter="fade">
                                      <p:cBhvr>
                                        <p:cTn id="42" dur="1000"/>
                                        <p:tgtEl>
                                          <p:spTgt spid="156700"/>
                                        </p:tgtEl>
                                      </p:cBhvr>
                                    </p:animEffect>
                                    <p:anim calcmode="lin" valueType="num">
                                      <p:cBhvr>
                                        <p:cTn id="43" dur="1000" fill="hold"/>
                                        <p:tgtEl>
                                          <p:spTgt spid="156700"/>
                                        </p:tgtEl>
                                        <p:attrNameLst>
                                          <p:attrName>ppt_x</p:attrName>
                                        </p:attrNameLst>
                                      </p:cBhvr>
                                      <p:tavLst>
                                        <p:tav tm="0">
                                          <p:val>
                                            <p:strVal val="#ppt_x"/>
                                          </p:val>
                                        </p:tav>
                                        <p:tav tm="100000">
                                          <p:val>
                                            <p:strVal val="#ppt_x"/>
                                          </p:val>
                                        </p:tav>
                                      </p:tavLst>
                                    </p:anim>
                                    <p:anim calcmode="lin" valueType="num">
                                      <p:cBhvr>
                                        <p:cTn id="44" dur="1000" fill="hold"/>
                                        <p:tgtEl>
                                          <p:spTgt spid="15670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5" grpId="0" build="p"/>
      <p:bldP spid="156690"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1795" name="Rectangle 3">
            <a:extLst>
              <a:ext uri="{FF2B5EF4-FFF2-40B4-BE49-F238E27FC236}">
                <a16:creationId xmlns:a16="http://schemas.microsoft.com/office/drawing/2014/main" id="{26BD30F5-0BE3-D893-5A5E-4E35A8DBBE02}"/>
              </a:ext>
            </a:extLst>
          </p:cNvPr>
          <p:cNvSpPr>
            <a:spLocks noGrp="1"/>
          </p:cNvSpPr>
          <p:nvPr>
            <p:ph idx="1"/>
          </p:nvPr>
        </p:nvSpPr>
        <p:spPr>
          <a:xfrm>
            <a:off x="1981201" y="1447800"/>
            <a:ext cx="7839075" cy="1676400"/>
          </a:xfrm>
        </p:spPr>
        <p:txBody>
          <a:bodyPr/>
          <a:lstStyle/>
          <a:p>
            <a:pPr eaLnBrk="1" hangingPunct="1">
              <a:buFont typeface="Wingdings" panose="05000000000000000000" pitchFamily="2" charset="2"/>
              <a:buNone/>
            </a:pPr>
            <a:r>
              <a:rPr lang="en-US" altLang="en-US" sz="2800">
                <a:latin typeface="Times New Roman" panose="02020603050405020304" pitchFamily="18" charset="0"/>
                <a:ea typeface="ＭＳ Ｐゴシック" panose="020B0600070205080204" pitchFamily="34" charset="-128"/>
              </a:rPr>
              <a:t>What is the value of a British consol that promises to pay </a:t>
            </a: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£15 every year for ever? </a:t>
            </a:r>
          </a:p>
          <a:p>
            <a:pPr eaLnBrk="1" hangingPunct="1">
              <a:buFont typeface="Wingdings" panose="05000000000000000000" pitchFamily="2" charset="2"/>
              <a:buNone/>
            </a:pP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The interest rate is 10-percent</a:t>
            </a:r>
            <a:r>
              <a:rPr lang="en-US" altLang="en-US" sz="2800">
                <a:latin typeface="Times New Roman" panose="02020603050405020304" pitchFamily="18" charset="0"/>
                <a:ea typeface="ＭＳ Ｐゴシック" panose="020B0600070205080204" pitchFamily="34" charset="-128"/>
              </a:rPr>
              <a:t>.</a:t>
            </a:r>
          </a:p>
        </p:txBody>
      </p:sp>
      <p:sp>
        <p:nvSpPr>
          <p:cNvPr id="66562" name="Rectangle 2">
            <a:extLst>
              <a:ext uri="{FF2B5EF4-FFF2-40B4-BE49-F238E27FC236}">
                <a16:creationId xmlns:a16="http://schemas.microsoft.com/office/drawing/2014/main" id="{9F5F191F-ED27-72F0-E39F-4EFF755583C0}"/>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Perpetuity: Example</a:t>
            </a:r>
          </a:p>
        </p:txBody>
      </p:sp>
      <p:sp>
        <p:nvSpPr>
          <p:cNvPr id="161796" name="Line 4">
            <a:extLst>
              <a:ext uri="{FF2B5EF4-FFF2-40B4-BE49-F238E27FC236}">
                <a16:creationId xmlns:a16="http://schemas.microsoft.com/office/drawing/2014/main" id="{99FE332C-F593-0381-851B-30BDD49272E2}"/>
              </a:ext>
            </a:extLst>
          </p:cNvPr>
          <p:cNvSpPr>
            <a:spLocks noChangeShapeType="1"/>
          </p:cNvSpPr>
          <p:nvPr/>
        </p:nvSpPr>
        <p:spPr bwMode="auto">
          <a:xfrm>
            <a:off x="3276601" y="3962400"/>
            <a:ext cx="5599113" cy="15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grpSp>
        <p:nvGrpSpPr>
          <p:cNvPr id="2" name="Group 5">
            <a:extLst>
              <a:ext uri="{FF2B5EF4-FFF2-40B4-BE49-F238E27FC236}">
                <a16:creationId xmlns:a16="http://schemas.microsoft.com/office/drawing/2014/main" id="{42A262F9-5B9B-EE3A-AD27-EF79C3AD5F0E}"/>
              </a:ext>
            </a:extLst>
          </p:cNvPr>
          <p:cNvGrpSpPr>
            <a:grpSpLocks/>
          </p:cNvGrpSpPr>
          <p:nvPr/>
        </p:nvGrpSpPr>
        <p:grpSpPr bwMode="auto">
          <a:xfrm>
            <a:off x="3076575" y="3805239"/>
            <a:ext cx="361950" cy="954087"/>
            <a:chOff x="624" y="2544"/>
            <a:chExt cx="233" cy="738"/>
          </a:xfrm>
        </p:grpSpPr>
        <p:sp>
          <p:nvSpPr>
            <p:cNvPr id="183316" name="Line 6">
              <a:extLst>
                <a:ext uri="{FF2B5EF4-FFF2-40B4-BE49-F238E27FC236}">
                  <a16:creationId xmlns:a16="http://schemas.microsoft.com/office/drawing/2014/main" id="{E41EB6E8-02E4-7383-9EB0-50ACD11C1262}"/>
                </a:ext>
              </a:extLst>
            </p:cNvPr>
            <p:cNvSpPr>
              <a:spLocks noChangeShapeType="1"/>
            </p:cNvSpPr>
            <p:nvPr/>
          </p:nvSpPr>
          <p:spPr bwMode="auto">
            <a:xfrm>
              <a:off x="768" y="2544"/>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83317" name="Rectangle 7">
              <a:extLst>
                <a:ext uri="{FF2B5EF4-FFF2-40B4-BE49-F238E27FC236}">
                  <a16:creationId xmlns:a16="http://schemas.microsoft.com/office/drawing/2014/main" id="{E047B695-D321-DB1E-7965-5A471BF4AFEC}"/>
                </a:ext>
              </a:extLst>
            </p:cNvPr>
            <p:cNvSpPr>
              <a:spLocks noChangeArrowheads="1"/>
            </p:cNvSpPr>
            <p:nvPr/>
          </p:nvSpPr>
          <p:spPr bwMode="auto">
            <a:xfrm>
              <a:off x="624" y="2880"/>
              <a:ext cx="233"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0</a:t>
              </a:r>
            </a:p>
          </p:txBody>
        </p:sp>
      </p:grpSp>
      <p:sp>
        <p:nvSpPr>
          <p:cNvPr id="161800" name="Text Box 8">
            <a:extLst>
              <a:ext uri="{FF2B5EF4-FFF2-40B4-BE49-F238E27FC236}">
                <a16:creationId xmlns:a16="http://schemas.microsoft.com/office/drawing/2014/main" id="{906B4B49-D5E7-F093-D00D-FD806F78B9AA}"/>
              </a:ext>
            </a:extLst>
          </p:cNvPr>
          <p:cNvSpPr txBox="1">
            <a:spLocks noChangeArrowheads="1"/>
          </p:cNvSpPr>
          <p:nvPr/>
        </p:nvSpPr>
        <p:spPr bwMode="auto">
          <a:xfrm>
            <a:off x="9096375" y="3435351"/>
            <a:ext cx="5969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4000">
                <a:solidFill>
                  <a:srgbClr val="644A1A"/>
                </a:solidFill>
              </a:rPr>
              <a:t>…</a:t>
            </a:r>
          </a:p>
        </p:txBody>
      </p:sp>
      <p:grpSp>
        <p:nvGrpSpPr>
          <p:cNvPr id="3" name="Group 9">
            <a:extLst>
              <a:ext uri="{FF2B5EF4-FFF2-40B4-BE49-F238E27FC236}">
                <a16:creationId xmlns:a16="http://schemas.microsoft.com/office/drawing/2014/main" id="{6455C362-1250-72C0-E60E-22329A2AC40D}"/>
              </a:ext>
            </a:extLst>
          </p:cNvPr>
          <p:cNvGrpSpPr>
            <a:grpSpLocks/>
          </p:cNvGrpSpPr>
          <p:nvPr/>
        </p:nvGrpSpPr>
        <p:grpSpPr bwMode="auto">
          <a:xfrm>
            <a:off x="4573589" y="3276600"/>
            <a:ext cx="744537" cy="1481138"/>
            <a:chOff x="1567" y="2136"/>
            <a:chExt cx="478" cy="1145"/>
          </a:xfrm>
        </p:grpSpPr>
        <p:sp>
          <p:nvSpPr>
            <p:cNvPr id="183313" name="Line 10">
              <a:extLst>
                <a:ext uri="{FF2B5EF4-FFF2-40B4-BE49-F238E27FC236}">
                  <a16:creationId xmlns:a16="http://schemas.microsoft.com/office/drawing/2014/main" id="{D30E5BE8-8C87-DFAA-3826-B042D1962E3A}"/>
                </a:ext>
              </a:extLst>
            </p:cNvPr>
            <p:cNvSpPr>
              <a:spLocks noChangeShapeType="1"/>
            </p:cNvSpPr>
            <p:nvPr/>
          </p:nvSpPr>
          <p:spPr bwMode="auto">
            <a:xfrm>
              <a:off x="1711" y="2544"/>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83314" name="Rectangle 11">
              <a:extLst>
                <a:ext uri="{FF2B5EF4-FFF2-40B4-BE49-F238E27FC236}">
                  <a16:creationId xmlns:a16="http://schemas.microsoft.com/office/drawing/2014/main" id="{E4712E7C-32E7-7D54-364B-3893D006D632}"/>
                </a:ext>
              </a:extLst>
            </p:cNvPr>
            <p:cNvSpPr>
              <a:spLocks noChangeArrowheads="1"/>
            </p:cNvSpPr>
            <p:nvPr/>
          </p:nvSpPr>
          <p:spPr bwMode="auto">
            <a:xfrm>
              <a:off x="1567" y="2879"/>
              <a:ext cx="232"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1</a:t>
              </a:r>
            </a:p>
          </p:txBody>
        </p:sp>
        <p:sp>
          <p:nvSpPr>
            <p:cNvPr id="183315" name="Rectangle 12">
              <a:extLst>
                <a:ext uri="{FF2B5EF4-FFF2-40B4-BE49-F238E27FC236}">
                  <a16:creationId xmlns:a16="http://schemas.microsoft.com/office/drawing/2014/main" id="{4B1DED90-390E-8D4A-A9F1-F807816D6A62}"/>
                </a:ext>
              </a:extLst>
            </p:cNvPr>
            <p:cNvSpPr>
              <a:spLocks noChangeArrowheads="1"/>
            </p:cNvSpPr>
            <p:nvPr/>
          </p:nvSpPr>
          <p:spPr bwMode="auto">
            <a:xfrm>
              <a:off x="1584" y="2136"/>
              <a:ext cx="461" cy="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a:solidFill>
                    <a:srgbClr val="644A1A"/>
                  </a:solidFill>
                  <a:cs typeface="Times New Roman" panose="02020603050405020304" pitchFamily="18" charset="0"/>
                </a:rPr>
                <a:t>£15</a:t>
              </a:r>
            </a:p>
          </p:txBody>
        </p:sp>
      </p:grpSp>
      <p:grpSp>
        <p:nvGrpSpPr>
          <p:cNvPr id="4" name="Group 13">
            <a:extLst>
              <a:ext uri="{FF2B5EF4-FFF2-40B4-BE49-F238E27FC236}">
                <a16:creationId xmlns:a16="http://schemas.microsoft.com/office/drawing/2014/main" id="{D3509233-77F1-104A-75E3-3A9D4B8C9D9B}"/>
              </a:ext>
            </a:extLst>
          </p:cNvPr>
          <p:cNvGrpSpPr>
            <a:grpSpLocks/>
          </p:cNvGrpSpPr>
          <p:nvPr/>
        </p:nvGrpSpPr>
        <p:grpSpPr bwMode="auto">
          <a:xfrm>
            <a:off x="6081714" y="3276600"/>
            <a:ext cx="720725" cy="1481138"/>
            <a:chOff x="2517" y="2136"/>
            <a:chExt cx="463" cy="1145"/>
          </a:xfrm>
        </p:grpSpPr>
        <p:sp>
          <p:nvSpPr>
            <p:cNvPr id="183310" name="Line 14">
              <a:extLst>
                <a:ext uri="{FF2B5EF4-FFF2-40B4-BE49-F238E27FC236}">
                  <a16:creationId xmlns:a16="http://schemas.microsoft.com/office/drawing/2014/main" id="{8030B0C3-DE04-2AFB-3BE6-C4DAE20A7AE1}"/>
                </a:ext>
              </a:extLst>
            </p:cNvPr>
            <p:cNvSpPr>
              <a:spLocks noChangeShapeType="1"/>
            </p:cNvSpPr>
            <p:nvPr/>
          </p:nvSpPr>
          <p:spPr bwMode="auto">
            <a:xfrm>
              <a:off x="2661" y="2544"/>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83311" name="Rectangle 15">
              <a:extLst>
                <a:ext uri="{FF2B5EF4-FFF2-40B4-BE49-F238E27FC236}">
                  <a16:creationId xmlns:a16="http://schemas.microsoft.com/office/drawing/2014/main" id="{20AE68A7-7DE0-1F5F-1D27-643BCE08F486}"/>
                </a:ext>
              </a:extLst>
            </p:cNvPr>
            <p:cNvSpPr>
              <a:spLocks noChangeArrowheads="1"/>
            </p:cNvSpPr>
            <p:nvPr/>
          </p:nvSpPr>
          <p:spPr bwMode="auto">
            <a:xfrm>
              <a:off x="2517" y="2879"/>
              <a:ext cx="233"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2</a:t>
              </a:r>
            </a:p>
          </p:txBody>
        </p:sp>
        <p:sp>
          <p:nvSpPr>
            <p:cNvPr id="183312" name="Rectangle 16">
              <a:extLst>
                <a:ext uri="{FF2B5EF4-FFF2-40B4-BE49-F238E27FC236}">
                  <a16:creationId xmlns:a16="http://schemas.microsoft.com/office/drawing/2014/main" id="{3977D9A7-9460-44A8-D977-577DA2AF5BD6}"/>
                </a:ext>
              </a:extLst>
            </p:cNvPr>
            <p:cNvSpPr>
              <a:spLocks noChangeArrowheads="1"/>
            </p:cNvSpPr>
            <p:nvPr/>
          </p:nvSpPr>
          <p:spPr bwMode="auto">
            <a:xfrm>
              <a:off x="2519" y="2136"/>
              <a:ext cx="461" cy="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a:solidFill>
                    <a:srgbClr val="644A1A"/>
                  </a:solidFill>
                  <a:cs typeface="Times New Roman" panose="02020603050405020304" pitchFamily="18" charset="0"/>
                </a:rPr>
                <a:t>£15</a:t>
              </a:r>
            </a:p>
          </p:txBody>
        </p:sp>
      </p:grpSp>
      <p:grpSp>
        <p:nvGrpSpPr>
          <p:cNvPr id="5" name="Group 17">
            <a:extLst>
              <a:ext uri="{FF2B5EF4-FFF2-40B4-BE49-F238E27FC236}">
                <a16:creationId xmlns:a16="http://schemas.microsoft.com/office/drawing/2014/main" id="{142A3EBA-7057-9EE0-963F-C9AC53729F68}"/>
              </a:ext>
            </a:extLst>
          </p:cNvPr>
          <p:cNvGrpSpPr>
            <a:grpSpLocks/>
          </p:cNvGrpSpPr>
          <p:nvPr/>
        </p:nvGrpSpPr>
        <p:grpSpPr bwMode="auto">
          <a:xfrm>
            <a:off x="7620000" y="3276600"/>
            <a:ext cx="717550" cy="1481138"/>
            <a:chOff x="3486" y="2136"/>
            <a:chExt cx="461" cy="1145"/>
          </a:xfrm>
        </p:grpSpPr>
        <p:sp>
          <p:nvSpPr>
            <p:cNvPr id="183307" name="Line 18">
              <a:extLst>
                <a:ext uri="{FF2B5EF4-FFF2-40B4-BE49-F238E27FC236}">
                  <a16:creationId xmlns:a16="http://schemas.microsoft.com/office/drawing/2014/main" id="{0009B344-2CEC-F245-A165-C55F79D8EB92}"/>
                </a:ext>
              </a:extLst>
            </p:cNvPr>
            <p:cNvSpPr>
              <a:spLocks noChangeShapeType="1"/>
            </p:cNvSpPr>
            <p:nvPr/>
          </p:nvSpPr>
          <p:spPr bwMode="auto">
            <a:xfrm>
              <a:off x="3618" y="2544"/>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83308" name="Rectangle 19">
              <a:extLst>
                <a:ext uri="{FF2B5EF4-FFF2-40B4-BE49-F238E27FC236}">
                  <a16:creationId xmlns:a16="http://schemas.microsoft.com/office/drawing/2014/main" id="{6AD9D1DE-58C0-9FF8-AF68-8D23ABDC255F}"/>
                </a:ext>
              </a:extLst>
            </p:cNvPr>
            <p:cNvSpPr>
              <a:spLocks noChangeArrowheads="1"/>
            </p:cNvSpPr>
            <p:nvPr/>
          </p:nvSpPr>
          <p:spPr bwMode="auto">
            <a:xfrm>
              <a:off x="3504" y="2879"/>
              <a:ext cx="233"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3</a:t>
              </a:r>
            </a:p>
          </p:txBody>
        </p:sp>
        <p:sp>
          <p:nvSpPr>
            <p:cNvPr id="183309" name="Rectangle 20">
              <a:extLst>
                <a:ext uri="{FF2B5EF4-FFF2-40B4-BE49-F238E27FC236}">
                  <a16:creationId xmlns:a16="http://schemas.microsoft.com/office/drawing/2014/main" id="{8FB0A73B-8792-BF15-93E1-A1FEF34CCC02}"/>
                </a:ext>
              </a:extLst>
            </p:cNvPr>
            <p:cNvSpPr>
              <a:spLocks noChangeArrowheads="1"/>
            </p:cNvSpPr>
            <p:nvPr/>
          </p:nvSpPr>
          <p:spPr bwMode="auto">
            <a:xfrm>
              <a:off x="3486" y="2136"/>
              <a:ext cx="461" cy="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a:solidFill>
                    <a:srgbClr val="644A1A"/>
                  </a:solidFill>
                  <a:cs typeface="Times New Roman" panose="02020603050405020304" pitchFamily="18" charset="0"/>
                </a:rPr>
                <a:t>£15</a:t>
              </a:r>
            </a:p>
          </p:txBody>
        </p:sp>
      </p:grpSp>
      <p:graphicFrame>
        <p:nvGraphicFramePr>
          <p:cNvPr id="161815" name="Object 23">
            <a:extLst>
              <a:ext uri="{FF2B5EF4-FFF2-40B4-BE49-F238E27FC236}">
                <a16:creationId xmlns:a16="http://schemas.microsoft.com/office/drawing/2014/main" id="{9E550327-2540-6207-FDA0-FE404C300F04}"/>
              </a:ext>
            </a:extLst>
          </p:cNvPr>
          <p:cNvGraphicFramePr>
            <a:graphicFrameLocks noChangeAspect="1"/>
          </p:cNvGraphicFramePr>
          <p:nvPr/>
        </p:nvGraphicFramePr>
        <p:xfrm>
          <a:off x="4343401" y="4953001"/>
          <a:ext cx="3006725" cy="1058863"/>
        </p:xfrm>
        <a:graphic>
          <a:graphicData uri="http://schemas.openxmlformats.org/presentationml/2006/ole">
            <mc:AlternateContent xmlns:mc="http://schemas.openxmlformats.org/markup-compatibility/2006">
              <mc:Choice xmlns:v="urn:schemas-microsoft-com:vml" Requires="v">
                <p:oleObj name="Equation" r:id="rId3" imgW="1023384" imgH="299351" progId="Equation.3">
                  <p:embed/>
                </p:oleObj>
              </mc:Choice>
              <mc:Fallback>
                <p:oleObj name="Equation" r:id="rId3" imgW="1023384" imgH="299351" progId="Equation.3">
                  <p:embed/>
                  <p:pic>
                    <p:nvPicPr>
                      <p:cNvPr id="161815" name="Object 23">
                        <a:extLst>
                          <a:ext uri="{FF2B5EF4-FFF2-40B4-BE49-F238E27FC236}">
                            <a16:creationId xmlns:a16="http://schemas.microsoft.com/office/drawing/2014/main" id="{9E550327-2540-6207-FDA0-FE404C300F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3401" y="4953001"/>
                        <a:ext cx="3006725" cy="1058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1795">
                                            <p:txEl>
                                              <p:pRg st="0" end="0"/>
                                            </p:txEl>
                                          </p:spTgt>
                                        </p:tgtEl>
                                        <p:attrNameLst>
                                          <p:attrName>style.visibility</p:attrName>
                                        </p:attrNameLst>
                                      </p:cBhvr>
                                      <p:to>
                                        <p:strVal val="visible"/>
                                      </p:to>
                                    </p:set>
                                    <p:animEffect transition="in" filter="fade">
                                      <p:cBhvr>
                                        <p:cTn id="7" dur="1000"/>
                                        <p:tgtEl>
                                          <p:spTgt spid="161795">
                                            <p:txEl>
                                              <p:pRg st="0" end="0"/>
                                            </p:txEl>
                                          </p:spTgt>
                                        </p:tgtEl>
                                      </p:cBhvr>
                                    </p:animEffect>
                                    <p:anim calcmode="lin" valueType="num">
                                      <p:cBhvr>
                                        <p:cTn id="8" dur="1000" fill="hold"/>
                                        <p:tgtEl>
                                          <p:spTgt spid="16179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179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61795">
                                            <p:txEl>
                                              <p:pRg st="1" end="1"/>
                                            </p:txEl>
                                          </p:spTgt>
                                        </p:tgtEl>
                                        <p:attrNameLst>
                                          <p:attrName>style.visibility</p:attrName>
                                        </p:attrNameLst>
                                      </p:cBhvr>
                                      <p:to>
                                        <p:strVal val="visible"/>
                                      </p:to>
                                    </p:set>
                                    <p:animEffect transition="in" filter="fade">
                                      <p:cBhvr>
                                        <p:cTn id="14" dur="1000"/>
                                        <p:tgtEl>
                                          <p:spTgt spid="161795">
                                            <p:txEl>
                                              <p:pRg st="1" end="1"/>
                                            </p:txEl>
                                          </p:spTgt>
                                        </p:tgtEl>
                                      </p:cBhvr>
                                    </p:animEffect>
                                    <p:anim calcmode="lin" valueType="num">
                                      <p:cBhvr>
                                        <p:cTn id="15" dur="1000" fill="hold"/>
                                        <p:tgtEl>
                                          <p:spTgt spid="16179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61795">
                                            <p:txEl>
                                              <p:pRg st="1" end="1"/>
                                            </p:txEl>
                                          </p:spTgt>
                                        </p:tgtEl>
                                        <p:attrNameLst>
                                          <p:attrName>ppt_y</p:attrName>
                                        </p:attrNameLst>
                                      </p:cBhvr>
                                      <p:tavLst>
                                        <p:tav tm="0">
                                          <p:val>
                                            <p:strVal val="#ppt_y+.1"/>
                                          </p:val>
                                        </p:tav>
                                        <p:tav tm="100000">
                                          <p:val>
                                            <p:strVal val="#ppt_y"/>
                                          </p:val>
                                        </p:tav>
                                      </p:tavLst>
                                    </p:anim>
                                  </p:childTnLst>
                                </p:cTn>
                              </p:par>
                            </p:childTnLst>
                          </p:cTn>
                        </p:par>
                        <p:par>
                          <p:cTn id="17" fill="hold" nodeType="afterGroup">
                            <p:stCondLst>
                              <p:cond delay="1000"/>
                            </p:stCondLst>
                            <p:childTnLst>
                              <p:par>
                                <p:cTn id="18" presetID="22" presetClass="entr" presetSubtype="8" fill="hold" nodeType="afterEffect">
                                  <p:stCondLst>
                                    <p:cond delay="0"/>
                                  </p:stCondLst>
                                  <p:childTnLst>
                                    <p:set>
                                      <p:cBhvr>
                                        <p:cTn id="19" dur="1" fill="hold">
                                          <p:stCondLst>
                                            <p:cond delay="0"/>
                                          </p:stCondLst>
                                        </p:cTn>
                                        <p:tgtEl>
                                          <p:spTgt spid="161796"/>
                                        </p:tgtEl>
                                        <p:attrNameLst>
                                          <p:attrName>style.visibility</p:attrName>
                                        </p:attrNameLst>
                                      </p:cBhvr>
                                      <p:to>
                                        <p:strVal val="visible"/>
                                      </p:to>
                                    </p:set>
                                    <p:animEffect transition="in" filter="wipe(left)">
                                      <p:cBhvr>
                                        <p:cTn id="20" dur="500"/>
                                        <p:tgtEl>
                                          <p:spTgt spid="161796"/>
                                        </p:tgtEl>
                                      </p:cBhvr>
                                    </p:animEffect>
                                  </p:childTnLst>
                                </p:cTn>
                              </p:par>
                            </p:childTnLst>
                          </p:cTn>
                        </p:par>
                        <p:par>
                          <p:cTn id="21" fill="hold" nodeType="afterGroup">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161800"/>
                                        </p:tgtEl>
                                        <p:attrNameLst>
                                          <p:attrName>style.visibility</p:attrName>
                                        </p:attrNameLst>
                                      </p:cBhvr>
                                      <p:to>
                                        <p:strVal val="visible"/>
                                      </p:to>
                                    </p:set>
                                    <p:animEffect transition="in" filter="wipe(left)">
                                      <p:cBhvr>
                                        <p:cTn id="24" dur="500"/>
                                        <p:tgtEl>
                                          <p:spTgt spid="161800"/>
                                        </p:tgtEl>
                                      </p:cBhvr>
                                    </p:animEffect>
                                  </p:childTnLst>
                                </p:cTn>
                              </p:par>
                            </p:childTnLst>
                          </p:cTn>
                        </p:par>
                        <p:par>
                          <p:cTn id="25" fill="hold" nodeType="afterGroup">
                            <p:stCondLst>
                              <p:cond delay="2000"/>
                            </p:stCondLst>
                            <p:childTnLst>
                              <p:par>
                                <p:cTn id="26" presetID="22" presetClass="entr" presetSubtype="1" fill="hold" nodeType="after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up)">
                                      <p:cBhvr>
                                        <p:cTn id="28" dur="500"/>
                                        <p:tgtEl>
                                          <p:spTgt spid="2"/>
                                        </p:tgtEl>
                                      </p:cBhvr>
                                    </p:animEffect>
                                  </p:childTnLst>
                                </p:cTn>
                              </p:par>
                            </p:childTnLst>
                          </p:cTn>
                        </p:par>
                        <p:par>
                          <p:cTn id="29" fill="hold" nodeType="afterGroup">
                            <p:stCondLst>
                              <p:cond delay="2500"/>
                            </p:stCondLst>
                            <p:childTnLst>
                              <p:par>
                                <p:cTn id="30" presetID="22" presetClass="entr" presetSubtype="1" fill="hold" nodeType="after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up)">
                                      <p:cBhvr>
                                        <p:cTn id="32" dur="500"/>
                                        <p:tgtEl>
                                          <p:spTgt spid="3"/>
                                        </p:tgtEl>
                                      </p:cBhvr>
                                    </p:animEffect>
                                  </p:childTnLst>
                                </p:cTn>
                              </p:par>
                            </p:childTnLst>
                          </p:cTn>
                        </p:par>
                        <p:par>
                          <p:cTn id="33" fill="hold" nodeType="afterGroup">
                            <p:stCondLst>
                              <p:cond delay="3000"/>
                            </p:stCondLst>
                            <p:childTnLst>
                              <p:par>
                                <p:cTn id="34" presetID="22" presetClass="entr" presetSubtype="1" fill="hold" nodeType="after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wipe(up)">
                                      <p:cBhvr>
                                        <p:cTn id="36" dur="500"/>
                                        <p:tgtEl>
                                          <p:spTgt spid="4"/>
                                        </p:tgtEl>
                                      </p:cBhvr>
                                    </p:animEffect>
                                  </p:childTnLst>
                                </p:cTn>
                              </p:par>
                            </p:childTnLst>
                          </p:cTn>
                        </p:par>
                        <p:par>
                          <p:cTn id="37" fill="hold" nodeType="afterGroup">
                            <p:stCondLst>
                              <p:cond delay="3500"/>
                            </p:stCondLst>
                            <p:childTnLst>
                              <p:par>
                                <p:cTn id="38" presetID="22" presetClass="entr" presetSubtype="1" fill="hold" nodeType="after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wipe(up)">
                                      <p:cBhvr>
                                        <p:cTn id="40" dur="500"/>
                                        <p:tgtEl>
                                          <p:spTgt spid="5"/>
                                        </p:tgtEl>
                                      </p:cBhvr>
                                    </p:animEffect>
                                  </p:childTnLst>
                                </p:cTn>
                              </p:par>
                            </p:childTnLst>
                          </p:cTn>
                        </p:par>
                        <p:par>
                          <p:cTn id="41" fill="hold" nodeType="afterGroup">
                            <p:stCondLst>
                              <p:cond delay="4000"/>
                            </p:stCondLst>
                            <p:childTnLst>
                              <p:par>
                                <p:cTn id="42" presetID="1" presetClass="entr" presetSubtype="0" fill="hold" nodeType="afterEffect">
                                  <p:stCondLst>
                                    <p:cond delay="0"/>
                                  </p:stCondLst>
                                  <p:childTnLst>
                                    <p:set>
                                      <p:cBhvr>
                                        <p:cTn id="43" dur="1" fill="hold">
                                          <p:stCondLst>
                                            <p:cond delay="499"/>
                                          </p:stCondLst>
                                        </p:cTn>
                                        <p:tgtEl>
                                          <p:spTgt spid="1618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5" grpId="0" build="p"/>
      <p:bldP spid="161800"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7699" name="Rectangle 1027">
            <a:extLst>
              <a:ext uri="{FF2B5EF4-FFF2-40B4-BE49-F238E27FC236}">
                <a16:creationId xmlns:a16="http://schemas.microsoft.com/office/drawing/2014/main" id="{7AB765AF-836A-BBC2-7A00-8909779F9A85}"/>
              </a:ext>
            </a:extLst>
          </p:cNvPr>
          <p:cNvSpPr>
            <a:spLocks noGrp="1"/>
          </p:cNvSpPr>
          <p:nvPr>
            <p:ph idx="1"/>
          </p:nvPr>
        </p:nvSpPr>
        <p:spPr>
          <a:xfrm>
            <a:off x="2057400" y="1217613"/>
            <a:ext cx="8001000" cy="685800"/>
          </a:xfrm>
        </p:spPr>
        <p:txBody>
          <a:bodyPr/>
          <a:lstStyle/>
          <a:p>
            <a:pPr eaLnBrk="1" hangingPunct="1">
              <a:buFont typeface="Wingdings" panose="05000000000000000000" pitchFamily="2" charset="2"/>
              <a:buNone/>
            </a:pPr>
            <a:r>
              <a:rPr lang="en-US" altLang="en-US" sz="2800">
                <a:latin typeface="Times New Roman" panose="02020603050405020304" pitchFamily="18" charset="0"/>
                <a:ea typeface="ＭＳ Ｐゴシック" panose="020B0600070205080204" pitchFamily="34" charset="-128"/>
              </a:rPr>
              <a:t>A growing stream of cash flows that lasts forever</a:t>
            </a:r>
          </a:p>
        </p:txBody>
      </p:sp>
      <p:sp>
        <p:nvSpPr>
          <p:cNvPr id="68610" name="Rectangle 1026">
            <a:extLst>
              <a:ext uri="{FF2B5EF4-FFF2-40B4-BE49-F238E27FC236}">
                <a16:creationId xmlns:a16="http://schemas.microsoft.com/office/drawing/2014/main" id="{A131570A-CE2E-B967-6FB0-FC6C46F3F041}"/>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Growing Perpetuity</a:t>
            </a:r>
          </a:p>
        </p:txBody>
      </p:sp>
      <p:sp>
        <p:nvSpPr>
          <p:cNvPr id="157700" name="Line 1028">
            <a:extLst>
              <a:ext uri="{FF2B5EF4-FFF2-40B4-BE49-F238E27FC236}">
                <a16:creationId xmlns:a16="http://schemas.microsoft.com/office/drawing/2014/main" id="{D7A139B6-BE11-B80F-1947-9B0EB4E4CD4F}"/>
              </a:ext>
            </a:extLst>
          </p:cNvPr>
          <p:cNvSpPr>
            <a:spLocks noChangeShapeType="1"/>
          </p:cNvSpPr>
          <p:nvPr/>
        </p:nvSpPr>
        <p:spPr bwMode="auto">
          <a:xfrm>
            <a:off x="3352800" y="2628900"/>
            <a:ext cx="5715000" cy="0"/>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grpSp>
        <p:nvGrpSpPr>
          <p:cNvPr id="2" name="Group 1029">
            <a:extLst>
              <a:ext uri="{FF2B5EF4-FFF2-40B4-BE49-F238E27FC236}">
                <a16:creationId xmlns:a16="http://schemas.microsoft.com/office/drawing/2014/main" id="{7E201795-1AFF-12D5-4E75-8AF6D57B7CC3}"/>
              </a:ext>
            </a:extLst>
          </p:cNvPr>
          <p:cNvGrpSpPr>
            <a:grpSpLocks/>
          </p:cNvGrpSpPr>
          <p:nvPr/>
        </p:nvGrpSpPr>
        <p:grpSpPr bwMode="auto">
          <a:xfrm>
            <a:off x="3124200" y="2400301"/>
            <a:ext cx="361950" cy="1052513"/>
            <a:chOff x="624" y="2544"/>
            <a:chExt cx="228" cy="663"/>
          </a:xfrm>
        </p:grpSpPr>
        <p:sp>
          <p:nvSpPr>
            <p:cNvPr id="185365" name="Line 1030">
              <a:extLst>
                <a:ext uri="{FF2B5EF4-FFF2-40B4-BE49-F238E27FC236}">
                  <a16:creationId xmlns:a16="http://schemas.microsoft.com/office/drawing/2014/main" id="{439B6176-056D-3F23-AE21-6DC6B87DEC90}"/>
                </a:ext>
              </a:extLst>
            </p:cNvPr>
            <p:cNvSpPr>
              <a:spLocks noChangeShapeType="1"/>
            </p:cNvSpPr>
            <p:nvPr/>
          </p:nvSpPr>
          <p:spPr bwMode="auto">
            <a:xfrm>
              <a:off x="768" y="2544"/>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85366" name="Rectangle 1031">
              <a:extLst>
                <a:ext uri="{FF2B5EF4-FFF2-40B4-BE49-F238E27FC236}">
                  <a16:creationId xmlns:a16="http://schemas.microsoft.com/office/drawing/2014/main" id="{9879862A-F226-F666-9E8F-CD4901CCD79B}"/>
                </a:ext>
              </a:extLst>
            </p:cNvPr>
            <p:cNvSpPr>
              <a:spLocks noChangeArrowheads="1"/>
            </p:cNvSpPr>
            <p:nvPr/>
          </p:nvSpPr>
          <p:spPr bwMode="auto">
            <a:xfrm>
              <a:off x="624" y="2880"/>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0</a:t>
              </a:r>
            </a:p>
          </p:txBody>
        </p:sp>
      </p:grpSp>
      <p:sp>
        <p:nvSpPr>
          <p:cNvPr id="157704" name="Text Box 1032">
            <a:extLst>
              <a:ext uri="{FF2B5EF4-FFF2-40B4-BE49-F238E27FC236}">
                <a16:creationId xmlns:a16="http://schemas.microsoft.com/office/drawing/2014/main" id="{FE871E22-D539-A042-9796-62405EE2D3F2}"/>
              </a:ext>
            </a:extLst>
          </p:cNvPr>
          <p:cNvSpPr txBox="1">
            <a:spLocks noChangeArrowheads="1"/>
          </p:cNvSpPr>
          <p:nvPr/>
        </p:nvSpPr>
        <p:spPr bwMode="auto">
          <a:xfrm>
            <a:off x="9144000" y="2095501"/>
            <a:ext cx="609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4000">
                <a:solidFill>
                  <a:srgbClr val="644A1A"/>
                </a:solidFill>
              </a:rPr>
              <a:t>…</a:t>
            </a:r>
          </a:p>
        </p:txBody>
      </p:sp>
      <p:grpSp>
        <p:nvGrpSpPr>
          <p:cNvPr id="3" name="Group 1033">
            <a:extLst>
              <a:ext uri="{FF2B5EF4-FFF2-40B4-BE49-F238E27FC236}">
                <a16:creationId xmlns:a16="http://schemas.microsoft.com/office/drawing/2014/main" id="{76625A50-D19B-016A-4B4F-B2A31B89BF73}"/>
              </a:ext>
            </a:extLst>
          </p:cNvPr>
          <p:cNvGrpSpPr>
            <a:grpSpLocks/>
          </p:cNvGrpSpPr>
          <p:nvPr/>
        </p:nvGrpSpPr>
        <p:grpSpPr bwMode="auto">
          <a:xfrm>
            <a:off x="4621214" y="1752601"/>
            <a:ext cx="447675" cy="1700213"/>
            <a:chOff x="1567" y="2136"/>
            <a:chExt cx="282" cy="1071"/>
          </a:xfrm>
        </p:grpSpPr>
        <p:sp>
          <p:nvSpPr>
            <p:cNvPr id="185362" name="Line 1034">
              <a:extLst>
                <a:ext uri="{FF2B5EF4-FFF2-40B4-BE49-F238E27FC236}">
                  <a16:creationId xmlns:a16="http://schemas.microsoft.com/office/drawing/2014/main" id="{49A3B911-65A6-2395-5C1D-6CE166E6F8DD}"/>
                </a:ext>
              </a:extLst>
            </p:cNvPr>
            <p:cNvSpPr>
              <a:spLocks noChangeShapeType="1"/>
            </p:cNvSpPr>
            <p:nvPr/>
          </p:nvSpPr>
          <p:spPr bwMode="auto">
            <a:xfrm>
              <a:off x="1711" y="2544"/>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85363" name="Rectangle 1035">
              <a:extLst>
                <a:ext uri="{FF2B5EF4-FFF2-40B4-BE49-F238E27FC236}">
                  <a16:creationId xmlns:a16="http://schemas.microsoft.com/office/drawing/2014/main" id="{72A5E465-5B69-F2C9-1D43-0BF5F79CD346}"/>
                </a:ext>
              </a:extLst>
            </p:cNvPr>
            <p:cNvSpPr>
              <a:spLocks noChangeArrowheads="1"/>
            </p:cNvSpPr>
            <p:nvPr/>
          </p:nvSpPr>
          <p:spPr bwMode="auto">
            <a:xfrm>
              <a:off x="1567" y="2880"/>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1</a:t>
              </a:r>
            </a:p>
          </p:txBody>
        </p:sp>
        <p:sp>
          <p:nvSpPr>
            <p:cNvPr id="185364" name="Rectangle 1036">
              <a:extLst>
                <a:ext uri="{FF2B5EF4-FFF2-40B4-BE49-F238E27FC236}">
                  <a16:creationId xmlns:a16="http://schemas.microsoft.com/office/drawing/2014/main" id="{442DE24A-D4CA-3EA0-FEB6-CE87F912CE33}"/>
                </a:ext>
              </a:extLst>
            </p:cNvPr>
            <p:cNvSpPr>
              <a:spLocks noChangeArrowheads="1"/>
            </p:cNvSpPr>
            <p:nvPr/>
          </p:nvSpPr>
          <p:spPr bwMode="auto">
            <a:xfrm>
              <a:off x="1584" y="2136"/>
              <a:ext cx="2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C</a:t>
              </a:r>
            </a:p>
          </p:txBody>
        </p:sp>
      </p:grpSp>
      <p:grpSp>
        <p:nvGrpSpPr>
          <p:cNvPr id="4" name="Group 1048">
            <a:extLst>
              <a:ext uri="{FF2B5EF4-FFF2-40B4-BE49-F238E27FC236}">
                <a16:creationId xmlns:a16="http://schemas.microsoft.com/office/drawing/2014/main" id="{5219265A-7AB3-BC72-BC73-78533306BE73}"/>
              </a:ext>
            </a:extLst>
          </p:cNvPr>
          <p:cNvGrpSpPr>
            <a:grpSpLocks/>
          </p:cNvGrpSpPr>
          <p:nvPr/>
        </p:nvGrpSpPr>
        <p:grpSpPr bwMode="auto">
          <a:xfrm>
            <a:off x="5791201" y="1752601"/>
            <a:ext cx="1584326" cy="1700213"/>
            <a:chOff x="2736" y="1104"/>
            <a:chExt cx="998" cy="1071"/>
          </a:xfrm>
        </p:grpSpPr>
        <p:sp>
          <p:nvSpPr>
            <p:cNvPr id="185359" name="Line 1038">
              <a:extLst>
                <a:ext uri="{FF2B5EF4-FFF2-40B4-BE49-F238E27FC236}">
                  <a16:creationId xmlns:a16="http://schemas.microsoft.com/office/drawing/2014/main" id="{5047484C-D0B0-72A1-77F5-542C57E2BB42}"/>
                </a:ext>
              </a:extLst>
            </p:cNvPr>
            <p:cNvSpPr>
              <a:spLocks noChangeShapeType="1"/>
            </p:cNvSpPr>
            <p:nvPr/>
          </p:nvSpPr>
          <p:spPr bwMode="auto">
            <a:xfrm>
              <a:off x="3189" y="1512"/>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85360" name="Rectangle 1039">
              <a:extLst>
                <a:ext uri="{FF2B5EF4-FFF2-40B4-BE49-F238E27FC236}">
                  <a16:creationId xmlns:a16="http://schemas.microsoft.com/office/drawing/2014/main" id="{0BEE6290-10F7-8B96-07C8-910994D64672}"/>
                </a:ext>
              </a:extLst>
            </p:cNvPr>
            <p:cNvSpPr>
              <a:spLocks noChangeArrowheads="1"/>
            </p:cNvSpPr>
            <p:nvPr/>
          </p:nvSpPr>
          <p:spPr bwMode="auto">
            <a:xfrm>
              <a:off x="3045" y="1848"/>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2</a:t>
              </a:r>
            </a:p>
          </p:txBody>
        </p:sp>
        <p:sp>
          <p:nvSpPr>
            <p:cNvPr id="185361" name="Rectangle 1040">
              <a:extLst>
                <a:ext uri="{FF2B5EF4-FFF2-40B4-BE49-F238E27FC236}">
                  <a16:creationId xmlns:a16="http://schemas.microsoft.com/office/drawing/2014/main" id="{FA23821C-49D1-EADC-8ED5-5919B1AD0A79}"/>
                </a:ext>
              </a:extLst>
            </p:cNvPr>
            <p:cNvSpPr>
              <a:spLocks noChangeArrowheads="1"/>
            </p:cNvSpPr>
            <p:nvPr/>
          </p:nvSpPr>
          <p:spPr bwMode="auto">
            <a:xfrm>
              <a:off x="2736" y="1104"/>
              <a:ext cx="99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C</a:t>
              </a:r>
              <a:r>
                <a:rPr lang="en-US" altLang="en-US" sz="2800">
                  <a:solidFill>
                    <a:srgbClr val="644A1A"/>
                  </a:solidFill>
                  <a:cs typeface="Times New Roman" panose="02020603050405020304" pitchFamily="18" charset="0"/>
                </a:rPr>
                <a:t>×(1+</a:t>
              </a:r>
              <a:r>
                <a:rPr lang="en-US" altLang="en-US" sz="2800" i="1">
                  <a:solidFill>
                    <a:srgbClr val="644A1A"/>
                  </a:solidFill>
                  <a:cs typeface="Times New Roman" panose="02020603050405020304" pitchFamily="18" charset="0"/>
                </a:rPr>
                <a:t>g</a:t>
              </a:r>
              <a:r>
                <a:rPr lang="en-US" altLang="en-US" sz="2800">
                  <a:solidFill>
                    <a:srgbClr val="644A1A"/>
                  </a:solidFill>
                  <a:cs typeface="Times New Roman" panose="02020603050405020304" pitchFamily="18" charset="0"/>
                </a:rPr>
                <a:t>)</a:t>
              </a:r>
            </a:p>
          </p:txBody>
        </p:sp>
      </p:grpSp>
      <p:grpSp>
        <p:nvGrpSpPr>
          <p:cNvPr id="5" name="Group 1049">
            <a:extLst>
              <a:ext uri="{FF2B5EF4-FFF2-40B4-BE49-F238E27FC236}">
                <a16:creationId xmlns:a16="http://schemas.microsoft.com/office/drawing/2014/main" id="{9A90F2AD-B465-91D4-3776-87A1D6BFE83B}"/>
              </a:ext>
            </a:extLst>
          </p:cNvPr>
          <p:cNvGrpSpPr>
            <a:grpSpLocks/>
          </p:cNvGrpSpPr>
          <p:nvPr/>
        </p:nvGrpSpPr>
        <p:grpSpPr bwMode="auto">
          <a:xfrm>
            <a:off x="7443786" y="1752601"/>
            <a:ext cx="1793874" cy="1700213"/>
            <a:chOff x="3873" y="1104"/>
            <a:chExt cx="1130" cy="1071"/>
          </a:xfrm>
        </p:grpSpPr>
        <p:sp>
          <p:nvSpPr>
            <p:cNvPr id="185356" name="Line 1042">
              <a:extLst>
                <a:ext uri="{FF2B5EF4-FFF2-40B4-BE49-F238E27FC236}">
                  <a16:creationId xmlns:a16="http://schemas.microsoft.com/office/drawing/2014/main" id="{7FB1729E-739F-5D4B-C1A5-2C62BE97FECF}"/>
                </a:ext>
              </a:extLst>
            </p:cNvPr>
            <p:cNvSpPr>
              <a:spLocks noChangeShapeType="1"/>
            </p:cNvSpPr>
            <p:nvPr/>
          </p:nvSpPr>
          <p:spPr bwMode="auto">
            <a:xfrm>
              <a:off x="4384" y="1512"/>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85357" name="Rectangle 1043">
              <a:extLst>
                <a:ext uri="{FF2B5EF4-FFF2-40B4-BE49-F238E27FC236}">
                  <a16:creationId xmlns:a16="http://schemas.microsoft.com/office/drawing/2014/main" id="{7AD7403F-7FB5-0E6E-0BCB-0F844F7C796E}"/>
                </a:ext>
              </a:extLst>
            </p:cNvPr>
            <p:cNvSpPr>
              <a:spLocks noChangeArrowheads="1"/>
            </p:cNvSpPr>
            <p:nvPr/>
          </p:nvSpPr>
          <p:spPr bwMode="auto">
            <a:xfrm>
              <a:off x="4270" y="1848"/>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3</a:t>
              </a:r>
            </a:p>
          </p:txBody>
        </p:sp>
        <p:sp>
          <p:nvSpPr>
            <p:cNvPr id="185358" name="Rectangle 1044">
              <a:extLst>
                <a:ext uri="{FF2B5EF4-FFF2-40B4-BE49-F238E27FC236}">
                  <a16:creationId xmlns:a16="http://schemas.microsoft.com/office/drawing/2014/main" id="{FEF7F660-D17A-BB01-C138-3F094B943758}"/>
                </a:ext>
              </a:extLst>
            </p:cNvPr>
            <p:cNvSpPr>
              <a:spLocks noChangeArrowheads="1"/>
            </p:cNvSpPr>
            <p:nvPr/>
          </p:nvSpPr>
          <p:spPr bwMode="auto">
            <a:xfrm>
              <a:off x="3873" y="1104"/>
              <a:ext cx="113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C </a:t>
              </a:r>
              <a:r>
                <a:rPr lang="en-US" altLang="en-US" sz="2800">
                  <a:solidFill>
                    <a:srgbClr val="644A1A"/>
                  </a:solidFill>
                  <a:cs typeface="Times New Roman" panose="02020603050405020304" pitchFamily="18" charset="0"/>
                </a:rPr>
                <a:t>×(1+</a:t>
              </a:r>
              <a:r>
                <a:rPr lang="en-US" altLang="en-US" sz="2800" i="1">
                  <a:solidFill>
                    <a:srgbClr val="644A1A"/>
                  </a:solidFill>
                  <a:cs typeface="Times New Roman" panose="02020603050405020304" pitchFamily="18" charset="0"/>
                </a:rPr>
                <a:t>g</a:t>
              </a:r>
              <a:r>
                <a:rPr lang="en-US" altLang="en-US" sz="2800">
                  <a:solidFill>
                    <a:srgbClr val="644A1A"/>
                  </a:solidFill>
                  <a:cs typeface="Times New Roman" panose="02020603050405020304" pitchFamily="18" charset="0"/>
                </a:rPr>
                <a:t>)</a:t>
              </a:r>
              <a:r>
                <a:rPr lang="en-US" altLang="en-US" sz="2800" baseline="30000">
                  <a:solidFill>
                    <a:srgbClr val="644A1A"/>
                  </a:solidFill>
                  <a:cs typeface="Times New Roman" panose="02020603050405020304" pitchFamily="18" charset="0"/>
                </a:rPr>
                <a:t>2</a:t>
              </a:r>
            </a:p>
          </p:txBody>
        </p:sp>
      </p:grpSp>
      <p:graphicFrame>
        <p:nvGraphicFramePr>
          <p:cNvPr id="157718" name="Object 1046">
            <a:extLst>
              <a:ext uri="{FF2B5EF4-FFF2-40B4-BE49-F238E27FC236}">
                <a16:creationId xmlns:a16="http://schemas.microsoft.com/office/drawing/2014/main" id="{00908D4B-3817-6075-748F-708DA68C1A10}"/>
              </a:ext>
            </a:extLst>
          </p:cNvPr>
          <p:cNvGraphicFramePr>
            <a:graphicFrameLocks noChangeAspect="1"/>
          </p:cNvGraphicFramePr>
          <p:nvPr/>
        </p:nvGraphicFramePr>
        <p:xfrm>
          <a:off x="2819400" y="3503614"/>
          <a:ext cx="7315200" cy="1220787"/>
        </p:xfrm>
        <a:graphic>
          <a:graphicData uri="http://schemas.openxmlformats.org/presentationml/2006/ole">
            <mc:AlternateContent xmlns:mc="http://schemas.openxmlformats.org/markup-compatibility/2006">
              <mc:Choice xmlns:v="urn:schemas-microsoft-com:vml" Requires="v">
                <p:oleObj name="Equation" r:id="rId3" imgW="2574355" imgH="359153" progId="Equation.3">
                  <p:embed/>
                </p:oleObj>
              </mc:Choice>
              <mc:Fallback>
                <p:oleObj name="Equation" r:id="rId3" imgW="2574355" imgH="359153" progId="Equation.3">
                  <p:embed/>
                  <p:pic>
                    <p:nvPicPr>
                      <p:cNvPr id="157718" name="Object 1046">
                        <a:extLst>
                          <a:ext uri="{FF2B5EF4-FFF2-40B4-BE49-F238E27FC236}">
                            <a16:creationId xmlns:a16="http://schemas.microsoft.com/office/drawing/2014/main" id="{00908D4B-3817-6075-748F-708DA68C1A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0" y="3503614"/>
                        <a:ext cx="7315200" cy="1220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7719" name="Object 1047">
            <a:extLst>
              <a:ext uri="{FF2B5EF4-FFF2-40B4-BE49-F238E27FC236}">
                <a16:creationId xmlns:a16="http://schemas.microsoft.com/office/drawing/2014/main" id="{4C310D25-8E7A-9037-3A44-AEA18517895B}"/>
              </a:ext>
            </a:extLst>
          </p:cNvPr>
          <p:cNvGraphicFramePr>
            <a:graphicFrameLocks noChangeAspect="1"/>
          </p:cNvGraphicFramePr>
          <p:nvPr/>
        </p:nvGraphicFramePr>
        <p:xfrm>
          <a:off x="2819401" y="5095875"/>
          <a:ext cx="2022475" cy="1150938"/>
        </p:xfrm>
        <a:graphic>
          <a:graphicData uri="http://schemas.openxmlformats.org/presentationml/2006/ole">
            <mc:AlternateContent xmlns:mc="http://schemas.openxmlformats.org/markup-compatibility/2006">
              <mc:Choice xmlns:v="urn:schemas-microsoft-com:vml" Requires="v">
                <p:oleObj name="Equation" r:id="rId5" imgW="642236" imgH="326534" progId="Equation.3">
                  <p:embed/>
                </p:oleObj>
              </mc:Choice>
              <mc:Fallback>
                <p:oleObj name="Equation" r:id="rId5" imgW="642236" imgH="326534" progId="Equation.3">
                  <p:embed/>
                  <p:pic>
                    <p:nvPicPr>
                      <p:cNvPr id="157719" name="Object 1047">
                        <a:extLst>
                          <a:ext uri="{FF2B5EF4-FFF2-40B4-BE49-F238E27FC236}">
                            <a16:creationId xmlns:a16="http://schemas.microsoft.com/office/drawing/2014/main" id="{4C310D25-8E7A-9037-3A44-AEA18517895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9401" y="5095875"/>
                        <a:ext cx="2022475" cy="1150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7699">
                                            <p:txEl>
                                              <p:pRg st="0" end="0"/>
                                            </p:txEl>
                                          </p:spTgt>
                                        </p:tgtEl>
                                        <p:attrNameLst>
                                          <p:attrName>style.visibility</p:attrName>
                                        </p:attrNameLst>
                                      </p:cBhvr>
                                      <p:to>
                                        <p:strVal val="visible"/>
                                      </p:to>
                                    </p:set>
                                    <p:animEffect transition="in" filter="fade">
                                      <p:cBhvr>
                                        <p:cTn id="7" dur="1000"/>
                                        <p:tgtEl>
                                          <p:spTgt spid="157699">
                                            <p:txEl>
                                              <p:pRg st="0" end="0"/>
                                            </p:txEl>
                                          </p:spTgt>
                                        </p:tgtEl>
                                      </p:cBhvr>
                                    </p:animEffect>
                                    <p:anim calcmode="lin" valueType="num">
                                      <p:cBhvr>
                                        <p:cTn id="8" dur="1000" fill="hold"/>
                                        <p:tgtEl>
                                          <p:spTgt spid="15769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57699">
                                            <p:txEl>
                                              <p:pRg st="0" end="0"/>
                                            </p:txEl>
                                          </p:spTgt>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22" presetClass="entr" presetSubtype="8" fill="hold" nodeType="afterEffect">
                                  <p:stCondLst>
                                    <p:cond delay="0"/>
                                  </p:stCondLst>
                                  <p:childTnLst>
                                    <p:set>
                                      <p:cBhvr>
                                        <p:cTn id="12" dur="1" fill="hold">
                                          <p:stCondLst>
                                            <p:cond delay="0"/>
                                          </p:stCondLst>
                                        </p:cTn>
                                        <p:tgtEl>
                                          <p:spTgt spid="157700"/>
                                        </p:tgtEl>
                                        <p:attrNameLst>
                                          <p:attrName>style.visibility</p:attrName>
                                        </p:attrNameLst>
                                      </p:cBhvr>
                                      <p:to>
                                        <p:strVal val="visible"/>
                                      </p:to>
                                    </p:set>
                                    <p:animEffect transition="in" filter="wipe(left)">
                                      <p:cBhvr>
                                        <p:cTn id="13" dur="500"/>
                                        <p:tgtEl>
                                          <p:spTgt spid="157700"/>
                                        </p:tgtEl>
                                      </p:cBhvr>
                                    </p:animEffect>
                                  </p:childTnLst>
                                </p:cTn>
                              </p:par>
                            </p:childTnLst>
                          </p:cTn>
                        </p:par>
                        <p:par>
                          <p:cTn id="14" fill="hold" nodeType="afterGroup">
                            <p:stCondLst>
                              <p:cond delay="1500"/>
                            </p:stCondLst>
                            <p:childTnLst>
                              <p:par>
                                <p:cTn id="15" presetID="22" presetClass="entr" presetSubtype="8" fill="hold" grpId="0" nodeType="afterEffect">
                                  <p:stCondLst>
                                    <p:cond delay="0"/>
                                  </p:stCondLst>
                                  <p:childTnLst>
                                    <p:set>
                                      <p:cBhvr>
                                        <p:cTn id="16" dur="1" fill="hold">
                                          <p:stCondLst>
                                            <p:cond delay="0"/>
                                          </p:stCondLst>
                                        </p:cTn>
                                        <p:tgtEl>
                                          <p:spTgt spid="157704"/>
                                        </p:tgtEl>
                                        <p:attrNameLst>
                                          <p:attrName>style.visibility</p:attrName>
                                        </p:attrNameLst>
                                      </p:cBhvr>
                                      <p:to>
                                        <p:strVal val="visible"/>
                                      </p:to>
                                    </p:set>
                                    <p:animEffect transition="in" filter="wipe(left)">
                                      <p:cBhvr>
                                        <p:cTn id="17" dur="500"/>
                                        <p:tgtEl>
                                          <p:spTgt spid="157704"/>
                                        </p:tgtEl>
                                      </p:cBhvr>
                                    </p:animEffect>
                                  </p:childTnLst>
                                </p:cTn>
                              </p:par>
                            </p:childTnLst>
                          </p:cTn>
                        </p:par>
                        <p:par>
                          <p:cTn id="18" fill="hold" nodeType="afterGroup">
                            <p:stCondLst>
                              <p:cond delay="2000"/>
                            </p:stCondLst>
                            <p:childTnLst>
                              <p:par>
                                <p:cTn id="19" presetID="22" presetClass="entr" presetSubtype="1"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up)">
                                      <p:cBhvr>
                                        <p:cTn id="21" dur="500"/>
                                        <p:tgtEl>
                                          <p:spTgt spid="2"/>
                                        </p:tgtEl>
                                      </p:cBhvr>
                                    </p:animEffect>
                                  </p:childTnLst>
                                </p:cTn>
                              </p:par>
                            </p:childTnLst>
                          </p:cTn>
                        </p:par>
                        <p:par>
                          <p:cTn id="22" fill="hold" nodeType="afterGroup">
                            <p:stCondLst>
                              <p:cond delay="2500"/>
                            </p:stCondLst>
                            <p:childTnLst>
                              <p:par>
                                <p:cTn id="23" presetID="22" presetClass="entr" presetSubtype="1" fill="hold" nodeType="after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up)">
                                      <p:cBhvr>
                                        <p:cTn id="25" dur="500"/>
                                        <p:tgtEl>
                                          <p:spTgt spid="3"/>
                                        </p:tgtEl>
                                      </p:cBhvr>
                                    </p:animEffect>
                                  </p:childTnLst>
                                </p:cTn>
                              </p:par>
                            </p:childTnLst>
                          </p:cTn>
                        </p:par>
                        <p:par>
                          <p:cTn id="26" fill="hold" nodeType="afterGroup">
                            <p:stCondLst>
                              <p:cond delay="3000"/>
                            </p:stCondLst>
                            <p:childTnLst>
                              <p:par>
                                <p:cTn id="27" presetID="22" presetClass="entr" presetSubtype="1"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up)">
                                      <p:cBhvr>
                                        <p:cTn id="29" dur="500"/>
                                        <p:tgtEl>
                                          <p:spTgt spid="4"/>
                                        </p:tgtEl>
                                      </p:cBhvr>
                                    </p:animEffect>
                                  </p:childTnLst>
                                </p:cTn>
                              </p:par>
                            </p:childTnLst>
                          </p:cTn>
                        </p:par>
                        <p:par>
                          <p:cTn id="30" fill="hold" nodeType="afterGroup">
                            <p:stCondLst>
                              <p:cond delay="3500"/>
                            </p:stCondLst>
                            <p:childTnLst>
                              <p:par>
                                <p:cTn id="31" presetID="22" presetClass="entr" presetSubtype="1" fill="hold" nodeType="after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up)">
                                      <p:cBhvr>
                                        <p:cTn id="33" dur="500"/>
                                        <p:tgtEl>
                                          <p:spTgt spid="5"/>
                                        </p:tgtEl>
                                      </p:cBhvr>
                                    </p:animEffect>
                                  </p:childTnLst>
                                </p:cTn>
                              </p:par>
                            </p:childTnLst>
                          </p:cTn>
                        </p:par>
                        <p:par>
                          <p:cTn id="34" fill="hold" nodeType="afterGroup">
                            <p:stCondLst>
                              <p:cond delay="4000"/>
                            </p:stCondLst>
                            <p:childTnLst>
                              <p:par>
                                <p:cTn id="35" presetID="22" presetClass="entr" presetSubtype="8" fill="hold" nodeType="afterEffect">
                                  <p:stCondLst>
                                    <p:cond delay="0"/>
                                  </p:stCondLst>
                                  <p:childTnLst>
                                    <p:set>
                                      <p:cBhvr>
                                        <p:cTn id="36" dur="1" fill="hold">
                                          <p:stCondLst>
                                            <p:cond delay="0"/>
                                          </p:stCondLst>
                                        </p:cTn>
                                        <p:tgtEl>
                                          <p:spTgt spid="157718"/>
                                        </p:tgtEl>
                                        <p:attrNameLst>
                                          <p:attrName>style.visibility</p:attrName>
                                        </p:attrNameLst>
                                      </p:cBhvr>
                                      <p:to>
                                        <p:strVal val="visible"/>
                                      </p:to>
                                    </p:set>
                                    <p:animEffect transition="in" filter="wipe(left)">
                                      <p:cBhvr>
                                        <p:cTn id="37" dur="500"/>
                                        <p:tgtEl>
                                          <p:spTgt spid="15771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2" presetClass="entr" presetSubtype="0" fill="hold" nodeType="clickEffect">
                                  <p:stCondLst>
                                    <p:cond delay="0"/>
                                  </p:stCondLst>
                                  <p:childTnLst>
                                    <p:set>
                                      <p:cBhvr>
                                        <p:cTn id="41" dur="1" fill="hold">
                                          <p:stCondLst>
                                            <p:cond delay="0"/>
                                          </p:stCondLst>
                                        </p:cTn>
                                        <p:tgtEl>
                                          <p:spTgt spid="157719"/>
                                        </p:tgtEl>
                                        <p:attrNameLst>
                                          <p:attrName>style.visibility</p:attrName>
                                        </p:attrNameLst>
                                      </p:cBhvr>
                                      <p:to>
                                        <p:strVal val="visible"/>
                                      </p:to>
                                    </p:set>
                                    <p:animEffect transition="in" filter="fade">
                                      <p:cBhvr>
                                        <p:cTn id="42" dur="1000"/>
                                        <p:tgtEl>
                                          <p:spTgt spid="157719"/>
                                        </p:tgtEl>
                                      </p:cBhvr>
                                    </p:animEffect>
                                    <p:anim calcmode="lin" valueType="num">
                                      <p:cBhvr>
                                        <p:cTn id="43" dur="1000" fill="hold"/>
                                        <p:tgtEl>
                                          <p:spTgt spid="157719"/>
                                        </p:tgtEl>
                                        <p:attrNameLst>
                                          <p:attrName>ppt_x</p:attrName>
                                        </p:attrNameLst>
                                      </p:cBhvr>
                                      <p:tavLst>
                                        <p:tav tm="0">
                                          <p:val>
                                            <p:strVal val="#ppt_x"/>
                                          </p:val>
                                        </p:tav>
                                        <p:tav tm="100000">
                                          <p:val>
                                            <p:strVal val="#ppt_x"/>
                                          </p:val>
                                        </p:tav>
                                      </p:tavLst>
                                    </p:anim>
                                    <p:anim calcmode="lin" valueType="num">
                                      <p:cBhvr>
                                        <p:cTn id="44" dur="1000" fill="hold"/>
                                        <p:tgtEl>
                                          <p:spTgt spid="1577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699" grpId="0" build="p"/>
      <p:bldP spid="157704"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2819" name="Rectangle 3">
            <a:extLst>
              <a:ext uri="{FF2B5EF4-FFF2-40B4-BE49-F238E27FC236}">
                <a16:creationId xmlns:a16="http://schemas.microsoft.com/office/drawing/2014/main" id="{951A77A3-6997-9890-F7A8-A0B4A8BB3C52}"/>
              </a:ext>
            </a:extLst>
          </p:cNvPr>
          <p:cNvSpPr>
            <a:spLocks noGrp="1"/>
          </p:cNvSpPr>
          <p:nvPr>
            <p:ph idx="1"/>
          </p:nvPr>
        </p:nvSpPr>
        <p:spPr>
          <a:xfrm>
            <a:off x="2057400" y="1295400"/>
            <a:ext cx="8001000" cy="1752600"/>
          </a:xfrm>
        </p:spPr>
        <p:txBody>
          <a:bodyPr/>
          <a:lstStyle/>
          <a:p>
            <a:pPr eaLnBrk="1" hangingPunct="1">
              <a:lnSpc>
                <a:spcPct val="90000"/>
              </a:lnSpc>
              <a:buFont typeface="Wingdings" panose="05000000000000000000" pitchFamily="2" charset="2"/>
              <a:buNone/>
            </a:pPr>
            <a:r>
              <a:rPr lang="en-US" altLang="en-US" sz="2800">
                <a:latin typeface="Times New Roman" panose="02020603050405020304" pitchFamily="18" charset="0"/>
                <a:ea typeface="ＭＳ Ｐゴシック" panose="020B0600070205080204" pitchFamily="34" charset="-128"/>
              </a:rPr>
              <a:t>The expected dividend next year is $1.30, and dividends are expected to grow at 5% forever. </a:t>
            </a:r>
          </a:p>
          <a:p>
            <a:pPr eaLnBrk="1" hangingPunct="1">
              <a:lnSpc>
                <a:spcPct val="90000"/>
              </a:lnSpc>
              <a:buFont typeface="Wingdings" panose="05000000000000000000" pitchFamily="2" charset="2"/>
              <a:buNone/>
            </a:pPr>
            <a:r>
              <a:rPr lang="en-US" altLang="en-US" sz="2800">
                <a:latin typeface="Times New Roman" panose="02020603050405020304" pitchFamily="18" charset="0"/>
                <a:ea typeface="ＭＳ Ｐゴシック" panose="020B0600070205080204" pitchFamily="34" charset="-128"/>
              </a:rPr>
              <a:t>If the discount rate is 10%, what is the value of this promised dividend stream?</a:t>
            </a:r>
          </a:p>
        </p:txBody>
      </p:sp>
      <p:sp>
        <p:nvSpPr>
          <p:cNvPr id="70658" name="Rectangle 2">
            <a:extLst>
              <a:ext uri="{FF2B5EF4-FFF2-40B4-BE49-F238E27FC236}">
                <a16:creationId xmlns:a16="http://schemas.microsoft.com/office/drawing/2014/main" id="{1023DAF6-9E62-AB45-5B6F-E472EC35FF6B}"/>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Growing Perpetuity: Example</a:t>
            </a:r>
          </a:p>
        </p:txBody>
      </p:sp>
      <p:sp>
        <p:nvSpPr>
          <p:cNvPr id="162820" name="Line 4">
            <a:extLst>
              <a:ext uri="{FF2B5EF4-FFF2-40B4-BE49-F238E27FC236}">
                <a16:creationId xmlns:a16="http://schemas.microsoft.com/office/drawing/2014/main" id="{FAFED510-E018-C654-1F3C-DA203BC6BCB0}"/>
              </a:ext>
            </a:extLst>
          </p:cNvPr>
          <p:cNvSpPr>
            <a:spLocks noChangeShapeType="1"/>
          </p:cNvSpPr>
          <p:nvPr/>
        </p:nvSpPr>
        <p:spPr bwMode="auto">
          <a:xfrm>
            <a:off x="2819400" y="4367213"/>
            <a:ext cx="6400800" cy="0"/>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grpSp>
        <p:nvGrpSpPr>
          <p:cNvPr id="2" name="Group 5">
            <a:extLst>
              <a:ext uri="{FF2B5EF4-FFF2-40B4-BE49-F238E27FC236}">
                <a16:creationId xmlns:a16="http://schemas.microsoft.com/office/drawing/2014/main" id="{3B928E81-2156-E7E0-6C4D-1F2AF81E293E}"/>
              </a:ext>
            </a:extLst>
          </p:cNvPr>
          <p:cNvGrpSpPr>
            <a:grpSpLocks/>
          </p:cNvGrpSpPr>
          <p:nvPr/>
        </p:nvGrpSpPr>
        <p:grpSpPr bwMode="auto">
          <a:xfrm>
            <a:off x="2590800" y="4152901"/>
            <a:ext cx="361950" cy="1052513"/>
            <a:chOff x="624" y="2544"/>
            <a:chExt cx="228" cy="663"/>
          </a:xfrm>
        </p:grpSpPr>
        <p:sp>
          <p:nvSpPr>
            <p:cNvPr id="187412" name="Line 6">
              <a:extLst>
                <a:ext uri="{FF2B5EF4-FFF2-40B4-BE49-F238E27FC236}">
                  <a16:creationId xmlns:a16="http://schemas.microsoft.com/office/drawing/2014/main" id="{B6F59140-E26C-7A63-1369-9387CBF71BB9}"/>
                </a:ext>
              </a:extLst>
            </p:cNvPr>
            <p:cNvSpPr>
              <a:spLocks noChangeShapeType="1"/>
            </p:cNvSpPr>
            <p:nvPr/>
          </p:nvSpPr>
          <p:spPr bwMode="auto">
            <a:xfrm>
              <a:off x="768" y="2544"/>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87413" name="Rectangle 7">
              <a:extLst>
                <a:ext uri="{FF2B5EF4-FFF2-40B4-BE49-F238E27FC236}">
                  <a16:creationId xmlns:a16="http://schemas.microsoft.com/office/drawing/2014/main" id="{CDE0F02B-2274-E80C-1083-68D6C0315D87}"/>
                </a:ext>
              </a:extLst>
            </p:cNvPr>
            <p:cNvSpPr>
              <a:spLocks noChangeArrowheads="1"/>
            </p:cNvSpPr>
            <p:nvPr/>
          </p:nvSpPr>
          <p:spPr bwMode="auto">
            <a:xfrm>
              <a:off x="624" y="2880"/>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0</a:t>
              </a:r>
            </a:p>
          </p:txBody>
        </p:sp>
      </p:grpSp>
      <p:sp>
        <p:nvSpPr>
          <p:cNvPr id="162824" name="Text Box 8">
            <a:extLst>
              <a:ext uri="{FF2B5EF4-FFF2-40B4-BE49-F238E27FC236}">
                <a16:creationId xmlns:a16="http://schemas.microsoft.com/office/drawing/2014/main" id="{F4385860-1A58-0520-ABF8-499D2DFD0DD7}"/>
              </a:ext>
            </a:extLst>
          </p:cNvPr>
          <p:cNvSpPr txBox="1">
            <a:spLocks noChangeArrowheads="1"/>
          </p:cNvSpPr>
          <p:nvPr/>
        </p:nvSpPr>
        <p:spPr bwMode="auto">
          <a:xfrm>
            <a:off x="9220200" y="3848101"/>
            <a:ext cx="609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4000">
                <a:solidFill>
                  <a:srgbClr val="644A1A"/>
                </a:solidFill>
              </a:rPr>
              <a:t>…</a:t>
            </a:r>
          </a:p>
        </p:txBody>
      </p:sp>
      <p:grpSp>
        <p:nvGrpSpPr>
          <p:cNvPr id="3" name="Group 24">
            <a:extLst>
              <a:ext uri="{FF2B5EF4-FFF2-40B4-BE49-F238E27FC236}">
                <a16:creationId xmlns:a16="http://schemas.microsoft.com/office/drawing/2014/main" id="{73ABABCA-AA63-0CF9-F565-C8A34E0201E4}"/>
              </a:ext>
            </a:extLst>
          </p:cNvPr>
          <p:cNvGrpSpPr>
            <a:grpSpLocks/>
          </p:cNvGrpSpPr>
          <p:nvPr/>
        </p:nvGrpSpPr>
        <p:grpSpPr bwMode="auto">
          <a:xfrm>
            <a:off x="3581400" y="3505201"/>
            <a:ext cx="984250" cy="1700213"/>
            <a:chOff x="1296" y="1905"/>
            <a:chExt cx="620" cy="1071"/>
          </a:xfrm>
        </p:grpSpPr>
        <p:sp>
          <p:nvSpPr>
            <p:cNvPr id="187409" name="Line 10">
              <a:extLst>
                <a:ext uri="{FF2B5EF4-FFF2-40B4-BE49-F238E27FC236}">
                  <a16:creationId xmlns:a16="http://schemas.microsoft.com/office/drawing/2014/main" id="{65B5FC6B-BDE4-A1BC-ABD3-34468D0F317F}"/>
                </a:ext>
              </a:extLst>
            </p:cNvPr>
            <p:cNvSpPr>
              <a:spLocks noChangeShapeType="1"/>
            </p:cNvSpPr>
            <p:nvPr/>
          </p:nvSpPr>
          <p:spPr bwMode="auto">
            <a:xfrm>
              <a:off x="1605" y="2313"/>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87410" name="Rectangle 11">
              <a:extLst>
                <a:ext uri="{FF2B5EF4-FFF2-40B4-BE49-F238E27FC236}">
                  <a16:creationId xmlns:a16="http://schemas.microsoft.com/office/drawing/2014/main" id="{3AAE1057-CCCD-1B13-8C3E-86742404AD32}"/>
                </a:ext>
              </a:extLst>
            </p:cNvPr>
            <p:cNvSpPr>
              <a:spLocks noChangeArrowheads="1"/>
            </p:cNvSpPr>
            <p:nvPr/>
          </p:nvSpPr>
          <p:spPr bwMode="auto">
            <a:xfrm>
              <a:off x="1491" y="2649"/>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1</a:t>
              </a:r>
            </a:p>
          </p:txBody>
        </p:sp>
        <p:sp>
          <p:nvSpPr>
            <p:cNvPr id="187411" name="Rectangle 12">
              <a:extLst>
                <a:ext uri="{FF2B5EF4-FFF2-40B4-BE49-F238E27FC236}">
                  <a16:creationId xmlns:a16="http://schemas.microsoft.com/office/drawing/2014/main" id="{F417CEDC-36E3-BE6C-AFF8-054ED4EE9066}"/>
                </a:ext>
              </a:extLst>
            </p:cNvPr>
            <p:cNvSpPr>
              <a:spLocks noChangeArrowheads="1"/>
            </p:cNvSpPr>
            <p:nvPr/>
          </p:nvSpPr>
          <p:spPr bwMode="auto">
            <a:xfrm>
              <a:off x="1296" y="1905"/>
              <a:ext cx="6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$1.30</a:t>
              </a:r>
            </a:p>
          </p:txBody>
        </p:sp>
      </p:grpSp>
      <p:grpSp>
        <p:nvGrpSpPr>
          <p:cNvPr id="4" name="Group 13">
            <a:extLst>
              <a:ext uri="{FF2B5EF4-FFF2-40B4-BE49-F238E27FC236}">
                <a16:creationId xmlns:a16="http://schemas.microsoft.com/office/drawing/2014/main" id="{F7761DC8-E1A7-6FD1-7D00-A734A0F8548F}"/>
              </a:ext>
            </a:extLst>
          </p:cNvPr>
          <p:cNvGrpSpPr>
            <a:grpSpLocks/>
          </p:cNvGrpSpPr>
          <p:nvPr/>
        </p:nvGrpSpPr>
        <p:grpSpPr bwMode="auto">
          <a:xfrm>
            <a:off x="5334002" y="3505201"/>
            <a:ext cx="2220913" cy="1700213"/>
            <a:chOff x="2736" y="1104"/>
            <a:chExt cx="1399" cy="1071"/>
          </a:xfrm>
        </p:grpSpPr>
        <p:sp>
          <p:nvSpPr>
            <p:cNvPr id="187406" name="Line 14">
              <a:extLst>
                <a:ext uri="{FF2B5EF4-FFF2-40B4-BE49-F238E27FC236}">
                  <a16:creationId xmlns:a16="http://schemas.microsoft.com/office/drawing/2014/main" id="{7A6AEE0A-F9E4-10B1-6079-DD8563E8441F}"/>
                </a:ext>
              </a:extLst>
            </p:cNvPr>
            <p:cNvSpPr>
              <a:spLocks noChangeShapeType="1"/>
            </p:cNvSpPr>
            <p:nvPr/>
          </p:nvSpPr>
          <p:spPr bwMode="auto">
            <a:xfrm>
              <a:off x="3189" y="1512"/>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87407" name="Rectangle 15">
              <a:extLst>
                <a:ext uri="{FF2B5EF4-FFF2-40B4-BE49-F238E27FC236}">
                  <a16:creationId xmlns:a16="http://schemas.microsoft.com/office/drawing/2014/main" id="{79C671BE-1493-4B1F-27B8-0D09553823F0}"/>
                </a:ext>
              </a:extLst>
            </p:cNvPr>
            <p:cNvSpPr>
              <a:spLocks noChangeArrowheads="1"/>
            </p:cNvSpPr>
            <p:nvPr/>
          </p:nvSpPr>
          <p:spPr bwMode="auto">
            <a:xfrm>
              <a:off x="3045" y="1848"/>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2</a:t>
              </a:r>
            </a:p>
          </p:txBody>
        </p:sp>
        <p:sp>
          <p:nvSpPr>
            <p:cNvPr id="187408" name="Rectangle 16">
              <a:extLst>
                <a:ext uri="{FF2B5EF4-FFF2-40B4-BE49-F238E27FC236}">
                  <a16:creationId xmlns:a16="http://schemas.microsoft.com/office/drawing/2014/main" id="{2F72F6D5-C637-FDAD-3021-E5EFE4FBEF04}"/>
                </a:ext>
              </a:extLst>
            </p:cNvPr>
            <p:cNvSpPr>
              <a:spLocks noChangeArrowheads="1"/>
            </p:cNvSpPr>
            <p:nvPr/>
          </p:nvSpPr>
          <p:spPr bwMode="auto">
            <a:xfrm>
              <a:off x="2736" y="1104"/>
              <a:ext cx="139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$1.30</a:t>
              </a:r>
              <a:r>
                <a:rPr lang="en-US" altLang="en-US" sz="2800">
                  <a:solidFill>
                    <a:srgbClr val="644A1A"/>
                  </a:solidFill>
                  <a:cs typeface="Times New Roman" panose="02020603050405020304" pitchFamily="18" charset="0"/>
                </a:rPr>
                <a:t>×(1.05)</a:t>
              </a:r>
            </a:p>
          </p:txBody>
        </p:sp>
      </p:grpSp>
      <p:grpSp>
        <p:nvGrpSpPr>
          <p:cNvPr id="5" name="Group 17">
            <a:extLst>
              <a:ext uri="{FF2B5EF4-FFF2-40B4-BE49-F238E27FC236}">
                <a16:creationId xmlns:a16="http://schemas.microsoft.com/office/drawing/2014/main" id="{EAD418B8-7FF7-B5E7-1195-352C428D95A1}"/>
              </a:ext>
            </a:extLst>
          </p:cNvPr>
          <p:cNvGrpSpPr>
            <a:grpSpLocks/>
          </p:cNvGrpSpPr>
          <p:nvPr/>
        </p:nvGrpSpPr>
        <p:grpSpPr bwMode="auto">
          <a:xfrm>
            <a:off x="7804152" y="3505201"/>
            <a:ext cx="2430463" cy="1700213"/>
            <a:chOff x="3873" y="1104"/>
            <a:chExt cx="1531" cy="1071"/>
          </a:xfrm>
        </p:grpSpPr>
        <p:sp>
          <p:nvSpPr>
            <p:cNvPr id="187403" name="Line 18">
              <a:extLst>
                <a:ext uri="{FF2B5EF4-FFF2-40B4-BE49-F238E27FC236}">
                  <a16:creationId xmlns:a16="http://schemas.microsoft.com/office/drawing/2014/main" id="{C279557A-44AC-371B-68B1-9076689F5317}"/>
                </a:ext>
              </a:extLst>
            </p:cNvPr>
            <p:cNvSpPr>
              <a:spLocks noChangeShapeType="1"/>
            </p:cNvSpPr>
            <p:nvPr/>
          </p:nvSpPr>
          <p:spPr bwMode="auto">
            <a:xfrm>
              <a:off x="4384" y="1512"/>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87404" name="Rectangle 19">
              <a:extLst>
                <a:ext uri="{FF2B5EF4-FFF2-40B4-BE49-F238E27FC236}">
                  <a16:creationId xmlns:a16="http://schemas.microsoft.com/office/drawing/2014/main" id="{5BFFEFC0-25F6-DBE7-FCBC-AFE1254FD54E}"/>
                </a:ext>
              </a:extLst>
            </p:cNvPr>
            <p:cNvSpPr>
              <a:spLocks noChangeArrowheads="1"/>
            </p:cNvSpPr>
            <p:nvPr/>
          </p:nvSpPr>
          <p:spPr bwMode="auto">
            <a:xfrm>
              <a:off x="4270" y="1848"/>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3</a:t>
              </a:r>
            </a:p>
          </p:txBody>
        </p:sp>
        <p:sp>
          <p:nvSpPr>
            <p:cNvPr id="187405" name="Rectangle 20">
              <a:extLst>
                <a:ext uri="{FF2B5EF4-FFF2-40B4-BE49-F238E27FC236}">
                  <a16:creationId xmlns:a16="http://schemas.microsoft.com/office/drawing/2014/main" id="{AF044184-AEF8-0546-6EA7-665B7E41AA94}"/>
                </a:ext>
              </a:extLst>
            </p:cNvPr>
            <p:cNvSpPr>
              <a:spLocks noChangeArrowheads="1"/>
            </p:cNvSpPr>
            <p:nvPr/>
          </p:nvSpPr>
          <p:spPr bwMode="auto">
            <a:xfrm>
              <a:off x="3873" y="1104"/>
              <a:ext cx="153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$1.30 </a:t>
              </a:r>
              <a:r>
                <a:rPr lang="en-US" altLang="en-US" sz="2800">
                  <a:solidFill>
                    <a:srgbClr val="644A1A"/>
                  </a:solidFill>
                  <a:cs typeface="Times New Roman" panose="02020603050405020304" pitchFamily="18" charset="0"/>
                </a:rPr>
                <a:t>×(1.05)</a:t>
              </a:r>
              <a:r>
                <a:rPr lang="en-US" altLang="en-US" sz="2800" baseline="30000">
                  <a:solidFill>
                    <a:srgbClr val="644A1A"/>
                  </a:solidFill>
                  <a:cs typeface="Times New Roman" panose="02020603050405020304" pitchFamily="18" charset="0"/>
                </a:rPr>
                <a:t>2</a:t>
              </a:r>
            </a:p>
          </p:txBody>
        </p:sp>
      </p:grpSp>
      <p:graphicFrame>
        <p:nvGraphicFramePr>
          <p:cNvPr id="162839" name="Object 23">
            <a:extLst>
              <a:ext uri="{FF2B5EF4-FFF2-40B4-BE49-F238E27FC236}">
                <a16:creationId xmlns:a16="http://schemas.microsoft.com/office/drawing/2014/main" id="{AE997D0D-E13B-12A5-858F-8F35C3F23D1F}"/>
              </a:ext>
            </a:extLst>
          </p:cNvPr>
          <p:cNvGraphicFramePr>
            <a:graphicFrameLocks noChangeAspect="1"/>
          </p:cNvGraphicFramePr>
          <p:nvPr/>
        </p:nvGraphicFramePr>
        <p:xfrm>
          <a:off x="3352800" y="5257800"/>
          <a:ext cx="4114800" cy="1081088"/>
        </p:xfrm>
        <a:graphic>
          <a:graphicData uri="http://schemas.openxmlformats.org/presentationml/2006/ole">
            <mc:AlternateContent xmlns:mc="http://schemas.openxmlformats.org/markup-compatibility/2006">
              <mc:Choice xmlns:v="urn:schemas-microsoft-com:vml" Requires="v">
                <p:oleObj name="Equation" r:id="rId3" imgW="1404194" imgH="299351" progId="Equation.3">
                  <p:embed/>
                </p:oleObj>
              </mc:Choice>
              <mc:Fallback>
                <p:oleObj name="Equation" r:id="rId3" imgW="1404194" imgH="299351" progId="Equation.3">
                  <p:embed/>
                  <p:pic>
                    <p:nvPicPr>
                      <p:cNvPr id="162839" name="Object 23">
                        <a:extLst>
                          <a:ext uri="{FF2B5EF4-FFF2-40B4-BE49-F238E27FC236}">
                            <a16:creationId xmlns:a16="http://schemas.microsoft.com/office/drawing/2014/main" id="{AE997D0D-E13B-12A5-858F-8F35C3F23D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5257800"/>
                        <a:ext cx="4114800" cy="1081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2819">
                                            <p:txEl>
                                              <p:pRg st="0" end="0"/>
                                            </p:txEl>
                                          </p:spTgt>
                                        </p:tgtEl>
                                        <p:attrNameLst>
                                          <p:attrName>style.visibility</p:attrName>
                                        </p:attrNameLst>
                                      </p:cBhvr>
                                      <p:to>
                                        <p:strVal val="visible"/>
                                      </p:to>
                                    </p:set>
                                    <p:animEffect transition="in" filter="fade">
                                      <p:cBhvr>
                                        <p:cTn id="7" dur="1000"/>
                                        <p:tgtEl>
                                          <p:spTgt spid="162819">
                                            <p:txEl>
                                              <p:pRg st="0" end="0"/>
                                            </p:txEl>
                                          </p:spTgt>
                                        </p:tgtEl>
                                      </p:cBhvr>
                                    </p:animEffect>
                                    <p:anim calcmode="lin" valueType="num">
                                      <p:cBhvr>
                                        <p:cTn id="8" dur="1000" fill="hold"/>
                                        <p:tgtEl>
                                          <p:spTgt spid="16281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281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62819">
                                            <p:txEl>
                                              <p:pRg st="1" end="1"/>
                                            </p:txEl>
                                          </p:spTgt>
                                        </p:tgtEl>
                                        <p:attrNameLst>
                                          <p:attrName>style.visibility</p:attrName>
                                        </p:attrNameLst>
                                      </p:cBhvr>
                                      <p:to>
                                        <p:strVal val="visible"/>
                                      </p:to>
                                    </p:set>
                                    <p:animEffect transition="in" filter="fade">
                                      <p:cBhvr>
                                        <p:cTn id="14" dur="1000"/>
                                        <p:tgtEl>
                                          <p:spTgt spid="162819">
                                            <p:txEl>
                                              <p:pRg st="1" end="1"/>
                                            </p:txEl>
                                          </p:spTgt>
                                        </p:tgtEl>
                                      </p:cBhvr>
                                    </p:animEffect>
                                    <p:anim calcmode="lin" valueType="num">
                                      <p:cBhvr>
                                        <p:cTn id="15" dur="1000" fill="hold"/>
                                        <p:tgtEl>
                                          <p:spTgt spid="16281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62819">
                                            <p:txEl>
                                              <p:pRg st="1" end="1"/>
                                            </p:txEl>
                                          </p:spTgt>
                                        </p:tgtEl>
                                        <p:attrNameLst>
                                          <p:attrName>ppt_y</p:attrName>
                                        </p:attrNameLst>
                                      </p:cBhvr>
                                      <p:tavLst>
                                        <p:tav tm="0">
                                          <p:val>
                                            <p:strVal val="#ppt_y+.1"/>
                                          </p:val>
                                        </p:tav>
                                        <p:tav tm="100000">
                                          <p:val>
                                            <p:strVal val="#ppt_y"/>
                                          </p:val>
                                        </p:tav>
                                      </p:tavLst>
                                    </p:anim>
                                  </p:childTnLst>
                                </p:cTn>
                              </p:par>
                            </p:childTnLst>
                          </p:cTn>
                        </p:par>
                        <p:par>
                          <p:cTn id="17" fill="hold" nodeType="afterGroup">
                            <p:stCondLst>
                              <p:cond delay="1000"/>
                            </p:stCondLst>
                            <p:childTnLst>
                              <p:par>
                                <p:cTn id="18" presetID="22" presetClass="entr" presetSubtype="8" fill="hold" nodeType="afterEffect">
                                  <p:stCondLst>
                                    <p:cond delay="0"/>
                                  </p:stCondLst>
                                  <p:childTnLst>
                                    <p:set>
                                      <p:cBhvr>
                                        <p:cTn id="19" dur="1" fill="hold">
                                          <p:stCondLst>
                                            <p:cond delay="0"/>
                                          </p:stCondLst>
                                        </p:cTn>
                                        <p:tgtEl>
                                          <p:spTgt spid="162820"/>
                                        </p:tgtEl>
                                        <p:attrNameLst>
                                          <p:attrName>style.visibility</p:attrName>
                                        </p:attrNameLst>
                                      </p:cBhvr>
                                      <p:to>
                                        <p:strVal val="visible"/>
                                      </p:to>
                                    </p:set>
                                    <p:animEffect transition="in" filter="wipe(left)">
                                      <p:cBhvr>
                                        <p:cTn id="20" dur="500"/>
                                        <p:tgtEl>
                                          <p:spTgt spid="162820"/>
                                        </p:tgtEl>
                                      </p:cBhvr>
                                    </p:animEffect>
                                  </p:childTnLst>
                                </p:cTn>
                              </p:par>
                            </p:childTnLst>
                          </p:cTn>
                        </p:par>
                        <p:par>
                          <p:cTn id="21" fill="hold" nodeType="afterGroup">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162824"/>
                                        </p:tgtEl>
                                        <p:attrNameLst>
                                          <p:attrName>style.visibility</p:attrName>
                                        </p:attrNameLst>
                                      </p:cBhvr>
                                      <p:to>
                                        <p:strVal val="visible"/>
                                      </p:to>
                                    </p:set>
                                    <p:animEffect transition="in" filter="wipe(left)">
                                      <p:cBhvr>
                                        <p:cTn id="24" dur="500"/>
                                        <p:tgtEl>
                                          <p:spTgt spid="162824"/>
                                        </p:tgtEl>
                                      </p:cBhvr>
                                    </p:animEffect>
                                  </p:childTnLst>
                                </p:cTn>
                              </p:par>
                            </p:childTnLst>
                          </p:cTn>
                        </p:par>
                        <p:par>
                          <p:cTn id="25" fill="hold" nodeType="afterGroup">
                            <p:stCondLst>
                              <p:cond delay="2000"/>
                            </p:stCondLst>
                            <p:childTnLst>
                              <p:par>
                                <p:cTn id="26" presetID="22" presetClass="entr" presetSubtype="1" fill="hold" nodeType="after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up)">
                                      <p:cBhvr>
                                        <p:cTn id="28" dur="500"/>
                                        <p:tgtEl>
                                          <p:spTgt spid="2"/>
                                        </p:tgtEl>
                                      </p:cBhvr>
                                    </p:animEffect>
                                  </p:childTnLst>
                                </p:cTn>
                              </p:par>
                            </p:childTnLst>
                          </p:cTn>
                        </p:par>
                        <p:par>
                          <p:cTn id="29" fill="hold" nodeType="afterGroup">
                            <p:stCondLst>
                              <p:cond delay="2500"/>
                            </p:stCondLst>
                            <p:childTnLst>
                              <p:par>
                                <p:cTn id="30" presetID="22" presetClass="entr" presetSubtype="1" fill="hold" nodeType="after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up)">
                                      <p:cBhvr>
                                        <p:cTn id="32" dur="500"/>
                                        <p:tgtEl>
                                          <p:spTgt spid="3"/>
                                        </p:tgtEl>
                                      </p:cBhvr>
                                    </p:animEffect>
                                  </p:childTnLst>
                                </p:cTn>
                              </p:par>
                            </p:childTnLst>
                          </p:cTn>
                        </p:par>
                        <p:par>
                          <p:cTn id="33" fill="hold" nodeType="afterGroup">
                            <p:stCondLst>
                              <p:cond delay="3000"/>
                            </p:stCondLst>
                            <p:childTnLst>
                              <p:par>
                                <p:cTn id="34" presetID="22" presetClass="entr" presetSubtype="1" fill="hold" nodeType="after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wipe(up)">
                                      <p:cBhvr>
                                        <p:cTn id="36" dur="500"/>
                                        <p:tgtEl>
                                          <p:spTgt spid="4"/>
                                        </p:tgtEl>
                                      </p:cBhvr>
                                    </p:animEffect>
                                  </p:childTnLst>
                                </p:cTn>
                              </p:par>
                            </p:childTnLst>
                          </p:cTn>
                        </p:par>
                        <p:par>
                          <p:cTn id="37" fill="hold" nodeType="afterGroup">
                            <p:stCondLst>
                              <p:cond delay="3500"/>
                            </p:stCondLst>
                            <p:childTnLst>
                              <p:par>
                                <p:cTn id="38" presetID="22" presetClass="entr" presetSubtype="1" fill="hold" nodeType="after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wipe(up)">
                                      <p:cBhvr>
                                        <p:cTn id="40" dur="500"/>
                                        <p:tgtEl>
                                          <p:spTgt spid="5"/>
                                        </p:tgtEl>
                                      </p:cBhvr>
                                    </p:animEffect>
                                  </p:childTnLst>
                                </p:cTn>
                              </p:par>
                            </p:childTnLst>
                          </p:cTn>
                        </p:par>
                        <p:par>
                          <p:cTn id="41" fill="hold" nodeType="afterGroup">
                            <p:stCondLst>
                              <p:cond delay="4000"/>
                            </p:stCondLst>
                            <p:childTnLst>
                              <p:par>
                                <p:cTn id="42" presetID="1" presetClass="entr" presetSubtype="0" fill="hold" nodeType="afterEffect">
                                  <p:stCondLst>
                                    <p:cond delay="0"/>
                                  </p:stCondLst>
                                  <p:childTnLst>
                                    <p:set>
                                      <p:cBhvr>
                                        <p:cTn id="43" dur="1" fill="hold">
                                          <p:stCondLst>
                                            <p:cond delay="499"/>
                                          </p:stCondLst>
                                        </p:cTn>
                                        <p:tgtEl>
                                          <p:spTgt spid="1628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9" grpId="0" build="p"/>
      <p:bldP spid="162824"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9747" name="Rectangle 3">
            <a:extLst>
              <a:ext uri="{FF2B5EF4-FFF2-40B4-BE49-F238E27FC236}">
                <a16:creationId xmlns:a16="http://schemas.microsoft.com/office/drawing/2014/main" id="{995F0F2E-636F-0053-6026-B23D4142376A}"/>
              </a:ext>
            </a:extLst>
          </p:cNvPr>
          <p:cNvSpPr>
            <a:spLocks noGrp="1"/>
          </p:cNvSpPr>
          <p:nvPr>
            <p:ph idx="1"/>
          </p:nvPr>
        </p:nvSpPr>
        <p:spPr>
          <a:xfrm>
            <a:off x="1828800" y="1295400"/>
            <a:ext cx="8001000" cy="685800"/>
          </a:xfrm>
        </p:spPr>
        <p:txBody>
          <a:bodyPr/>
          <a:lstStyle/>
          <a:p>
            <a:pPr eaLnBrk="1" hangingPunct="1">
              <a:buFont typeface="Wingdings" panose="05000000000000000000" pitchFamily="2" charset="2"/>
              <a:buNone/>
            </a:pPr>
            <a:r>
              <a:rPr lang="en-US" altLang="en-US" sz="2800">
                <a:latin typeface="Times New Roman" panose="02020603050405020304" pitchFamily="18" charset="0"/>
                <a:ea typeface="ＭＳ Ｐゴシック" panose="020B0600070205080204" pitchFamily="34" charset="-128"/>
              </a:rPr>
              <a:t>A constant stream of cash flows with a fixed maturity</a:t>
            </a:r>
          </a:p>
        </p:txBody>
      </p:sp>
      <p:sp>
        <p:nvSpPr>
          <p:cNvPr id="72706" name="Rectangle 2">
            <a:extLst>
              <a:ext uri="{FF2B5EF4-FFF2-40B4-BE49-F238E27FC236}">
                <a16:creationId xmlns:a16="http://schemas.microsoft.com/office/drawing/2014/main" id="{28B3D626-7A28-9C69-32C6-4952C4D4850B}"/>
              </a:ext>
            </a:extLst>
          </p:cNvPr>
          <p:cNvSpPr>
            <a:spLocks noGrp="1" noChangeArrowheads="1"/>
          </p:cNvSpPr>
          <p:nvPr>
            <p:ph type="title"/>
          </p:nvPr>
        </p:nvSpPr>
        <p:spPr>
          <a:xfrm>
            <a:off x="1905000" y="228600"/>
            <a:ext cx="8229600" cy="1143000"/>
          </a:xfrm>
        </p:spPr>
        <p:txBody>
          <a:bodyPr/>
          <a:lstStyle/>
          <a:p>
            <a:pPr eaLnBrk="1" fontAlgn="auto" hangingPunct="1">
              <a:spcAft>
                <a:spcPts val="0"/>
              </a:spcAft>
              <a:defRPr/>
            </a:pPr>
            <a:r>
              <a:rPr lang="en-US" altLang="en-US" sz="3400" dirty="0">
                <a:ea typeface="+mj-ea"/>
                <a:cs typeface="+mj-cs"/>
              </a:rPr>
              <a:t>Annuity</a:t>
            </a:r>
          </a:p>
        </p:txBody>
      </p:sp>
      <p:sp>
        <p:nvSpPr>
          <p:cNvPr id="159748" name="Line 4">
            <a:extLst>
              <a:ext uri="{FF2B5EF4-FFF2-40B4-BE49-F238E27FC236}">
                <a16:creationId xmlns:a16="http://schemas.microsoft.com/office/drawing/2014/main" id="{5B463E34-3819-B71B-8212-B57173DACF1B}"/>
              </a:ext>
            </a:extLst>
          </p:cNvPr>
          <p:cNvSpPr>
            <a:spLocks noChangeShapeType="1"/>
          </p:cNvSpPr>
          <p:nvPr/>
        </p:nvSpPr>
        <p:spPr bwMode="auto">
          <a:xfrm>
            <a:off x="2743200" y="2695575"/>
            <a:ext cx="5715000" cy="0"/>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grpSp>
        <p:nvGrpSpPr>
          <p:cNvPr id="2" name="Group 5">
            <a:extLst>
              <a:ext uri="{FF2B5EF4-FFF2-40B4-BE49-F238E27FC236}">
                <a16:creationId xmlns:a16="http://schemas.microsoft.com/office/drawing/2014/main" id="{847206D3-51FC-5BCB-B247-C5F3B78569A6}"/>
              </a:ext>
            </a:extLst>
          </p:cNvPr>
          <p:cNvGrpSpPr>
            <a:grpSpLocks/>
          </p:cNvGrpSpPr>
          <p:nvPr/>
        </p:nvGrpSpPr>
        <p:grpSpPr bwMode="auto">
          <a:xfrm>
            <a:off x="2514600" y="2463801"/>
            <a:ext cx="361950" cy="1052513"/>
            <a:chOff x="624" y="2544"/>
            <a:chExt cx="228" cy="663"/>
          </a:xfrm>
        </p:grpSpPr>
        <p:sp>
          <p:nvSpPr>
            <p:cNvPr id="189466" name="Line 6">
              <a:extLst>
                <a:ext uri="{FF2B5EF4-FFF2-40B4-BE49-F238E27FC236}">
                  <a16:creationId xmlns:a16="http://schemas.microsoft.com/office/drawing/2014/main" id="{E8C3BD7D-65D0-625B-7C84-00E1D4ED6725}"/>
                </a:ext>
              </a:extLst>
            </p:cNvPr>
            <p:cNvSpPr>
              <a:spLocks noChangeShapeType="1"/>
            </p:cNvSpPr>
            <p:nvPr/>
          </p:nvSpPr>
          <p:spPr bwMode="auto">
            <a:xfrm>
              <a:off x="768" y="2544"/>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89467" name="Rectangle 7">
              <a:extLst>
                <a:ext uri="{FF2B5EF4-FFF2-40B4-BE49-F238E27FC236}">
                  <a16:creationId xmlns:a16="http://schemas.microsoft.com/office/drawing/2014/main" id="{1EB15600-E52A-16BE-1785-717E5542AB26}"/>
                </a:ext>
              </a:extLst>
            </p:cNvPr>
            <p:cNvSpPr>
              <a:spLocks noChangeArrowheads="1"/>
            </p:cNvSpPr>
            <p:nvPr/>
          </p:nvSpPr>
          <p:spPr bwMode="auto">
            <a:xfrm>
              <a:off x="624" y="2880"/>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0</a:t>
              </a:r>
            </a:p>
          </p:txBody>
        </p:sp>
      </p:grpSp>
      <p:grpSp>
        <p:nvGrpSpPr>
          <p:cNvPr id="3" name="Group 9">
            <a:extLst>
              <a:ext uri="{FF2B5EF4-FFF2-40B4-BE49-F238E27FC236}">
                <a16:creationId xmlns:a16="http://schemas.microsoft.com/office/drawing/2014/main" id="{81522EC6-A6EC-DF86-CD63-539B74086432}"/>
              </a:ext>
            </a:extLst>
          </p:cNvPr>
          <p:cNvGrpSpPr>
            <a:grpSpLocks/>
          </p:cNvGrpSpPr>
          <p:nvPr/>
        </p:nvGrpSpPr>
        <p:grpSpPr bwMode="auto">
          <a:xfrm>
            <a:off x="4011614" y="1828801"/>
            <a:ext cx="447675" cy="1700213"/>
            <a:chOff x="1567" y="2136"/>
            <a:chExt cx="282" cy="1071"/>
          </a:xfrm>
        </p:grpSpPr>
        <p:sp>
          <p:nvSpPr>
            <p:cNvPr id="189463" name="Line 10">
              <a:extLst>
                <a:ext uri="{FF2B5EF4-FFF2-40B4-BE49-F238E27FC236}">
                  <a16:creationId xmlns:a16="http://schemas.microsoft.com/office/drawing/2014/main" id="{EF8333F9-5BAE-C587-465C-153D16B0C9EB}"/>
                </a:ext>
              </a:extLst>
            </p:cNvPr>
            <p:cNvSpPr>
              <a:spLocks noChangeShapeType="1"/>
            </p:cNvSpPr>
            <p:nvPr/>
          </p:nvSpPr>
          <p:spPr bwMode="auto">
            <a:xfrm>
              <a:off x="1711" y="2544"/>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89464" name="Rectangle 11">
              <a:extLst>
                <a:ext uri="{FF2B5EF4-FFF2-40B4-BE49-F238E27FC236}">
                  <a16:creationId xmlns:a16="http://schemas.microsoft.com/office/drawing/2014/main" id="{BBE30BAB-C84B-BA6E-4E74-6FC6EDA31BF2}"/>
                </a:ext>
              </a:extLst>
            </p:cNvPr>
            <p:cNvSpPr>
              <a:spLocks noChangeArrowheads="1"/>
            </p:cNvSpPr>
            <p:nvPr/>
          </p:nvSpPr>
          <p:spPr bwMode="auto">
            <a:xfrm>
              <a:off x="1567" y="2880"/>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1</a:t>
              </a:r>
            </a:p>
          </p:txBody>
        </p:sp>
        <p:sp>
          <p:nvSpPr>
            <p:cNvPr id="189465" name="Rectangle 12">
              <a:extLst>
                <a:ext uri="{FF2B5EF4-FFF2-40B4-BE49-F238E27FC236}">
                  <a16:creationId xmlns:a16="http://schemas.microsoft.com/office/drawing/2014/main" id="{06D883E5-F97C-1AFF-27B6-312B02266387}"/>
                </a:ext>
              </a:extLst>
            </p:cNvPr>
            <p:cNvSpPr>
              <a:spLocks noChangeArrowheads="1"/>
            </p:cNvSpPr>
            <p:nvPr/>
          </p:nvSpPr>
          <p:spPr bwMode="auto">
            <a:xfrm>
              <a:off x="1584" y="2136"/>
              <a:ext cx="2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C</a:t>
              </a:r>
            </a:p>
          </p:txBody>
        </p:sp>
      </p:grpSp>
      <p:grpSp>
        <p:nvGrpSpPr>
          <p:cNvPr id="4" name="Group 13">
            <a:extLst>
              <a:ext uri="{FF2B5EF4-FFF2-40B4-BE49-F238E27FC236}">
                <a16:creationId xmlns:a16="http://schemas.microsoft.com/office/drawing/2014/main" id="{ECFE3DB7-8CC5-2EDE-06F0-B8B1648F53CE}"/>
              </a:ext>
            </a:extLst>
          </p:cNvPr>
          <p:cNvGrpSpPr>
            <a:grpSpLocks/>
          </p:cNvGrpSpPr>
          <p:nvPr/>
        </p:nvGrpSpPr>
        <p:grpSpPr bwMode="auto">
          <a:xfrm>
            <a:off x="5519738" y="1828801"/>
            <a:ext cx="423862" cy="1700213"/>
            <a:chOff x="2517" y="2136"/>
            <a:chExt cx="267" cy="1071"/>
          </a:xfrm>
        </p:grpSpPr>
        <p:sp>
          <p:nvSpPr>
            <p:cNvPr id="189460" name="Line 14">
              <a:extLst>
                <a:ext uri="{FF2B5EF4-FFF2-40B4-BE49-F238E27FC236}">
                  <a16:creationId xmlns:a16="http://schemas.microsoft.com/office/drawing/2014/main" id="{FF1E7EA6-B45E-8B15-1339-ABACBB4DC1F1}"/>
                </a:ext>
              </a:extLst>
            </p:cNvPr>
            <p:cNvSpPr>
              <a:spLocks noChangeShapeType="1"/>
            </p:cNvSpPr>
            <p:nvPr/>
          </p:nvSpPr>
          <p:spPr bwMode="auto">
            <a:xfrm>
              <a:off x="2661" y="2544"/>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89461" name="Rectangle 15">
              <a:extLst>
                <a:ext uri="{FF2B5EF4-FFF2-40B4-BE49-F238E27FC236}">
                  <a16:creationId xmlns:a16="http://schemas.microsoft.com/office/drawing/2014/main" id="{229FD828-72D4-CC12-342F-C5E6D90CFD64}"/>
                </a:ext>
              </a:extLst>
            </p:cNvPr>
            <p:cNvSpPr>
              <a:spLocks noChangeArrowheads="1"/>
            </p:cNvSpPr>
            <p:nvPr/>
          </p:nvSpPr>
          <p:spPr bwMode="auto">
            <a:xfrm>
              <a:off x="2517" y="2880"/>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2</a:t>
              </a:r>
            </a:p>
          </p:txBody>
        </p:sp>
        <p:sp>
          <p:nvSpPr>
            <p:cNvPr id="189462" name="Rectangle 16">
              <a:extLst>
                <a:ext uri="{FF2B5EF4-FFF2-40B4-BE49-F238E27FC236}">
                  <a16:creationId xmlns:a16="http://schemas.microsoft.com/office/drawing/2014/main" id="{DC7DDCBF-D794-4256-7414-6ED4E84E094B}"/>
                </a:ext>
              </a:extLst>
            </p:cNvPr>
            <p:cNvSpPr>
              <a:spLocks noChangeArrowheads="1"/>
            </p:cNvSpPr>
            <p:nvPr/>
          </p:nvSpPr>
          <p:spPr bwMode="auto">
            <a:xfrm>
              <a:off x="2519" y="2136"/>
              <a:ext cx="2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C</a:t>
              </a:r>
            </a:p>
          </p:txBody>
        </p:sp>
      </p:grpSp>
      <p:grpSp>
        <p:nvGrpSpPr>
          <p:cNvPr id="5" name="Group 17">
            <a:extLst>
              <a:ext uri="{FF2B5EF4-FFF2-40B4-BE49-F238E27FC236}">
                <a16:creationId xmlns:a16="http://schemas.microsoft.com/office/drawing/2014/main" id="{DCF21128-854D-276A-4A97-E34AEA020309}"/>
              </a:ext>
            </a:extLst>
          </p:cNvPr>
          <p:cNvGrpSpPr>
            <a:grpSpLocks/>
          </p:cNvGrpSpPr>
          <p:nvPr/>
        </p:nvGrpSpPr>
        <p:grpSpPr bwMode="auto">
          <a:xfrm>
            <a:off x="7058025" y="1830388"/>
            <a:ext cx="420688" cy="1700212"/>
            <a:chOff x="3486" y="2136"/>
            <a:chExt cx="265" cy="1071"/>
          </a:xfrm>
        </p:grpSpPr>
        <p:sp>
          <p:nvSpPr>
            <p:cNvPr id="189457" name="Line 18">
              <a:extLst>
                <a:ext uri="{FF2B5EF4-FFF2-40B4-BE49-F238E27FC236}">
                  <a16:creationId xmlns:a16="http://schemas.microsoft.com/office/drawing/2014/main" id="{F8852CEB-3D30-CDEC-DB13-0A4D69171BAC}"/>
                </a:ext>
              </a:extLst>
            </p:cNvPr>
            <p:cNvSpPr>
              <a:spLocks noChangeShapeType="1"/>
            </p:cNvSpPr>
            <p:nvPr/>
          </p:nvSpPr>
          <p:spPr bwMode="auto">
            <a:xfrm>
              <a:off x="3618" y="2544"/>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89458" name="Rectangle 19">
              <a:extLst>
                <a:ext uri="{FF2B5EF4-FFF2-40B4-BE49-F238E27FC236}">
                  <a16:creationId xmlns:a16="http://schemas.microsoft.com/office/drawing/2014/main" id="{0A2E69CD-4911-6B58-8E58-66946B99839B}"/>
                </a:ext>
              </a:extLst>
            </p:cNvPr>
            <p:cNvSpPr>
              <a:spLocks noChangeArrowheads="1"/>
            </p:cNvSpPr>
            <p:nvPr/>
          </p:nvSpPr>
          <p:spPr bwMode="auto">
            <a:xfrm>
              <a:off x="3504" y="2880"/>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3</a:t>
              </a:r>
            </a:p>
          </p:txBody>
        </p:sp>
        <p:sp>
          <p:nvSpPr>
            <p:cNvPr id="189459" name="Rectangle 20">
              <a:extLst>
                <a:ext uri="{FF2B5EF4-FFF2-40B4-BE49-F238E27FC236}">
                  <a16:creationId xmlns:a16="http://schemas.microsoft.com/office/drawing/2014/main" id="{A4374C87-FD8B-408E-CA2B-87E3FE66B96F}"/>
                </a:ext>
              </a:extLst>
            </p:cNvPr>
            <p:cNvSpPr>
              <a:spLocks noChangeArrowheads="1"/>
            </p:cNvSpPr>
            <p:nvPr/>
          </p:nvSpPr>
          <p:spPr bwMode="auto">
            <a:xfrm>
              <a:off x="3486" y="2136"/>
              <a:ext cx="2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C</a:t>
              </a:r>
            </a:p>
          </p:txBody>
        </p:sp>
      </p:grpSp>
      <p:graphicFrame>
        <p:nvGraphicFramePr>
          <p:cNvPr id="159766" name="Object 22">
            <a:extLst>
              <a:ext uri="{FF2B5EF4-FFF2-40B4-BE49-F238E27FC236}">
                <a16:creationId xmlns:a16="http://schemas.microsoft.com/office/drawing/2014/main" id="{A7E61C73-9572-C815-0E0F-30F1A72D7A16}"/>
              </a:ext>
            </a:extLst>
          </p:cNvPr>
          <p:cNvGraphicFramePr>
            <a:graphicFrameLocks noChangeAspect="1"/>
          </p:cNvGraphicFramePr>
          <p:nvPr/>
        </p:nvGraphicFramePr>
        <p:xfrm>
          <a:off x="2514601" y="3733800"/>
          <a:ext cx="7419975" cy="1150938"/>
        </p:xfrm>
        <a:graphic>
          <a:graphicData uri="http://schemas.openxmlformats.org/presentationml/2006/ole">
            <mc:AlternateContent xmlns:mc="http://schemas.openxmlformats.org/markup-compatibility/2006">
              <mc:Choice xmlns:v="urn:schemas-microsoft-com:vml" Requires="v">
                <p:oleObj name="Equation" r:id="rId3" imgW="2612571" imgH="326534" progId="Equation.3">
                  <p:embed/>
                </p:oleObj>
              </mc:Choice>
              <mc:Fallback>
                <p:oleObj name="Equation" r:id="rId3" imgW="2612571" imgH="326534" progId="Equation.3">
                  <p:embed/>
                  <p:pic>
                    <p:nvPicPr>
                      <p:cNvPr id="159766" name="Object 22">
                        <a:extLst>
                          <a:ext uri="{FF2B5EF4-FFF2-40B4-BE49-F238E27FC236}">
                            <a16:creationId xmlns:a16="http://schemas.microsoft.com/office/drawing/2014/main" id="{A7E61C73-9572-C815-0E0F-30F1A72D7A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1" y="3733800"/>
                        <a:ext cx="7419975" cy="1150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9767" name="Object 23">
            <a:extLst>
              <a:ext uri="{FF2B5EF4-FFF2-40B4-BE49-F238E27FC236}">
                <a16:creationId xmlns:a16="http://schemas.microsoft.com/office/drawing/2014/main" id="{739C744D-CCC8-4389-34C2-9D348FD55310}"/>
              </a:ext>
            </a:extLst>
          </p:cNvPr>
          <p:cNvGraphicFramePr>
            <a:graphicFrameLocks noChangeAspect="1"/>
          </p:cNvGraphicFramePr>
          <p:nvPr/>
        </p:nvGraphicFramePr>
        <p:xfrm>
          <a:off x="2514600" y="5018088"/>
          <a:ext cx="3659188" cy="1255712"/>
        </p:xfrm>
        <a:graphic>
          <a:graphicData uri="http://schemas.openxmlformats.org/presentationml/2006/ole">
            <mc:AlternateContent xmlns:mc="http://schemas.openxmlformats.org/markup-compatibility/2006">
              <mc:Choice xmlns:v="urn:schemas-microsoft-com:vml" Requires="v">
                <p:oleObj name="Equation" r:id="rId5" imgW="1240845" imgH="364590" progId="Equation.3">
                  <p:embed/>
                </p:oleObj>
              </mc:Choice>
              <mc:Fallback>
                <p:oleObj name="Equation" r:id="rId5" imgW="1240845" imgH="364590" progId="Equation.3">
                  <p:embed/>
                  <p:pic>
                    <p:nvPicPr>
                      <p:cNvPr id="159767" name="Object 23">
                        <a:extLst>
                          <a:ext uri="{FF2B5EF4-FFF2-40B4-BE49-F238E27FC236}">
                            <a16:creationId xmlns:a16="http://schemas.microsoft.com/office/drawing/2014/main" id="{739C744D-CCC8-4389-34C2-9D348FD5531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4600" y="5018088"/>
                        <a:ext cx="3659188" cy="1255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 name="Group 24">
            <a:extLst>
              <a:ext uri="{FF2B5EF4-FFF2-40B4-BE49-F238E27FC236}">
                <a16:creationId xmlns:a16="http://schemas.microsoft.com/office/drawing/2014/main" id="{F5152F8C-B780-0B2E-C351-5CB00D230ADF}"/>
              </a:ext>
            </a:extLst>
          </p:cNvPr>
          <p:cNvGrpSpPr>
            <a:grpSpLocks/>
          </p:cNvGrpSpPr>
          <p:nvPr/>
        </p:nvGrpSpPr>
        <p:grpSpPr bwMode="auto">
          <a:xfrm>
            <a:off x="9409114" y="1830388"/>
            <a:ext cx="420687" cy="1700212"/>
            <a:chOff x="3486" y="2136"/>
            <a:chExt cx="265" cy="1071"/>
          </a:xfrm>
        </p:grpSpPr>
        <p:sp>
          <p:nvSpPr>
            <p:cNvPr id="189454" name="Line 25">
              <a:extLst>
                <a:ext uri="{FF2B5EF4-FFF2-40B4-BE49-F238E27FC236}">
                  <a16:creationId xmlns:a16="http://schemas.microsoft.com/office/drawing/2014/main" id="{6F33F7D5-7BE9-476D-399E-C60DCD59DD5E}"/>
                </a:ext>
              </a:extLst>
            </p:cNvPr>
            <p:cNvSpPr>
              <a:spLocks noChangeShapeType="1"/>
            </p:cNvSpPr>
            <p:nvPr/>
          </p:nvSpPr>
          <p:spPr bwMode="auto">
            <a:xfrm>
              <a:off x="3618" y="2544"/>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89455" name="Rectangle 26">
              <a:extLst>
                <a:ext uri="{FF2B5EF4-FFF2-40B4-BE49-F238E27FC236}">
                  <a16:creationId xmlns:a16="http://schemas.microsoft.com/office/drawing/2014/main" id="{CB927F8B-7A83-F1C1-669E-35CFBBFF757C}"/>
                </a:ext>
              </a:extLst>
            </p:cNvPr>
            <p:cNvSpPr>
              <a:spLocks noChangeArrowheads="1"/>
            </p:cNvSpPr>
            <p:nvPr/>
          </p:nvSpPr>
          <p:spPr bwMode="auto">
            <a:xfrm>
              <a:off x="3504" y="288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T</a:t>
              </a:r>
            </a:p>
          </p:txBody>
        </p:sp>
        <p:sp>
          <p:nvSpPr>
            <p:cNvPr id="189456" name="Rectangle 27">
              <a:extLst>
                <a:ext uri="{FF2B5EF4-FFF2-40B4-BE49-F238E27FC236}">
                  <a16:creationId xmlns:a16="http://schemas.microsoft.com/office/drawing/2014/main" id="{9B083E7D-4C9B-BF50-8B7C-F4C81F3B096C}"/>
                </a:ext>
              </a:extLst>
            </p:cNvPr>
            <p:cNvSpPr>
              <a:spLocks noChangeArrowheads="1"/>
            </p:cNvSpPr>
            <p:nvPr/>
          </p:nvSpPr>
          <p:spPr bwMode="auto">
            <a:xfrm>
              <a:off x="3486" y="2136"/>
              <a:ext cx="2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C</a:t>
              </a:r>
            </a:p>
          </p:txBody>
        </p:sp>
      </p:grpSp>
      <p:sp>
        <p:nvSpPr>
          <p:cNvPr id="159772" name="Line 28">
            <a:extLst>
              <a:ext uri="{FF2B5EF4-FFF2-40B4-BE49-F238E27FC236}">
                <a16:creationId xmlns:a16="http://schemas.microsoft.com/office/drawing/2014/main" id="{0D1FA6E3-F751-47DD-3E95-EDC695535A81}"/>
              </a:ext>
            </a:extLst>
          </p:cNvPr>
          <p:cNvSpPr>
            <a:spLocks noChangeShapeType="1"/>
          </p:cNvSpPr>
          <p:nvPr/>
        </p:nvSpPr>
        <p:spPr bwMode="auto">
          <a:xfrm>
            <a:off x="9372600" y="2695575"/>
            <a:ext cx="228600" cy="0"/>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graphicFrame>
        <p:nvGraphicFramePr>
          <p:cNvPr id="159773" name="Object 29">
            <a:extLst>
              <a:ext uri="{FF2B5EF4-FFF2-40B4-BE49-F238E27FC236}">
                <a16:creationId xmlns:a16="http://schemas.microsoft.com/office/drawing/2014/main" id="{C64ADA2F-0102-13B7-5237-D0BFD9C54F14}"/>
              </a:ext>
            </a:extLst>
          </p:cNvPr>
          <p:cNvGraphicFramePr>
            <a:graphicFrameLocks noChangeAspect="1"/>
          </p:cNvGraphicFramePr>
          <p:nvPr/>
        </p:nvGraphicFramePr>
        <p:xfrm>
          <a:off x="8686801" y="2590800"/>
          <a:ext cx="487363" cy="209550"/>
        </p:xfrm>
        <a:graphic>
          <a:graphicData uri="http://schemas.openxmlformats.org/presentationml/2006/ole">
            <mc:AlternateContent xmlns:mc="http://schemas.openxmlformats.org/markup-compatibility/2006">
              <mc:Choice xmlns:v="urn:schemas-microsoft-com:vml" Requires="v">
                <p:oleObj name="Equation" r:id="rId7" imgW="87255" imgH="0" progId="Equation.3">
                  <p:embed/>
                </p:oleObj>
              </mc:Choice>
              <mc:Fallback>
                <p:oleObj name="Equation" r:id="rId7" imgW="87255" imgH="0" progId="Equation.3">
                  <p:embed/>
                  <p:pic>
                    <p:nvPicPr>
                      <p:cNvPr id="159773" name="Object 29">
                        <a:extLst>
                          <a:ext uri="{FF2B5EF4-FFF2-40B4-BE49-F238E27FC236}">
                            <a16:creationId xmlns:a16="http://schemas.microsoft.com/office/drawing/2014/main" id="{C64ADA2F-0102-13B7-5237-D0BFD9C54F1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86801" y="2590800"/>
                        <a:ext cx="487363" cy="209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9747">
                                            <p:txEl>
                                              <p:pRg st="0" end="0"/>
                                            </p:txEl>
                                          </p:spTgt>
                                        </p:tgtEl>
                                        <p:attrNameLst>
                                          <p:attrName>style.visibility</p:attrName>
                                        </p:attrNameLst>
                                      </p:cBhvr>
                                      <p:to>
                                        <p:strVal val="visible"/>
                                      </p:to>
                                    </p:set>
                                    <p:animEffect transition="in" filter="fade">
                                      <p:cBhvr>
                                        <p:cTn id="7" dur="1000"/>
                                        <p:tgtEl>
                                          <p:spTgt spid="159747">
                                            <p:txEl>
                                              <p:pRg st="0" end="0"/>
                                            </p:txEl>
                                          </p:spTgt>
                                        </p:tgtEl>
                                      </p:cBhvr>
                                    </p:animEffect>
                                    <p:anim calcmode="lin" valueType="num">
                                      <p:cBhvr>
                                        <p:cTn id="8" dur="1000" fill="hold"/>
                                        <p:tgtEl>
                                          <p:spTgt spid="15974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59747">
                                            <p:txEl>
                                              <p:pRg st="0" end="0"/>
                                            </p:txEl>
                                          </p:spTgt>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22" presetClass="entr" presetSubtype="8" fill="hold" nodeType="afterEffect">
                                  <p:stCondLst>
                                    <p:cond delay="0"/>
                                  </p:stCondLst>
                                  <p:childTnLst>
                                    <p:set>
                                      <p:cBhvr>
                                        <p:cTn id="12" dur="1" fill="hold">
                                          <p:stCondLst>
                                            <p:cond delay="0"/>
                                          </p:stCondLst>
                                        </p:cTn>
                                        <p:tgtEl>
                                          <p:spTgt spid="159748"/>
                                        </p:tgtEl>
                                        <p:attrNameLst>
                                          <p:attrName>style.visibility</p:attrName>
                                        </p:attrNameLst>
                                      </p:cBhvr>
                                      <p:to>
                                        <p:strVal val="visible"/>
                                      </p:to>
                                    </p:set>
                                    <p:animEffect transition="in" filter="wipe(left)">
                                      <p:cBhvr>
                                        <p:cTn id="13" dur="500"/>
                                        <p:tgtEl>
                                          <p:spTgt spid="159748"/>
                                        </p:tgtEl>
                                      </p:cBhvr>
                                    </p:animEffect>
                                  </p:childTnLst>
                                </p:cTn>
                              </p:par>
                            </p:childTnLst>
                          </p:cTn>
                        </p:par>
                        <p:par>
                          <p:cTn id="14" fill="hold" nodeType="afterGroup">
                            <p:stCondLst>
                              <p:cond delay="1500"/>
                            </p:stCondLst>
                            <p:childTnLst>
                              <p:par>
                                <p:cTn id="15" presetID="22" presetClass="entr" presetSubtype="8" fill="hold" nodeType="afterEffect">
                                  <p:stCondLst>
                                    <p:cond delay="0"/>
                                  </p:stCondLst>
                                  <p:childTnLst>
                                    <p:set>
                                      <p:cBhvr>
                                        <p:cTn id="16" dur="1" fill="hold">
                                          <p:stCondLst>
                                            <p:cond delay="0"/>
                                          </p:stCondLst>
                                        </p:cTn>
                                        <p:tgtEl>
                                          <p:spTgt spid="159773"/>
                                        </p:tgtEl>
                                        <p:attrNameLst>
                                          <p:attrName>style.visibility</p:attrName>
                                        </p:attrNameLst>
                                      </p:cBhvr>
                                      <p:to>
                                        <p:strVal val="visible"/>
                                      </p:to>
                                    </p:set>
                                    <p:animEffect transition="in" filter="wipe(left)">
                                      <p:cBhvr>
                                        <p:cTn id="17" dur="500"/>
                                        <p:tgtEl>
                                          <p:spTgt spid="159773"/>
                                        </p:tgtEl>
                                      </p:cBhvr>
                                    </p:animEffect>
                                  </p:childTnLst>
                                </p:cTn>
                              </p:par>
                            </p:childTnLst>
                          </p:cTn>
                        </p:par>
                        <p:par>
                          <p:cTn id="18" fill="hold" nodeType="afterGroup">
                            <p:stCondLst>
                              <p:cond delay="2000"/>
                            </p:stCondLst>
                            <p:childTnLst>
                              <p:par>
                                <p:cTn id="19" presetID="22" presetClass="entr" presetSubtype="8" fill="hold" nodeType="afterEffect">
                                  <p:stCondLst>
                                    <p:cond delay="0"/>
                                  </p:stCondLst>
                                  <p:childTnLst>
                                    <p:set>
                                      <p:cBhvr>
                                        <p:cTn id="20" dur="1" fill="hold">
                                          <p:stCondLst>
                                            <p:cond delay="0"/>
                                          </p:stCondLst>
                                        </p:cTn>
                                        <p:tgtEl>
                                          <p:spTgt spid="159772"/>
                                        </p:tgtEl>
                                        <p:attrNameLst>
                                          <p:attrName>style.visibility</p:attrName>
                                        </p:attrNameLst>
                                      </p:cBhvr>
                                      <p:to>
                                        <p:strVal val="visible"/>
                                      </p:to>
                                    </p:set>
                                    <p:animEffect transition="in" filter="wipe(left)">
                                      <p:cBhvr>
                                        <p:cTn id="21" dur="500"/>
                                        <p:tgtEl>
                                          <p:spTgt spid="159772"/>
                                        </p:tgtEl>
                                      </p:cBhvr>
                                    </p:animEffect>
                                  </p:childTnLst>
                                </p:cTn>
                              </p:par>
                            </p:childTnLst>
                          </p:cTn>
                        </p:par>
                        <p:par>
                          <p:cTn id="22" fill="hold" nodeType="afterGroup">
                            <p:stCondLst>
                              <p:cond delay="2500"/>
                            </p:stCondLst>
                            <p:childTnLst>
                              <p:par>
                                <p:cTn id="23" presetID="22" presetClass="entr" presetSubtype="1" fill="hold" nodeType="after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up)">
                                      <p:cBhvr>
                                        <p:cTn id="25" dur="500"/>
                                        <p:tgtEl>
                                          <p:spTgt spid="2"/>
                                        </p:tgtEl>
                                      </p:cBhvr>
                                    </p:animEffect>
                                  </p:childTnLst>
                                </p:cTn>
                              </p:par>
                            </p:childTnLst>
                          </p:cTn>
                        </p:par>
                        <p:par>
                          <p:cTn id="26" fill="hold" nodeType="afterGroup">
                            <p:stCondLst>
                              <p:cond delay="3000"/>
                            </p:stCondLst>
                            <p:childTnLst>
                              <p:par>
                                <p:cTn id="27" presetID="22" presetClass="entr" presetSubtype="1" fill="hold" nodeType="after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wipe(up)">
                                      <p:cBhvr>
                                        <p:cTn id="29" dur="500"/>
                                        <p:tgtEl>
                                          <p:spTgt spid="3"/>
                                        </p:tgtEl>
                                      </p:cBhvr>
                                    </p:animEffect>
                                  </p:childTnLst>
                                </p:cTn>
                              </p:par>
                            </p:childTnLst>
                          </p:cTn>
                        </p:par>
                        <p:par>
                          <p:cTn id="30" fill="hold" nodeType="afterGroup">
                            <p:stCondLst>
                              <p:cond delay="3500"/>
                            </p:stCondLst>
                            <p:childTnLst>
                              <p:par>
                                <p:cTn id="31" presetID="22" presetClass="entr" presetSubtype="1" fill="hold" nodeType="after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wipe(up)">
                                      <p:cBhvr>
                                        <p:cTn id="33" dur="500"/>
                                        <p:tgtEl>
                                          <p:spTgt spid="4"/>
                                        </p:tgtEl>
                                      </p:cBhvr>
                                    </p:animEffect>
                                  </p:childTnLst>
                                </p:cTn>
                              </p:par>
                            </p:childTnLst>
                          </p:cTn>
                        </p:par>
                        <p:par>
                          <p:cTn id="34" fill="hold" nodeType="afterGroup">
                            <p:stCondLst>
                              <p:cond delay="4000"/>
                            </p:stCondLst>
                            <p:childTnLst>
                              <p:par>
                                <p:cTn id="35" presetID="22" presetClass="entr" presetSubtype="1" fill="hold" nodeType="after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up)">
                                      <p:cBhvr>
                                        <p:cTn id="37" dur="500"/>
                                        <p:tgtEl>
                                          <p:spTgt spid="5"/>
                                        </p:tgtEl>
                                      </p:cBhvr>
                                    </p:animEffect>
                                  </p:childTnLst>
                                </p:cTn>
                              </p:par>
                            </p:childTnLst>
                          </p:cTn>
                        </p:par>
                        <p:par>
                          <p:cTn id="38" fill="hold" nodeType="afterGroup">
                            <p:stCondLst>
                              <p:cond delay="4500"/>
                            </p:stCondLst>
                            <p:childTnLst>
                              <p:par>
                                <p:cTn id="39" presetID="22" presetClass="entr" presetSubtype="1" fill="hold" nodeType="after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wipe(up)">
                                      <p:cBhvr>
                                        <p:cTn id="41" dur="500"/>
                                        <p:tgtEl>
                                          <p:spTgt spid="6"/>
                                        </p:tgtEl>
                                      </p:cBhvr>
                                    </p:animEffect>
                                  </p:childTnLst>
                                </p:cTn>
                              </p:par>
                            </p:childTnLst>
                          </p:cTn>
                        </p:par>
                        <p:par>
                          <p:cTn id="42" fill="hold" nodeType="afterGroup">
                            <p:stCondLst>
                              <p:cond delay="5000"/>
                            </p:stCondLst>
                            <p:childTnLst>
                              <p:par>
                                <p:cTn id="43" presetID="22" presetClass="entr" presetSubtype="8" fill="hold" nodeType="afterEffect">
                                  <p:stCondLst>
                                    <p:cond delay="0"/>
                                  </p:stCondLst>
                                  <p:childTnLst>
                                    <p:set>
                                      <p:cBhvr>
                                        <p:cTn id="44" dur="1" fill="hold">
                                          <p:stCondLst>
                                            <p:cond delay="0"/>
                                          </p:stCondLst>
                                        </p:cTn>
                                        <p:tgtEl>
                                          <p:spTgt spid="159766"/>
                                        </p:tgtEl>
                                        <p:attrNameLst>
                                          <p:attrName>style.visibility</p:attrName>
                                        </p:attrNameLst>
                                      </p:cBhvr>
                                      <p:to>
                                        <p:strVal val="visible"/>
                                      </p:to>
                                    </p:set>
                                    <p:animEffect transition="in" filter="wipe(left)">
                                      <p:cBhvr>
                                        <p:cTn id="45" dur="500"/>
                                        <p:tgtEl>
                                          <p:spTgt spid="159766"/>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42" presetClass="entr" presetSubtype="0" fill="hold" nodeType="clickEffect">
                                  <p:stCondLst>
                                    <p:cond delay="0"/>
                                  </p:stCondLst>
                                  <p:childTnLst>
                                    <p:set>
                                      <p:cBhvr>
                                        <p:cTn id="49" dur="1" fill="hold">
                                          <p:stCondLst>
                                            <p:cond delay="0"/>
                                          </p:stCondLst>
                                        </p:cTn>
                                        <p:tgtEl>
                                          <p:spTgt spid="159767"/>
                                        </p:tgtEl>
                                        <p:attrNameLst>
                                          <p:attrName>style.visibility</p:attrName>
                                        </p:attrNameLst>
                                      </p:cBhvr>
                                      <p:to>
                                        <p:strVal val="visible"/>
                                      </p:to>
                                    </p:set>
                                    <p:animEffect transition="in" filter="fade">
                                      <p:cBhvr>
                                        <p:cTn id="50" dur="1000"/>
                                        <p:tgtEl>
                                          <p:spTgt spid="159767"/>
                                        </p:tgtEl>
                                      </p:cBhvr>
                                    </p:animEffect>
                                    <p:anim calcmode="lin" valueType="num">
                                      <p:cBhvr>
                                        <p:cTn id="51" dur="1000" fill="hold"/>
                                        <p:tgtEl>
                                          <p:spTgt spid="159767"/>
                                        </p:tgtEl>
                                        <p:attrNameLst>
                                          <p:attrName>ppt_x</p:attrName>
                                        </p:attrNameLst>
                                      </p:cBhvr>
                                      <p:tavLst>
                                        <p:tav tm="0">
                                          <p:val>
                                            <p:strVal val="#ppt_x"/>
                                          </p:val>
                                        </p:tav>
                                        <p:tav tm="100000">
                                          <p:val>
                                            <p:strVal val="#ppt_x"/>
                                          </p:val>
                                        </p:tav>
                                      </p:tavLst>
                                    </p:anim>
                                    <p:anim calcmode="lin" valueType="num">
                                      <p:cBhvr>
                                        <p:cTn id="52" dur="1000" fill="hold"/>
                                        <p:tgtEl>
                                          <p:spTgt spid="15976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7" grpId="0" build="p"/>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43" name="Rectangle 3">
            <a:extLst>
              <a:ext uri="{FF2B5EF4-FFF2-40B4-BE49-F238E27FC236}">
                <a16:creationId xmlns:a16="http://schemas.microsoft.com/office/drawing/2014/main" id="{53282CF6-6A57-2013-76C2-74E2C3203377}"/>
              </a:ext>
            </a:extLst>
          </p:cNvPr>
          <p:cNvSpPr>
            <a:spLocks noGrp="1"/>
          </p:cNvSpPr>
          <p:nvPr>
            <p:ph idx="1"/>
          </p:nvPr>
        </p:nvSpPr>
        <p:spPr>
          <a:xfrm>
            <a:off x="2057400" y="1295400"/>
            <a:ext cx="8001000" cy="1143000"/>
          </a:xfrm>
        </p:spPr>
        <p:txBody>
          <a:bodyPr/>
          <a:lstStyle/>
          <a:p>
            <a:pPr marL="0" indent="0" eaLnBrk="1" hangingPunct="1">
              <a:lnSpc>
                <a:spcPct val="90000"/>
              </a:lnSpc>
              <a:buNone/>
            </a:pPr>
            <a:r>
              <a:rPr lang="en-US" altLang="en-US" sz="2800">
                <a:latin typeface="Times New Roman" panose="02020603050405020304" pitchFamily="18" charset="0"/>
                <a:ea typeface="ＭＳ Ｐゴシック" panose="020B0600070205080204" pitchFamily="34" charset="-128"/>
              </a:rPr>
              <a:t>If you can afford a $400 monthly car payment, how much car can you afford if interest rates are 7% on 36-month loans?</a:t>
            </a:r>
          </a:p>
        </p:txBody>
      </p:sp>
      <p:sp>
        <p:nvSpPr>
          <p:cNvPr id="74754" name="Rectangle 2">
            <a:extLst>
              <a:ext uri="{FF2B5EF4-FFF2-40B4-BE49-F238E27FC236}">
                <a16:creationId xmlns:a16="http://schemas.microsoft.com/office/drawing/2014/main" id="{CC2BE29E-9BD4-37FA-14E3-6C41097B51DD}"/>
              </a:ext>
            </a:extLst>
          </p:cNvPr>
          <p:cNvSpPr>
            <a:spLocks noGrp="1" noChangeArrowheads="1"/>
          </p:cNvSpPr>
          <p:nvPr>
            <p:ph type="title"/>
          </p:nvPr>
        </p:nvSpPr>
        <p:spPr>
          <a:xfrm>
            <a:off x="1981200" y="228600"/>
            <a:ext cx="8229600" cy="1143000"/>
          </a:xfrm>
        </p:spPr>
        <p:txBody>
          <a:bodyPr/>
          <a:lstStyle/>
          <a:p>
            <a:pPr eaLnBrk="1" fontAlgn="auto" hangingPunct="1">
              <a:spcAft>
                <a:spcPts val="0"/>
              </a:spcAft>
              <a:defRPr/>
            </a:pPr>
            <a:r>
              <a:rPr lang="en-US" altLang="en-US" sz="3400" dirty="0">
                <a:ea typeface="+mj-ea"/>
                <a:cs typeface="+mj-cs"/>
              </a:rPr>
              <a:t>Annuity: Example</a:t>
            </a:r>
          </a:p>
        </p:txBody>
      </p:sp>
      <p:sp>
        <p:nvSpPr>
          <p:cNvPr id="163844" name="Line 4">
            <a:extLst>
              <a:ext uri="{FF2B5EF4-FFF2-40B4-BE49-F238E27FC236}">
                <a16:creationId xmlns:a16="http://schemas.microsoft.com/office/drawing/2014/main" id="{37601AA2-5818-DC95-5DC2-6747BEBA4165}"/>
              </a:ext>
            </a:extLst>
          </p:cNvPr>
          <p:cNvSpPr>
            <a:spLocks noChangeShapeType="1"/>
          </p:cNvSpPr>
          <p:nvPr/>
        </p:nvSpPr>
        <p:spPr bwMode="auto">
          <a:xfrm>
            <a:off x="2514600" y="3733800"/>
            <a:ext cx="5715000" cy="0"/>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grpSp>
        <p:nvGrpSpPr>
          <p:cNvPr id="2" name="Group 5">
            <a:extLst>
              <a:ext uri="{FF2B5EF4-FFF2-40B4-BE49-F238E27FC236}">
                <a16:creationId xmlns:a16="http://schemas.microsoft.com/office/drawing/2014/main" id="{E6D1F342-762A-0629-18BF-AAA5D8167755}"/>
              </a:ext>
            </a:extLst>
          </p:cNvPr>
          <p:cNvGrpSpPr>
            <a:grpSpLocks/>
          </p:cNvGrpSpPr>
          <p:nvPr/>
        </p:nvGrpSpPr>
        <p:grpSpPr bwMode="auto">
          <a:xfrm>
            <a:off x="2286000" y="3476626"/>
            <a:ext cx="361950" cy="1052513"/>
            <a:chOff x="624" y="2544"/>
            <a:chExt cx="228" cy="663"/>
          </a:xfrm>
        </p:grpSpPr>
        <p:sp>
          <p:nvSpPr>
            <p:cNvPr id="191513" name="Line 6">
              <a:extLst>
                <a:ext uri="{FF2B5EF4-FFF2-40B4-BE49-F238E27FC236}">
                  <a16:creationId xmlns:a16="http://schemas.microsoft.com/office/drawing/2014/main" id="{2539B15A-A323-F448-8DE6-89C115EFE7E0}"/>
                </a:ext>
              </a:extLst>
            </p:cNvPr>
            <p:cNvSpPr>
              <a:spLocks noChangeShapeType="1"/>
            </p:cNvSpPr>
            <p:nvPr/>
          </p:nvSpPr>
          <p:spPr bwMode="auto">
            <a:xfrm>
              <a:off x="768" y="2544"/>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91514" name="Rectangle 7">
              <a:extLst>
                <a:ext uri="{FF2B5EF4-FFF2-40B4-BE49-F238E27FC236}">
                  <a16:creationId xmlns:a16="http://schemas.microsoft.com/office/drawing/2014/main" id="{66CCCC1F-5EF2-2669-3DDF-F74C4B233DF1}"/>
                </a:ext>
              </a:extLst>
            </p:cNvPr>
            <p:cNvSpPr>
              <a:spLocks noChangeArrowheads="1"/>
            </p:cNvSpPr>
            <p:nvPr/>
          </p:nvSpPr>
          <p:spPr bwMode="auto">
            <a:xfrm>
              <a:off x="624" y="2880"/>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0</a:t>
              </a:r>
            </a:p>
          </p:txBody>
        </p:sp>
      </p:grpSp>
      <p:grpSp>
        <p:nvGrpSpPr>
          <p:cNvPr id="3" name="Group 30">
            <a:extLst>
              <a:ext uri="{FF2B5EF4-FFF2-40B4-BE49-F238E27FC236}">
                <a16:creationId xmlns:a16="http://schemas.microsoft.com/office/drawing/2014/main" id="{7B1E6A17-6746-247E-5F0E-80BEA5415113}"/>
              </a:ext>
            </a:extLst>
          </p:cNvPr>
          <p:cNvGrpSpPr>
            <a:grpSpLocks/>
          </p:cNvGrpSpPr>
          <p:nvPr/>
        </p:nvGrpSpPr>
        <p:grpSpPr bwMode="auto">
          <a:xfrm>
            <a:off x="3581400" y="2867026"/>
            <a:ext cx="895350" cy="1700213"/>
            <a:chOff x="1536" y="1280"/>
            <a:chExt cx="564" cy="1071"/>
          </a:xfrm>
        </p:grpSpPr>
        <p:sp>
          <p:nvSpPr>
            <p:cNvPr id="191510" name="Line 9">
              <a:extLst>
                <a:ext uri="{FF2B5EF4-FFF2-40B4-BE49-F238E27FC236}">
                  <a16:creationId xmlns:a16="http://schemas.microsoft.com/office/drawing/2014/main" id="{667F805A-8B6D-CCC4-940E-95BAD9E1EB6C}"/>
                </a:ext>
              </a:extLst>
            </p:cNvPr>
            <p:cNvSpPr>
              <a:spLocks noChangeShapeType="1"/>
            </p:cNvSpPr>
            <p:nvPr/>
          </p:nvSpPr>
          <p:spPr bwMode="auto">
            <a:xfrm>
              <a:off x="1817" y="1688"/>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91511" name="Rectangle 10">
              <a:extLst>
                <a:ext uri="{FF2B5EF4-FFF2-40B4-BE49-F238E27FC236}">
                  <a16:creationId xmlns:a16="http://schemas.microsoft.com/office/drawing/2014/main" id="{50E7989B-F1EC-7EE9-9665-AB7D12646E85}"/>
                </a:ext>
              </a:extLst>
            </p:cNvPr>
            <p:cNvSpPr>
              <a:spLocks noChangeArrowheads="1"/>
            </p:cNvSpPr>
            <p:nvPr/>
          </p:nvSpPr>
          <p:spPr bwMode="auto">
            <a:xfrm>
              <a:off x="1703" y="2024"/>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1</a:t>
              </a:r>
            </a:p>
          </p:txBody>
        </p:sp>
        <p:sp>
          <p:nvSpPr>
            <p:cNvPr id="191512" name="Rectangle 11">
              <a:extLst>
                <a:ext uri="{FF2B5EF4-FFF2-40B4-BE49-F238E27FC236}">
                  <a16:creationId xmlns:a16="http://schemas.microsoft.com/office/drawing/2014/main" id="{20440CE9-64C1-829B-A243-DE4F10CC3074}"/>
                </a:ext>
              </a:extLst>
            </p:cNvPr>
            <p:cNvSpPr>
              <a:spLocks noChangeArrowheads="1"/>
            </p:cNvSpPr>
            <p:nvPr/>
          </p:nvSpPr>
          <p:spPr bwMode="auto">
            <a:xfrm>
              <a:off x="1536" y="1280"/>
              <a:ext cx="5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a:solidFill>
                    <a:srgbClr val="644A1A"/>
                  </a:solidFill>
                </a:rPr>
                <a:t>$400</a:t>
              </a:r>
            </a:p>
          </p:txBody>
        </p:sp>
      </p:grpSp>
      <p:grpSp>
        <p:nvGrpSpPr>
          <p:cNvPr id="4" name="Group 29">
            <a:extLst>
              <a:ext uri="{FF2B5EF4-FFF2-40B4-BE49-F238E27FC236}">
                <a16:creationId xmlns:a16="http://schemas.microsoft.com/office/drawing/2014/main" id="{D8C82F66-93F4-13B0-2B77-F0A8020CD3F9}"/>
              </a:ext>
            </a:extLst>
          </p:cNvPr>
          <p:cNvGrpSpPr>
            <a:grpSpLocks/>
          </p:cNvGrpSpPr>
          <p:nvPr/>
        </p:nvGrpSpPr>
        <p:grpSpPr bwMode="auto">
          <a:xfrm>
            <a:off x="5105400" y="2867026"/>
            <a:ext cx="895350" cy="1700213"/>
            <a:chOff x="2496" y="1280"/>
            <a:chExt cx="564" cy="1071"/>
          </a:xfrm>
        </p:grpSpPr>
        <p:sp>
          <p:nvSpPr>
            <p:cNvPr id="191507" name="Line 13">
              <a:extLst>
                <a:ext uri="{FF2B5EF4-FFF2-40B4-BE49-F238E27FC236}">
                  <a16:creationId xmlns:a16="http://schemas.microsoft.com/office/drawing/2014/main" id="{7FECB062-FA74-395A-4194-682D9290CD2F}"/>
                </a:ext>
              </a:extLst>
            </p:cNvPr>
            <p:cNvSpPr>
              <a:spLocks noChangeShapeType="1"/>
            </p:cNvSpPr>
            <p:nvPr/>
          </p:nvSpPr>
          <p:spPr bwMode="auto">
            <a:xfrm>
              <a:off x="2778" y="1688"/>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91508" name="Rectangle 14">
              <a:extLst>
                <a:ext uri="{FF2B5EF4-FFF2-40B4-BE49-F238E27FC236}">
                  <a16:creationId xmlns:a16="http://schemas.microsoft.com/office/drawing/2014/main" id="{4549D5B7-6563-4E2F-0164-0AD336C8A155}"/>
                </a:ext>
              </a:extLst>
            </p:cNvPr>
            <p:cNvSpPr>
              <a:spLocks noChangeArrowheads="1"/>
            </p:cNvSpPr>
            <p:nvPr/>
          </p:nvSpPr>
          <p:spPr bwMode="auto">
            <a:xfrm>
              <a:off x="2664" y="2024"/>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2</a:t>
              </a:r>
            </a:p>
          </p:txBody>
        </p:sp>
        <p:sp>
          <p:nvSpPr>
            <p:cNvPr id="191509" name="Rectangle 15">
              <a:extLst>
                <a:ext uri="{FF2B5EF4-FFF2-40B4-BE49-F238E27FC236}">
                  <a16:creationId xmlns:a16="http://schemas.microsoft.com/office/drawing/2014/main" id="{D20AE10E-D052-707F-4F95-FCC6DC194C0A}"/>
                </a:ext>
              </a:extLst>
            </p:cNvPr>
            <p:cNvSpPr>
              <a:spLocks noChangeArrowheads="1"/>
            </p:cNvSpPr>
            <p:nvPr/>
          </p:nvSpPr>
          <p:spPr bwMode="auto">
            <a:xfrm>
              <a:off x="2496" y="1280"/>
              <a:ext cx="5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a:solidFill>
                    <a:srgbClr val="644A1A"/>
                  </a:solidFill>
                </a:rPr>
                <a:t>$400</a:t>
              </a:r>
            </a:p>
          </p:txBody>
        </p:sp>
      </p:grpSp>
      <p:grpSp>
        <p:nvGrpSpPr>
          <p:cNvPr id="5" name="Group 31">
            <a:extLst>
              <a:ext uri="{FF2B5EF4-FFF2-40B4-BE49-F238E27FC236}">
                <a16:creationId xmlns:a16="http://schemas.microsoft.com/office/drawing/2014/main" id="{422210C7-1BF1-099D-0D02-29C5F6F46868}"/>
              </a:ext>
            </a:extLst>
          </p:cNvPr>
          <p:cNvGrpSpPr>
            <a:grpSpLocks/>
          </p:cNvGrpSpPr>
          <p:nvPr/>
        </p:nvGrpSpPr>
        <p:grpSpPr bwMode="auto">
          <a:xfrm>
            <a:off x="6705600" y="2868613"/>
            <a:ext cx="895350" cy="1700212"/>
            <a:chOff x="3504" y="1281"/>
            <a:chExt cx="564" cy="1071"/>
          </a:xfrm>
        </p:grpSpPr>
        <p:sp>
          <p:nvSpPr>
            <p:cNvPr id="191504" name="Line 17">
              <a:extLst>
                <a:ext uri="{FF2B5EF4-FFF2-40B4-BE49-F238E27FC236}">
                  <a16:creationId xmlns:a16="http://schemas.microsoft.com/office/drawing/2014/main" id="{F7953120-B896-E965-7953-04721B48EF6B}"/>
                </a:ext>
              </a:extLst>
            </p:cNvPr>
            <p:cNvSpPr>
              <a:spLocks noChangeShapeType="1"/>
            </p:cNvSpPr>
            <p:nvPr/>
          </p:nvSpPr>
          <p:spPr bwMode="auto">
            <a:xfrm>
              <a:off x="3786" y="1689"/>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91505" name="Rectangle 18">
              <a:extLst>
                <a:ext uri="{FF2B5EF4-FFF2-40B4-BE49-F238E27FC236}">
                  <a16:creationId xmlns:a16="http://schemas.microsoft.com/office/drawing/2014/main" id="{B0CA4F5F-ECDA-AD14-11E7-948ED6EA3120}"/>
                </a:ext>
              </a:extLst>
            </p:cNvPr>
            <p:cNvSpPr>
              <a:spLocks noChangeArrowheads="1"/>
            </p:cNvSpPr>
            <p:nvPr/>
          </p:nvSpPr>
          <p:spPr bwMode="auto">
            <a:xfrm>
              <a:off x="3672" y="2025"/>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3</a:t>
              </a:r>
            </a:p>
          </p:txBody>
        </p:sp>
        <p:sp>
          <p:nvSpPr>
            <p:cNvPr id="191506" name="Rectangle 19">
              <a:extLst>
                <a:ext uri="{FF2B5EF4-FFF2-40B4-BE49-F238E27FC236}">
                  <a16:creationId xmlns:a16="http://schemas.microsoft.com/office/drawing/2014/main" id="{64D36C6D-C1F8-892A-B1D4-0311BD094170}"/>
                </a:ext>
              </a:extLst>
            </p:cNvPr>
            <p:cNvSpPr>
              <a:spLocks noChangeArrowheads="1"/>
            </p:cNvSpPr>
            <p:nvPr/>
          </p:nvSpPr>
          <p:spPr bwMode="auto">
            <a:xfrm>
              <a:off x="3504" y="1281"/>
              <a:ext cx="5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a:solidFill>
                    <a:srgbClr val="644A1A"/>
                  </a:solidFill>
                </a:rPr>
                <a:t>$400</a:t>
              </a:r>
            </a:p>
          </p:txBody>
        </p:sp>
      </p:grpSp>
      <p:graphicFrame>
        <p:nvGraphicFramePr>
          <p:cNvPr id="163862" name="Object 22">
            <a:extLst>
              <a:ext uri="{FF2B5EF4-FFF2-40B4-BE49-F238E27FC236}">
                <a16:creationId xmlns:a16="http://schemas.microsoft.com/office/drawing/2014/main" id="{A631CC65-C28A-5735-F8E2-C6D0779784C5}"/>
              </a:ext>
            </a:extLst>
          </p:cNvPr>
          <p:cNvGraphicFramePr>
            <a:graphicFrameLocks noChangeAspect="1"/>
          </p:cNvGraphicFramePr>
          <p:nvPr/>
        </p:nvGraphicFramePr>
        <p:xfrm>
          <a:off x="2133600" y="4741863"/>
          <a:ext cx="7702550" cy="1325562"/>
        </p:xfrm>
        <a:graphic>
          <a:graphicData uri="http://schemas.openxmlformats.org/presentationml/2006/ole">
            <mc:AlternateContent xmlns:mc="http://schemas.openxmlformats.org/markup-compatibility/2006">
              <mc:Choice xmlns:v="urn:schemas-microsoft-com:vml" Requires="v">
                <p:oleObj name="Equation" r:id="rId3" imgW="2721471" imgH="397209" progId="Equation.3">
                  <p:embed/>
                </p:oleObj>
              </mc:Choice>
              <mc:Fallback>
                <p:oleObj name="Equation" r:id="rId3" imgW="2721471" imgH="397209" progId="Equation.3">
                  <p:embed/>
                  <p:pic>
                    <p:nvPicPr>
                      <p:cNvPr id="163862" name="Object 22">
                        <a:extLst>
                          <a:ext uri="{FF2B5EF4-FFF2-40B4-BE49-F238E27FC236}">
                            <a16:creationId xmlns:a16="http://schemas.microsoft.com/office/drawing/2014/main" id="{A631CC65-C28A-5735-F8E2-C6D0779784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4741863"/>
                        <a:ext cx="7702550" cy="1325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 name="Group 32">
            <a:extLst>
              <a:ext uri="{FF2B5EF4-FFF2-40B4-BE49-F238E27FC236}">
                <a16:creationId xmlns:a16="http://schemas.microsoft.com/office/drawing/2014/main" id="{5DEBF68F-383D-032D-4F31-E84B13419E3D}"/>
              </a:ext>
            </a:extLst>
          </p:cNvPr>
          <p:cNvGrpSpPr>
            <a:grpSpLocks/>
          </p:cNvGrpSpPr>
          <p:nvPr/>
        </p:nvGrpSpPr>
        <p:grpSpPr bwMode="auto">
          <a:xfrm>
            <a:off x="8915400" y="2868613"/>
            <a:ext cx="895350" cy="1700212"/>
            <a:chOff x="5196" y="1281"/>
            <a:chExt cx="564" cy="1071"/>
          </a:xfrm>
        </p:grpSpPr>
        <p:sp>
          <p:nvSpPr>
            <p:cNvPr id="191501" name="Line 24">
              <a:extLst>
                <a:ext uri="{FF2B5EF4-FFF2-40B4-BE49-F238E27FC236}">
                  <a16:creationId xmlns:a16="http://schemas.microsoft.com/office/drawing/2014/main" id="{6163A957-12DB-F851-8D03-A7E2790713AC}"/>
                </a:ext>
              </a:extLst>
            </p:cNvPr>
            <p:cNvSpPr>
              <a:spLocks noChangeShapeType="1"/>
            </p:cNvSpPr>
            <p:nvPr/>
          </p:nvSpPr>
          <p:spPr bwMode="auto">
            <a:xfrm>
              <a:off x="5478" y="1689"/>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91502" name="Rectangle 25">
              <a:extLst>
                <a:ext uri="{FF2B5EF4-FFF2-40B4-BE49-F238E27FC236}">
                  <a16:creationId xmlns:a16="http://schemas.microsoft.com/office/drawing/2014/main" id="{568957E0-95D4-FBC8-FB2A-DC4D75C2DA83}"/>
                </a:ext>
              </a:extLst>
            </p:cNvPr>
            <p:cNvSpPr>
              <a:spLocks noChangeArrowheads="1"/>
            </p:cNvSpPr>
            <p:nvPr/>
          </p:nvSpPr>
          <p:spPr bwMode="auto">
            <a:xfrm>
              <a:off x="5308" y="2025"/>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36</a:t>
              </a:r>
            </a:p>
          </p:txBody>
        </p:sp>
        <p:sp>
          <p:nvSpPr>
            <p:cNvPr id="191503" name="Rectangle 26">
              <a:extLst>
                <a:ext uri="{FF2B5EF4-FFF2-40B4-BE49-F238E27FC236}">
                  <a16:creationId xmlns:a16="http://schemas.microsoft.com/office/drawing/2014/main" id="{A6D265D5-D8D3-0E76-EE60-6A00C4BA6231}"/>
                </a:ext>
              </a:extLst>
            </p:cNvPr>
            <p:cNvSpPr>
              <a:spLocks noChangeArrowheads="1"/>
            </p:cNvSpPr>
            <p:nvPr/>
          </p:nvSpPr>
          <p:spPr bwMode="auto">
            <a:xfrm>
              <a:off x="5196" y="1281"/>
              <a:ext cx="5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a:solidFill>
                    <a:srgbClr val="644A1A"/>
                  </a:solidFill>
                </a:rPr>
                <a:t>$400</a:t>
              </a:r>
            </a:p>
          </p:txBody>
        </p:sp>
      </p:grpSp>
      <p:sp>
        <p:nvSpPr>
          <p:cNvPr id="163867" name="Line 27">
            <a:extLst>
              <a:ext uri="{FF2B5EF4-FFF2-40B4-BE49-F238E27FC236}">
                <a16:creationId xmlns:a16="http://schemas.microsoft.com/office/drawing/2014/main" id="{56808112-BC75-72D2-911B-BFF718BC9F01}"/>
              </a:ext>
            </a:extLst>
          </p:cNvPr>
          <p:cNvSpPr>
            <a:spLocks noChangeShapeType="1"/>
          </p:cNvSpPr>
          <p:nvPr/>
        </p:nvSpPr>
        <p:spPr bwMode="auto">
          <a:xfrm>
            <a:off x="9144000" y="3733800"/>
            <a:ext cx="228600" cy="0"/>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graphicFrame>
        <p:nvGraphicFramePr>
          <p:cNvPr id="163868" name="Object 28">
            <a:extLst>
              <a:ext uri="{FF2B5EF4-FFF2-40B4-BE49-F238E27FC236}">
                <a16:creationId xmlns:a16="http://schemas.microsoft.com/office/drawing/2014/main" id="{77116EE1-4B3A-B267-4D7F-07C1790CBF8A}"/>
              </a:ext>
            </a:extLst>
          </p:cNvPr>
          <p:cNvGraphicFramePr>
            <a:graphicFrameLocks noChangeAspect="1"/>
          </p:cNvGraphicFramePr>
          <p:nvPr/>
        </p:nvGraphicFramePr>
        <p:xfrm>
          <a:off x="8458201" y="3629025"/>
          <a:ext cx="487363" cy="209550"/>
        </p:xfrm>
        <a:graphic>
          <a:graphicData uri="http://schemas.openxmlformats.org/presentationml/2006/ole">
            <mc:AlternateContent xmlns:mc="http://schemas.openxmlformats.org/markup-compatibility/2006">
              <mc:Choice xmlns:v="urn:schemas-microsoft-com:vml" Requires="v">
                <p:oleObj name="Equation" r:id="rId5" imgW="87255" imgH="0" progId="Equation.3">
                  <p:embed/>
                </p:oleObj>
              </mc:Choice>
              <mc:Fallback>
                <p:oleObj name="Equation" r:id="rId5" imgW="87255" imgH="0" progId="Equation.3">
                  <p:embed/>
                  <p:pic>
                    <p:nvPicPr>
                      <p:cNvPr id="163868" name="Object 28">
                        <a:extLst>
                          <a:ext uri="{FF2B5EF4-FFF2-40B4-BE49-F238E27FC236}">
                            <a16:creationId xmlns:a16="http://schemas.microsoft.com/office/drawing/2014/main" id="{77116EE1-4B3A-B267-4D7F-07C1790CBF8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58201" y="3629025"/>
                        <a:ext cx="487363" cy="209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3843">
                                            <p:txEl>
                                              <p:pRg st="0" end="0"/>
                                            </p:txEl>
                                          </p:spTgt>
                                        </p:tgtEl>
                                        <p:attrNameLst>
                                          <p:attrName>style.visibility</p:attrName>
                                        </p:attrNameLst>
                                      </p:cBhvr>
                                      <p:to>
                                        <p:strVal val="visible"/>
                                      </p:to>
                                    </p:set>
                                    <p:animEffect transition="in" filter="fade">
                                      <p:cBhvr>
                                        <p:cTn id="7" dur="1000"/>
                                        <p:tgtEl>
                                          <p:spTgt spid="163843">
                                            <p:txEl>
                                              <p:pRg st="0" end="0"/>
                                            </p:txEl>
                                          </p:spTgt>
                                        </p:tgtEl>
                                      </p:cBhvr>
                                    </p:animEffect>
                                    <p:anim calcmode="lin" valueType="num">
                                      <p:cBhvr>
                                        <p:cTn id="8" dur="1000" fill="hold"/>
                                        <p:tgtEl>
                                          <p:spTgt spid="16384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3843">
                                            <p:txEl>
                                              <p:pRg st="0" end="0"/>
                                            </p:txEl>
                                          </p:spTgt>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22" presetClass="entr" presetSubtype="8" fill="hold" nodeType="afterEffect">
                                  <p:stCondLst>
                                    <p:cond delay="0"/>
                                  </p:stCondLst>
                                  <p:childTnLst>
                                    <p:set>
                                      <p:cBhvr>
                                        <p:cTn id="12" dur="1" fill="hold">
                                          <p:stCondLst>
                                            <p:cond delay="0"/>
                                          </p:stCondLst>
                                        </p:cTn>
                                        <p:tgtEl>
                                          <p:spTgt spid="163844"/>
                                        </p:tgtEl>
                                        <p:attrNameLst>
                                          <p:attrName>style.visibility</p:attrName>
                                        </p:attrNameLst>
                                      </p:cBhvr>
                                      <p:to>
                                        <p:strVal val="visible"/>
                                      </p:to>
                                    </p:set>
                                    <p:animEffect transition="in" filter="wipe(left)">
                                      <p:cBhvr>
                                        <p:cTn id="13" dur="500"/>
                                        <p:tgtEl>
                                          <p:spTgt spid="163844"/>
                                        </p:tgtEl>
                                      </p:cBhvr>
                                    </p:animEffect>
                                  </p:childTnLst>
                                </p:cTn>
                              </p:par>
                            </p:childTnLst>
                          </p:cTn>
                        </p:par>
                        <p:par>
                          <p:cTn id="14" fill="hold" nodeType="afterGroup">
                            <p:stCondLst>
                              <p:cond delay="1500"/>
                            </p:stCondLst>
                            <p:childTnLst>
                              <p:par>
                                <p:cTn id="15" presetID="22" presetClass="entr" presetSubtype="8" fill="hold" nodeType="afterEffect">
                                  <p:stCondLst>
                                    <p:cond delay="0"/>
                                  </p:stCondLst>
                                  <p:childTnLst>
                                    <p:set>
                                      <p:cBhvr>
                                        <p:cTn id="16" dur="1" fill="hold">
                                          <p:stCondLst>
                                            <p:cond delay="0"/>
                                          </p:stCondLst>
                                        </p:cTn>
                                        <p:tgtEl>
                                          <p:spTgt spid="163868"/>
                                        </p:tgtEl>
                                        <p:attrNameLst>
                                          <p:attrName>style.visibility</p:attrName>
                                        </p:attrNameLst>
                                      </p:cBhvr>
                                      <p:to>
                                        <p:strVal val="visible"/>
                                      </p:to>
                                    </p:set>
                                    <p:animEffect transition="in" filter="wipe(left)">
                                      <p:cBhvr>
                                        <p:cTn id="17" dur="500"/>
                                        <p:tgtEl>
                                          <p:spTgt spid="163868"/>
                                        </p:tgtEl>
                                      </p:cBhvr>
                                    </p:animEffect>
                                  </p:childTnLst>
                                </p:cTn>
                              </p:par>
                            </p:childTnLst>
                          </p:cTn>
                        </p:par>
                        <p:par>
                          <p:cTn id="18" fill="hold" nodeType="afterGroup">
                            <p:stCondLst>
                              <p:cond delay="2000"/>
                            </p:stCondLst>
                            <p:childTnLst>
                              <p:par>
                                <p:cTn id="19" presetID="22" presetClass="entr" presetSubtype="8" fill="hold" nodeType="afterEffect">
                                  <p:stCondLst>
                                    <p:cond delay="0"/>
                                  </p:stCondLst>
                                  <p:childTnLst>
                                    <p:set>
                                      <p:cBhvr>
                                        <p:cTn id="20" dur="1" fill="hold">
                                          <p:stCondLst>
                                            <p:cond delay="0"/>
                                          </p:stCondLst>
                                        </p:cTn>
                                        <p:tgtEl>
                                          <p:spTgt spid="163867"/>
                                        </p:tgtEl>
                                        <p:attrNameLst>
                                          <p:attrName>style.visibility</p:attrName>
                                        </p:attrNameLst>
                                      </p:cBhvr>
                                      <p:to>
                                        <p:strVal val="visible"/>
                                      </p:to>
                                    </p:set>
                                    <p:animEffect transition="in" filter="wipe(left)">
                                      <p:cBhvr>
                                        <p:cTn id="21" dur="500"/>
                                        <p:tgtEl>
                                          <p:spTgt spid="163867"/>
                                        </p:tgtEl>
                                      </p:cBhvr>
                                    </p:animEffect>
                                  </p:childTnLst>
                                </p:cTn>
                              </p:par>
                            </p:childTnLst>
                          </p:cTn>
                        </p:par>
                        <p:par>
                          <p:cTn id="22" fill="hold" nodeType="afterGroup">
                            <p:stCondLst>
                              <p:cond delay="2500"/>
                            </p:stCondLst>
                            <p:childTnLst>
                              <p:par>
                                <p:cTn id="23" presetID="22" presetClass="entr" presetSubtype="1" fill="hold" nodeType="after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up)">
                                      <p:cBhvr>
                                        <p:cTn id="25" dur="500"/>
                                        <p:tgtEl>
                                          <p:spTgt spid="2"/>
                                        </p:tgtEl>
                                      </p:cBhvr>
                                    </p:animEffect>
                                  </p:childTnLst>
                                </p:cTn>
                              </p:par>
                            </p:childTnLst>
                          </p:cTn>
                        </p:par>
                        <p:par>
                          <p:cTn id="26" fill="hold" nodeType="afterGroup">
                            <p:stCondLst>
                              <p:cond delay="3000"/>
                            </p:stCondLst>
                            <p:childTnLst>
                              <p:par>
                                <p:cTn id="27" presetID="22" presetClass="entr" presetSubtype="1" fill="hold" nodeType="after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wipe(up)">
                                      <p:cBhvr>
                                        <p:cTn id="29" dur="500"/>
                                        <p:tgtEl>
                                          <p:spTgt spid="3"/>
                                        </p:tgtEl>
                                      </p:cBhvr>
                                    </p:animEffect>
                                  </p:childTnLst>
                                </p:cTn>
                              </p:par>
                            </p:childTnLst>
                          </p:cTn>
                        </p:par>
                        <p:par>
                          <p:cTn id="30" fill="hold" nodeType="afterGroup">
                            <p:stCondLst>
                              <p:cond delay="3500"/>
                            </p:stCondLst>
                            <p:childTnLst>
                              <p:par>
                                <p:cTn id="31" presetID="22" presetClass="entr" presetSubtype="1" fill="hold" nodeType="after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wipe(up)">
                                      <p:cBhvr>
                                        <p:cTn id="33" dur="500"/>
                                        <p:tgtEl>
                                          <p:spTgt spid="4"/>
                                        </p:tgtEl>
                                      </p:cBhvr>
                                    </p:animEffect>
                                  </p:childTnLst>
                                </p:cTn>
                              </p:par>
                            </p:childTnLst>
                          </p:cTn>
                        </p:par>
                        <p:par>
                          <p:cTn id="34" fill="hold" nodeType="afterGroup">
                            <p:stCondLst>
                              <p:cond delay="4000"/>
                            </p:stCondLst>
                            <p:childTnLst>
                              <p:par>
                                <p:cTn id="35" presetID="22" presetClass="entr" presetSubtype="1" fill="hold" nodeType="after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up)">
                                      <p:cBhvr>
                                        <p:cTn id="37" dur="500"/>
                                        <p:tgtEl>
                                          <p:spTgt spid="5"/>
                                        </p:tgtEl>
                                      </p:cBhvr>
                                    </p:animEffect>
                                  </p:childTnLst>
                                </p:cTn>
                              </p:par>
                            </p:childTnLst>
                          </p:cTn>
                        </p:par>
                        <p:par>
                          <p:cTn id="38" fill="hold" nodeType="afterGroup">
                            <p:stCondLst>
                              <p:cond delay="4500"/>
                            </p:stCondLst>
                            <p:childTnLst>
                              <p:par>
                                <p:cTn id="39" presetID="22" presetClass="entr" presetSubtype="1" fill="hold" nodeType="after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wipe(up)">
                                      <p:cBhvr>
                                        <p:cTn id="41" dur="500"/>
                                        <p:tgtEl>
                                          <p:spTgt spid="6"/>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42" presetClass="entr" presetSubtype="0" fill="hold" nodeType="clickEffect">
                                  <p:stCondLst>
                                    <p:cond delay="0"/>
                                  </p:stCondLst>
                                  <p:childTnLst>
                                    <p:set>
                                      <p:cBhvr>
                                        <p:cTn id="45" dur="1" fill="hold">
                                          <p:stCondLst>
                                            <p:cond delay="0"/>
                                          </p:stCondLst>
                                        </p:cTn>
                                        <p:tgtEl>
                                          <p:spTgt spid="163862"/>
                                        </p:tgtEl>
                                        <p:attrNameLst>
                                          <p:attrName>style.visibility</p:attrName>
                                        </p:attrNameLst>
                                      </p:cBhvr>
                                      <p:to>
                                        <p:strVal val="visible"/>
                                      </p:to>
                                    </p:set>
                                    <p:animEffect transition="in" filter="fade">
                                      <p:cBhvr>
                                        <p:cTn id="46" dur="1000"/>
                                        <p:tgtEl>
                                          <p:spTgt spid="163862"/>
                                        </p:tgtEl>
                                      </p:cBhvr>
                                    </p:animEffect>
                                    <p:anim calcmode="lin" valueType="num">
                                      <p:cBhvr>
                                        <p:cTn id="47" dur="1000" fill="hold"/>
                                        <p:tgtEl>
                                          <p:spTgt spid="163862"/>
                                        </p:tgtEl>
                                        <p:attrNameLst>
                                          <p:attrName>ppt_x</p:attrName>
                                        </p:attrNameLst>
                                      </p:cBhvr>
                                      <p:tavLst>
                                        <p:tav tm="0">
                                          <p:val>
                                            <p:strVal val="#ppt_x"/>
                                          </p:val>
                                        </p:tav>
                                        <p:tav tm="100000">
                                          <p:val>
                                            <p:strVal val="#ppt_x"/>
                                          </p:val>
                                        </p:tav>
                                      </p:tavLst>
                                    </p:anim>
                                    <p:anim calcmode="lin" valueType="num">
                                      <p:cBhvr>
                                        <p:cTn id="48" dur="1000" fill="hold"/>
                                        <p:tgtEl>
                                          <p:spTgt spid="16386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3" grpId="0" build="p"/>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3538" name="Rectangle 21">
            <a:extLst>
              <a:ext uri="{FF2B5EF4-FFF2-40B4-BE49-F238E27FC236}">
                <a16:creationId xmlns:a16="http://schemas.microsoft.com/office/drawing/2014/main" id="{58A92ED9-EC1A-C73C-5E82-F5CB5BC20DAE}"/>
              </a:ext>
            </a:extLst>
          </p:cNvPr>
          <p:cNvSpPr>
            <a:spLocks noChangeArrowheads="1"/>
          </p:cNvSpPr>
          <p:nvPr/>
        </p:nvSpPr>
        <p:spPr bwMode="auto">
          <a:xfrm>
            <a:off x="1524000" y="0"/>
            <a:ext cx="9144000" cy="6934200"/>
          </a:xfrm>
          <a:prstGeom prst="rect">
            <a:avLst/>
          </a:prstGeom>
          <a:solidFill>
            <a:schemeClr val="bg1"/>
          </a:solidFill>
          <a:ln w="12700" cap="sq">
            <a:solidFill>
              <a:schemeClr val="tx1"/>
            </a:solidFill>
            <a:miter lim="800000"/>
            <a:headEnd type="none" w="sm" len="sm"/>
            <a:tailEnd type="none" w="sm" len="sm"/>
          </a:ln>
        </p:spPr>
        <p:txBody>
          <a:bodyPr wrap="none" anchor="ct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fontAlgn="base">
              <a:spcBef>
                <a:spcPct val="0"/>
              </a:spcBef>
              <a:spcAft>
                <a:spcPct val="0"/>
              </a:spcAft>
            </a:pPr>
            <a:endParaRPr lang="en-US" altLang="en-US" sz="2400">
              <a:solidFill>
                <a:srgbClr val="644A1A"/>
              </a:solidFill>
            </a:endParaRPr>
          </a:p>
        </p:txBody>
      </p:sp>
      <p:sp>
        <p:nvSpPr>
          <p:cNvPr id="193539" name="Rectangle 2">
            <a:extLst>
              <a:ext uri="{FF2B5EF4-FFF2-40B4-BE49-F238E27FC236}">
                <a16:creationId xmlns:a16="http://schemas.microsoft.com/office/drawing/2014/main" id="{C7FFA213-3762-F88A-F06D-8A113FF5CAA1}"/>
              </a:ext>
            </a:extLst>
          </p:cNvPr>
          <p:cNvSpPr>
            <a:spLocks noChangeArrowheads="1"/>
          </p:cNvSpPr>
          <p:nvPr/>
        </p:nvSpPr>
        <p:spPr bwMode="auto">
          <a:xfrm>
            <a:off x="1981200" y="304800"/>
            <a:ext cx="8382000" cy="255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a:tabLst>
                <a:tab pos="347663" algn="r"/>
              </a:tabLst>
              <a:defRPr>
                <a:solidFill>
                  <a:schemeClr val="tx1"/>
                </a:solidFill>
                <a:latin typeface="Times New Roman" panose="02020603050405020304" pitchFamily="18" charset="0"/>
                <a:ea typeface="ＭＳ Ｐゴシック" panose="020B0600070205080204" pitchFamily="34" charset="-128"/>
              </a:defRPr>
            </a:lvl1pPr>
            <a:lvl2pPr marL="37931725" indent="-37474525">
              <a:tabLst>
                <a:tab pos="347663" algn="r"/>
              </a:tabLst>
              <a:defRPr>
                <a:solidFill>
                  <a:schemeClr val="tx1"/>
                </a:solidFill>
                <a:latin typeface="Times New Roman" panose="02020603050405020304" pitchFamily="18" charset="0"/>
                <a:ea typeface="ＭＳ Ｐゴシック" panose="020B0600070205080204" pitchFamily="34" charset="-128"/>
              </a:defRPr>
            </a:lvl2pPr>
            <a:lvl3pPr marL="1143000" indent="-228600">
              <a:tabLst>
                <a:tab pos="347663" algn="r"/>
              </a:tabLst>
              <a:defRPr>
                <a:solidFill>
                  <a:schemeClr val="tx1"/>
                </a:solidFill>
                <a:latin typeface="Times New Roman" panose="02020603050405020304" pitchFamily="18" charset="0"/>
                <a:ea typeface="ＭＳ Ｐゴシック" panose="020B0600070205080204" pitchFamily="34" charset="-128"/>
              </a:defRPr>
            </a:lvl3pPr>
            <a:lvl4pPr marL="1600200" indent="-228600">
              <a:tabLst>
                <a:tab pos="347663" algn="r"/>
              </a:tabLst>
              <a:defRPr>
                <a:solidFill>
                  <a:schemeClr val="tx1"/>
                </a:solidFill>
                <a:latin typeface="Times New Roman" panose="02020603050405020304" pitchFamily="18" charset="0"/>
                <a:ea typeface="ＭＳ Ｐゴシック" panose="020B0600070205080204" pitchFamily="34" charset="-128"/>
              </a:defRPr>
            </a:lvl4pPr>
            <a:lvl5pPr marL="2057400" indent="-228600">
              <a:tabLst>
                <a:tab pos="347663" algn="r"/>
              </a:tabLst>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tabLst>
                <a:tab pos="347663" algn="r"/>
              </a:tabLs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tabLst>
                <a:tab pos="347663" algn="r"/>
              </a:tabLs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tabLst>
                <a:tab pos="347663" algn="r"/>
              </a:tabLs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tabLst>
                <a:tab pos="347663" algn="r"/>
              </a:tabLs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400">
                <a:solidFill>
                  <a:srgbClr val="644A1A"/>
                </a:solidFill>
                <a:cs typeface="Arial" panose="020B0604020202020204" pitchFamily="34" charset="0"/>
              </a:rPr>
              <a:t>	      </a:t>
            </a:r>
            <a:r>
              <a:rPr lang="en-US" altLang="en-US" sz="2800">
                <a:solidFill>
                  <a:prstClr val="black"/>
                </a:solidFill>
                <a:cs typeface="Arial" panose="020B0604020202020204" pitchFamily="34" charset="0"/>
              </a:rPr>
              <a:t>What is the present value of a four-year annuity of $100 per year that makes its first payment two years from today if the discount rate is 9%?</a:t>
            </a:r>
            <a:r>
              <a:rPr lang="en-US" altLang="en-US" sz="2800">
                <a:solidFill>
                  <a:srgbClr val="644A1A"/>
                </a:solidFill>
                <a:cs typeface="Arial" panose="020B0604020202020204" pitchFamily="34" charset="0"/>
              </a:rPr>
              <a:t> </a:t>
            </a:r>
            <a:endParaRPr lang="en-US" altLang="en-US" sz="2800">
              <a:solidFill>
                <a:srgbClr val="644A1A"/>
              </a:solidFill>
              <a:cs typeface="Times New Roman" panose="02020603050405020304" pitchFamily="18" charset="0"/>
            </a:endParaRPr>
          </a:p>
          <a:p>
            <a:pPr eaLnBrk="0" fontAlgn="base" hangingPunct="0">
              <a:spcBef>
                <a:spcPct val="0"/>
              </a:spcBef>
              <a:spcAft>
                <a:spcPct val="0"/>
              </a:spcAft>
            </a:pPr>
            <a:r>
              <a:rPr lang="en-US" altLang="en-US" sz="2800">
                <a:solidFill>
                  <a:srgbClr val="644A1A"/>
                </a:solidFill>
                <a:cs typeface="Arial" panose="020B0604020202020204" pitchFamily="34" charset="0"/>
              </a:rPr>
              <a:t>	</a:t>
            </a:r>
            <a:endParaRPr lang="en-US" altLang="en-US" sz="2800">
              <a:solidFill>
                <a:srgbClr val="644A1A"/>
              </a:solidFill>
              <a:cs typeface="Times New Roman" panose="02020603050405020304" pitchFamily="18" charset="0"/>
            </a:endParaRPr>
          </a:p>
          <a:p>
            <a:pPr eaLnBrk="0" fontAlgn="base" hangingPunct="0">
              <a:spcBef>
                <a:spcPct val="0"/>
              </a:spcBef>
              <a:spcAft>
                <a:spcPct val="0"/>
              </a:spcAft>
            </a:pPr>
            <a:r>
              <a:rPr lang="en-US" altLang="en-US" sz="2400">
                <a:solidFill>
                  <a:srgbClr val="644A1A"/>
                </a:solidFill>
                <a:latin typeface="Arial" panose="020B0604020202020204" pitchFamily="34" charset="0"/>
                <a:cs typeface="Arial" panose="020B0604020202020204" pitchFamily="34" charset="0"/>
              </a:rPr>
              <a:t> </a:t>
            </a:r>
            <a:endParaRPr lang="en-US" altLang="en-US" sz="2400">
              <a:solidFill>
                <a:srgbClr val="644A1A"/>
              </a:solidFill>
              <a:cs typeface="Times New Roman" panose="02020603050405020304" pitchFamily="18" charset="0"/>
            </a:endParaRPr>
          </a:p>
          <a:p>
            <a:pPr eaLnBrk="0" fontAlgn="base" hangingPunct="0">
              <a:spcBef>
                <a:spcPct val="0"/>
              </a:spcBef>
              <a:spcAft>
                <a:spcPct val="0"/>
              </a:spcAft>
            </a:pPr>
            <a:r>
              <a:rPr lang="en-US" altLang="en-US" sz="2400">
                <a:solidFill>
                  <a:srgbClr val="644A1A"/>
                </a:solidFill>
                <a:latin typeface="Arial" panose="020B0604020202020204" pitchFamily="34" charset="0"/>
                <a:cs typeface="Arial" panose="020B0604020202020204" pitchFamily="34" charset="0"/>
              </a:rPr>
              <a:t>			</a:t>
            </a:r>
            <a:endParaRPr lang="en-US" altLang="en-US" sz="2400">
              <a:solidFill>
                <a:srgbClr val="644A1A"/>
              </a:solidFill>
              <a:cs typeface="Arial" panose="020B0604020202020204" pitchFamily="34" charset="0"/>
            </a:endParaRPr>
          </a:p>
        </p:txBody>
      </p:sp>
      <p:graphicFrame>
        <p:nvGraphicFramePr>
          <p:cNvPr id="177155" name="Object 3">
            <a:extLst>
              <a:ext uri="{FF2B5EF4-FFF2-40B4-BE49-F238E27FC236}">
                <a16:creationId xmlns:a16="http://schemas.microsoft.com/office/drawing/2014/main" id="{EDE7F94B-4F8B-5CF3-B4CF-2ED4FDB0C04B}"/>
              </a:ext>
            </a:extLst>
          </p:cNvPr>
          <p:cNvGraphicFramePr>
            <a:graphicFrameLocks noChangeAspect="1"/>
          </p:cNvGraphicFramePr>
          <p:nvPr/>
        </p:nvGraphicFramePr>
        <p:xfrm>
          <a:off x="1709738" y="5980114"/>
          <a:ext cx="3605212" cy="877887"/>
        </p:xfrm>
        <a:graphic>
          <a:graphicData uri="http://schemas.openxmlformats.org/presentationml/2006/ole">
            <mc:AlternateContent xmlns:mc="http://schemas.openxmlformats.org/markup-compatibility/2006">
              <mc:Choice xmlns:v="urn:schemas-microsoft-com:vml" Requires="v">
                <p:oleObj name="Equation" r:id="rId3" imgW="1458643" imgH="288478" progId="Equation.3">
                  <p:embed/>
                </p:oleObj>
              </mc:Choice>
              <mc:Fallback>
                <p:oleObj name="Equation" r:id="rId3" imgW="1458643" imgH="288478" progId="Equation.3">
                  <p:embed/>
                  <p:pic>
                    <p:nvPicPr>
                      <p:cNvPr id="177155" name="Object 3">
                        <a:extLst>
                          <a:ext uri="{FF2B5EF4-FFF2-40B4-BE49-F238E27FC236}">
                            <a16:creationId xmlns:a16="http://schemas.microsoft.com/office/drawing/2014/main" id="{EDE7F94B-4F8B-5CF3-B4CF-2ED4FDB0C0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9738" y="5980114"/>
                        <a:ext cx="3605212" cy="877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3541" name="Line 6">
            <a:extLst>
              <a:ext uri="{FF2B5EF4-FFF2-40B4-BE49-F238E27FC236}">
                <a16:creationId xmlns:a16="http://schemas.microsoft.com/office/drawing/2014/main" id="{B5449E19-54CC-E7B8-2BEA-CC93750B0725}"/>
              </a:ext>
            </a:extLst>
          </p:cNvPr>
          <p:cNvSpPr>
            <a:spLocks noChangeShapeType="1"/>
          </p:cNvSpPr>
          <p:nvPr/>
        </p:nvSpPr>
        <p:spPr bwMode="auto">
          <a:xfrm>
            <a:off x="2286000" y="5183188"/>
            <a:ext cx="7315200" cy="0"/>
          </a:xfrm>
          <a:prstGeom prst="line">
            <a:avLst/>
          </a:prstGeom>
          <a:noFill/>
          <a:ln w="38100">
            <a:solidFill>
              <a:srgbClr val="66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93542" name="Line 7">
            <a:extLst>
              <a:ext uri="{FF2B5EF4-FFF2-40B4-BE49-F238E27FC236}">
                <a16:creationId xmlns:a16="http://schemas.microsoft.com/office/drawing/2014/main" id="{71831909-63FE-7757-8DB8-196446550D99}"/>
              </a:ext>
            </a:extLst>
          </p:cNvPr>
          <p:cNvSpPr>
            <a:spLocks noChangeShapeType="1"/>
          </p:cNvSpPr>
          <p:nvPr/>
        </p:nvSpPr>
        <p:spPr bwMode="auto">
          <a:xfrm>
            <a:off x="2286000" y="4840288"/>
            <a:ext cx="0" cy="762000"/>
          </a:xfrm>
          <a:prstGeom prst="line">
            <a:avLst/>
          </a:prstGeom>
          <a:noFill/>
          <a:ln w="38100">
            <a:solidFill>
              <a:srgbClr val="66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93543" name="Line 8">
            <a:extLst>
              <a:ext uri="{FF2B5EF4-FFF2-40B4-BE49-F238E27FC236}">
                <a16:creationId xmlns:a16="http://schemas.microsoft.com/office/drawing/2014/main" id="{2FD5262A-8D00-5A30-B8A7-E977AC5A8BFA}"/>
              </a:ext>
            </a:extLst>
          </p:cNvPr>
          <p:cNvSpPr>
            <a:spLocks noChangeShapeType="1"/>
          </p:cNvSpPr>
          <p:nvPr/>
        </p:nvSpPr>
        <p:spPr bwMode="auto">
          <a:xfrm>
            <a:off x="3748088" y="4840288"/>
            <a:ext cx="0" cy="762000"/>
          </a:xfrm>
          <a:prstGeom prst="line">
            <a:avLst/>
          </a:prstGeom>
          <a:noFill/>
          <a:ln w="38100">
            <a:solidFill>
              <a:srgbClr val="66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93544" name="Line 9">
            <a:extLst>
              <a:ext uri="{FF2B5EF4-FFF2-40B4-BE49-F238E27FC236}">
                <a16:creationId xmlns:a16="http://schemas.microsoft.com/office/drawing/2014/main" id="{F9C012B9-AEAB-9280-DD7F-64B76E94E1D1}"/>
              </a:ext>
            </a:extLst>
          </p:cNvPr>
          <p:cNvSpPr>
            <a:spLocks noChangeShapeType="1"/>
          </p:cNvSpPr>
          <p:nvPr/>
        </p:nvSpPr>
        <p:spPr bwMode="auto">
          <a:xfrm>
            <a:off x="5211763" y="4840288"/>
            <a:ext cx="0" cy="762000"/>
          </a:xfrm>
          <a:prstGeom prst="line">
            <a:avLst/>
          </a:prstGeom>
          <a:noFill/>
          <a:ln w="38100">
            <a:solidFill>
              <a:srgbClr val="66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93545" name="Line 10">
            <a:extLst>
              <a:ext uri="{FF2B5EF4-FFF2-40B4-BE49-F238E27FC236}">
                <a16:creationId xmlns:a16="http://schemas.microsoft.com/office/drawing/2014/main" id="{C9B72BF7-B5E2-6042-DD55-A280588EE9FD}"/>
              </a:ext>
            </a:extLst>
          </p:cNvPr>
          <p:cNvSpPr>
            <a:spLocks noChangeShapeType="1"/>
          </p:cNvSpPr>
          <p:nvPr/>
        </p:nvSpPr>
        <p:spPr bwMode="auto">
          <a:xfrm>
            <a:off x="6673850" y="4840288"/>
            <a:ext cx="0" cy="762000"/>
          </a:xfrm>
          <a:prstGeom prst="line">
            <a:avLst/>
          </a:prstGeom>
          <a:noFill/>
          <a:ln w="38100">
            <a:solidFill>
              <a:srgbClr val="66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93546" name="Line 11">
            <a:extLst>
              <a:ext uri="{FF2B5EF4-FFF2-40B4-BE49-F238E27FC236}">
                <a16:creationId xmlns:a16="http://schemas.microsoft.com/office/drawing/2014/main" id="{DA20615E-DA9C-B18B-0FD7-549770814372}"/>
              </a:ext>
            </a:extLst>
          </p:cNvPr>
          <p:cNvSpPr>
            <a:spLocks noChangeShapeType="1"/>
          </p:cNvSpPr>
          <p:nvPr/>
        </p:nvSpPr>
        <p:spPr bwMode="auto">
          <a:xfrm>
            <a:off x="8137525" y="4840288"/>
            <a:ext cx="0" cy="762000"/>
          </a:xfrm>
          <a:prstGeom prst="line">
            <a:avLst/>
          </a:prstGeom>
          <a:noFill/>
          <a:ln w="38100">
            <a:solidFill>
              <a:srgbClr val="66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93547" name="Line 12">
            <a:extLst>
              <a:ext uri="{FF2B5EF4-FFF2-40B4-BE49-F238E27FC236}">
                <a16:creationId xmlns:a16="http://schemas.microsoft.com/office/drawing/2014/main" id="{7FD131E0-9E32-3D27-3939-DD37C136E45D}"/>
              </a:ext>
            </a:extLst>
          </p:cNvPr>
          <p:cNvSpPr>
            <a:spLocks noChangeShapeType="1"/>
          </p:cNvSpPr>
          <p:nvPr/>
        </p:nvSpPr>
        <p:spPr bwMode="auto">
          <a:xfrm>
            <a:off x="9601200" y="4840288"/>
            <a:ext cx="0" cy="762000"/>
          </a:xfrm>
          <a:prstGeom prst="line">
            <a:avLst/>
          </a:prstGeom>
          <a:noFill/>
          <a:ln w="38100">
            <a:solidFill>
              <a:srgbClr val="66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93548" name="Text Box 13">
            <a:extLst>
              <a:ext uri="{FF2B5EF4-FFF2-40B4-BE49-F238E27FC236}">
                <a16:creationId xmlns:a16="http://schemas.microsoft.com/office/drawing/2014/main" id="{A4C678BF-7332-654E-7517-2D2BFF5892C9}"/>
              </a:ext>
            </a:extLst>
          </p:cNvPr>
          <p:cNvSpPr txBox="1">
            <a:spLocks noChangeArrowheads="1"/>
          </p:cNvSpPr>
          <p:nvPr/>
        </p:nvSpPr>
        <p:spPr bwMode="auto">
          <a:xfrm>
            <a:off x="2057400" y="5716588"/>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2400" i="1">
                <a:solidFill>
                  <a:srgbClr val="644A1A"/>
                </a:solidFill>
              </a:rPr>
              <a:t>0	        1		   2	          3                  4               5</a:t>
            </a:r>
          </a:p>
        </p:txBody>
      </p:sp>
      <p:sp>
        <p:nvSpPr>
          <p:cNvPr id="193549" name="Text Box 14">
            <a:extLst>
              <a:ext uri="{FF2B5EF4-FFF2-40B4-BE49-F238E27FC236}">
                <a16:creationId xmlns:a16="http://schemas.microsoft.com/office/drawing/2014/main" id="{8531DA2C-5C5E-44A1-B8B2-0B3BE0C8B48C}"/>
              </a:ext>
            </a:extLst>
          </p:cNvPr>
          <p:cNvSpPr txBox="1">
            <a:spLocks noChangeArrowheads="1"/>
          </p:cNvSpPr>
          <p:nvPr/>
        </p:nvSpPr>
        <p:spPr bwMode="auto">
          <a:xfrm>
            <a:off x="4648200" y="4344988"/>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2400" i="1">
                <a:solidFill>
                  <a:srgbClr val="644A1A"/>
                </a:solidFill>
              </a:rPr>
              <a:t>$100	         $100	   $100           $100</a:t>
            </a:r>
          </a:p>
        </p:txBody>
      </p:sp>
      <p:sp>
        <p:nvSpPr>
          <p:cNvPr id="177167" name="AutoShape 15">
            <a:extLst>
              <a:ext uri="{FF2B5EF4-FFF2-40B4-BE49-F238E27FC236}">
                <a16:creationId xmlns:a16="http://schemas.microsoft.com/office/drawing/2014/main" id="{CF6439EF-8DD3-AE4D-FFB9-5C3C75837488}"/>
              </a:ext>
            </a:extLst>
          </p:cNvPr>
          <p:cNvSpPr>
            <a:spLocks/>
          </p:cNvSpPr>
          <p:nvPr/>
        </p:nvSpPr>
        <p:spPr bwMode="auto">
          <a:xfrm rot="16200000">
            <a:off x="7010400" y="1830388"/>
            <a:ext cx="457200" cy="4572000"/>
          </a:xfrm>
          <a:prstGeom prst="rightBrace">
            <a:avLst>
              <a:gd name="adj1" fmla="val 83333"/>
              <a:gd name="adj2" fmla="val 50000"/>
            </a:avLst>
          </a:pr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fontAlgn="base">
              <a:spcBef>
                <a:spcPct val="0"/>
              </a:spcBef>
              <a:spcAft>
                <a:spcPct val="0"/>
              </a:spcAft>
            </a:pPr>
            <a:endParaRPr lang="en-US" altLang="en-US" sz="2400">
              <a:solidFill>
                <a:srgbClr val="644A1A"/>
              </a:solidFill>
            </a:endParaRPr>
          </a:p>
        </p:txBody>
      </p:sp>
      <p:sp>
        <p:nvSpPr>
          <p:cNvPr id="177168" name="Arc 16">
            <a:extLst>
              <a:ext uri="{FF2B5EF4-FFF2-40B4-BE49-F238E27FC236}">
                <a16:creationId xmlns:a16="http://schemas.microsoft.com/office/drawing/2014/main" id="{0921B18E-5C2E-122D-CA2D-02DFC993D69B}"/>
              </a:ext>
            </a:extLst>
          </p:cNvPr>
          <p:cNvSpPr>
            <a:spLocks/>
          </p:cNvSpPr>
          <p:nvPr/>
        </p:nvSpPr>
        <p:spPr bwMode="auto">
          <a:xfrm flipH="1" flipV="1">
            <a:off x="3671888" y="2590800"/>
            <a:ext cx="3567112" cy="1371600"/>
          </a:xfrm>
          <a:custGeom>
            <a:avLst/>
            <a:gdLst>
              <a:gd name="T0" fmla="*/ 2147483646 w 43036"/>
              <a:gd name="T1" fmla="*/ 2147483646 h 21600"/>
              <a:gd name="T2" fmla="*/ 0 w 43036"/>
              <a:gd name="T3" fmla="*/ 2147483646 h 21600"/>
              <a:gd name="T4" fmla="*/ 2147483646 w 43036"/>
              <a:gd name="T5" fmla="*/ 0 h 21600"/>
              <a:gd name="T6" fmla="*/ 0 60000 65536"/>
              <a:gd name="T7" fmla="*/ 0 60000 65536"/>
              <a:gd name="T8" fmla="*/ 0 60000 65536"/>
              <a:gd name="T9" fmla="*/ 0 w 43036"/>
              <a:gd name="T10" fmla="*/ 0 h 21600"/>
              <a:gd name="T11" fmla="*/ 43036 w 43036"/>
              <a:gd name="T12" fmla="*/ 21600 h 21600"/>
            </a:gdLst>
            <a:ahLst/>
            <a:cxnLst>
              <a:cxn ang="T6">
                <a:pos x="T0" y="T1"/>
              </a:cxn>
              <a:cxn ang="T7">
                <a:pos x="T2" y="T3"/>
              </a:cxn>
              <a:cxn ang="T8">
                <a:pos x="T4" y="T5"/>
              </a:cxn>
            </a:cxnLst>
            <a:rect l="T9" t="T10" r="T11" b="T12"/>
            <a:pathLst>
              <a:path w="43036" h="21600" fill="none" extrusionOk="0">
                <a:moveTo>
                  <a:pt x="43035" y="2626"/>
                </a:moveTo>
                <a:cubicBezTo>
                  <a:pt x="41708" y="13459"/>
                  <a:pt x="32509" y="21599"/>
                  <a:pt x="21596" y="21600"/>
                </a:cubicBezTo>
                <a:cubicBezTo>
                  <a:pt x="9825" y="21600"/>
                  <a:pt x="221" y="12175"/>
                  <a:pt x="-1" y="407"/>
                </a:cubicBezTo>
              </a:path>
              <a:path w="43036" h="21600" stroke="0" extrusionOk="0">
                <a:moveTo>
                  <a:pt x="43035" y="2626"/>
                </a:moveTo>
                <a:cubicBezTo>
                  <a:pt x="41708" y="13459"/>
                  <a:pt x="32509" y="21599"/>
                  <a:pt x="21596" y="21600"/>
                </a:cubicBezTo>
                <a:cubicBezTo>
                  <a:pt x="9825" y="21600"/>
                  <a:pt x="221" y="12175"/>
                  <a:pt x="-1" y="407"/>
                </a:cubicBezTo>
                <a:lnTo>
                  <a:pt x="21596" y="0"/>
                </a:lnTo>
                <a:lnTo>
                  <a:pt x="43035" y="2626"/>
                </a:lnTo>
                <a:close/>
              </a:path>
            </a:pathLst>
          </a:custGeom>
          <a:noFill/>
          <a:ln w="38100">
            <a:solidFill>
              <a:schemeClr val="accent2"/>
            </a:solidFill>
            <a:prstDash val="lgDash"/>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77169" name="Text Box 17">
            <a:extLst>
              <a:ext uri="{FF2B5EF4-FFF2-40B4-BE49-F238E27FC236}">
                <a16:creationId xmlns:a16="http://schemas.microsoft.com/office/drawing/2014/main" id="{E14A619D-2DBC-AA1A-843E-B2BDBB03D9BB}"/>
              </a:ext>
            </a:extLst>
          </p:cNvPr>
          <p:cNvSpPr txBox="1">
            <a:spLocks noChangeArrowheads="1"/>
          </p:cNvSpPr>
          <p:nvPr/>
        </p:nvSpPr>
        <p:spPr bwMode="auto">
          <a:xfrm>
            <a:off x="3200400" y="4344988"/>
            <a:ext cx="121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2400" i="1">
                <a:solidFill>
                  <a:srgbClr val="DA1F28"/>
                </a:solidFill>
              </a:rPr>
              <a:t>$323.97</a:t>
            </a:r>
          </a:p>
        </p:txBody>
      </p:sp>
      <p:sp>
        <p:nvSpPr>
          <p:cNvPr id="177170" name="Text Box 18">
            <a:extLst>
              <a:ext uri="{FF2B5EF4-FFF2-40B4-BE49-F238E27FC236}">
                <a16:creationId xmlns:a16="http://schemas.microsoft.com/office/drawing/2014/main" id="{2CD14B00-356C-E4C2-487D-3B9028ABA665}"/>
              </a:ext>
            </a:extLst>
          </p:cNvPr>
          <p:cNvSpPr txBox="1">
            <a:spLocks noChangeArrowheads="1"/>
          </p:cNvSpPr>
          <p:nvPr/>
        </p:nvSpPr>
        <p:spPr bwMode="auto">
          <a:xfrm>
            <a:off x="1752600" y="4344988"/>
            <a:ext cx="121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2400" i="1">
                <a:solidFill>
                  <a:srgbClr val="339933"/>
                </a:solidFill>
              </a:rPr>
              <a:t>$297.22</a:t>
            </a:r>
          </a:p>
        </p:txBody>
      </p:sp>
      <p:sp>
        <p:nvSpPr>
          <p:cNvPr id="177171" name="Arc 19">
            <a:extLst>
              <a:ext uri="{FF2B5EF4-FFF2-40B4-BE49-F238E27FC236}">
                <a16:creationId xmlns:a16="http://schemas.microsoft.com/office/drawing/2014/main" id="{4D4D9535-F587-FCB8-B4E1-EA97F956C3B9}"/>
              </a:ext>
            </a:extLst>
          </p:cNvPr>
          <p:cNvSpPr>
            <a:spLocks/>
          </p:cNvSpPr>
          <p:nvPr/>
        </p:nvSpPr>
        <p:spPr bwMode="auto">
          <a:xfrm flipH="1" flipV="1">
            <a:off x="2397126" y="3659188"/>
            <a:ext cx="1247775" cy="989012"/>
          </a:xfrm>
          <a:custGeom>
            <a:avLst/>
            <a:gdLst>
              <a:gd name="T0" fmla="*/ 2147483646 w 40896"/>
              <a:gd name="T1" fmla="*/ 2147483646 h 21600"/>
              <a:gd name="T2" fmla="*/ 0 w 40896"/>
              <a:gd name="T3" fmla="*/ 2147483646 h 21600"/>
              <a:gd name="T4" fmla="*/ 2147483646 w 40896"/>
              <a:gd name="T5" fmla="*/ 0 h 21600"/>
              <a:gd name="T6" fmla="*/ 0 60000 65536"/>
              <a:gd name="T7" fmla="*/ 0 60000 65536"/>
              <a:gd name="T8" fmla="*/ 0 60000 65536"/>
              <a:gd name="T9" fmla="*/ 0 w 40896"/>
              <a:gd name="T10" fmla="*/ 0 h 21600"/>
              <a:gd name="T11" fmla="*/ 40896 w 40896"/>
              <a:gd name="T12" fmla="*/ 21600 h 21600"/>
            </a:gdLst>
            <a:ahLst/>
            <a:cxnLst>
              <a:cxn ang="T6">
                <a:pos x="T0" y="T1"/>
              </a:cxn>
              <a:cxn ang="T7">
                <a:pos x="T2" y="T3"/>
              </a:cxn>
              <a:cxn ang="T8">
                <a:pos x="T4" y="T5"/>
              </a:cxn>
            </a:cxnLst>
            <a:rect l="T9" t="T10" r="T11" b="T12"/>
            <a:pathLst>
              <a:path w="40896" h="21600" fill="none" extrusionOk="0">
                <a:moveTo>
                  <a:pt x="40896" y="7401"/>
                </a:moveTo>
                <a:cubicBezTo>
                  <a:pt x="37786" y="15927"/>
                  <a:pt x="29679" y="21599"/>
                  <a:pt x="20604" y="21600"/>
                </a:cubicBezTo>
                <a:cubicBezTo>
                  <a:pt x="11172" y="21600"/>
                  <a:pt x="2831" y="15481"/>
                  <a:pt x="0" y="6484"/>
                </a:cubicBezTo>
              </a:path>
              <a:path w="40896" h="21600" stroke="0" extrusionOk="0">
                <a:moveTo>
                  <a:pt x="40896" y="7401"/>
                </a:moveTo>
                <a:cubicBezTo>
                  <a:pt x="37786" y="15927"/>
                  <a:pt x="29679" y="21599"/>
                  <a:pt x="20604" y="21600"/>
                </a:cubicBezTo>
                <a:cubicBezTo>
                  <a:pt x="11172" y="21600"/>
                  <a:pt x="2831" y="15481"/>
                  <a:pt x="0" y="6484"/>
                </a:cubicBezTo>
                <a:lnTo>
                  <a:pt x="20604" y="0"/>
                </a:lnTo>
                <a:lnTo>
                  <a:pt x="40896" y="7401"/>
                </a:lnTo>
                <a:close/>
              </a:path>
            </a:pathLst>
          </a:custGeom>
          <a:noFill/>
          <a:ln w="38100">
            <a:solidFill>
              <a:srgbClr val="339933"/>
            </a:solidFill>
            <a:prstDash val="lgDash"/>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graphicFrame>
        <p:nvGraphicFramePr>
          <p:cNvPr id="177172" name="Object 20">
            <a:extLst>
              <a:ext uri="{FF2B5EF4-FFF2-40B4-BE49-F238E27FC236}">
                <a16:creationId xmlns:a16="http://schemas.microsoft.com/office/drawing/2014/main" id="{4C9A24DB-9E8F-6E8D-9D25-DA1439BC5ADF}"/>
              </a:ext>
            </a:extLst>
          </p:cNvPr>
          <p:cNvGraphicFramePr>
            <a:graphicFrameLocks noChangeAspect="1"/>
          </p:cNvGraphicFramePr>
          <p:nvPr/>
        </p:nvGraphicFramePr>
        <p:xfrm>
          <a:off x="3094039" y="1828800"/>
          <a:ext cx="6918325" cy="744538"/>
        </p:xfrm>
        <a:graphic>
          <a:graphicData uri="http://schemas.openxmlformats.org/presentationml/2006/ole">
            <mc:AlternateContent xmlns:mc="http://schemas.openxmlformats.org/markup-compatibility/2006">
              <mc:Choice xmlns:v="urn:schemas-microsoft-com:vml" Requires="v">
                <p:oleObj name="Equation" r:id="rId5" imgW="3919026" imgH="337407" progId="Equation.3">
                  <p:embed/>
                </p:oleObj>
              </mc:Choice>
              <mc:Fallback>
                <p:oleObj name="Equation" r:id="rId5" imgW="3919026" imgH="337407" progId="Equation.3">
                  <p:embed/>
                  <p:pic>
                    <p:nvPicPr>
                      <p:cNvPr id="177172" name="Object 20">
                        <a:extLst>
                          <a:ext uri="{FF2B5EF4-FFF2-40B4-BE49-F238E27FC236}">
                            <a16:creationId xmlns:a16="http://schemas.microsoft.com/office/drawing/2014/main" id="{4C9A24DB-9E8F-6E8D-9D25-DA1439BC5AD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94039" y="1828800"/>
                        <a:ext cx="6918325" cy="744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3556" name="Text Box 10">
            <a:extLst>
              <a:ext uri="{FF2B5EF4-FFF2-40B4-BE49-F238E27FC236}">
                <a16:creationId xmlns:a16="http://schemas.microsoft.com/office/drawing/2014/main" id="{9CE5FFF6-AC5E-0D28-D015-93C7BCA7EA9B}"/>
              </a:ext>
            </a:extLst>
          </p:cNvPr>
          <p:cNvSpPr txBox="1">
            <a:spLocks noChangeArrowheads="1"/>
          </p:cNvSpPr>
          <p:nvPr/>
        </p:nvSpPr>
        <p:spPr bwMode="auto">
          <a:xfrm>
            <a:off x="9906000" y="6553200"/>
            <a:ext cx="762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sz="1200">
                <a:solidFill>
                  <a:prstClr val="black"/>
                </a:solidFill>
                <a:cs typeface="Times New Roman" panose="02020603050405020304" pitchFamily="18" charset="0"/>
              </a:rPr>
              <a:t>4-</a:t>
            </a:r>
            <a:fld id="{447B3AC0-1BED-4E19-BBAF-DB1672DB8874}" type="slidenum">
              <a:rPr lang="en-US" altLang="en-US" sz="1200">
                <a:solidFill>
                  <a:prstClr val="black"/>
                </a:solidFill>
                <a:cs typeface="Times New Roman" panose="02020603050405020304" pitchFamily="18" charset="0"/>
              </a:rPr>
              <a:pPr algn="r" eaLnBrk="0" fontAlgn="base" hangingPunct="0">
                <a:spcBef>
                  <a:spcPct val="0"/>
                </a:spcBef>
                <a:spcAft>
                  <a:spcPct val="0"/>
                </a:spcAft>
              </a:pPr>
              <a:t>31</a:t>
            </a:fld>
            <a:endParaRPr lang="en-US" altLang="en-US" sz="1200">
              <a:solidFill>
                <a:prstClr val="black"/>
              </a:solidFill>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177167"/>
                                        </p:tgtEl>
                                        <p:attrNameLst>
                                          <p:attrName>style.visibility</p:attrName>
                                        </p:attrNameLst>
                                      </p:cBhvr>
                                      <p:to>
                                        <p:strVal val="visible"/>
                                      </p:to>
                                    </p:set>
                                    <p:anim calcmode="lin" valueType="num">
                                      <p:cBhvr>
                                        <p:cTn id="7" dur="500" fill="hold"/>
                                        <p:tgtEl>
                                          <p:spTgt spid="177167"/>
                                        </p:tgtEl>
                                        <p:attrNameLst>
                                          <p:attrName>ppt_w</p:attrName>
                                        </p:attrNameLst>
                                      </p:cBhvr>
                                      <p:tavLst>
                                        <p:tav tm="0">
                                          <p:val>
                                            <p:fltVal val="0"/>
                                          </p:val>
                                        </p:tav>
                                        <p:tav tm="100000">
                                          <p:val>
                                            <p:strVal val="#ppt_w"/>
                                          </p:val>
                                        </p:tav>
                                      </p:tavLst>
                                    </p:anim>
                                    <p:anim calcmode="lin" valueType="num">
                                      <p:cBhvr>
                                        <p:cTn id="8" dur="500" fill="hold"/>
                                        <p:tgtEl>
                                          <p:spTgt spid="177167"/>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2" fill="hold" nodeType="clickEffect">
                                  <p:stCondLst>
                                    <p:cond delay="0"/>
                                  </p:stCondLst>
                                  <p:childTnLst>
                                    <p:set>
                                      <p:cBhvr>
                                        <p:cTn id="12" dur="1" fill="hold">
                                          <p:stCondLst>
                                            <p:cond delay="0"/>
                                          </p:stCondLst>
                                        </p:cTn>
                                        <p:tgtEl>
                                          <p:spTgt spid="177168"/>
                                        </p:tgtEl>
                                        <p:attrNameLst>
                                          <p:attrName>style.visibility</p:attrName>
                                        </p:attrNameLst>
                                      </p:cBhvr>
                                      <p:to>
                                        <p:strVal val="visible"/>
                                      </p:to>
                                    </p:set>
                                    <p:animEffect transition="in" filter="wipe(right)">
                                      <p:cBhvr>
                                        <p:cTn id="13" dur="500"/>
                                        <p:tgtEl>
                                          <p:spTgt spid="17716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177172"/>
                                        </p:tgtEl>
                                        <p:attrNameLst>
                                          <p:attrName>style.visibility</p:attrName>
                                        </p:attrNameLst>
                                      </p:cBhvr>
                                      <p:to>
                                        <p:strVal val="visible"/>
                                      </p:to>
                                    </p:set>
                                    <p:animEffect transition="in" filter="wipe(left)">
                                      <p:cBhvr>
                                        <p:cTn id="18" dur="500"/>
                                        <p:tgtEl>
                                          <p:spTgt spid="17717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7716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2" fill="hold" nodeType="clickEffect">
                                  <p:stCondLst>
                                    <p:cond delay="0"/>
                                  </p:stCondLst>
                                  <p:childTnLst>
                                    <p:set>
                                      <p:cBhvr>
                                        <p:cTn id="26" dur="1" fill="hold">
                                          <p:stCondLst>
                                            <p:cond delay="0"/>
                                          </p:stCondLst>
                                        </p:cTn>
                                        <p:tgtEl>
                                          <p:spTgt spid="177171"/>
                                        </p:tgtEl>
                                        <p:attrNameLst>
                                          <p:attrName>style.visibility</p:attrName>
                                        </p:attrNameLst>
                                      </p:cBhvr>
                                      <p:to>
                                        <p:strVal val="visible"/>
                                      </p:to>
                                    </p:set>
                                    <p:animEffect transition="in" filter="wipe(right)">
                                      <p:cBhvr>
                                        <p:cTn id="27" dur="500"/>
                                        <p:tgtEl>
                                          <p:spTgt spid="17717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499"/>
                                          </p:stCondLst>
                                        </p:cTn>
                                        <p:tgtEl>
                                          <p:spTgt spid="177155"/>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1771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67" grpId="0" animBg="1"/>
      <p:bldP spid="177169" grpId="0" autoUpdateAnimBg="0"/>
      <p:bldP spid="177170"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0771" name="Rectangle 3">
            <a:extLst>
              <a:ext uri="{FF2B5EF4-FFF2-40B4-BE49-F238E27FC236}">
                <a16:creationId xmlns:a16="http://schemas.microsoft.com/office/drawing/2014/main" id="{32BF7AC3-0378-BBDA-E7B8-22DDDF23266B}"/>
              </a:ext>
            </a:extLst>
          </p:cNvPr>
          <p:cNvSpPr>
            <a:spLocks noGrp="1"/>
          </p:cNvSpPr>
          <p:nvPr>
            <p:ph idx="1"/>
          </p:nvPr>
        </p:nvSpPr>
        <p:spPr>
          <a:xfrm>
            <a:off x="1981200" y="1143000"/>
            <a:ext cx="8382000" cy="685800"/>
          </a:xfrm>
        </p:spPr>
        <p:txBody>
          <a:bodyPr/>
          <a:lstStyle/>
          <a:p>
            <a:pPr eaLnBrk="1" hangingPunct="1">
              <a:buFont typeface="Wingdings" panose="05000000000000000000" pitchFamily="2" charset="2"/>
              <a:buNone/>
            </a:pPr>
            <a:r>
              <a:rPr lang="en-US" altLang="en-US" sz="2400">
                <a:latin typeface="Times New Roman" panose="02020603050405020304" pitchFamily="18" charset="0"/>
                <a:ea typeface="ＭＳ Ｐゴシック" panose="020B0600070205080204" pitchFamily="34" charset="-128"/>
              </a:rPr>
              <a:t>A growing stream of cash flows with a fixed maturity</a:t>
            </a:r>
          </a:p>
        </p:txBody>
      </p:sp>
      <p:sp>
        <p:nvSpPr>
          <p:cNvPr id="78850" name="Rectangle 2">
            <a:extLst>
              <a:ext uri="{FF2B5EF4-FFF2-40B4-BE49-F238E27FC236}">
                <a16:creationId xmlns:a16="http://schemas.microsoft.com/office/drawing/2014/main" id="{76AB9D33-A31B-902F-8DAF-4F2D53FF20DA}"/>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Growing Annuity</a:t>
            </a:r>
          </a:p>
        </p:txBody>
      </p:sp>
      <p:sp>
        <p:nvSpPr>
          <p:cNvPr id="160772" name="Line 4">
            <a:extLst>
              <a:ext uri="{FF2B5EF4-FFF2-40B4-BE49-F238E27FC236}">
                <a16:creationId xmlns:a16="http://schemas.microsoft.com/office/drawing/2014/main" id="{1F559592-831B-D4A8-E3D1-E0229CA3D4B3}"/>
              </a:ext>
            </a:extLst>
          </p:cNvPr>
          <p:cNvSpPr>
            <a:spLocks noChangeShapeType="1"/>
          </p:cNvSpPr>
          <p:nvPr/>
        </p:nvSpPr>
        <p:spPr bwMode="auto">
          <a:xfrm>
            <a:off x="2590800" y="2619375"/>
            <a:ext cx="5715000" cy="0"/>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grpSp>
        <p:nvGrpSpPr>
          <p:cNvPr id="2" name="Group 5">
            <a:extLst>
              <a:ext uri="{FF2B5EF4-FFF2-40B4-BE49-F238E27FC236}">
                <a16:creationId xmlns:a16="http://schemas.microsoft.com/office/drawing/2014/main" id="{5852ED8C-7B89-B42F-39AE-115C7C4E5993}"/>
              </a:ext>
            </a:extLst>
          </p:cNvPr>
          <p:cNvGrpSpPr>
            <a:grpSpLocks/>
          </p:cNvGrpSpPr>
          <p:nvPr/>
        </p:nvGrpSpPr>
        <p:grpSpPr bwMode="auto">
          <a:xfrm>
            <a:off x="2362200" y="2387601"/>
            <a:ext cx="361950" cy="1052513"/>
            <a:chOff x="624" y="2544"/>
            <a:chExt cx="228" cy="663"/>
          </a:xfrm>
        </p:grpSpPr>
        <p:sp>
          <p:nvSpPr>
            <p:cNvPr id="195610" name="Line 6">
              <a:extLst>
                <a:ext uri="{FF2B5EF4-FFF2-40B4-BE49-F238E27FC236}">
                  <a16:creationId xmlns:a16="http://schemas.microsoft.com/office/drawing/2014/main" id="{210A696C-6BC8-606E-8C6A-C37F3D0D58C7}"/>
                </a:ext>
              </a:extLst>
            </p:cNvPr>
            <p:cNvSpPr>
              <a:spLocks noChangeShapeType="1"/>
            </p:cNvSpPr>
            <p:nvPr/>
          </p:nvSpPr>
          <p:spPr bwMode="auto">
            <a:xfrm>
              <a:off x="768" y="2544"/>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95611" name="Rectangle 7">
              <a:extLst>
                <a:ext uri="{FF2B5EF4-FFF2-40B4-BE49-F238E27FC236}">
                  <a16:creationId xmlns:a16="http://schemas.microsoft.com/office/drawing/2014/main" id="{CAF265AC-7AA9-4B08-E917-15BDCD6607ED}"/>
                </a:ext>
              </a:extLst>
            </p:cNvPr>
            <p:cNvSpPr>
              <a:spLocks noChangeArrowheads="1"/>
            </p:cNvSpPr>
            <p:nvPr/>
          </p:nvSpPr>
          <p:spPr bwMode="auto">
            <a:xfrm>
              <a:off x="624" y="2880"/>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0</a:t>
              </a:r>
            </a:p>
          </p:txBody>
        </p:sp>
      </p:grpSp>
      <p:grpSp>
        <p:nvGrpSpPr>
          <p:cNvPr id="3" name="Group 8">
            <a:extLst>
              <a:ext uri="{FF2B5EF4-FFF2-40B4-BE49-F238E27FC236}">
                <a16:creationId xmlns:a16="http://schemas.microsoft.com/office/drawing/2014/main" id="{1764F3B4-6D11-EFCB-5FE1-4771154DDB49}"/>
              </a:ext>
            </a:extLst>
          </p:cNvPr>
          <p:cNvGrpSpPr>
            <a:grpSpLocks/>
          </p:cNvGrpSpPr>
          <p:nvPr/>
        </p:nvGrpSpPr>
        <p:grpSpPr bwMode="auto">
          <a:xfrm>
            <a:off x="3859214" y="1752601"/>
            <a:ext cx="447675" cy="1700213"/>
            <a:chOff x="1567" y="2136"/>
            <a:chExt cx="282" cy="1071"/>
          </a:xfrm>
        </p:grpSpPr>
        <p:sp>
          <p:nvSpPr>
            <p:cNvPr id="195607" name="Line 9">
              <a:extLst>
                <a:ext uri="{FF2B5EF4-FFF2-40B4-BE49-F238E27FC236}">
                  <a16:creationId xmlns:a16="http://schemas.microsoft.com/office/drawing/2014/main" id="{1093FA64-66A4-5FE8-40AB-261FEC9C37CA}"/>
                </a:ext>
              </a:extLst>
            </p:cNvPr>
            <p:cNvSpPr>
              <a:spLocks noChangeShapeType="1"/>
            </p:cNvSpPr>
            <p:nvPr/>
          </p:nvSpPr>
          <p:spPr bwMode="auto">
            <a:xfrm>
              <a:off x="1711" y="2544"/>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95608" name="Rectangle 10">
              <a:extLst>
                <a:ext uri="{FF2B5EF4-FFF2-40B4-BE49-F238E27FC236}">
                  <a16:creationId xmlns:a16="http://schemas.microsoft.com/office/drawing/2014/main" id="{5C2DE64A-5DAB-FF75-8978-9C513C1AB1CB}"/>
                </a:ext>
              </a:extLst>
            </p:cNvPr>
            <p:cNvSpPr>
              <a:spLocks noChangeArrowheads="1"/>
            </p:cNvSpPr>
            <p:nvPr/>
          </p:nvSpPr>
          <p:spPr bwMode="auto">
            <a:xfrm>
              <a:off x="1567" y="2880"/>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1</a:t>
              </a:r>
            </a:p>
          </p:txBody>
        </p:sp>
        <p:sp>
          <p:nvSpPr>
            <p:cNvPr id="195609" name="Rectangle 11">
              <a:extLst>
                <a:ext uri="{FF2B5EF4-FFF2-40B4-BE49-F238E27FC236}">
                  <a16:creationId xmlns:a16="http://schemas.microsoft.com/office/drawing/2014/main" id="{D511F91A-82E1-4286-ED9E-B5270E060ABD}"/>
                </a:ext>
              </a:extLst>
            </p:cNvPr>
            <p:cNvSpPr>
              <a:spLocks noChangeArrowheads="1"/>
            </p:cNvSpPr>
            <p:nvPr/>
          </p:nvSpPr>
          <p:spPr bwMode="auto">
            <a:xfrm>
              <a:off x="1584" y="2136"/>
              <a:ext cx="2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C</a:t>
              </a:r>
            </a:p>
          </p:txBody>
        </p:sp>
      </p:grpSp>
      <p:graphicFrame>
        <p:nvGraphicFramePr>
          <p:cNvPr id="160789" name="Object 21">
            <a:extLst>
              <a:ext uri="{FF2B5EF4-FFF2-40B4-BE49-F238E27FC236}">
                <a16:creationId xmlns:a16="http://schemas.microsoft.com/office/drawing/2014/main" id="{EB161D66-371B-2672-3B8D-1CE9F2C5C5E2}"/>
              </a:ext>
            </a:extLst>
          </p:cNvPr>
          <p:cNvGraphicFramePr>
            <a:graphicFrameLocks noChangeAspect="1"/>
          </p:cNvGraphicFramePr>
          <p:nvPr/>
        </p:nvGraphicFramePr>
        <p:xfrm>
          <a:off x="2203451" y="3490913"/>
          <a:ext cx="7605713" cy="1249362"/>
        </p:xfrm>
        <a:graphic>
          <a:graphicData uri="http://schemas.openxmlformats.org/presentationml/2006/ole">
            <mc:AlternateContent xmlns:mc="http://schemas.openxmlformats.org/markup-compatibility/2006">
              <mc:Choice xmlns:v="urn:schemas-microsoft-com:vml" Requires="v">
                <p:oleObj name="Equation" r:id="rId3" imgW="2683255" imgH="364590" progId="Equation.3">
                  <p:embed/>
                </p:oleObj>
              </mc:Choice>
              <mc:Fallback>
                <p:oleObj name="Equation" r:id="rId3" imgW="2683255" imgH="364590" progId="Equation.3">
                  <p:embed/>
                  <p:pic>
                    <p:nvPicPr>
                      <p:cNvPr id="160789" name="Object 21">
                        <a:extLst>
                          <a:ext uri="{FF2B5EF4-FFF2-40B4-BE49-F238E27FC236}">
                            <a16:creationId xmlns:a16="http://schemas.microsoft.com/office/drawing/2014/main" id="{EB161D66-371B-2672-3B8D-1CE9F2C5C5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3451" y="3490913"/>
                        <a:ext cx="7605713" cy="1249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0790" name="Object 22">
            <a:extLst>
              <a:ext uri="{FF2B5EF4-FFF2-40B4-BE49-F238E27FC236}">
                <a16:creationId xmlns:a16="http://schemas.microsoft.com/office/drawing/2014/main" id="{80951D1B-A8D6-2CAE-41A5-21F75E98074B}"/>
              </a:ext>
            </a:extLst>
          </p:cNvPr>
          <p:cNvGraphicFramePr>
            <a:graphicFrameLocks noChangeAspect="1"/>
          </p:cNvGraphicFramePr>
          <p:nvPr/>
        </p:nvGraphicFramePr>
        <p:xfrm>
          <a:off x="2209801" y="4789488"/>
          <a:ext cx="4600575" cy="1535112"/>
        </p:xfrm>
        <a:graphic>
          <a:graphicData uri="http://schemas.openxmlformats.org/presentationml/2006/ole">
            <mc:AlternateContent xmlns:mc="http://schemas.openxmlformats.org/markup-compatibility/2006">
              <mc:Choice xmlns:v="urn:schemas-microsoft-com:vml" Requires="v">
                <p:oleObj name="Equation" r:id="rId5" imgW="1583776" imgH="473661" progId="Equation.3">
                  <p:embed/>
                </p:oleObj>
              </mc:Choice>
              <mc:Fallback>
                <p:oleObj name="Equation" r:id="rId5" imgW="1583776" imgH="473661" progId="Equation.3">
                  <p:embed/>
                  <p:pic>
                    <p:nvPicPr>
                      <p:cNvPr id="160790" name="Object 22">
                        <a:extLst>
                          <a:ext uri="{FF2B5EF4-FFF2-40B4-BE49-F238E27FC236}">
                            <a16:creationId xmlns:a16="http://schemas.microsoft.com/office/drawing/2014/main" id="{80951D1B-A8D6-2CAE-41A5-21F75E98074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9801" y="4789488"/>
                        <a:ext cx="4600575" cy="1535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0796" name="Object 28">
            <a:extLst>
              <a:ext uri="{FF2B5EF4-FFF2-40B4-BE49-F238E27FC236}">
                <a16:creationId xmlns:a16="http://schemas.microsoft.com/office/drawing/2014/main" id="{B4C6F326-02BB-D331-EE27-6696D7261391}"/>
              </a:ext>
            </a:extLst>
          </p:cNvPr>
          <p:cNvGraphicFramePr>
            <a:graphicFrameLocks noChangeAspect="1"/>
          </p:cNvGraphicFramePr>
          <p:nvPr/>
        </p:nvGraphicFramePr>
        <p:xfrm>
          <a:off x="8534401" y="2514600"/>
          <a:ext cx="487363" cy="209550"/>
        </p:xfrm>
        <a:graphic>
          <a:graphicData uri="http://schemas.openxmlformats.org/presentationml/2006/ole">
            <mc:AlternateContent xmlns:mc="http://schemas.openxmlformats.org/markup-compatibility/2006">
              <mc:Choice xmlns:v="urn:schemas-microsoft-com:vml" Requires="v">
                <p:oleObj name="Equation" r:id="rId7" imgW="87255" imgH="0" progId="Equation.3">
                  <p:embed/>
                </p:oleObj>
              </mc:Choice>
              <mc:Fallback>
                <p:oleObj name="Equation" r:id="rId7" imgW="87255" imgH="0" progId="Equation.3">
                  <p:embed/>
                  <p:pic>
                    <p:nvPicPr>
                      <p:cNvPr id="160796" name="Object 28">
                        <a:extLst>
                          <a:ext uri="{FF2B5EF4-FFF2-40B4-BE49-F238E27FC236}">
                            <a16:creationId xmlns:a16="http://schemas.microsoft.com/office/drawing/2014/main" id="{B4C6F326-02BB-D331-EE27-6696D726139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34401" y="2514600"/>
                        <a:ext cx="487363" cy="209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 name="Group 29">
            <a:extLst>
              <a:ext uri="{FF2B5EF4-FFF2-40B4-BE49-F238E27FC236}">
                <a16:creationId xmlns:a16="http://schemas.microsoft.com/office/drawing/2014/main" id="{CFBA5CA0-9548-3100-606D-5F8E9E0C6932}"/>
              </a:ext>
            </a:extLst>
          </p:cNvPr>
          <p:cNvGrpSpPr>
            <a:grpSpLocks/>
          </p:cNvGrpSpPr>
          <p:nvPr/>
        </p:nvGrpSpPr>
        <p:grpSpPr bwMode="auto">
          <a:xfrm>
            <a:off x="4876801" y="1752601"/>
            <a:ext cx="1584326" cy="1700213"/>
            <a:chOff x="2736" y="1104"/>
            <a:chExt cx="998" cy="1071"/>
          </a:xfrm>
        </p:grpSpPr>
        <p:sp>
          <p:nvSpPr>
            <p:cNvPr id="195604" name="Line 30">
              <a:extLst>
                <a:ext uri="{FF2B5EF4-FFF2-40B4-BE49-F238E27FC236}">
                  <a16:creationId xmlns:a16="http://schemas.microsoft.com/office/drawing/2014/main" id="{359C6004-EF78-DB24-CAA6-8D18D5829ECB}"/>
                </a:ext>
              </a:extLst>
            </p:cNvPr>
            <p:cNvSpPr>
              <a:spLocks noChangeShapeType="1"/>
            </p:cNvSpPr>
            <p:nvPr/>
          </p:nvSpPr>
          <p:spPr bwMode="auto">
            <a:xfrm>
              <a:off x="3189" y="1512"/>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95605" name="Rectangle 31">
              <a:extLst>
                <a:ext uri="{FF2B5EF4-FFF2-40B4-BE49-F238E27FC236}">
                  <a16:creationId xmlns:a16="http://schemas.microsoft.com/office/drawing/2014/main" id="{582806A7-3C9D-3377-A926-49DB6FD83612}"/>
                </a:ext>
              </a:extLst>
            </p:cNvPr>
            <p:cNvSpPr>
              <a:spLocks noChangeArrowheads="1"/>
            </p:cNvSpPr>
            <p:nvPr/>
          </p:nvSpPr>
          <p:spPr bwMode="auto">
            <a:xfrm>
              <a:off x="3045" y="1848"/>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2</a:t>
              </a:r>
            </a:p>
          </p:txBody>
        </p:sp>
        <p:sp>
          <p:nvSpPr>
            <p:cNvPr id="195606" name="Rectangle 32">
              <a:extLst>
                <a:ext uri="{FF2B5EF4-FFF2-40B4-BE49-F238E27FC236}">
                  <a16:creationId xmlns:a16="http://schemas.microsoft.com/office/drawing/2014/main" id="{F31B25F9-3043-A66C-9305-8A6E7CC66E79}"/>
                </a:ext>
              </a:extLst>
            </p:cNvPr>
            <p:cNvSpPr>
              <a:spLocks noChangeArrowheads="1"/>
            </p:cNvSpPr>
            <p:nvPr/>
          </p:nvSpPr>
          <p:spPr bwMode="auto">
            <a:xfrm>
              <a:off x="2736" y="1104"/>
              <a:ext cx="99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C</a:t>
              </a:r>
              <a:r>
                <a:rPr lang="en-US" altLang="en-US" sz="2800">
                  <a:solidFill>
                    <a:srgbClr val="644A1A"/>
                  </a:solidFill>
                  <a:cs typeface="Times New Roman" panose="02020603050405020304" pitchFamily="18" charset="0"/>
                </a:rPr>
                <a:t>×(1+</a:t>
              </a:r>
              <a:r>
                <a:rPr lang="en-US" altLang="en-US" sz="2800" i="1">
                  <a:solidFill>
                    <a:srgbClr val="644A1A"/>
                  </a:solidFill>
                  <a:cs typeface="Times New Roman" panose="02020603050405020304" pitchFamily="18" charset="0"/>
                </a:rPr>
                <a:t>g</a:t>
              </a:r>
              <a:r>
                <a:rPr lang="en-US" altLang="en-US" sz="2800">
                  <a:solidFill>
                    <a:srgbClr val="644A1A"/>
                  </a:solidFill>
                  <a:cs typeface="Times New Roman" panose="02020603050405020304" pitchFamily="18" charset="0"/>
                </a:rPr>
                <a:t>)</a:t>
              </a:r>
            </a:p>
          </p:txBody>
        </p:sp>
      </p:grpSp>
      <p:grpSp>
        <p:nvGrpSpPr>
          <p:cNvPr id="5" name="Group 33">
            <a:extLst>
              <a:ext uri="{FF2B5EF4-FFF2-40B4-BE49-F238E27FC236}">
                <a16:creationId xmlns:a16="http://schemas.microsoft.com/office/drawing/2014/main" id="{54AD00E0-A92B-8F98-2E03-B25B1619AFE1}"/>
              </a:ext>
            </a:extLst>
          </p:cNvPr>
          <p:cNvGrpSpPr>
            <a:grpSpLocks/>
          </p:cNvGrpSpPr>
          <p:nvPr/>
        </p:nvGrpSpPr>
        <p:grpSpPr bwMode="auto">
          <a:xfrm>
            <a:off x="6553202" y="1752601"/>
            <a:ext cx="1793876" cy="1700213"/>
            <a:chOff x="3873" y="1104"/>
            <a:chExt cx="1130" cy="1071"/>
          </a:xfrm>
        </p:grpSpPr>
        <p:sp>
          <p:nvSpPr>
            <p:cNvPr id="195601" name="Line 34">
              <a:extLst>
                <a:ext uri="{FF2B5EF4-FFF2-40B4-BE49-F238E27FC236}">
                  <a16:creationId xmlns:a16="http://schemas.microsoft.com/office/drawing/2014/main" id="{8E4C3A67-69E4-2BA0-5FD2-493DE0361F44}"/>
                </a:ext>
              </a:extLst>
            </p:cNvPr>
            <p:cNvSpPr>
              <a:spLocks noChangeShapeType="1"/>
            </p:cNvSpPr>
            <p:nvPr/>
          </p:nvSpPr>
          <p:spPr bwMode="auto">
            <a:xfrm>
              <a:off x="4384" y="1512"/>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95602" name="Rectangle 35">
              <a:extLst>
                <a:ext uri="{FF2B5EF4-FFF2-40B4-BE49-F238E27FC236}">
                  <a16:creationId xmlns:a16="http://schemas.microsoft.com/office/drawing/2014/main" id="{9F8D754A-9C3A-9AF6-9CD3-19947ECD71F0}"/>
                </a:ext>
              </a:extLst>
            </p:cNvPr>
            <p:cNvSpPr>
              <a:spLocks noChangeArrowheads="1"/>
            </p:cNvSpPr>
            <p:nvPr/>
          </p:nvSpPr>
          <p:spPr bwMode="auto">
            <a:xfrm>
              <a:off x="4270" y="1848"/>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3</a:t>
              </a:r>
            </a:p>
          </p:txBody>
        </p:sp>
        <p:sp>
          <p:nvSpPr>
            <p:cNvPr id="195603" name="Rectangle 36">
              <a:extLst>
                <a:ext uri="{FF2B5EF4-FFF2-40B4-BE49-F238E27FC236}">
                  <a16:creationId xmlns:a16="http://schemas.microsoft.com/office/drawing/2014/main" id="{2022E688-2CC4-1A35-4790-1DFA51FBAAFB}"/>
                </a:ext>
              </a:extLst>
            </p:cNvPr>
            <p:cNvSpPr>
              <a:spLocks noChangeArrowheads="1"/>
            </p:cNvSpPr>
            <p:nvPr/>
          </p:nvSpPr>
          <p:spPr bwMode="auto">
            <a:xfrm>
              <a:off x="3873" y="1104"/>
              <a:ext cx="113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C </a:t>
              </a:r>
              <a:r>
                <a:rPr lang="en-US" altLang="en-US" sz="2800">
                  <a:solidFill>
                    <a:srgbClr val="644A1A"/>
                  </a:solidFill>
                  <a:cs typeface="Times New Roman" panose="02020603050405020304" pitchFamily="18" charset="0"/>
                </a:rPr>
                <a:t>×(1+</a:t>
              </a:r>
              <a:r>
                <a:rPr lang="en-US" altLang="en-US" sz="2800" i="1">
                  <a:solidFill>
                    <a:srgbClr val="644A1A"/>
                  </a:solidFill>
                  <a:cs typeface="Times New Roman" panose="02020603050405020304" pitchFamily="18" charset="0"/>
                </a:rPr>
                <a:t>g</a:t>
              </a:r>
              <a:r>
                <a:rPr lang="en-US" altLang="en-US" sz="2800">
                  <a:solidFill>
                    <a:srgbClr val="644A1A"/>
                  </a:solidFill>
                  <a:cs typeface="Times New Roman" panose="02020603050405020304" pitchFamily="18" charset="0"/>
                </a:rPr>
                <a:t>)</a:t>
              </a:r>
              <a:r>
                <a:rPr lang="en-US" altLang="en-US" sz="2800" baseline="30000">
                  <a:solidFill>
                    <a:srgbClr val="644A1A"/>
                  </a:solidFill>
                  <a:cs typeface="Times New Roman" panose="02020603050405020304" pitchFamily="18" charset="0"/>
                </a:rPr>
                <a:t>2</a:t>
              </a:r>
            </a:p>
          </p:txBody>
        </p:sp>
      </p:grpSp>
      <p:grpSp>
        <p:nvGrpSpPr>
          <p:cNvPr id="6" name="Group 42">
            <a:extLst>
              <a:ext uri="{FF2B5EF4-FFF2-40B4-BE49-F238E27FC236}">
                <a16:creationId xmlns:a16="http://schemas.microsoft.com/office/drawing/2014/main" id="{96AE89A3-4A69-3429-6A68-A7668847CC91}"/>
              </a:ext>
            </a:extLst>
          </p:cNvPr>
          <p:cNvGrpSpPr>
            <a:grpSpLocks/>
          </p:cNvGrpSpPr>
          <p:nvPr/>
        </p:nvGrpSpPr>
        <p:grpSpPr bwMode="auto">
          <a:xfrm>
            <a:off x="8026402" y="1752601"/>
            <a:ext cx="2546351" cy="1700213"/>
            <a:chOff x="4288" y="2049"/>
            <a:chExt cx="1604" cy="1071"/>
          </a:xfrm>
        </p:grpSpPr>
        <p:sp>
          <p:nvSpPr>
            <p:cNvPr id="195597" name="Line 43">
              <a:extLst>
                <a:ext uri="{FF2B5EF4-FFF2-40B4-BE49-F238E27FC236}">
                  <a16:creationId xmlns:a16="http://schemas.microsoft.com/office/drawing/2014/main" id="{BD10D619-4E44-07A1-ABD0-2226BE6E183A}"/>
                </a:ext>
              </a:extLst>
            </p:cNvPr>
            <p:cNvSpPr>
              <a:spLocks noChangeShapeType="1"/>
            </p:cNvSpPr>
            <p:nvPr/>
          </p:nvSpPr>
          <p:spPr bwMode="auto">
            <a:xfrm>
              <a:off x="4974" y="2585"/>
              <a:ext cx="144" cy="0"/>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95598" name="Line 44">
              <a:extLst>
                <a:ext uri="{FF2B5EF4-FFF2-40B4-BE49-F238E27FC236}">
                  <a16:creationId xmlns:a16="http://schemas.microsoft.com/office/drawing/2014/main" id="{6187AF24-E763-6C97-BA64-EF724B5B0F66}"/>
                </a:ext>
              </a:extLst>
            </p:cNvPr>
            <p:cNvSpPr>
              <a:spLocks noChangeShapeType="1"/>
            </p:cNvSpPr>
            <p:nvPr/>
          </p:nvSpPr>
          <p:spPr bwMode="auto">
            <a:xfrm>
              <a:off x="5118" y="2457"/>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95599" name="Rectangle 45">
              <a:extLst>
                <a:ext uri="{FF2B5EF4-FFF2-40B4-BE49-F238E27FC236}">
                  <a16:creationId xmlns:a16="http://schemas.microsoft.com/office/drawing/2014/main" id="{C79C38F6-06EB-B021-35B5-58F00CDFD0EA}"/>
                </a:ext>
              </a:extLst>
            </p:cNvPr>
            <p:cNvSpPr>
              <a:spLocks noChangeArrowheads="1"/>
            </p:cNvSpPr>
            <p:nvPr/>
          </p:nvSpPr>
          <p:spPr bwMode="auto">
            <a:xfrm>
              <a:off x="4980" y="2793"/>
              <a:ext cx="29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T </a:t>
              </a:r>
            </a:p>
          </p:txBody>
        </p:sp>
        <p:sp>
          <p:nvSpPr>
            <p:cNvPr id="195600" name="Rectangle 46">
              <a:extLst>
                <a:ext uri="{FF2B5EF4-FFF2-40B4-BE49-F238E27FC236}">
                  <a16:creationId xmlns:a16="http://schemas.microsoft.com/office/drawing/2014/main" id="{1B3331AD-E81C-BB69-F013-6D445AAD9476}"/>
                </a:ext>
              </a:extLst>
            </p:cNvPr>
            <p:cNvSpPr>
              <a:spLocks noChangeArrowheads="1"/>
            </p:cNvSpPr>
            <p:nvPr/>
          </p:nvSpPr>
          <p:spPr bwMode="auto">
            <a:xfrm>
              <a:off x="4288" y="2049"/>
              <a:ext cx="160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a:solidFill>
                    <a:srgbClr val="644A1A"/>
                  </a:solidFill>
                </a:rPr>
                <a:t>       C</a:t>
              </a:r>
              <a:r>
                <a:rPr lang="en-US" altLang="en-US" sz="2800">
                  <a:solidFill>
                    <a:srgbClr val="644A1A"/>
                  </a:solidFill>
                  <a:cs typeface="Times New Roman" panose="02020603050405020304" pitchFamily="18" charset="0"/>
                </a:rPr>
                <a:t>×(1+</a:t>
              </a:r>
              <a:r>
                <a:rPr lang="en-US" altLang="en-US" sz="2800" i="1">
                  <a:solidFill>
                    <a:srgbClr val="644A1A"/>
                  </a:solidFill>
                  <a:cs typeface="Times New Roman" panose="02020603050405020304" pitchFamily="18" charset="0"/>
                </a:rPr>
                <a:t>g</a:t>
              </a:r>
              <a:r>
                <a:rPr lang="en-US" altLang="en-US" sz="2800">
                  <a:solidFill>
                    <a:srgbClr val="644A1A"/>
                  </a:solidFill>
                  <a:cs typeface="Times New Roman" panose="02020603050405020304" pitchFamily="18" charset="0"/>
                </a:rPr>
                <a:t>)</a:t>
              </a:r>
              <a:r>
                <a:rPr lang="en-US" altLang="en-US" sz="2800" i="1" baseline="30000">
                  <a:solidFill>
                    <a:srgbClr val="644A1A"/>
                  </a:solidFill>
                  <a:cs typeface="Times New Roman" panose="02020603050405020304" pitchFamily="18" charset="0"/>
                </a:rPr>
                <a:t>T</a:t>
              </a:r>
              <a:r>
                <a:rPr lang="en-US" altLang="en-US" sz="2800" baseline="30000">
                  <a:solidFill>
                    <a:srgbClr val="644A1A"/>
                  </a:solidFill>
                  <a:cs typeface="Times New Roman" panose="02020603050405020304" pitchFamily="18" charset="0"/>
                </a:rPr>
                <a:t>-1</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0771">
                                            <p:txEl>
                                              <p:pRg st="0" end="0"/>
                                            </p:txEl>
                                          </p:spTgt>
                                        </p:tgtEl>
                                        <p:attrNameLst>
                                          <p:attrName>style.visibility</p:attrName>
                                        </p:attrNameLst>
                                      </p:cBhvr>
                                      <p:to>
                                        <p:strVal val="visible"/>
                                      </p:to>
                                    </p:set>
                                    <p:animEffect transition="in" filter="fade">
                                      <p:cBhvr>
                                        <p:cTn id="7" dur="1000"/>
                                        <p:tgtEl>
                                          <p:spTgt spid="160771">
                                            <p:txEl>
                                              <p:pRg st="0" end="0"/>
                                            </p:txEl>
                                          </p:spTgt>
                                        </p:tgtEl>
                                      </p:cBhvr>
                                    </p:animEffect>
                                    <p:anim calcmode="lin" valueType="num">
                                      <p:cBhvr>
                                        <p:cTn id="8" dur="1000" fill="hold"/>
                                        <p:tgtEl>
                                          <p:spTgt spid="16077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0771">
                                            <p:txEl>
                                              <p:pRg st="0" end="0"/>
                                            </p:txEl>
                                          </p:spTgt>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22" presetClass="entr" presetSubtype="8" fill="hold" nodeType="afterEffect">
                                  <p:stCondLst>
                                    <p:cond delay="0"/>
                                  </p:stCondLst>
                                  <p:childTnLst>
                                    <p:set>
                                      <p:cBhvr>
                                        <p:cTn id="12" dur="1" fill="hold">
                                          <p:stCondLst>
                                            <p:cond delay="0"/>
                                          </p:stCondLst>
                                        </p:cTn>
                                        <p:tgtEl>
                                          <p:spTgt spid="160772"/>
                                        </p:tgtEl>
                                        <p:attrNameLst>
                                          <p:attrName>style.visibility</p:attrName>
                                        </p:attrNameLst>
                                      </p:cBhvr>
                                      <p:to>
                                        <p:strVal val="visible"/>
                                      </p:to>
                                    </p:set>
                                    <p:animEffect transition="in" filter="wipe(left)">
                                      <p:cBhvr>
                                        <p:cTn id="13" dur="500"/>
                                        <p:tgtEl>
                                          <p:spTgt spid="160772"/>
                                        </p:tgtEl>
                                      </p:cBhvr>
                                    </p:animEffect>
                                  </p:childTnLst>
                                </p:cTn>
                              </p:par>
                            </p:childTnLst>
                          </p:cTn>
                        </p:par>
                        <p:par>
                          <p:cTn id="14" fill="hold" nodeType="afterGroup">
                            <p:stCondLst>
                              <p:cond delay="1500"/>
                            </p:stCondLst>
                            <p:childTnLst>
                              <p:par>
                                <p:cTn id="15" presetID="22" presetClass="entr" presetSubtype="8" fill="hold" nodeType="afterEffect">
                                  <p:stCondLst>
                                    <p:cond delay="0"/>
                                  </p:stCondLst>
                                  <p:childTnLst>
                                    <p:set>
                                      <p:cBhvr>
                                        <p:cTn id="16" dur="1" fill="hold">
                                          <p:stCondLst>
                                            <p:cond delay="0"/>
                                          </p:stCondLst>
                                        </p:cTn>
                                        <p:tgtEl>
                                          <p:spTgt spid="160796"/>
                                        </p:tgtEl>
                                        <p:attrNameLst>
                                          <p:attrName>style.visibility</p:attrName>
                                        </p:attrNameLst>
                                      </p:cBhvr>
                                      <p:to>
                                        <p:strVal val="visible"/>
                                      </p:to>
                                    </p:set>
                                    <p:animEffect transition="in" filter="wipe(left)">
                                      <p:cBhvr>
                                        <p:cTn id="17" dur="500"/>
                                        <p:tgtEl>
                                          <p:spTgt spid="160796"/>
                                        </p:tgtEl>
                                      </p:cBhvr>
                                    </p:animEffect>
                                  </p:childTnLst>
                                </p:cTn>
                              </p:par>
                            </p:childTnLst>
                          </p:cTn>
                        </p:par>
                        <p:par>
                          <p:cTn id="18" fill="hold" nodeType="afterGroup">
                            <p:stCondLst>
                              <p:cond delay="2000"/>
                            </p:stCondLst>
                            <p:childTnLst>
                              <p:par>
                                <p:cTn id="19" presetID="22" presetClass="entr" presetSubtype="1"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up)">
                                      <p:cBhvr>
                                        <p:cTn id="21" dur="500"/>
                                        <p:tgtEl>
                                          <p:spTgt spid="2"/>
                                        </p:tgtEl>
                                      </p:cBhvr>
                                    </p:animEffect>
                                  </p:childTnLst>
                                </p:cTn>
                              </p:par>
                            </p:childTnLst>
                          </p:cTn>
                        </p:par>
                        <p:par>
                          <p:cTn id="22" fill="hold" nodeType="afterGroup">
                            <p:stCondLst>
                              <p:cond delay="2500"/>
                            </p:stCondLst>
                            <p:childTnLst>
                              <p:par>
                                <p:cTn id="23" presetID="22" presetClass="entr" presetSubtype="1" fill="hold" nodeType="after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up)">
                                      <p:cBhvr>
                                        <p:cTn id="25" dur="500"/>
                                        <p:tgtEl>
                                          <p:spTgt spid="3"/>
                                        </p:tgtEl>
                                      </p:cBhvr>
                                    </p:animEffect>
                                  </p:childTnLst>
                                </p:cTn>
                              </p:par>
                            </p:childTnLst>
                          </p:cTn>
                        </p:par>
                        <p:par>
                          <p:cTn id="26" fill="hold" nodeType="afterGroup">
                            <p:stCondLst>
                              <p:cond delay="3000"/>
                            </p:stCondLst>
                            <p:childTnLst>
                              <p:par>
                                <p:cTn id="27" presetID="22" presetClass="entr" presetSubtype="1"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up)">
                                      <p:cBhvr>
                                        <p:cTn id="29" dur="500"/>
                                        <p:tgtEl>
                                          <p:spTgt spid="4"/>
                                        </p:tgtEl>
                                      </p:cBhvr>
                                    </p:animEffect>
                                  </p:childTnLst>
                                </p:cTn>
                              </p:par>
                            </p:childTnLst>
                          </p:cTn>
                        </p:par>
                        <p:par>
                          <p:cTn id="30" fill="hold" nodeType="afterGroup">
                            <p:stCondLst>
                              <p:cond delay="3500"/>
                            </p:stCondLst>
                            <p:childTnLst>
                              <p:par>
                                <p:cTn id="31" presetID="22" presetClass="entr" presetSubtype="1" fill="hold" nodeType="after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up)">
                                      <p:cBhvr>
                                        <p:cTn id="33" dur="500"/>
                                        <p:tgtEl>
                                          <p:spTgt spid="5"/>
                                        </p:tgtEl>
                                      </p:cBhvr>
                                    </p:animEffect>
                                  </p:childTnLst>
                                </p:cTn>
                              </p:par>
                            </p:childTnLst>
                          </p:cTn>
                        </p:par>
                        <p:par>
                          <p:cTn id="34" fill="hold" nodeType="afterGroup">
                            <p:stCondLst>
                              <p:cond delay="4000"/>
                            </p:stCondLst>
                            <p:childTnLst>
                              <p:par>
                                <p:cTn id="35" presetID="22" presetClass="entr" presetSubtype="1" fill="hold" nodeType="after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up)">
                                      <p:cBhvr>
                                        <p:cTn id="37" dur="500"/>
                                        <p:tgtEl>
                                          <p:spTgt spid="6"/>
                                        </p:tgtEl>
                                      </p:cBhvr>
                                    </p:animEffect>
                                  </p:childTnLst>
                                </p:cTn>
                              </p:par>
                            </p:childTnLst>
                          </p:cTn>
                        </p:par>
                        <p:par>
                          <p:cTn id="38" fill="hold" nodeType="afterGroup">
                            <p:stCondLst>
                              <p:cond delay="4500"/>
                            </p:stCondLst>
                            <p:childTnLst>
                              <p:par>
                                <p:cTn id="39" presetID="22" presetClass="entr" presetSubtype="8" fill="hold" nodeType="afterEffect">
                                  <p:stCondLst>
                                    <p:cond delay="0"/>
                                  </p:stCondLst>
                                  <p:childTnLst>
                                    <p:set>
                                      <p:cBhvr>
                                        <p:cTn id="40" dur="1" fill="hold">
                                          <p:stCondLst>
                                            <p:cond delay="0"/>
                                          </p:stCondLst>
                                        </p:cTn>
                                        <p:tgtEl>
                                          <p:spTgt spid="160789"/>
                                        </p:tgtEl>
                                        <p:attrNameLst>
                                          <p:attrName>style.visibility</p:attrName>
                                        </p:attrNameLst>
                                      </p:cBhvr>
                                      <p:to>
                                        <p:strVal val="visible"/>
                                      </p:to>
                                    </p:set>
                                    <p:animEffect transition="in" filter="wipe(left)">
                                      <p:cBhvr>
                                        <p:cTn id="41" dur="500"/>
                                        <p:tgtEl>
                                          <p:spTgt spid="160789"/>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42" presetClass="entr" presetSubtype="0" fill="hold" nodeType="clickEffect">
                                  <p:stCondLst>
                                    <p:cond delay="0"/>
                                  </p:stCondLst>
                                  <p:childTnLst>
                                    <p:set>
                                      <p:cBhvr>
                                        <p:cTn id="45" dur="1" fill="hold">
                                          <p:stCondLst>
                                            <p:cond delay="0"/>
                                          </p:stCondLst>
                                        </p:cTn>
                                        <p:tgtEl>
                                          <p:spTgt spid="160790"/>
                                        </p:tgtEl>
                                        <p:attrNameLst>
                                          <p:attrName>style.visibility</p:attrName>
                                        </p:attrNameLst>
                                      </p:cBhvr>
                                      <p:to>
                                        <p:strVal val="visible"/>
                                      </p:to>
                                    </p:set>
                                    <p:animEffect transition="in" filter="fade">
                                      <p:cBhvr>
                                        <p:cTn id="46" dur="1000"/>
                                        <p:tgtEl>
                                          <p:spTgt spid="160790"/>
                                        </p:tgtEl>
                                      </p:cBhvr>
                                    </p:animEffect>
                                    <p:anim calcmode="lin" valueType="num">
                                      <p:cBhvr>
                                        <p:cTn id="47" dur="1000" fill="hold"/>
                                        <p:tgtEl>
                                          <p:spTgt spid="160790"/>
                                        </p:tgtEl>
                                        <p:attrNameLst>
                                          <p:attrName>ppt_x</p:attrName>
                                        </p:attrNameLst>
                                      </p:cBhvr>
                                      <p:tavLst>
                                        <p:tav tm="0">
                                          <p:val>
                                            <p:strVal val="#ppt_x"/>
                                          </p:val>
                                        </p:tav>
                                        <p:tav tm="100000">
                                          <p:val>
                                            <p:strVal val="#ppt_x"/>
                                          </p:val>
                                        </p:tav>
                                      </p:tavLst>
                                    </p:anim>
                                    <p:anim calcmode="lin" valueType="num">
                                      <p:cBhvr>
                                        <p:cTn id="48" dur="1000" fill="hold"/>
                                        <p:tgtEl>
                                          <p:spTgt spid="16079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1" grpId="0" build="p"/>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8659" name="Rectangle 3">
            <a:extLst>
              <a:ext uri="{FF2B5EF4-FFF2-40B4-BE49-F238E27FC236}">
                <a16:creationId xmlns:a16="http://schemas.microsoft.com/office/drawing/2014/main" id="{BAE8A5FA-8EA8-ACB9-04B4-2F66461A8A60}"/>
              </a:ext>
            </a:extLst>
          </p:cNvPr>
          <p:cNvSpPr>
            <a:spLocks noGrp="1"/>
          </p:cNvSpPr>
          <p:nvPr>
            <p:ph idx="1"/>
          </p:nvPr>
        </p:nvSpPr>
        <p:spPr>
          <a:xfrm>
            <a:off x="1981200" y="1447800"/>
            <a:ext cx="8001000" cy="1524000"/>
          </a:xfrm>
        </p:spPr>
        <p:txBody>
          <a:bodyPr/>
          <a:lstStyle/>
          <a:p>
            <a:pPr marL="0" indent="0" eaLnBrk="1" hangingPunct="1">
              <a:lnSpc>
                <a:spcPct val="80000"/>
              </a:lnSpc>
              <a:buNone/>
            </a:pPr>
            <a:r>
              <a:rPr lang="en-US" altLang="en-US" sz="2800">
                <a:latin typeface="Times New Roman" panose="02020603050405020304" pitchFamily="18" charset="0"/>
                <a:ea typeface="ＭＳ Ｐゴシック" panose="020B0600070205080204" pitchFamily="34" charset="-128"/>
              </a:rPr>
              <a:t>A defined-benefit retirement plan offers to pay $20,000 per year for 40 years and increase the annual payment by 3% each year. What is the present value at retirement if the discount rate is 10%?</a:t>
            </a:r>
          </a:p>
        </p:txBody>
      </p:sp>
      <p:sp>
        <p:nvSpPr>
          <p:cNvPr id="80898" name="Rectangle 2">
            <a:extLst>
              <a:ext uri="{FF2B5EF4-FFF2-40B4-BE49-F238E27FC236}">
                <a16:creationId xmlns:a16="http://schemas.microsoft.com/office/drawing/2014/main" id="{20E1B6B4-6436-4AB5-5067-7536F23279BC}"/>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Growing Annuity: Example</a:t>
            </a:r>
          </a:p>
        </p:txBody>
      </p:sp>
      <p:sp>
        <p:nvSpPr>
          <p:cNvPr id="198660" name="Line 4">
            <a:extLst>
              <a:ext uri="{FF2B5EF4-FFF2-40B4-BE49-F238E27FC236}">
                <a16:creationId xmlns:a16="http://schemas.microsoft.com/office/drawing/2014/main" id="{56F9E676-4CEC-20CD-DE2F-F422E9CE6876}"/>
              </a:ext>
            </a:extLst>
          </p:cNvPr>
          <p:cNvSpPr>
            <a:spLocks noChangeShapeType="1"/>
          </p:cNvSpPr>
          <p:nvPr/>
        </p:nvSpPr>
        <p:spPr bwMode="auto">
          <a:xfrm flipV="1">
            <a:off x="2286000" y="3886201"/>
            <a:ext cx="5029200" cy="4763"/>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grpSp>
        <p:nvGrpSpPr>
          <p:cNvPr id="2" name="Group 5">
            <a:extLst>
              <a:ext uri="{FF2B5EF4-FFF2-40B4-BE49-F238E27FC236}">
                <a16:creationId xmlns:a16="http://schemas.microsoft.com/office/drawing/2014/main" id="{A716FF01-0B63-29E9-97FA-D7966CAB9F2C}"/>
              </a:ext>
            </a:extLst>
          </p:cNvPr>
          <p:cNvGrpSpPr>
            <a:grpSpLocks/>
          </p:cNvGrpSpPr>
          <p:nvPr/>
        </p:nvGrpSpPr>
        <p:grpSpPr bwMode="auto">
          <a:xfrm>
            <a:off x="2057400" y="3659188"/>
            <a:ext cx="361950" cy="1052512"/>
            <a:chOff x="624" y="2544"/>
            <a:chExt cx="228" cy="663"/>
          </a:xfrm>
        </p:grpSpPr>
        <p:sp>
          <p:nvSpPr>
            <p:cNvPr id="197653" name="Line 6">
              <a:extLst>
                <a:ext uri="{FF2B5EF4-FFF2-40B4-BE49-F238E27FC236}">
                  <a16:creationId xmlns:a16="http://schemas.microsoft.com/office/drawing/2014/main" id="{5714C836-D953-05BC-2B8A-53A0A6FA9713}"/>
                </a:ext>
              </a:extLst>
            </p:cNvPr>
            <p:cNvSpPr>
              <a:spLocks noChangeShapeType="1"/>
            </p:cNvSpPr>
            <p:nvPr/>
          </p:nvSpPr>
          <p:spPr bwMode="auto">
            <a:xfrm>
              <a:off x="768" y="2544"/>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97654" name="Rectangle 7">
              <a:extLst>
                <a:ext uri="{FF2B5EF4-FFF2-40B4-BE49-F238E27FC236}">
                  <a16:creationId xmlns:a16="http://schemas.microsoft.com/office/drawing/2014/main" id="{D4A72430-05DA-64D9-FD84-CDB07931E5C5}"/>
                </a:ext>
              </a:extLst>
            </p:cNvPr>
            <p:cNvSpPr>
              <a:spLocks noChangeArrowheads="1"/>
            </p:cNvSpPr>
            <p:nvPr/>
          </p:nvSpPr>
          <p:spPr bwMode="auto">
            <a:xfrm>
              <a:off x="624" y="2880"/>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0</a:t>
              </a:r>
            </a:p>
          </p:txBody>
        </p:sp>
      </p:grpSp>
      <p:grpSp>
        <p:nvGrpSpPr>
          <p:cNvPr id="3" name="Group 8">
            <a:extLst>
              <a:ext uri="{FF2B5EF4-FFF2-40B4-BE49-F238E27FC236}">
                <a16:creationId xmlns:a16="http://schemas.microsoft.com/office/drawing/2014/main" id="{5DEAB2A3-D5D7-6EC1-E83D-5B12C6D27810}"/>
              </a:ext>
            </a:extLst>
          </p:cNvPr>
          <p:cNvGrpSpPr>
            <a:grpSpLocks/>
          </p:cNvGrpSpPr>
          <p:nvPr/>
        </p:nvGrpSpPr>
        <p:grpSpPr bwMode="auto">
          <a:xfrm>
            <a:off x="2971800" y="3024188"/>
            <a:ext cx="1339850" cy="1700212"/>
            <a:chOff x="1152" y="2049"/>
            <a:chExt cx="844" cy="1071"/>
          </a:xfrm>
        </p:grpSpPr>
        <p:sp>
          <p:nvSpPr>
            <p:cNvPr id="197650" name="Line 9">
              <a:extLst>
                <a:ext uri="{FF2B5EF4-FFF2-40B4-BE49-F238E27FC236}">
                  <a16:creationId xmlns:a16="http://schemas.microsoft.com/office/drawing/2014/main" id="{7B9ABC09-A40B-F623-036B-447E6DCA3D81}"/>
                </a:ext>
              </a:extLst>
            </p:cNvPr>
            <p:cNvSpPr>
              <a:spLocks noChangeShapeType="1"/>
            </p:cNvSpPr>
            <p:nvPr/>
          </p:nvSpPr>
          <p:spPr bwMode="auto">
            <a:xfrm>
              <a:off x="1584" y="2457"/>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97651" name="Rectangle 10">
              <a:extLst>
                <a:ext uri="{FF2B5EF4-FFF2-40B4-BE49-F238E27FC236}">
                  <a16:creationId xmlns:a16="http://schemas.microsoft.com/office/drawing/2014/main" id="{CA923FD6-2BCE-5EDB-94CC-6168B96C8B7F}"/>
                </a:ext>
              </a:extLst>
            </p:cNvPr>
            <p:cNvSpPr>
              <a:spLocks noChangeArrowheads="1"/>
            </p:cNvSpPr>
            <p:nvPr/>
          </p:nvSpPr>
          <p:spPr bwMode="auto">
            <a:xfrm>
              <a:off x="1440" y="2793"/>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1</a:t>
              </a:r>
            </a:p>
          </p:txBody>
        </p:sp>
        <p:sp>
          <p:nvSpPr>
            <p:cNvPr id="197652" name="Rectangle 11">
              <a:extLst>
                <a:ext uri="{FF2B5EF4-FFF2-40B4-BE49-F238E27FC236}">
                  <a16:creationId xmlns:a16="http://schemas.microsoft.com/office/drawing/2014/main" id="{A2C038EB-DC7F-579F-1F5F-28B7AEBC79E4}"/>
                </a:ext>
              </a:extLst>
            </p:cNvPr>
            <p:cNvSpPr>
              <a:spLocks noChangeArrowheads="1"/>
            </p:cNvSpPr>
            <p:nvPr/>
          </p:nvSpPr>
          <p:spPr bwMode="auto">
            <a:xfrm>
              <a:off x="1152" y="2049"/>
              <a:ext cx="8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a:solidFill>
                    <a:srgbClr val="644A1A"/>
                  </a:solidFill>
                </a:rPr>
                <a:t>$20,000</a:t>
              </a:r>
            </a:p>
          </p:txBody>
        </p:sp>
      </p:grpSp>
      <p:graphicFrame>
        <p:nvGraphicFramePr>
          <p:cNvPr id="198668" name="Object 12">
            <a:extLst>
              <a:ext uri="{FF2B5EF4-FFF2-40B4-BE49-F238E27FC236}">
                <a16:creationId xmlns:a16="http://schemas.microsoft.com/office/drawing/2014/main" id="{D00DB83C-5CE6-3FB8-DAF6-8CE7F677788B}"/>
              </a:ext>
            </a:extLst>
          </p:cNvPr>
          <p:cNvGraphicFramePr>
            <a:graphicFrameLocks noChangeAspect="1"/>
          </p:cNvGraphicFramePr>
          <p:nvPr/>
        </p:nvGraphicFramePr>
        <p:xfrm>
          <a:off x="1981200" y="4784726"/>
          <a:ext cx="7353300" cy="1465263"/>
        </p:xfrm>
        <a:graphic>
          <a:graphicData uri="http://schemas.openxmlformats.org/presentationml/2006/ole">
            <mc:AlternateContent xmlns:mc="http://schemas.openxmlformats.org/markup-compatibility/2006">
              <mc:Choice xmlns:v="urn:schemas-microsoft-com:vml" Requires="v">
                <p:oleObj name="Equation" r:id="rId3" imgW="2585516" imgH="440702" progId="Equation.3">
                  <p:embed/>
                </p:oleObj>
              </mc:Choice>
              <mc:Fallback>
                <p:oleObj name="Equation" r:id="rId3" imgW="2585516" imgH="440702" progId="Equation.3">
                  <p:embed/>
                  <p:pic>
                    <p:nvPicPr>
                      <p:cNvPr id="198668" name="Object 12">
                        <a:extLst>
                          <a:ext uri="{FF2B5EF4-FFF2-40B4-BE49-F238E27FC236}">
                            <a16:creationId xmlns:a16="http://schemas.microsoft.com/office/drawing/2014/main" id="{D00DB83C-5CE6-3FB8-DAF6-8CE7F67778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4784726"/>
                        <a:ext cx="7353300" cy="1465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8669" name="Object 13">
            <a:extLst>
              <a:ext uri="{FF2B5EF4-FFF2-40B4-BE49-F238E27FC236}">
                <a16:creationId xmlns:a16="http://schemas.microsoft.com/office/drawing/2014/main" id="{018C8DD1-5122-8B9A-BD64-161673F46656}"/>
              </a:ext>
            </a:extLst>
          </p:cNvPr>
          <p:cNvGraphicFramePr>
            <a:graphicFrameLocks noChangeAspect="1"/>
          </p:cNvGraphicFramePr>
          <p:nvPr/>
        </p:nvGraphicFramePr>
        <p:xfrm>
          <a:off x="7508876" y="3052763"/>
          <a:ext cx="404813" cy="1676400"/>
        </p:xfrm>
        <a:graphic>
          <a:graphicData uri="http://schemas.openxmlformats.org/presentationml/2006/ole">
            <mc:AlternateContent xmlns:mc="http://schemas.openxmlformats.org/markup-compatibility/2006">
              <mc:Choice xmlns:v="urn:schemas-microsoft-com:vml" Requires="v">
                <p:oleObj name="Equation" r:id="rId5" imgW="59861" imgH="135914" progId="Equation.3">
                  <p:embed/>
                </p:oleObj>
              </mc:Choice>
              <mc:Fallback>
                <p:oleObj name="Equation" r:id="rId5" imgW="59861" imgH="135914" progId="Equation.3">
                  <p:embed/>
                  <p:pic>
                    <p:nvPicPr>
                      <p:cNvPr id="198669" name="Object 13">
                        <a:extLst>
                          <a:ext uri="{FF2B5EF4-FFF2-40B4-BE49-F238E27FC236}">
                            <a16:creationId xmlns:a16="http://schemas.microsoft.com/office/drawing/2014/main" id="{018C8DD1-5122-8B9A-BD64-161673F4665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08876" y="3052763"/>
                        <a:ext cx="404813" cy="167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 name="Group 14">
            <a:extLst>
              <a:ext uri="{FF2B5EF4-FFF2-40B4-BE49-F238E27FC236}">
                <a16:creationId xmlns:a16="http://schemas.microsoft.com/office/drawing/2014/main" id="{D6501F57-703F-8A2E-CCDC-3EE1A2DBB4DD}"/>
              </a:ext>
            </a:extLst>
          </p:cNvPr>
          <p:cNvGrpSpPr>
            <a:grpSpLocks/>
          </p:cNvGrpSpPr>
          <p:nvPr/>
        </p:nvGrpSpPr>
        <p:grpSpPr bwMode="auto">
          <a:xfrm>
            <a:off x="4724401" y="3024188"/>
            <a:ext cx="2579688" cy="1700212"/>
            <a:chOff x="2736" y="1104"/>
            <a:chExt cx="1625" cy="1071"/>
          </a:xfrm>
        </p:grpSpPr>
        <p:sp>
          <p:nvSpPr>
            <p:cNvPr id="197647" name="Line 15">
              <a:extLst>
                <a:ext uri="{FF2B5EF4-FFF2-40B4-BE49-F238E27FC236}">
                  <a16:creationId xmlns:a16="http://schemas.microsoft.com/office/drawing/2014/main" id="{985DA656-548C-3180-3695-D8F94474A4FE}"/>
                </a:ext>
              </a:extLst>
            </p:cNvPr>
            <p:cNvSpPr>
              <a:spLocks noChangeShapeType="1"/>
            </p:cNvSpPr>
            <p:nvPr/>
          </p:nvSpPr>
          <p:spPr bwMode="auto">
            <a:xfrm>
              <a:off x="3189" y="1512"/>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97648" name="Rectangle 16">
              <a:extLst>
                <a:ext uri="{FF2B5EF4-FFF2-40B4-BE49-F238E27FC236}">
                  <a16:creationId xmlns:a16="http://schemas.microsoft.com/office/drawing/2014/main" id="{7255A208-47D8-7DF0-4702-F6B0B51DE471}"/>
                </a:ext>
              </a:extLst>
            </p:cNvPr>
            <p:cNvSpPr>
              <a:spLocks noChangeArrowheads="1"/>
            </p:cNvSpPr>
            <p:nvPr/>
          </p:nvSpPr>
          <p:spPr bwMode="auto">
            <a:xfrm>
              <a:off x="3045" y="1848"/>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2</a:t>
              </a:r>
            </a:p>
          </p:txBody>
        </p:sp>
        <p:sp>
          <p:nvSpPr>
            <p:cNvPr id="197649" name="Rectangle 17">
              <a:extLst>
                <a:ext uri="{FF2B5EF4-FFF2-40B4-BE49-F238E27FC236}">
                  <a16:creationId xmlns:a16="http://schemas.microsoft.com/office/drawing/2014/main" id="{68D7D115-D15D-DACF-6C4B-9D8BF394D156}"/>
                </a:ext>
              </a:extLst>
            </p:cNvPr>
            <p:cNvSpPr>
              <a:spLocks noChangeArrowheads="1"/>
            </p:cNvSpPr>
            <p:nvPr/>
          </p:nvSpPr>
          <p:spPr bwMode="auto">
            <a:xfrm>
              <a:off x="2736" y="1104"/>
              <a:ext cx="162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a:solidFill>
                    <a:srgbClr val="644A1A"/>
                  </a:solidFill>
                </a:rPr>
                <a:t>$20,000</a:t>
              </a:r>
              <a:r>
                <a:rPr lang="en-US" altLang="en-US" sz="2800">
                  <a:solidFill>
                    <a:srgbClr val="644A1A"/>
                  </a:solidFill>
                  <a:cs typeface="Times New Roman" panose="02020603050405020304" pitchFamily="18" charset="0"/>
                </a:rPr>
                <a:t>×(1.03)</a:t>
              </a:r>
            </a:p>
          </p:txBody>
        </p:sp>
      </p:grpSp>
      <p:grpSp>
        <p:nvGrpSpPr>
          <p:cNvPr id="5" name="Group 18">
            <a:extLst>
              <a:ext uri="{FF2B5EF4-FFF2-40B4-BE49-F238E27FC236}">
                <a16:creationId xmlns:a16="http://schemas.microsoft.com/office/drawing/2014/main" id="{CEDEBAF7-CA17-6FE2-AF9D-05BAE6368534}"/>
              </a:ext>
            </a:extLst>
          </p:cNvPr>
          <p:cNvGrpSpPr>
            <a:grpSpLocks/>
          </p:cNvGrpSpPr>
          <p:nvPr/>
        </p:nvGrpSpPr>
        <p:grpSpPr bwMode="auto">
          <a:xfrm>
            <a:off x="7264400" y="3024188"/>
            <a:ext cx="2819400" cy="1700212"/>
            <a:chOff x="4288" y="2049"/>
            <a:chExt cx="1776" cy="1071"/>
          </a:xfrm>
        </p:grpSpPr>
        <p:sp>
          <p:nvSpPr>
            <p:cNvPr id="197643" name="Line 19">
              <a:extLst>
                <a:ext uri="{FF2B5EF4-FFF2-40B4-BE49-F238E27FC236}">
                  <a16:creationId xmlns:a16="http://schemas.microsoft.com/office/drawing/2014/main" id="{4166F2E8-A35B-1471-EB4B-5B7841F73E32}"/>
                </a:ext>
              </a:extLst>
            </p:cNvPr>
            <p:cNvSpPr>
              <a:spLocks noChangeShapeType="1"/>
            </p:cNvSpPr>
            <p:nvPr/>
          </p:nvSpPr>
          <p:spPr bwMode="auto">
            <a:xfrm>
              <a:off x="4974" y="2585"/>
              <a:ext cx="144" cy="0"/>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97644" name="Line 20">
              <a:extLst>
                <a:ext uri="{FF2B5EF4-FFF2-40B4-BE49-F238E27FC236}">
                  <a16:creationId xmlns:a16="http://schemas.microsoft.com/office/drawing/2014/main" id="{5BA208E1-4269-781F-6C0F-11352F377BE4}"/>
                </a:ext>
              </a:extLst>
            </p:cNvPr>
            <p:cNvSpPr>
              <a:spLocks noChangeShapeType="1"/>
            </p:cNvSpPr>
            <p:nvPr/>
          </p:nvSpPr>
          <p:spPr bwMode="auto">
            <a:xfrm>
              <a:off x="5118" y="2457"/>
              <a:ext cx="0" cy="288"/>
            </a:xfrm>
            <a:prstGeom prst="line">
              <a:avLst/>
            </a:prstGeom>
            <a:noFill/>
            <a:ln w="38100">
              <a:solidFill>
                <a:srgbClr val="644A1A"/>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197645" name="Rectangle 21">
              <a:extLst>
                <a:ext uri="{FF2B5EF4-FFF2-40B4-BE49-F238E27FC236}">
                  <a16:creationId xmlns:a16="http://schemas.microsoft.com/office/drawing/2014/main" id="{F28DB315-9160-C740-C55F-CDC8EDFF270D}"/>
                </a:ext>
              </a:extLst>
            </p:cNvPr>
            <p:cNvSpPr>
              <a:spLocks noChangeArrowheads="1"/>
            </p:cNvSpPr>
            <p:nvPr/>
          </p:nvSpPr>
          <p:spPr bwMode="auto">
            <a:xfrm>
              <a:off x="4980" y="2793"/>
              <a:ext cx="39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srgbClr val="644A1A"/>
                  </a:solidFill>
                </a:rPr>
                <a:t>40 </a:t>
              </a:r>
            </a:p>
          </p:txBody>
        </p:sp>
        <p:sp>
          <p:nvSpPr>
            <p:cNvPr id="197646" name="Rectangle 22">
              <a:extLst>
                <a:ext uri="{FF2B5EF4-FFF2-40B4-BE49-F238E27FC236}">
                  <a16:creationId xmlns:a16="http://schemas.microsoft.com/office/drawing/2014/main" id="{2F4F6972-F12C-836A-0A36-9113B82FD9FB}"/>
                </a:ext>
              </a:extLst>
            </p:cNvPr>
            <p:cNvSpPr>
              <a:spLocks noChangeArrowheads="1"/>
            </p:cNvSpPr>
            <p:nvPr/>
          </p:nvSpPr>
          <p:spPr bwMode="auto">
            <a:xfrm>
              <a:off x="4288" y="2049"/>
              <a:ext cx="177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a:solidFill>
                    <a:srgbClr val="644A1A"/>
                  </a:solidFill>
                </a:rPr>
                <a:t>$20,000</a:t>
              </a:r>
              <a:r>
                <a:rPr lang="en-US" altLang="en-US" sz="2800">
                  <a:solidFill>
                    <a:srgbClr val="644A1A"/>
                  </a:solidFill>
                  <a:cs typeface="Times New Roman" panose="02020603050405020304" pitchFamily="18" charset="0"/>
                </a:rPr>
                <a:t>×(1.03)</a:t>
              </a:r>
              <a:r>
                <a:rPr lang="en-US" altLang="en-US" sz="2800" baseline="30000">
                  <a:solidFill>
                    <a:srgbClr val="644A1A"/>
                  </a:solidFill>
                  <a:cs typeface="Times New Roman" panose="02020603050405020304" pitchFamily="18" charset="0"/>
                </a:rPr>
                <a:t>39</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98659">
                                            <p:txEl>
                                              <p:pRg st="0" end="0"/>
                                            </p:txEl>
                                          </p:spTgt>
                                        </p:tgtEl>
                                        <p:attrNameLst>
                                          <p:attrName>style.visibility</p:attrName>
                                        </p:attrNameLst>
                                      </p:cBhvr>
                                      <p:to>
                                        <p:strVal val="visible"/>
                                      </p:to>
                                    </p:set>
                                    <p:animEffect transition="in" filter="fade">
                                      <p:cBhvr>
                                        <p:cTn id="7" dur="1000"/>
                                        <p:tgtEl>
                                          <p:spTgt spid="198659">
                                            <p:txEl>
                                              <p:pRg st="0" end="0"/>
                                            </p:txEl>
                                          </p:spTgt>
                                        </p:tgtEl>
                                      </p:cBhvr>
                                    </p:animEffect>
                                    <p:anim calcmode="lin" valueType="num">
                                      <p:cBhvr>
                                        <p:cTn id="8" dur="1000" fill="hold"/>
                                        <p:tgtEl>
                                          <p:spTgt spid="19865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98659">
                                            <p:txEl>
                                              <p:pRg st="0" end="0"/>
                                            </p:txEl>
                                          </p:spTgt>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22" presetClass="entr" presetSubtype="8" fill="hold" nodeType="afterEffect">
                                  <p:stCondLst>
                                    <p:cond delay="0"/>
                                  </p:stCondLst>
                                  <p:childTnLst>
                                    <p:set>
                                      <p:cBhvr>
                                        <p:cTn id="12" dur="1" fill="hold">
                                          <p:stCondLst>
                                            <p:cond delay="0"/>
                                          </p:stCondLst>
                                        </p:cTn>
                                        <p:tgtEl>
                                          <p:spTgt spid="198660"/>
                                        </p:tgtEl>
                                        <p:attrNameLst>
                                          <p:attrName>style.visibility</p:attrName>
                                        </p:attrNameLst>
                                      </p:cBhvr>
                                      <p:to>
                                        <p:strVal val="visible"/>
                                      </p:to>
                                    </p:set>
                                    <p:animEffect transition="in" filter="wipe(left)">
                                      <p:cBhvr>
                                        <p:cTn id="13" dur="500"/>
                                        <p:tgtEl>
                                          <p:spTgt spid="198660"/>
                                        </p:tgtEl>
                                      </p:cBhvr>
                                    </p:animEffect>
                                  </p:childTnLst>
                                </p:cTn>
                              </p:par>
                            </p:childTnLst>
                          </p:cTn>
                        </p:par>
                        <p:par>
                          <p:cTn id="14" fill="hold" nodeType="afterGroup">
                            <p:stCondLst>
                              <p:cond delay="1500"/>
                            </p:stCondLst>
                            <p:childTnLst>
                              <p:par>
                                <p:cTn id="15" presetID="22" presetClass="entr" presetSubtype="8" fill="hold" nodeType="afterEffect">
                                  <p:stCondLst>
                                    <p:cond delay="0"/>
                                  </p:stCondLst>
                                  <p:childTnLst>
                                    <p:set>
                                      <p:cBhvr>
                                        <p:cTn id="16" dur="1" fill="hold">
                                          <p:stCondLst>
                                            <p:cond delay="0"/>
                                          </p:stCondLst>
                                        </p:cTn>
                                        <p:tgtEl>
                                          <p:spTgt spid="198669"/>
                                        </p:tgtEl>
                                        <p:attrNameLst>
                                          <p:attrName>style.visibility</p:attrName>
                                        </p:attrNameLst>
                                      </p:cBhvr>
                                      <p:to>
                                        <p:strVal val="visible"/>
                                      </p:to>
                                    </p:set>
                                    <p:animEffect transition="in" filter="wipe(left)">
                                      <p:cBhvr>
                                        <p:cTn id="17" dur="500"/>
                                        <p:tgtEl>
                                          <p:spTgt spid="198669"/>
                                        </p:tgtEl>
                                      </p:cBhvr>
                                    </p:animEffect>
                                  </p:childTnLst>
                                </p:cTn>
                              </p:par>
                            </p:childTnLst>
                          </p:cTn>
                        </p:par>
                        <p:par>
                          <p:cTn id="18" fill="hold" nodeType="afterGroup">
                            <p:stCondLst>
                              <p:cond delay="2000"/>
                            </p:stCondLst>
                            <p:childTnLst>
                              <p:par>
                                <p:cTn id="19" presetID="22" presetClass="entr" presetSubtype="1"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up)">
                                      <p:cBhvr>
                                        <p:cTn id="21" dur="500"/>
                                        <p:tgtEl>
                                          <p:spTgt spid="2"/>
                                        </p:tgtEl>
                                      </p:cBhvr>
                                    </p:animEffect>
                                  </p:childTnLst>
                                </p:cTn>
                              </p:par>
                            </p:childTnLst>
                          </p:cTn>
                        </p:par>
                        <p:par>
                          <p:cTn id="22" fill="hold" nodeType="afterGroup">
                            <p:stCondLst>
                              <p:cond delay="2500"/>
                            </p:stCondLst>
                            <p:childTnLst>
                              <p:par>
                                <p:cTn id="23" presetID="22" presetClass="entr" presetSubtype="1" fill="hold" nodeType="after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up)">
                                      <p:cBhvr>
                                        <p:cTn id="25" dur="500"/>
                                        <p:tgtEl>
                                          <p:spTgt spid="3"/>
                                        </p:tgtEl>
                                      </p:cBhvr>
                                    </p:animEffect>
                                  </p:childTnLst>
                                </p:cTn>
                              </p:par>
                            </p:childTnLst>
                          </p:cTn>
                        </p:par>
                        <p:par>
                          <p:cTn id="26" fill="hold" nodeType="afterGroup">
                            <p:stCondLst>
                              <p:cond delay="3000"/>
                            </p:stCondLst>
                            <p:childTnLst>
                              <p:par>
                                <p:cTn id="27" presetID="22" presetClass="entr" presetSubtype="1"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up)">
                                      <p:cBhvr>
                                        <p:cTn id="29" dur="500"/>
                                        <p:tgtEl>
                                          <p:spTgt spid="4"/>
                                        </p:tgtEl>
                                      </p:cBhvr>
                                    </p:animEffect>
                                  </p:childTnLst>
                                </p:cTn>
                              </p:par>
                            </p:childTnLst>
                          </p:cTn>
                        </p:par>
                        <p:par>
                          <p:cTn id="30" fill="hold" nodeType="afterGroup">
                            <p:stCondLst>
                              <p:cond delay="3500"/>
                            </p:stCondLst>
                            <p:childTnLst>
                              <p:par>
                                <p:cTn id="31" presetID="22" presetClass="entr" presetSubtype="1" fill="hold" nodeType="after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up)">
                                      <p:cBhvr>
                                        <p:cTn id="33" dur="500"/>
                                        <p:tgtEl>
                                          <p:spTgt spid="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42" presetClass="entr" presetSubtype="0" fill="hold" nodeType="clickEffect">
                                  <p:stCondLst>
                                    <p:cond delay="0"/>
                                  </p:stCondLst>
                                  <p:childTnLst>
                                    <p:set>
                                      <p:cBhvr>
                                        <p:cTn id="37" dur="1" fill="hold">
                                          <p:stCondLst>
                                            <p:cond delay="0"/>
                                          </p:stCondLst>
                                        </p:cTn>
                                        <p:tgtEl>
                                          <p:spTgt spid="198668"/>
                                        </p:tgtEl>
                                        <p:attrNameLst>
                                          <p:attrName>style.visibility</p:attrName>
                                        </p:attrNameLst>
                                      </p:cBhvr>
                                      <p:to>
                                        <p:strVal val="visible"/>
                                      </p:to>
                                    </p:set>
                                    <p:animEffect transition="in" filter="fade">
                                      <p:cBhvr>
                                        <p:cTn id="38" dur="1000"/>
                                        <p:tgtEl>
                                          <p:spTgt spid="198668"/>
                                        </p:tgtEl>
                                      </p:cBhvr>
                                    </p:animEffect>
                                    <p:anim calcmode="lin" valueType="num">
                                      <p:cBhvr>
                                        <p:cTn id="39" dur="1000" fill="hold"/>
                                        <p:tgtEl>
                                          <p:spTgt spid="198668"/>
                                        </p:tgtEl>
                                        <p:attrNameLst>
                                          <p:attrName>ppt_x</p:attrName>
                                        </p:attrNameLst>
                                      </p:cBhvr>
                                      <p:tavLst>
                                        <p:tav tm="0">
                                          <p:val>
                                            <p:strVal val="#ppt_x"/>
                                          </p:val>
                                        </p:tav>
                                        <p:tav tm="100000">
                                          <p:val>
                                            <p:strVal val="#ppt_x"/>
                                          </p:val>
                                        </p:tav>
                                      </p:tavLst>
                                    </p:anim>
                                    <p:anim calcmode="lin" valueType="num">
                                      <p:cBhvr>
                                        <p:cTn id="40" dur="1000" fill="hold"/>
                                        <p:tgtEl>
                                          <p:spTgt spid="19866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59" grpId="0" build="p"/>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96847625-8CC1-3ED3-41CF-C9237263740F}"/>
              </a:ext>
            </a:extLst>
          </p:cNvPr>
          <p:cNvSpPr>
            <a:spLocks noGrp="1" noChangeArrowheads="1"/>
          </p:cNvSpPr>
          <p:nvPr>
            <p:ph type="title"/>
          </p:nvPr>
        </p:nvSpPr>
        <p:spPr>
          <a:xfrm>
            <a:off x="1905000" y="76200"/>
            <a:ext cx="7772400" cy="1143000"/>
          </a:xfrm>
        </p:spPr>
        <p:txBody>
          <a:bodyPr/>
          <a:lstStyle/>
          <a:p>
            <a:pPr eaLnBrk="1" fontAlgn="auto" hangingPunct="1">
              <a:spcAft>
                <a:spcPts val="0"/>
              </a:spcAft>
              <a:defRPr/>
            </a:pPr>
            <a:r>
              <a:rPr lang="en-US" altLang="en-US" sz="3400" dirty="0">
                <a:solidFill>
                  <a:schemeClr val="bg2"/>
                </a:solidFill>
                <a:ea typeface="+mj-ea"/>
                <a:cs typeface="+mj-cs"/>
              </a:rPr>
              <a:t>Growing Annuity: Example</a:t>
            </a:r>
          </a:p>
        </p:txBody>
      </p:sp>
      <p:sp>
        <p:nvSpPr>
          <p:cNvPr id="199683" name="Rectangle 3">
            <a:extLst>
              <a:ext uri="{FF2B5EF4-FFF2-40B4-BE49-F238E27FC236}">
                <a16:creationId xmlns:a16="http://schemas.microsoft.com/office/drawing/2014/main" id="{AB0164C3-696E-79CD-8D30-770A0D59169B}"/>
              </a:ext>
            </a:extLst>
          </p:cNvPr>
          <p:cNvSpPr>
            <a:spLocks noChangeArrowheads="1"/>
          </p:cNvSpPr>
          <p:nvPr/>
        </p:nvSpPr>
        <p:spPr bwMode="auto">
          <a:xfrm>
            <a:off x="1752600" y="1066800"/>
            <a:ext cx="79248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200">
                <a:solidFill>
                  <a:prstClr val="black"/>
                </a:solidFill>
              </a:rPr>
              <a:t>You are evaluating an income generating property. Net rent is received at the end of each year. The first year's rent is expected to be $8,500, and rent is expected to increase 7% each year. What is the present value of the estimated income stream over the first 5 years if the discount rate is 12%?</a:t>
            </a:r>
          </a:p>
          <a:p>
            <a:pPr eaLnBrk="0" fontAlgn="base" hangingPunct="0">
              <a:spcBef>
                <a:spcPct val="0"/>
              </a:spcBef>
              <a:spcAft>
                <a:spcPct val="0"/>
              </a:spcAft>
            </a:pPr>
            <a:endParaRPr lang="en-US" altLang="en-US" sz="2400">
              <a:solidFill>
                <a:prstClr val="white"/>
              </a:solidFill>
            </a:endParaRPr>
          </a:p>
          <a:p>
            <a:pPr eaLnBrk="0" fontAlgn="base" hangingPunct="0">
              <a:spcBef>
                <a:spcPct val="0"/>
              </a:spcBef>
              <a:spcAft>
                <a:spcPct val="0"/>
              </a:spcAft>
            </a:pPr>
            <a:endParaRPr lang="en-US" altLang="en-US" sz="2000">
              <a:solidFill>
                <a:srgbClr val="644A1A"/>
              </a:solidFill>
            </a:endParaRPr>
          </a:p>
        </p:txBody>
      </p:sp>
      <p:grpSp>
        <p:nvGrpSpPr>
          <p:cNvPr id="2" name="Group 4">
            <a:extLst>
              <a:ext uri="{FF2B5EF4-FFF2-40B4-BE49-F238E27FC236}">
                <a16:creationId xmlns:a16="http://schemas.microsoft.com/office/drawing/2014/main" id="{89177076-437C-AFAD-9043-D940E6DF4F3C}"/>
              </a:ext>
            </a:extLst>
          </p:cNvPr>
          <p:cNvGrpSpPr>
            <a:grpSpLocks/>
          </p:cNvGrpSpPr>
          <p:nvPr/>
        </p:nvGrpSpPr>
        <p:grpSpPr bwMode="auto">
          <a:xfrm>
            <a:off x="2089150" y="4251325"/>
            <a:ext cx="7772400" cy="1333500"/>
            <a:chOff x="336" y="3288"/>
            <a:chExt cx="4896" cy="840"/>
          </a:xfrm>
        </p:grpSpPr>
        <p:sp>
          <p:nvSpPr>
            <p:cNvPr id="199695" name="Line 5">
              <a:extLst>
                <a:ext uri="{FF2B5EF4-FFF2-40B4-BE49-F238E27FC236}">
                  <a16:creationId xmlns:a16="http://schemas.microsoft.com/office/drawing/2014/main" id="{F0D42C6B-391B-8AA6-7B1A-06A62CF8FD2D}"/>
                </a:ext>
              </a:extLst>
            </p:cNvPr>
            <p:cNvSpPr>
              <a:spLocks noChangeShapeType="1"/>
            </p:cNvSpPr>
            <p:nvPr/>
          </p:nvSpPr>
          <p:spPr bwMode="auto">
            <a:xfrm>
              <a:off x="480" y="3504"/>
              <a:ext cx="4608" cy="0"/>
            </a:xfrm>
            <a:prstGeom prst="line">
              <a:avLst/>
            </a:prstGeom>
            <a:noFill/>
            <a:ln w="38100">
              <a:solidFill>
                <a:srgbClr val="66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199696" name="Line 6">
              <a:extLst>
                <a:ext uri="{FF2B5EF4-FFF2-40B4-BE49-F238E27FC236}">
                  <a16:creationId xmlns:a16="http://schemas.microsoft.com/office/drawing/2014/main" id="{009F16F0-8466-5582-4E93-9173647CD08D}"/>
                </a:ext>
              </a:extLst>
            </p:cNvPr>
            <p:cNvSpPr>
              <a:spLocks noChangeShapeType="1"/>
            </p:cNvSpPr>
            <p:nvPr/>
          </p:nvSpPr>
          <p:spPr bwMode="auto">
            <a:xfrm>
              <a:off x="480" y="3288"/>
              <a:ext cx="0" cy="480"/>
            </a:xfrm>
            <a:prstGeom prst="line">
              <a:avLst/>
            </a:prstGeom>
            <a:noFill/>
            <a:ln w="38100">
              <a:solidFill>
                <a:srgbClr val="66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199697" name="Line 7">
              <a:extLst>
                <a:ext uri="{FF2B5EF4-FFF2-40B4-BE49-F238E27FC236}">
                  <a16:creationId xmlns:a16="http://schemas.microsoft.com/office/drawing/2014/main" id="{223FA557-F9CC-9F16-CB26-FB188E85AAA6}"/>
                </a:ext>
              </a:extLst>
            </p:cNvPr>
            <p:cNvSpPr>
              <a:spLocks noChangeShapeType="1"/>
            </p:cNvSpPr>
            <p:nvPr/>
          </p:nvSpPr>
          <p:spPr bwMode="auto">
            <a:xfrm>
              <a:off x="1401" y="3288"/>
              <a:ext cx="0" cy="480"/>
            </a:xfrm>
            <a:prstGeom prst="line">
              <a:avLst/>
            </a:prstGeom>
            <a:noFill/>
            <a:ln w="38100">
              <a:solidFill>
                <a:srgbClr val="66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199698" name="Line 8">
              <a:extLst>
                <a:ext uri="{FF2B5EF4-FFF2-40B4-BE49-F238E27FC236}">
                  <a16:creationId xmlns:a16="http://schemas.microsoft.com/office/drawing/2014/main" id="{64C558CD-8691-84E0-10FA-969B5D52237B}"/>
                </a:ext>
              </a:extLst>
            </p:cNvPr>
            <p:cNvSpPr>
              <a:spLocks noChangeShapeType="1"/>
            </p:cNvSpPr>
            <p:nvPr/>
          </p:nvSpPr>
          <p:spPr bwMode="auto">
            <a:xfrm>
              <a:off x="2323" y="3288"/>
              <a:ext cx="0" cy="480"/>
            </a:xfrm>
            <a:prstGeom prst="line">
              <a:avLst/>
            </a:prstGeom>
            <a:noFill/>
            <a:ln w="38100">
              <a:solidFill>
                <a:srgbClr val="66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199699" name="Line 9">
              <a:extLst>
                <a:ext uri="{FF2B5EF4-FFF2-40B4-BE49-F238E27FC236}">
                  <a16:creationId xmlns:a16="http://schemas.microsoft.com/office/drawing/2014/main" id="{35D715DA-57B2-4ED4-9FAA-5812B6A02319}"/>
                </a:ext>
              </a:extLst>
            </p:cNvPr>
            <p:cNvSpPr>
              <a:spLocks noChangeShapeType="1"/>
            </p:cNvSpPr>
            <p:nvPr/>
          </p:nvSpPr>
          <p:spPr bwMode="auto">
            <a:xfrm>
              <a:off x="3244" y="3288"/>
              <a:ext cx="0" cy="480"/>
            </a:xfrm>
            <a:prstGeom prst="line">
              <a:avLst/>
            </a:prstGeom>
            <a:noFill/>
            <a:ln w="38100">
              <a:solidFill>
                <a:srgbClr val="66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199700" name="Line 10">
              <a:extLst>
                <a:ext uri="{FF2B5EF4-FFF2-40B4-BE49-F238E27FC236}">
                  <a16:creationId xmlns:a16="http://schemas.microsoft.com/office/drawing/2014/main" id="{6A6E3858-B9BD-8A11-E679-465AFB288290}"/>
                </a:ext>
              </a:extLst>
            </p:cNvPr>
            <p:cNvSpPr>
              <a:spLocks noChangeShapeType="1"/>
            </p:cNvSpPr>
            <p:nvPr/>
          </p:nvSpPr>
          <p:spPr bwMode="auto">
            <a:xfrm>
              <a:off x="4166" y="3288"/>
              <a:ext cx="0" cy="480"/>
            </a:xfrm>
            <a:prstGeom prst="line">
              <a:avLst/>
            </a:prstGeom>
            <a:noFill/>
            <a:ln w="38100">
              <a:solidFill>
                <a:srgbClr val="66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199701" name="Line 11">
              <a:extLst>
                <a:ext uri="{FF2B5EF4-FFF2-40B4-BE49-F238E27FC236}">
                  <a16:creationId xmlns:a16="http://schemas.microsoft.com/office/drawing/2014/main" id="{3DC86748-A0AC-6791-07A6-D4269BDFAED1}"/>
                </a:ext>
              </a:extLst>
            </p:cNvPr>
            <p:cNvSpPr>
              <a:spLocks noChangeShapeType="1"/>
            </p:cNvSpPr>
            <p:nvPr/>
          </p:nvSpPr>
          <p:spPr bwMode="auto">
            <a:xfrm>
              <a:off x="5088" y="3288"/>
              <a:ext cx="0" cy="480"/>
            </a:xfrm>
            <a:prstGeom prst="line">
              <a:avLst/>
            </a:prstGeom>
            <a:noFill/>
            <a:ln w="38100">
              <a:solidFill>
                <a:srgbClr val="66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199702" name="Text Box 12">
              <a:extLst>
                <a:ext uri="{FF2B5EF4-FFF2-40B4-BE49-F238E27FC236}">
                  <a16:creationId xmlns:a16="http://schemas.microsoft.com/office/drawing/2014/main" id="{F9526AB5-50EF-B3F2-3C6D-E163CB74B5B7}"/>
                </a:ext>
              </a:extLst>
            </p:cNvPr>
            <p:cNvSpPr txBox="1">
              <a:spLocks noChangeArrowheads="1"/>
            </p:cNvSpPr>
            <p:nvPr/>
          </p:nvSpPr>
          <p:spPr bwMode="auto">
            <a:xfrm>
              <a:off x="336" y="3840"/>
              <a:ext cx="48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2400" i="1">
                  <a:solidFill>
                    <a:srgbClr val="644A1A"/>
                  </a:solidFill>
                </a:rPr>
                <a:t>0	        1		   2	          3                  4               5</a:t>
              </a:r>
            </a:p>
          </p:txBody>
        </p:sp>
      </p:grpSp>
      <p:graphicFrame>
        <p:nvGraphicFramePr>
          <p:cNvPr id="179213" name="Object 13">
            <a:extLst>
              <a:ext uri="{FF2B5EF4-FFF2-40B4-BE49-F238E27FC236}">
                <a16:creationId xmlns:a16="http://schemas.microsoft.com/office/drawing/2014/main" id="{00AB7958-B742-E24F-93F0-6B9FB626DF8B}"/>
              </a:ext>
            </a:extLst>
          </p:cNvPr>
          <p:cNvGraphicFramePr>
            <a:graphicFrameLocks noChangeAspect="1"/>
          </p:cNvGraphicFramePr>
          <p:nvPr/>
        </p:nvGraphicFramePr>
        <p:xfrm>
          <a:off x="3348038" y="3740151"/>
          <a:ext cx="990600" cy="441325"/>
        </p:xfrm>
        <a:graphic>
          <a:graphicData uri="http://schemas.openxmlformats.org/presentationml/2006/ole">
            <mc:AlternateContent xmlns:mc="http://schemas.openxmlformats.org/markup-compatibility/2006">
              <mc:Choice xmlns:v="urn:schemas-microsoft-com:vml" Requires="v">
                <p:oleObj name="Equation" r:id="rId3" imgW="364576" imgH="108731" progId="Equation.3">
                  <p:embed/>
                </p:oleObj>
              </mc:Choice>
              <mc:Fallback>
                <p:oleObj name="Equation" r:id="rId3" imgW="364576" imgH="108731" progId="Equation.3">
                  <p:embed/>
                  <p:pic>
                    <p:nvPicPr>
                      <p:cNvPr id="179213" name="Object 13">
                        <a:extLst>
                          <a:ext uri="{FF2B5EF4-FFF2-40B4-BE49-F238E27FC236}">
                            <a16:creationId xmlns:a16="http://schemas.microsoft.com/office/drawing/2014/main" id="{00AB7958-B742-E24F-93F0-6B9FB626DF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8038" y="3740151"/>
                        <a:ext cx="990600" cy="441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9214" name="Object 14">
            <a:extLst>
              <a:ext uri="{FF2B5EF4-FFF2-40B4-BE49-F238E27FC236}">
                <a16:creationId xmlns:a16="http://schemas.microsoft.com/office/drawing/2014/main" id="{E5A5EBBA-67AD-458C-8CFE-3CF1ABC57257}"/>
              </a:ext>
            </a:extLst>
          </p:cNvPr>
          <p:cNvGraphicFramePr>
            <a:graphicFrameLocks noChangeAspect="1"/>
          </p:cNvGraphicFramePr>
          <p:nvPr/>
        </p:nvGraphicFramePr>
        <p:xfrm>
          <a:off x="3994150" y="3276600"/>
          <a:ext cx="2209800" cy="425450"/>
        </p:xfrm>
        <a:graphic>
          <a:graphicData uri="http://schemas.openxmlformats.org/presentationml/2006/ole">
            <mc:AlternateContent xmlns:mc="http://schemas.openxmlformats.org/markup-compatibility/2006">
              <mc:Choice xmlns:v="urn:schemas-microsoft-com:vml" Requires="v">
                <p:oleObj name="Equation" r:id="rId5" imgW="958112" imgH="108731" progId="Equation.3">
                  <p:embed/>
                </p:oleObj>
              </mc:Choice>
              <mc:Fallback>
                <p:oleObj name="Equation" r:id="rId5" imgW="958112" imgH="108731" progId="Equation.3">
                  <p:embed/>
                  <p:pic>
                    <p:nvPicPr>
                      <p:cNvPr id="179214" name="Object 14">
                        <a:extLst>
                          <a:ext uri="{FF2B5EF4-FFF2-40B4-BE49-F238E27FC236}">
                            <a16:creationId xmlns:a16="http://schemas.microsoft.com/office/drawing/2014/main" id="{E5A5EBBA-67AD-458C-8CFE-3CF1ABC5725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94150" y="3276600"/>
                        <a:ext cx="2209800" cy="425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9215" name="Object 15">
            <a:extLst>
              <a:ext uri="{FF2B5EF4-FFF2-40B4-BE49-F238E27FC236}">
                <a16:creationId xmlns:a16="http://schemas.microsoft.com/office/drawing/2014/main" id="{1776D21E-4132-6EBA-D0CC-84598C3F9219}"/>
              </a:ext>
            </a:extLst>
          </p:cNvPr>
          <p:cNvGraphicFramePr>
            <a:graphicFrameLocks noChangeAspect="1"/>
          </p:cNvGraphicFramePr>
          <p:nvPr/>
        </p:nvGraphicFramePr>
        <p:xfrm>
          <a:off x="5365750" y="2841626"/>
          <a:ext cx="2343150" cy="479425"/>
        </p:xfrm>
        <a:graphic>
          <a:graphicData uri="http://schemas.openxmlformats.org/presentationml/2006/ole">
            <mc:AlternateContent xmlns:mc="http://schemas.openxmlformats.org/markup-compatibility/2006">
              <mc:Choice xmlns:v="urn:schemas-microsoft-com:vml" Requires="v">
                <p:oleObj name="Equation" r:id="rId7" imgW="1023384" imgH="135914" progId="Equation.3">
                  <p:embed/>
                </p:oleObj>
              </mc:Choice>
              <mc:Fallback>
                <p:oleObj name="Equation" r:id="rId7" imgW="1023384" imgH="135914" progId="Equation.3">
                  <p:embed/>
                  <p:pic>
                    <p:nvPicPr>
                      <p:cNvPr id="179215" name="Object 15">
                        <a:extLst>
                          <a:ext uri="{FF2B5EF4-FFF2-40B4-BE49-F238E27FC236}">
                            <a16:creationId xmlns:a16="http://schemas.microsoft.com/office/drawing/2014/main" id="{1776D21E-4132-6EBA-D0CC-84598C3F921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65750" y="2841626"/>
                        <a:ext cx="2343150"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9216" name="Object 16">
            <a:extLst>
              <a:ext uri="{FF2B5EF4-FFF2-40B4-BE49-F238E27FC236}">
                <a16:creationId xmlns:a16="http://schemas.microsoft.com/office/drawing/2014/main" id="{E3D2FCC7-14DB-EB66-C8E8-93757C485854}"/>
              </a:ext>
            </a:extLst>
          </p:cNvPr>
          <p:cNvGraphicFramePr>
            <a:graphicFrameLocks noChangeAspect="1"/>
          </p:cNvGraphicFramePr>
          <p:nvPr/>
        </p:nvGraphicFramePr>
        <p:xfrm>
          <a:off x="4603750" y="3232151"/>
          <a:ext cx="958850" cy="904875"/>
        </p:xfrm>
        <a:graphic>
          <a:graphicData uri="http://schemas.openxmlformats.org/presentationml/2006/ole">
            <mc:AlternateContent xmlns:mc="http://schemas.openxmlformats.org/markup-compatibility/2006">
              <mc:Choice xmlns:v="urn:schemas-microsoft-com:vml" Requires="v">
                <p:oleObj name="Equation" r:id="rId9" imgW="364576" imgH="337407" progId="Equation.3">
                  <p:embed/>
                </p:oleObj>
              </mc:Choice>
              <mc:Fallback>
                <p:oleObj name="Equation" r:id="rId9" imgW="364576" imgH="337407" progId="Equation.3">
                  <p:embed/>
                  <p:pic>
                    <p:nvPicPr>
                      <p:cNvPr id="179216" name="Object 16">
                        <a:extLst>
                          <a:ext uri="{FF2B5EF4-FFF2-40B4-BE49-F238E27FC236}">
                            <a16:creationId xmlns:a16="http://schemas.microsoft.com/office/drawing/2014/main" id="{E3D2FCC7-14DB-EB66-C8E8-93757C48585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03750" y="3232151"/>
                        <a:ext cx="958850" cy="904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9217" name="Object 17">
            <a:extLst>
              <a:ext uri="{FF2B5EF4-FFF2-40B4-BE49-F238E27FC236}">
                <a16:creationId xmlns:a16="http://schemas.microsoft.com/office/drawing/2014/main" id="{2698236E-AD33-333B-6CC3-A24ADD567715}"/>
              </a:ext>
            </a:extLst>
          </p:cNvPr>
          <p:cNvGraphicFramePr>
            <a:graphicFrameLocks noChangeAspect="1"/>
          </p:cNvGraphicFramePr>
          <p:nvPr/>
        </p:nvGraphicFramePr>
        <p:xfrm>
          <a:off x="5761038" y="3756025"/>
          <a:ext cx="1357312" cy="425450"/>
        </p:xfrm>
        <a:graphic>
          <a:graphicData uri="http://schemas.openxmlformats.org/presentationml/2006/ole">
            <mc:AlternateContent xmlns:mc="http://schemas.openxmlformats.org/markup-compatibility/2006">
              <mc:Choice xmlns:v="urn:schemas-microsoft-com:vml" Requires="v">
                <p:oleObj name="Equation" r:id="rId11" imgW="555319" imgH="108731" progId="Equation.3">
                  <p:embed/>
                </p:oleObj>
              </mc:Choice>
              <mc:Fallback>
                <p:oleObj name="Equation" r:id="rId11" imgW="555319" imgH="108731" progId="Equation.3">
                  <p:embed/>
                  <p:pic>
                    <p:nvPicPr>
                      <p:cNvPr id="179217" name="Object 17">
                        <a:extLst>
                          <a:ext uri="{FF2B5EF4-FFF2-40B4-BE49-F238E27FC236}">
                            <a16:creationId xmlns:a16="http://schemas.microsoft.com/office/drawing/2014/main" id="{2698236E-AD33-333B-6CC3-A24ADD56771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61038" y="3756025"/>
                        <a:ext cx="1357312" cy="425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9218" name="Object 18">
            <a:extLst>
              <a:ext uri="{FF2B5EF4-FFF2-40B4-BE49-F238E27FC236}">
                <a16:creationId xmlns:a16="http://schemas.microsoft.com/office/drawing/2014/main" id="{5F731626-6585-8113-E960-F6D3DA0A33AE}"/>
              </a:ext>
            </a:extLst>
          </p:cNvPr>
          <p:cNvGraphicFramePr>
            <a:graphicFrameLocks noChangeAspect="1"/>
          </p:cNvGraphicFramePr>
          <p:nvPr/>
        </p:nvGraphicFramePr>
        <p:xfrm>
          <a:off x="6858000" y="3276601"/>
          <a:ext cx="2343150" cy="479425"/>
        </p:xfrm>
        <a:graphic>
          <a:graphicData uri="http://schemas.openxmlformats.org/presentationml/2006/ole">
            <mc:AlternateContent xmlns:mc="http://schemas.openxmlformats.org/markup-compatibility/2006">
              <mc:Choice xmlns:v="urn:schemas-microsoft-com:vml" Requires="v">
                <p:oleObj name="Equation" r:id="rId13" imgW="1023384" imgH="135914" progId="Equation.3">
                  <p:embed/>
                </p:oleObj>
              </mc:Choice>
              <mc:Fallback>
                <p:oleObj name="Equation" r:id="rId13" imgW="1023384" imgH="135914" progId="Equation.3">
                  <p:embed/>
                  <p:pic>
                    <p:nvPicPr>
                      <p:cNvPr id="179218" name="Object 18">
                        <a:extLst>
                          <a:ext uri="{FF2B5EF4-FFF2-40B4-BE49-F238E27FC236}">
                            <a16:creationId xmlns:a16="http://schemas.microsoft.com/office/drawing/2014/main" id="{5F731626-6585-8113-E960-F6D3DA0A33A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858000" y="3276601"/>
                        <a:ext cx="2343150"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9219" name="Object 19">
            <a:extLst>
              <a:ext uri="{FF2B5EF4-FFF2-40B4-BE49-F238E27FC236}">
                <a16:creationId xmlns:a16="http://schemas.microsoft.com/office/drawing/2014/main" id="{A31D0CCE-E72D-B21C-C47F-9E0DFA2F2706}"/>
              </a:ext>
            </a:extLst>
          </p:cNvPr>
          <p:cNvGraphicFramePr>
            <a:graphicFrameLocks noChangeAspect="1"/>
          </p:cNvGraphicFramePr>
          <p:nvPr/>
        </p:nvGraphicFramePr>
        <p:xfrm>
          <a:off x="7346951" y="3756025"/>
          <a:ext cx="1541463" cy="425450"/>
        </p:xfrm>
        <a:graphic>
          <a:graphicData uri="http://schemas.openxmlformats.org/presentationml/2006/ole">
            <mc:AlternateContent xmlns:mc="http://schemas.openxmlformats.org/markup-compatibility/2006">
              <mc:Choice xmlns:v="urn:schemas-microsoft-com:vml" Requires="v">
                <p:oleObj name="Equation" r:id="rId15" imgW="642236" imgH="108731" progId="Equation.3">
                  <p:embed/>
                </p:oleObj>
              </mc:Choice>
              <mc:Fallback>
                <p:oleObj name="Equation" r:id="rId15" imgW="642236" imgH="108731" progId="Equation.3">
                  <p:embed/>
                  <p:pic>
                    <p:nvPicPr>
                      <p:cNvPr id="179219" name="Object 19">
                        <a:extLst>
                          <a:ext uri="{FF2B5EF4-FFF2-40B4-BE49-F238E27FC236}">
                            <a16:creationId xmlns:a16="http://schemas.microsoft.com/office/drawing/2014/main" id="{A31D0CCE-E72D-B21C-C47F-9E0DFA2F270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346951" y="3756025"/>
                        <a:ext cx="1541463" cy="425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9220" name="Object 20">
            <a:extLst>
              <a:ext uri="{FF2B5EF4-FFF2-40B4-BE49-F238E27FC236}">
                <a16:creationId xmlns:a16="http://schemas.microsoft.com/office/drawing/2014/main" id="{6A90F0D4-E10C-834B-2A8B-D44D681A4C39}"/>
              </a:ext>
            </a:extLst>
          </p:cNvPr>
          <p:cNvGraphicFramePr>
            <a:graphicFrameLocks noChangeAspect="1"/>
          </p:cNvGraphicFramePr>
          <p:nvPr/>
        </p:nvGraphicFramePr>
        <p:xfrm>
          <a:off x="8204200" y="2841626"/>
          <a:ext cx="2343150" cy="479425"/>
        </p:xfrm>
        <a:graphic>
          <a:graphicData uri="http://schemas.openxmlformats.org/presentationml/2006/ole">
            <mc:AlternateContent xmlns:mc="http://schemas.openxmlformats.org/markup-compatibility/2006">
              <mc:Choice xmlns:v="urn:schemas-microsoft-com:vml" Requires="v">
                <p:oleObj name="Equation" r:id="rId17" imgW="1023384" imgH="135914" progId="Equation.3">
                  <p:embed/>
                </p:oleObj>
              </mc:Choice>
              <mc:Fallback>
                <p:oleObj name="Equation" r:id="rId17" imgW="1023384" imgH="135914" progId="Equation.3">
                  <p:embed/>
                  <p:pic>
                    <p:nvPicPr>
                      <p:cNvPr id="179220" name="Object 20">
                        <a:extLst>
                          <a:ext uri="{FF2B5EF4-FFF2-40B4-BE49-F238E27FC236}">
                            <a16:creationId xmlns:a16="http://schemas.microsoft.com/office/drawing/2014/main" id="{6A90F0D4-E10C-834B-2A8B-D44D681A4C39}"/>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204200" y="2841626"/>
                        <a:ext cx="2343150"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9221" name="Object 21">
            <a:extLst>
              <a:ext uri="{FF2B5EF4-FFF2-40B4-BE49-F238E27FC236}">
                <a16:creationId xmlns:a16="http://schemas.microsoft.com/office/drawing/2014/main" id="{E9A1744E-930E-03C5-D50C-05D4A7AAC876}"/>
              </a:ext>
            </a:extLst>
          </p:cNvPr>
          <p:cNvGraphicFramePr>
            <a:graphicFrameLocks noChangeAspect="1"/>
          </p:cNvGraphicFramePr>
          <p:nvPr/>
        </p:nvGraphicFramePr>
        <p:xfrm>
          <a:off x="9009064" y="3756025"/>
          <a:ext cx="1462087" cy="425450"/>
        </p:xfrm>
        <a:graphic>
          <a:graphicData uri="http://schemas.openxmlformats.org/presentationml/2006/ole">
            <mc:AlternateContent xmlns:mc="http://schemas.openxmlformats.org/markup-compatibility/2006">
              <mc:Choice xmlns:v="urn:schemas-microsoft-com:vml" Requires="v">
                <p:oleObj name="Equation" r:id="rId19" imgW="604020" imgH="108731" progId="Equation.3">
                  <p:embed/>
                </p:oleObj>
              </mc:Choice>
              <mc:Fallback>
                <p:oleObj name="Equation" r:id="rId19" imgW="604020" imgH="108731" progId="Equation.3">
                  <p:embed/>
                  <p:pic>
                    <p:nvPicPr>
                      <p:cNvPr id="179221" name="Object 21">
                        <a:extLst>
                          <a:ext uri="{FF2B5EF4-FFF2-40B4-BE49-F238E27FC236}">
                            <a16:creationId xmlns:a16="http://schemas.microsoft.com/office/drawing/2014/main" id="{E9A1744E-930E-03C5-D50C-05D4A7AAC876}"/>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009064" y="3756025"/>
                        <a:ext cx="1462087" cy="425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9222" name="Rectangle 22">
            <a:extLst>
              <a:ext uri="{FF2B5EF4-FFF2-40B4-BE49-F238E27FC236}">
                <a16:creationId xmlns:a16="http://schemas.microsoft.com/office/drawing/2014/main" id="{A3601911-BBAF-FDFA-BC08-8A18C6B51517}"/>
              </a:ext>
            </a:extLst>
          </p:cNvPr>
          <p:cNvSpPr>
            <a:spLocks noChangeArrowheads="1"/>
          </p:cNvSpPr>
          <p:nvPr/>
        </p:nvSpPr>
        <p:spPr bwMode="auto">
          <a:xfrm>
            <a:off x="2089150" y="5497513"/>
            <a:ext cx="1555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400">
                <a:solidFill>
                  <a:srgbClr val="663300"/>
                </a:solidFill>
                <a:cs typeface="Times New Roman" panose="02020603050405020304" pitchFamily="18" charset="0"/>
              </a:rPr>
              <a:t>$34,706.26</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499"/>
                                          </p:stCondLst>
                                        </p:cTn>
                                        <p:tgtEl>
                                          <p:spTgt spid="179213"/>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499"/>
                                          </p:stCondLst>
                                        </p:cTn>
                                        <p:tgtEl>
                                          <p:spTgt spid="179214"/>
                                        </p:tgtEl>
                                        <p:attrNameLst>
                                          <p:attrName>style.visibility</p:attrName>
                                        </p:attrNameLst>
                                      </p:cBhvr>
                                      <p:to>
                                        <p:strVal val="visible"/>
                                      </p:to>
                                    </p:set>
                                  </p:childTnLst>
                                  <p:subTnLst>
                                    <p:set>
                                      <p:cBhvr override="childStyle">
                                        <p:cTn dur="1" fill="hold" display="0" masterRel="nextClick" afterEffect="1"/>
                                        <p:tgtEl>
                                          <p:spTgt spid="179214"/>
                                        </p:tgtEl>
                                        <p:attrNameLst>
                                          <p:attrName>style.visibility</p:attrName>
                                        </p:attrNameLst>
                                      </p:cBhvr>
                                      <p:to>
                                        <p:strVal val="hidden"/>
                                      </p:to>
                                    </p:set>
                                  </p:sub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499"/>
                                          </p:stCondLst>
                                        </p:cTn>
                                        <p:tgtEl>
                                          <p:spTgt spid="179216"/>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499"/>
                                          </p:stCondLst>
                                        </p:cTn>
                                        <p:tgtEl>
                                          <p:spTgt spid="179215"/>
                                        </p:tgtEl>
                                        <p:attrNameLst>
                                          <p:attrName>style.visibility</p:attrName>
                                        </p:attrNameLst>
                                      </p:cBhvr>
                                      <p:to>
                                        <p:strVal val="visible"/>
                                      </p:to>
                                    </p:set>
                                  </p:childTnLst>
                                  <p:subTnLst>
                                    <p:set>
                                      <p:cBhvr override="childStyle">
                                        <p:cTn dur="1" fill="hold" display="0" masterRel="nextClick" afterEffect="1"/>
                                        <p:tgtEl>
                                          <p:spTgt spid="179215"/>
                                        </p:tgtEl>
                                        <p:attrNameLst>
                                          <p:attrName>style.visibility</p:attrName>
                                        </p:attrNameLst>
                                      </p:cBhvr>
                                      <p:to>
                                        <p:strVal val="hidden"/>
                                      </p:to>
                                    </p:set>
                                  </p:sub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499"/>
                                          </p:stCondLst>
                                        </p:cTn>
                                        <p:tgtEl>
                                          <p:spTgt spid="179217"/>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499"/>
                                          </p:stCondLst>
                                        </p:cTn>
                                        <p:tgtEl>
                                          <p:spTgt spid="179218"/>
                                        </p:tgtEl>
                                        <p:attrNameLst>
                                          <p:attrName>style.visibility</p:attrName>
                                        </p:attrNameLst>
                                      </p:cBhvr>
                                      <p:to>
                                        <p:strVal val="visible"/>
                                      </p:to>
                                    </p:set>
                                  </p:childTnLst>
                                  <p:subTnLst>
                                    <p:set>
                                      <p:cBhvr override="childStyle">
                                        <p:cTn dur="1" fill="hold" display="0" masterRel="nextClick" afterEffect="1"/>
                                        <p:tgtEl>
                                          <p:spTgt spid="179218"/>
                                        </p:tgtEl>
                                        <p:attrNameLst>
                                          <p:attrName>style.visibility</p:attrName>
                                        </p:attrNameLst>
                                      </p:cBhvr>
                                      <p:to>
                                        <p:strVal val="hidden"/>
                                      </p:to>
                                    </p:set>
                                  </p:sub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nodeType="clickEffect">
                                  <p:stCondLst>
                                    <p:cond delay="0"/>
                                  </p:stCondLst>
                                  <p:childTnLst>
                                    <p:set>
                                      <p:cBhvr>
                                        <p:cTn id="35" dur="1" fill="hold">
                                          <p:stCondLst>
                                            <p:cond delay="499"/>
                                          </p:stCondLst>
                                        </p:cTn>
                                        <p:tgtEl>
                                          <p:spTgt spid="179219"/>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499"/>
                                          </p:stCondLst>
                                        </p:cTn>
                                        <p:tgtEl>
                                          <p:spTgt spid="179220"/>
                                        </p:tgtEl>
                                        <p:attrNameLst>
                                          <p:attrName>style.visibility</p:attrName>
                                        </p:attrNameLst>
                                      </p:cBhvr>
                                      <p:to>
                                        <p:strVal val="visible"/>
                                      </p:to>
                                    </p:set>
                                  </p:childTnLst>
                                  <p:subTnLst>
                                    <p:set>
                                      <p:cBhvr override="childStyle">
                                        <p:cTn dur="1" fill="hold" display="0" masterRel="nextClick" afterEffect="1"/>
                                        <p:tgtEl>
                                          <p:spTgt spid="179220"/>
                                        </p:tgtEl>
                                        <p:attrNameLst>
                                          <p:attrName>style.visibility</p:attrName>
                                        </p:attrNameLst>
                                      </p:cBhvr>
                                      <p:to>
                                        <p:strVal val="hidden"/>
                                      </p:to>
                                    </p:set>
                                  </p:sub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nodeType="clickEffect">
                                  <p:stCondLst>
                                    <p:cond delay="0"/>
                                  </p:stCondLst>
                                  <p:childTnLst>
                                    <p:set>
                                      <p:cBhvr>
                                        <p:cTn id="43" dur="1" fill="hold">
                                          <p:stCondLst>
                                            <p:cond delay="499"/>
                                          </p:stCondLst>
                                        </p:cTn>
                                        <p:tgtEl>
                                          <p:spTgt spid="179221"/>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grpId="0" nodeType="clickEffect">
                                  <p:stCondLst>
                                    <p:cond delay="0"/>
                                  </p:stCondLst>
                                  <p:childTnLst>
                                    <p:set>
                                      <p:cBhvr>
                                        <p:cTn id="47" dur="1" fill="hold">
                                          <p:stCondLst>
                                            <p:cond delay="499"/>
                                          </p:stCondLst>
                                        </p:cTn>
                                        <p:tgtEl>
                                          <p:spTgt spid="1792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22"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5" name="Rectangle 3">
            <a:extLst>
              <a:ext uri="{FF2B5EF4-FFF2-40B4-BE49-F238E27FC236}">
                <a16:creationId xmlns:a16="http://schemas.microsoft.com/office/drawing/2014/main" id="{267DB20D-F633-A3E1-53F0-363756688FA4}"/>
              </a:ext>
            </a:extLst>
          </p:cNvPr>
          <p:cNvSpPr>
            <a:spLocks noGrp="1"/>
          </p:cNvSpPr>
          <p:nvPr>
            <p:ph idx="1"/>
          </p:nvPr>
        </p:nvSpPr>
        <p:spPr/>
        <p:txBody>
          <a:bodyPr/>
          <a:lstStyle/>
          <a:p>
            <a:pPr eaLnBrk="1" hangingPunct="1"/>
            <a:r>
              <a:rPr lang="en-US" altLang="en-US" sz="2800">
                <a:latin typeface="Times New Roman" panose="02020603050405020304" pitchFamily="18" charset="0"/>
                <a:ea typeface="ＭＳ Ｐゴシック" panose="020B0600070205080204" pitchFamily="34" charset="-128"/>
              </a:rPr>
              <a:t>Pure Discount Loans are the simplest form of loan. The borrower receives money today and repays a single lump sum (principal and interest) at a future time.</a:t>
            </a:r>
          </a:p>
          <a:p>
            <a:pPr eaLnBrk="1" hangingPunct="1"/>
            <a:r>
              <a:rPr lang="en-US" altLang="en-US" sz="2800">
                <a:latin typeface="Times New Roman" panose="02020603050405020304" pitchFamily="18" charset="0"/>
                <a:ea typeface="ＭＳ Ｐゴシック" panose="020B0600070205080204" pitchFamily="34" charset="-128"/>
              </a:rPr>
              <a:t>Interest-Only Loans require an interest payment each period, with full principal due at maturity.</a:t>
            </a:r>
          </a:p>
          <a:p>
            <a:pPr eaLnBrk="1" hangingPunct="1"/>
            <a:r>
              <a:rPr lang="en-US" altLang="en-US" sz="2800">
                <a:latin typeface="Times New Roman" panose="02020603050405020304" pitchFamily="18" charset="0"/>
                <a:ea typeface="ＭＳ Ｐゴシック" panose="020B0600070205080204" pitchFamily="34" charset="-128"/>
              </a:rPr>
              <a:t>Amortized Loans require repayment of principal over time, in addition to required interest.</a:t>
            </a:r>
          </a:p>
        </p:txBody>
      </p:sp>
      <p:sp>
        <p:nvSpPr>
          <p:cNvPr id="84994" name="Rectangle 2">
            <a:extLst>
              <a:ext uri="{FF2B5EF4-FFF2-40B4-BE49-F238E27FC236}">
                <a16:creationId xmlns:a16="http://schemas.microsoft.com/office/drawing/2014/main" id="{F6B3406B-6576-8C8F-3292-007852C07E6A}"/>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Loan Amortization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243715">
                                            <p:txEl>
                                              <p:pRg st="0" end="0"/>
                                            </p:txEl>
                                          </p:spTgt>
                                        </p:tgtEl>
                                        <p:attrNameLst>
                                          <p:attrName>style.visibility</p:attrName>
                                        </p:attrNameLst>
                                      </p:cBhvr>
                                      <p:to>
                                        <p:strVal val="visible"/>
                                      </p:to>
                                    </p:set>
                                    <p:animEffect transition="in" filter="fade">
                                      <p:cBhvr>
                                        <p:cTn id="7" dur="1000"/>
                                        <p:tgtEl>
                                          <p:spTgt spid="243715">
                                            <p:txEl>
                                              <p:pRg st="0" end="0"/>
                                            </p:txEl>
                                          </p:spTgt>
                                        </p:tgtEl>
                                      </p:cBhvr>
                                    </p:animEffect>
                                    <p:anim calcmode="lin" valueType="num">
                                      <p:cBhvr>
                                        <p:cTn id="8" dur="1000" fill="hold"/>
                                        <p:tgtEl>
                                          <p:spTgt spid="24371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4371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243715">
                                            <p:txEl>
                                              <p:pRg st="1" end="1"/>
                                            </p:txEl>
                                          </p:spTgt>
                                        </p:tgtEl>
                                        <p:attrNameLst>
                                          <p:attrName>style.visibility</p:attrName>
                                        </p:attrNameLst>
                                      </p:cBhvr>
                                      <p:to>
                                        <p:strVal val="visible"/>
                                      </p:to>
                                    </p:set>
                                    <p:animEffect transition="in" filter="fade">
                                      <p:cBhvr>
                                        <p:cTn id="14" dur="1000"/>
                                        <p:tgtEl>
                                          <p:spTgt spid="243715">
                                            <p:txEl>
                                              <p:pRg st="1" end="1"/>
                                            </p:txEl>
                                          </p:spTgt>
                                        </p:tgtEl>
                                      </p:cBhvr>
                                    </p:animEffect>
                                    <p:anim calcmode="lin" valueType="num">
                                      <p:cBhvr>
                                        <p:cTn id="15" dur="1000" fill="hold"/>
                                        <p:tgtEl>
                                          <p:spTgt spid="24371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4371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243715">
                                            <p:txEl>
                                              <p:pRg st="2" end="2"/>
                                            </p:txEl>
                                          </p:spTgt>
                                        </p:tgtEl>
                                        <p:attrNameLst>
                                          <p:attrName>style.visibility</p:attrName>
                                        </p:attrNameLst>
                                      </p:cBhvr>
                                      <p:to>
                                        <p:strVal val="visible"/>
                                      </p:to>
                                    </p:set>
                                    <p:animEffect transition="in" filter="fade">
                                      <p:cBhvr>
                                        <p:cTn id="21" dur="1000"/>
                                        <p:tgtEl>
                                          <p:spTgt spid="243715">
                                            <p:txEl>
                                              <p:pRg st="2" end="2"/>
                                            </p:txEl>
                                          </p:spTgt>
                                        </p:tgtEl>
                                      </p:cBhvr>
                                    </p:animEffect>
                                    <p:anim calcmode="lin" valueType="num">
                                      <p:cBhvr>
                                        <p:cTn id="22" dur="1000" fill="hold"/>
                                        <p:tgtEl>
                                          <p:spTgt spid="24371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4371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9" name="Rectangle 3">
            <a:extLst>
              <a:ext uri="{FF2B5EF4-FFF2-40B4-BE49-F238E27FC236}">
                <a16:creationId xmlns:a16="http://schemas.microsoft.com/office/drawing/2014/main" id="{273DBC9F-92E8-B55E-DC8E-62F00B30D903}"/>
              </a:ext>
            </a:extLst>
          </p:cNvPr>
          <p:cNvSpPr>
            <a:spLocks noGrp="1"/>
          </p:cNvSpPr>
          <p:nvPr>
            <p:ph idx="1"/>
          </p:nvPr>
        </p:nvSpPr>
        <p:spPr/>
        <p:txBody>
          <a:bodyPr/>
          <a:lstStyle/>
          <a:p>
            <a:pPr marL="342900" indent="-342900" eaLnBrk="1" hangingPunct="1"/>
            <a:r>
              <a:rPr lang="en-US" altLang="en-US">
                <a:latin typeface="Times New Roman" panose="02020603050405020304" pitchFamily="18" charset="0"/>
                <a:ea typeface="ＭＳ Ｐゴシック" panose="020B0600070205080204" pitchFamily="34" charset="-128"/>
              </a:rPr>
              <a:t>Treasury bills are excellent examples of pure discount loans.  The principal amount is repaid at some future date, without any periodic interest payments.</a:t>
            </a:r>
          </a:p>
          <a:p>
            <a:pPr marL="342900" indent="-342900" eaLnBrk="1" hangingPunct="1"/>
            <a:r>
              <a:rPr lang="en-US" altLang="en-US">
                <a:latin typeface="Times New Roman" panose="02020603050405020304" pitchFamily="18" charset="0"/>
                <a:ea typeface="ＭＳ Ｐゴシック" panose="020B0600070205080204" pitchFamily="34" charset="-128"/>
              </a:rPr>
              <a:t>If a T-bill promises to repay  $10,000 in 12 months and the market interest rate is 7 percent, how much will the bill sell for in the market?</a:t>
            </a:r>
          </a:p>
          <a:p>
            <a:pPr marL="742950" lvl="1" indent="-285750" eaLnBrk="1" hangingPunct="1"/>
            <a:r>
              <a:rPr lang="en-US" altLang="en-US">
                <a:latin typeface="Times New Roman" panose="02020603050405020304" pitchFamily="18" charset="0"/>
                <a:ea typeface="ＭＳ Ｐゴシック" panose="020B0600070205080204" pitchFamily="34" charset="-128"/>
              </a:rPr>
              <a:t>PV = 10,000 / 1.07 = 9,345.79</a:t>
            </a:r>
          </a:p>
        </p:txBody>
      </p:sp>
      <p:sp>
        <p:nvSpPr>
          <p:cNvPr id="87042" name="Rectangle 2">
            <a:extLst>
              <a:ext uri="{FF2B5EF4-FFF2-40B4-BE49-F238E27FC236}">
                <a16:creationId xmlns:a16="http://schemas.microsoft.com/office/drawing/2014/main" id="{2935335C-BEC3-9442-2133-A064C9149C2E}"/>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Pure Discount Loans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244739">
                                            <p:txEl>
                                              <p:pRg st="0" end="0"/>
                                            </p:txEl>
                                          </p:spTgt>
                                        </p:tgtEl>
                                        <p:attrNameLst>
                                          <p:attrName>style.visibility</p:attrName>
                                        </p:attrNameLst>
                                      </p:cBhvr>
                                      <p:to>
                                        <p:strVal val="visible"/>
                                      </p:to>
                                    </p:set>
                                    <p:animEffect transition="in" filter="fade">
                                      <p:cBhvr>
                                        <p:cTn id="7" dur="1000"/>
                                        <p:tgtEl>
                                          <p:spTgt spid="244739">
                                            <p:txEl>
                                              <p:pRg st="0" end="0"/>
                                            </p:txEl>
                                          </p:spTgt>
                                        </p:tgtEl>
                                      </p:cBhvr>
                                    </p:animEffect>
                                    <p:anim calcmode="lin" valueType="num">
                                      <p:cBhvr>
                                        <p:cTn id="8" dur="1000" fill="hold"/>
                                        <p:tgtEl>
                                          <p:spTgt spid="24473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4473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244739">
                                            <p:txEl>
                                              <p:pRg st="1" end="1"/>
                                            </p:txEl>
                                          </p:spTgt>
                                        </p:tgtEl>
                                        <p:attrNameLst>
                                          <p:attrName>style.visibility</p:attrName>
                                        </p:attrNameLst>
                                      </p:cBhvr>
                                      <p:to>
                                        <p:strVal val="visible"/>
                                      </p:to>
                                    </p:set>
                                    <p:animEffect transition="in" filter="fade">
                                      <p:cBhvr>
                                        <p:cTn id="14" dur="1000"/>
                                        <p:tgtEl>
                                          <p:spTgt spid="244739">
                                            <p:txEl>
                                              <p:pRg st="1" end="1"/>
                                            </p:txEl>
                                          </p:spTgt>
                                        </p:tgtEl>
                                      </p:cBhvr>
                                    </p:animEffect>
                                    <p:anim calcmode="lin" valueType="num">
                                      <p:cBhvr>
                                        <p:cTn id="15" dur="1000" fill="hold"/>
                                        <p:tgtEl>
                                          <p:spTgt spid="24473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4473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244739">
                                            <p:txEl>
                                              <p:pRg st="2" end="2"/>
                                            </p:txEl>
                                          </p:spTgt>
                                        </p:tgtEl>
                                        <p:attrNameLst>
                                          <p:attrName>style.visibility</p:attrName>
                                        </p:attrNameLst>
                                      </p:cBhvr>
                                      <p:to>
                                        <p:strVal val="visible"/>
                                      </p:to>
                                    </p:set>
                                    <p:animEffect transition="in" filter="fade">
                                      <p:cBhvr>
                                        <p:cTn id="21" dur="1000"/>
                                        <p:tgtEl>
                                          <p:spTgt spid="244739">
                                            <p:txEl>
                                              <p:pRg st="2" end="2"/>
                                            </p:txEl>
                                          </p:spTgt>
                                        </p:tgtEl>
                                      </p:cBhvr>
                                    </p:animEffect>
                                    <p:anim calcmode="lin" valueType="num">
                                      <p:cBhvr>
                                        <p:cTn id="22" dur="1000" fill="hold"/>
                                        <p:tgtEl>
                                          <p:spTgt spid="244739">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44739">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7" name="Rectangle 3">
            <a:extLst>
              <a:ext uri="{FF2B5EF4-FFF2-40B4-BE49-F238E27FC236}">
                <a16:creationId xmlns:a16="http://schemas.microsoft.com/office/drawing/2014/main" id="{7D59007A-574E-CB3A-7C88-15073717850E}"/>
              </a:ext>
            </a:extLst>
          </p:cNvPr>
          <p:cNvSpPr>
            <a:spLocks noGrp="1"/>
          </p:cNvSpPr>
          <p:nvPr>
            <p:ph idx="1"/>
          </p:nvPr>
        </p:nvSpPr>
        <p:spPr>
          <a:xfrm>
            <a:off x="1981200" y="1481138"/>
            <a:ext cx="8229600" cy="3852862"/>
          </a:xfrm>
        </p:spPr>
        <p:txBody>
          <a:bodyPr/>
          <a:lstStyle/>
          <a:p>
            <a:pPr marL="342900" indent="-342900" eaLnBrk="1" hangingPunct="1"/>
            <a:r>
              <a:rPr lang="en-US" altLang="en-US">
                <a:latin typeface="Times New Roman" panose="02020603050405020304" pitchFamily="18" charset="0"/>
                <a:ea typeface="ＭＳ Ｐゴシック" panose="020B0600070205080204" pitchFamily="34" charset="-128"/>
              </a:rPr>
              <a:t>Consider a 5-year, interest-only loan with a 7% interest rate.  The principal amount is $10,000. Interest is paid annually.</a:t>
            </a:r>
          </a:p>
          <a:p>
            <a:pPr marL="742950" lvl="1" indent="-285750" eaLnBrk="1" hangingPunct="1"/>
            <a:r>
              <a:rPr lang="en-US" altLang="en-US">
                <a:latin typeface="Times New Roman" panose="02020603050405020304" pitchFamily="18" charset="0"/>
                <a:ea typeface="ＭＳ Ｐゴシック" panose="020B0600070205080204" pitchFamily="34" charset="-128"/>
              </a:rPr>
              <a:t>What would the stream of cash flows be?</a:t>
            </a:r>
          </a:p>
          <a:p>
            <a:pPr marL="1143000" lvl="2" eaLnBrk="1" hangingPunct="1"/>
            <a:r>
              <a:rPr lang="en-US" altLang="en-US">
                <a:latin typeface="Times New Roman" panose="02020603050405020304" pitchFamily="18" charset="0"/>
                <a:ea typeface="ＭＳ Ｐゴシック" panose="020B0600070205080204" pitchFamily="34" charset="-128"/>
              </a:rPr>
              <a:t>Years 1 – 4: Interest payments of .07(10,000) = 700</a:t>
            </a:r>
          </a:p>
          <a:p>
            <a:pPr marL="1143000" lvl="2" eaLnBrk="1" hangingPunct="1"/>
            <a:r>
              <a:rPr lang="en-US" altLang="en-US">
                <a:latin typeface="Times New Roman" panose="02020603050405020304" pitchFamily="18" charset="0"/>
                <a:ea typeface="ＭＳ Ｐゴシック" panose="020B0600070205080204" pitchFamily="34" charset="-128"/>
              </a:rPr>
              <a:t>Year 5: Interest + principal = 10,700</a:t>
            </a:r>
          </a:p>
          <a:p>
            <a:pPr marL="342900" indent="-342900" eaLnBrk="1" hangingPunct="1"/>
            <a:r>
              <a:rPr lang="en-US" altLang="en-US">
                <a:latin typeface="Times New Roman" panose="02020603050405020304" pitchFamily="18" charset="0"/>
                <a:ea typeface="ＭＳ Ｐゴシック" panose="020B0600070205080204" pitchFamily="34" charset="-128"/>
              </a:rPr>
              <a:t>This cash flow stream is similar to the cash flows on corporate bonds, and we will talk about them in greater detail later.</a:t>
            </a:r>
          </a:p>
        </p:txBody>
      </p:sp>
      <p:sp>
        <p:nvSpPr>
          <p:cNvPr id="89090" name="Rectangle 2">
            <a:extLst>
              <a:ext uri="{FF2B5EF4-FFF2-40B4-BE49-F238E27FC236}">
                <a16:creationId xmlns:a16="http://schemas.microsoft.com/office/drawing/2014/main" id="{D6FB78EE-B42B-9501-8B37-86480C438CC8}"/>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Interest-Only Loan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246787">
                                            <p:txEl>
                                              <p:pRg st="0" end="0"/>
                                            </p:txEl>
                                          </p:spTgt>
                                        </p:tgtEl>
                                        <p:attrNameLst>
                                          <p:attrName>style.visibility</p:attrName>
                                        </p:attrNameLst>
                                      </p:cBhvr>
                                      <p:to>
                                        <p:strVal val="visible"/>
                                      </p:to>
                                    </p:set>
                                    <p:animEffect transition="in" filter="fade">
                                      <p:cBhvr>
                                        <p:cTn id="7" dur="1000"/>
                                        <p:tgtEl>
                                          <p:spTgt spid="246787">
                                            <p:txEl>
                                              <p:pRg st="0" end="0"/>
                                            </p:txEl>
                                          </p:spTgt>
                                        </p:tgtEl>
                                      </p:cBhvr>
                                    </p:animEffect>
                                    <p:anim calcmode="lin" valueType="num">
                                      <p:cBhvr>
                                        <p:cTn id="8" dur="1000" fill="hold"/>
                                        <p:tgtEl>
                                          <p:spTgt spid="24678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4678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246787">
                                            <p:txEl>
                                              <p:pRg st="1" end="1"/>
                                            </p:txEl>
                                          </p:spTgt>
                                        </p:tgtEl>
                                        <p:attrNameLst>
                                          <p:attrName>style.visibility</p:attrName>
                                        </p:attrNameLst>
                                      </p:cBhvr>
                                      <p:to>
                                        <p:strVal val="visible"/>
                                      </p:to>
                                    </p:set>
                                    <p:animEffect transition="in" filter="fade">
                                      <p:cBhvr>
                                        <p:cTn id="14" dur="1000"/>
                                        <p:tgtEl>
                                          <p:spTgt spid="246787">
                                            <p:txEl>
                                              <p:pRg st="1" end="1"/>
                                            </p:txEl>
                                          </p:spTgt>
                                        </p:tgtEl>
                                      </p:cBhvr>
                                    </p:animEffect>
                                    <p:anim calcmode="lin" valueType="num">
                                      <p:cBhvr>
                                        <p:cTn id="15" dur="1000" fill="hold"/>
                                        <p:tgtEl>
                                          <p:spTgt spid="24678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4678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246787">
                                            <p:txEl>
                                              <p:pRg st="2" end="2"/>
                                            </p:txEl>
                                          </p:spTgt>
                                        </p:tgtEl>
                                        <p:attrNameLst>
                                          <p:attrName>style.visibility</p:attrName>
                                        </p:attrNameLst>
                                      </p:cBhvr>
                                      <p:to>
                                        <p:strVal val="visible"/>
                                      </p:to>
                                    </p:set>
                                    <p:animEffect transition="in" filter="fade">
                                      <p:cBhvr>
                                        <p:cTn id="21" dur="1000"/>
                                        <p:tgtEl>
                                          <p:spTgt spid="246787">
                                            <p:txEl>
                                              <p:pRg st="2" end="2"/>
                                            </p:txEl>
                                          </p:spTgt>
                                        </p:tgtEl>
                                      </p:cBhvr>
                                    </p:animEffect>
                                    <p:anim calcmode="lin" valueType="num">
                                      <p:cBhvr>
                                        <p:cTn id="22" dur="1000" fill="hold"/>
                                        <p:tgtEl>
                                          <p:spTgt spid="24678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4678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246787">
                                            <p:txEl>
                                              <p:pRg st="3" end="3"/>
                                            </p:txEl>
                                          </p:spTgt>
                                        </p:tgtEl>
                                        <p:attrNameLst>
                                          <p:attrName>style.visibility</p:attrName>
                                        </p:attrNameLst>
                                      </p:cBhvr>
                                      <p:to>
                                        <p:strVal val="visible"/>
                                      </p:to>
                                    </p:set>
                                    <p:animEffect transition="in" filter="fade">
                                      <p:cBhvr>
                                        <p:cTn id="28" dur="1000"/>
                                        <p:tgtEl>
                                          <p:spTgt spid="246787">
                                            <p:txEl>
                                              <p:pRg st="3" end="3"/>
                                            </p:txEl>
                                          </p:spTgt>
                                        </p:tgtEl>
                                      </p:cBhvr>
                                    </p:animEffect>
                                    <p:anim calcmode="lin" valueType="num">
                                      <p:cBhvr>
                                        <p:cTn id="29" dur="1000" fill="hold"/>
                                        <p:tgtEl>
                                          <p:spTgt spid="24678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4678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nodeType="clickEffect">
                                  <p:stCondLst>
                                    <p:cond delay="0"/>
                                  </p:stCondLst>
                                  <p:childTnLst>
                                    <p:set>
                                      <p:cBhvr>
                                        <p:cTn id="34" dur="1" fill="hold">
                                          <p:stCondLst>
                                            <p:cond delay="0"/>
                                          </p:stCondLst>
                                        </p:cTn>
                                        <p:tgtEl>
                                          <p:spTgt spid="246787">
                                            <p:txEl>
                                              <p:pRg st="4" end="4"/>
                                            </p:txEl>
                                          </p:spTgt>
                                        </p:tgtEl>
                                        <p:attrNameLst>
                                          <p:attrName>style.visibility</p:attrName>
                                        </p:attrNameLst>
                                      </p:cBhvr>
                                      <p:to>
                                        <p:strVal val="visible"/>
                                      </p:to>
                                    </p:set>
                                    <p:animEffect transition="in" filter="fade">
                                      <p:cBhvr>
                                        <p:cTn id="35" dur="1000"/>
                                        <p:tgtEl>
                                          <p:spTgt spid="246787">
                                            <p:txEl>
                                              <p:pRg st="4" end="4"/>
                                            </p:txEl>
                                          </p:spTgt>
                                        </p:tgtEl>
                                      </p:cBhvr>
                                    </p:animEffect>
                                    <p:anim calcmode="lin" valueType="num">
                                      <p:cBhvr>
                                        <p:cTn id="36" dur="1000" fill="hold"/>
                                        <p:tgtEl>
                                          <p:spTgt spid="246787">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4678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9267" name="Rectangle 3">
            <a:extLst>
              <a:ext uri="{FF2B5EF4-FFF2-40B4-BE49-F238E27FC236}">
                <a16:creationId xmlns:a16="http://schemas.microsoft.com/office/drawing/2014/main" id="{9611F124-C8D2-3683-E0BE-070C84E0DD58}"/>
              </a:ext>
            </a:extLst>
          </p:cNvPr>
          <p:cNvSpPr>
            <a:spLocks noGrp="1"/>
          </p:cNvSpPr>
          <p:nvPr>
            <p:ph idx="1"/>
          </p:nvPr>
        </p:nvSpPr>
        <p:spPr/>
        <p:txBody>
          <a:bodyPr/>
          <a:lstStyle/>
          <a:p>
            <a:pPr eaLnBrk="1" hangingPunct="1"/>
            <a:r>
              <a:rPr lang="en-US" altLang="en-US" sz="2800">
                <a:latin typeface="Times New Roman" panose="02020603050405020304" pitchFamily="18" charset="0"/>
                <a:ea typeface="ＭＳ Ｐゴシック" panose="020B0600070205080204" pitchFamily="34" charset="-128"/>
              </a:rPr>
              <a:t>Conceptually, a firm should be worth the present value of the firm’s cash flows.</a:t>
            </a:r>
          </a:p>
          <a:p>
            <a:pPr eaLnBrk="1" hangingPunct="1">
              <a:buFont typeface="Wingdings 3" panose="05040102010807070707" pitchFamily="18" charset="2"/>
              <a:buNone/>
            </a:pPr>
            <a:endParaRPr lang="en-US" altLang="en-US" sz="2800">
              <a:latin typeface="Times New Roman" panose="02020603050405020304" pitchFamily="18" charset="0"/>
              <a:ea typeface="ＭＳ Ｐゴシック" panose="020B0600070205080204" pitchFamily="34" charset="-128"/>
            </a:endParaRPr>
          </a:p>
          <a:p>
            <a:pPr eaLnBrk="1" hangingPunct="1"/>
            <a:r>
              <a:rPr lang="en-US" altLang="en-US" sz="2800">
                <a:latin typeface="Times New Roman" panose="02020603050405020304" pitchFamily="18" charset="0"/>
                <a:ea typeface="ＭＳ Ｐゴシック" panose="020B0600070205080204" pitchFamily="34" charset="-128"/>
              </a:rPr>
              <a:t>The tricky part is determining the size, timing, and </a:t>
            </a:r>
            <a:r>
              <a:rPr lang="en-US" altLang="en-US" sz="2800" i="1">
                <a:latin typeface="Times New Roman" panose="02020603050405020304" pitchFamily="18" charset="0"/>
                <a:ea typeface="ＭＳ Ｐゴシック" panose="020B0600070205080204" pitchFamily="34" charset="-128"/>
              </a:rPr>
              <a:t>risk</a:t>
            </a:r>
            <a:r>
              <a:rPr lang="en-US" altLang="en-US" sz="2800">
                <a:latin typeface="Times New Roman" panose="02020603050405020304" pitchFamily="18" charset="0"/>
                <a:ea typeface="ＭＳ Ｐゴシック" panose="020B0600070205080204" pitchFamily="34" charset="-128"/>
              </a:rPr>
              <a:t> of those cash flows.</a:t>
            </a:r>
          </a:p>
        </p:txBody>
      </p:sp>
      <p:sp>
        <p:nvSpPr>
          <p:cNvPr id="95234" name="Rectangle 2">
            <a:extLst>
              <a:ext uri="{FF2B5EF4-FFF2-40B4-BE49-F238E27FC236}">
                <a16:creationId xmlns:a16="http://schemas.microsoft.com/office/drawing/2014/main" id="{CBF89A1B-2987-627E-E6AA-CA127A108237}"/>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What Is a Firm Worth?</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9267">
                                            <p:txEl>
                                              <p:pRg st="0" end="0"/>
                                            </p:txEl>
                                          </p:spTgt>
                                        </p:tgtEl>
                                        <p:attrNameLst>
                                          <p:attrName>style.visibility</p:attrName>
                                        </p:attrNameLst>
                                      </p:cBhvr>
                                      <p:to>
                                        <p:strVal val="visible"/>
                                      </p:to>
                                    </p:set>
                                    <p:animEffect transition="in" filter="fade">
                                      <p:cBhvr>
                                        <p:cTn id="7" dur="1000"/>
                                        <p:tgtEl>
                                          <p:spTgt spid="139267">
                                            <p:txEl>
                                              <p:pRg st="0" end="0"/>
                                            </p:txEl>
                                          </p:spTgt>
                                        </p:tgtEl>
                                      </p:cBhvr>
                                    </p:animEffect>
                                    <p:anim calcmode="lin" valueType="num">
                                      <p:cBhvr>
                                        <p:cTn id="8" dur="1000" fill="hold"/>
                                        <p:tgtEl>
                                          <p:spTgt spid="13926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3926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39267">
                                            <p:txEl>
                                              <p:pRg st="2" end="2"/>
                                            </p:txEl>
                                          </p:spTgt>
                                        </p:tgtEl>
                                        <p:attrNameLst>
                                          <p:attrName>style.visibility</p:attrName>
                                        </p:attrNameLst>
                                      </p:cBhvr>
                                      <p:to>
                                        <p:strVal val="visible"/>
                                      </p:to>
                                    </p:set>
                                    <p:animEffect transition="in" filter="fade">
                                      <p:cBhvr>
                                        <p:cTn id="14" dur="1000"/>
                                        <p:tgtEl>
                                          <p:spTgt spid="139267">
                                            <p:txEl>
                                              <p:pRg st="2" end="2"/>
                                            </p:txEl>
                                          </p:spTgt>
                                        </p:tgtEl>
                                      </p:cBhvr>
                                    </p:animEffect>
                                    <p:anim calcmode="lin" valueType="num">
                                      <p:cBhvr>
                                        <p:cTn id="15" dur="1000" fill="hold"/>
                                        <p:tgtEl>
                                          <p:spTgt spid="13926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3926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7"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a:extLst>
              <a:ext uri="{FF2B5EF4-FFF2-40B4-BE49-F238E27FC236}">
                <a16:creationId xmlns:a16="http://schemas.microsoft.com/office/drawing/2014/main" id="{8ED9A2F6-42A4-6F9C-722B-ED670275B98A}"/>
              </a:ext>
            </a:extLst>
          </p:cNvPr>
          <p:cNvSpPr>
            <a:spLocks noGrp="1"/>
          </p:cNvSpPr>
          <p:nvPr>
            <p:ph type="subTitle" idx="1"/>
          </p:nvPr>
        </p:nvSpPr>
        <p:spPr>
          <a:xfrm>
            <a:off x="2895600" y="2057400"/>
            <a:ext cx="6400800" cy="1200150"/>
          </a:xfrm>
        </p:spPr>
        <p:txBody>
          <a:bodyPr/>
          <a:lstStyle/>
          <a:p>
            <a:pPr marR="0" algn="ctr" eaLnBrk="1" hangingPunct="1"/>
            <a:r>
              <a:rPr lang="en-US" altLang="en-US" dirty="0">
                <a:ea typeface="ＭＳ Ｐゴシック" panose="020B0600070205080204" pitchFamily="34" charset="-128"/>
              </a:rPr>
              <a:t>Chapter 5: Net Present Value and Other Investment Rules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5395" name="Rectangle 3">
            <a:extLst>
              <a:ext uri="{FF2B5EF4-FFF2-40B4-BE49-F238E27FC236}">
                <a16:creationId xmlns:a16="http://schemas.microsoft.com/office/drawing/2014/main" id="{FF3FD778-D3C8-3B38-30C2-6A853C82AFE0}"/>
              </a:ext>
            </a:extLst>
          </p:cNvPr>
          <p:cNvSpPr>
            <a:spLocks noGrp="1"/>
          </p:cNvSpPr>
          <p:nvPr>
            <p:ph idx="1"/>
          </p:nvPr>
        </p:nvSpPr>
        <p:spPr>
          <a:xfrm>
            <a:off x="1981200" y="1481138"/>
            <a:ext cx="8229600" cy="2328862"/>
          </a:xfrm>
        </p:spPr>
        <p:txBody>
          <a:bodyPr/>
          <a:lstStyle/>
          <a:p>
            <a:pPr marL="342900" indent="-342900" eaLnBrk="1" hangingPunct="1"/>
            <a:r>
              <a:rPr lang="en-US" altLang="en-US" sz="2800">
                <a:latin typeface="Times New Roman" panose="02020603050405020304" pitchFamily="18" charset="0"/>
                <a:ea typeface="ＭＳ Ｐゴシック" panose="020B0600070205080204" pitchFamily="34" charset="-128"/>
              </a:rPr>
              <a:t>Accepting positive NPV projects benefits shareholders.</a:t>
            </a:r>
          </a:p>
          <a:p>
            <a:pPr marL="742950" lvl="1" indent="-285750" eaLnBrk="1" hangingPunct="1">
              <a:buFont typeface="Wingdings" panose="05000000000000000000" pitchFamily="2" charset="2"/>
              <a:buChar char="ü"/>
            </a:pPr>
            <a:r>
              <a:rPr lang="en-US" altLang="en-US" sz="2800">
                <a:latin typeface="Times New Roman" panose="02020603050405020304" pitchFamily="18" charset="0"/>
                <a:ea typeface="ＭＳ Ｐゴシック" panose="020B0600070205080204" pitchFamily="34" charset="-128"/>
              </a:rPr>
              <a:t>NPV uses cash flows</a:t>
            </a:r>
          </a:p>
          <a:p>
            <a:pPr marL="742950" lvl="1" indent="-285750" eaLnBrk="1" hangingPunct="1">
              <a:buFont typeface="Wingdings" panose="05000000000000000000" pitchFamily="2" charset="2"/>
              <a:buChar char="ü"/>
            </a:pPr>
            <a:r>
              <a:rPr lang="en-US" altLang="en-US" sz="2800">
                <a:latin typeface="Times New Roman" panose="02020603050405020304" pitchFamily="18" charset="0"/>
                <a:ea typeface="ＭＳ Ｐゴシック" panose="020B0600070205080204" pitchFamily="34" charset="-128"/>
              </a:rPr>
              <a:t>NPV uses all the cash flows of the project</a:t>
            </a:r>
          </a:p>
          <a:p>
            <a:pPr marL="742950" lvl="1" indent="-285750" eaLnBrk="1" hangingPunct="1">
              <a:buFont typeface="Wingdings" panose="05000000000000000000" pitchFamily="2" charset="2"/>
              <a:buChar char="ü"/>
            </a:pPr>
            <a:r>
              <a:rPr lang="en-US" altLang="en-US" sz="2800">
                <a:latin typeface="Times New Roman" panose="02020603050405020304" pitchFamily="18" charset="0"/>
                <a:ea typeface="ＭＳ Ｐゴシック" panose="020B0600070205080204" pitchFamily="34" charset="-128"/>
              </a:rPr>
              <a:t>NPV discounts the cash flows properly</a:t>
            </a:r>
          </a:p>
        </p:txBody>
      </p:sp>
      <p:sp>
        <p:nvSpPr>
          <p:cNvPr id="11266" name="Rectangle 2">
            <a:extLst>
              <a:ext uri="{FF2B5EF4-FFF2-40B4-BE49-F238E27FC236}">
                <a16:creationId xmlns:a16="http://schemas.microsoft.com/office/drawing/2014/main" id="{198BC7DA-4045-BAC4-3C5B-0826F97770CF}"/>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Why Use Net Present Value?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15395">
                                            <p:txEl>
                                              <p:pRg st="0" end="0"/>
                                            </p:txEl>
                                          </p:spTgt>
                                        </p:tgtEl>
                                        <p:attrNameLst>
                                          <p:attrName>style.visibility</p:attrName>
                                        </p:attrNameLst>
                                      </p:cBhvr>
                                      <p:to>
                                        <p:strVal val="visible"/>
                                      </p:to>
                                    </p:set>
                                    <p:animEffect transition="in" filter="fade">
                                      <p:cBhvr>
                                        <p:cTn id="7" dur="1000"/>
                                        <p:tgtEl>
                                          <p:spTgt spid="315395">
                                            <p:txEl>
                                              <p:pRg st="0" end="0"/>
                                            </p:txEl>
                                          </p:spTgt>
                                        </p:tgtEl>
                                      </p:cBhvr>
                                    </p:animEffect>
                                    <p:anim calcmode="lin" valueType="num">
                                      <p:cBhvr>
                                        <p:cTn id="8" dur="1000" fill="hold"/>
                                        <p:tgtEl>
                                          <p:spTgt spid="31539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1539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15395">
                                            <p:txEl>
                                              <p:pRg st="1" end="1"/>
                                            </p:txEl>
                                          </p:spTgt>
                                        </p:tgtEl>
                                        <p:attrNameLst>
                                          <p:attrName>style.visibility</p:attrName>
                                        </p:attrNameLst>
                                      </p:cBhvr>
                                      <p:to>
                                        <p:strVal val="visible"/>
                                      </p:to>
                                    </p:set>
                                    <p:animEffect transition="in" filter="fade">
                                      <p:cBhvr>
                                        <p:cTn id="12" dur="1000"/>
                                        <p:tgtEl>
                                          <p:spTgt spid="315395">
                                            <p:txEl>
                                              <p:pRg st="1" end="1"/>
                                            </p:txEl>
                                          </p:spTgt>
                                        </p:tgtEl>
                                      </p:cBhvr>
                                    </p:animEffect>
                                    <p:anim calcmode="lin" valueType="num">
                                      <p:cBhvr>
                                        <p:cTn id="13" dur="1000" fill="hold"/>
                                        <p:tgtEl>
                                          <p:spTgt spid="31539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15395">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15395">
                                            <p:txEl>
                                              <p:pRg st="2" end="2"/>
                                            </p:txEl>
                                          </p:spTgt>
                                        </p:tgtEl>
                                        <p:attrNameLst>
                                          <p:attrName>style.visibility</p:attrName>
                                        </p:attrNameLst>
                                      </p:cBhvr>
                                      <p:to>
                                        <p:strVal val="visible"/>
                                      </p:to>
                                    </p:set>
                                    <p:animEffect transition="in" filter="fade">
                                      <p:cBhvr>
                                        <p:cTn id="17" dur="1000"/>
                                        <p:tgtEl>
                                          <p:spTgt spid="315395">
                                            <p:txEl>
                                              <p:pRg st="2" end="2"/>
                                            </p:txEl>
                                          </p:spTgt>
                                        </p:tgtEl>
                                      </p:cBhvr>
                                    </p:animEffect>
                                    <p:anim calcmode="lin" valueType="num">
                                      <p:cBhvr>
                                        <p:cTn id="18" dur="1000" fill="hold"/>
                                        <p:tgtEl>
                                          <p:spTgt spid="315395">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15395">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15395">
                                            <p:txEl>
                                              <p:pRg st="3" end="3"/>
                                            </p:txEl>
                                          </p:spTgt>
                                        </p:tgtEl>
                                        <p:attrNameLst>
                                          <p:attrName>style.visibility</p:attrName>
                                        </p:attrNameLst>
                                      </p:cBhvr>
                                      <p:to>
                                        <p:strVal val="visible"/>
                                      </p:to>
                                    </p:set>
                                    <p:animEffect transition="in" filter="fade">
                                      <p:cBhvr>
                                        <p:cTn id="22" dur="1000"/>
                                        <p:tgtEl>
                                          <p:spTgt spid="315395">
                                            <p:txEl>
                                              <p:pRg st="3" end="3"/>
                                            </p:txEl>
                                          </p:spTgt>
                                        </p:tgtEl>
                                      </p:cBhvr>
                                    </p:animEffect>
                                    <p:anim calcmode="lin" valueType="num">
                                      <p:cBhvr>
                                        <p:cTn id="23" dur="1000" fill="hold"/>
                                        <p:tgtEl>
                                          <p:spTgt spid="315395">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1539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395" grpId="0" build="p"/>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6419" name="Rectangle 3">
            <a:extLst>
              <a:ext uri="{FF2B5EF4-FFF2-40B4-BE49-F238E27FC236}">
                <a16:creationId xmlns:a16="http://schemas.microsoft.com/office/drawing/2014/main" id="{A548D3D6-DC5E-DAE1-B7C9-92DB9DE8F8CC}"/>
              </a:ext>
            </a:extLst>
          </p:cNvPr>
          <p:cNvSpPr>
            <a:spLocks noGrp="1"/>
          </p:cNvSpPr>
          <p:nvPr>
            <p:ph idx="1"/>
          </p:nvPr>
        </p:nvSpPr>
        <p:spPr>
          <a:xfrm>
            <a:off x="1981200" y="1295401"/>
            <a:ext cx="8229600" cy="4525963"/>
          </a:xfrm>
        </p:spPr>
        <p:txBody>
          <a:bodyPr/>
          <a:lstStyle/>
          <a:p>
            <a:pPr marL="342900" indent="-342900" eaLnBrk="1" hangingPunct="1"/>
            <a:r>
              <a:rPr lang="en-US" altLang="en-US" sz="2800">
                <a:latin typeface="Times New Roman" panose="02020603050405020304" pitchFamily="18" charset="0"/>
                <a:ea typeface="ＭＳ Ｐゴシック" panose="020B0600070205080204" pitchFamily="34" charset="-128"/>
              </a:rPr>
              <a:t>Net Present Value (NPV) = </a:t>
            </a:r>
          </a:p>
          <a:p>
            <a:pPr marL="342900" indent="-342900" algn="ctr" eaLnBrk="1" hangingPunct="1">
              <a:buNone/>
            </a:pPr>
            <a:r>
              <a:rPr lang="en-US" altLang="en-US" sz="2800">
                <a:latin typeface="Times New Roman" panose="02020603050405020304" pitchFamily="18" charset="0"/>
                <a:ea typeface="ＭＳ Ｐゴシック" panose="020B0600070205080204" pitchFamily="34" charset="-128"/>
              </a:rPr>
              <a:t>Total PV of future CF’s + Initial Investment</a:t>
            </a:r>
          </a:p>
          <a:p>
            <a:pPr marL="342900" indent="-342900" eaLnBrk="1" hangingPunct="1"/>
            <a:r>
              <a:rPr lang="en-US" altLang="en-US" sz="2800">
                <a:latin typeface="Times New Roman" panose="02020603050405020304" pitchFamily="18" charset="0"/>
                <a:ea typeface="ＭＳ Ｐゴシック" panose="020B0600070205080204" pitchFamily="34" charset="-128"/>
              </a:rPr>
              <a:t>Estimating NPV:</a:t>
            </a:r>
          </a:p>
          <a:p>
            <a:pPr marL="742950" lvl="1" indent="-285750" eaLnBrk="1" hangingPunct="1">
              <a:buNone/>
            </a:pPr>
            <a:r>
              <a:rPr lang="en-US" altLang="en-US" sz="2800">
                <a:latin typeface="Times New Roman" panose="02020603050405020304" pitchFamily="18" charset="0"/>
                <a:ea typeface="ＭＳ Ｐゴシック" panose="020B0600070205080204" pitchFamily="34" charset="-128"/>
              </a:rPr>
              <a:t>1. Estimate future cash flows: how much? and when?</a:t>
            </a:r>
          </a:p>
          <a:p>
            <a:pPr marL="742950" lvl="1" indent="-285750" eaLnBrk="1" hangingPunct="1">
              <a:buNone/>
            </a:pPr>
            <a:r>
              <a:rPr lang="en-US" altLang="en-US" sz="2800">
                <a:latin typeface="Times New Roman" panose="02020603050405020304" pitchFamily="18" charset="0"/>
                <a:ea typeface="ＭＳ Ｐゴシック" panose="020B0600070205080204" pitchFamily="34" charset="-128"/>
              </a:rPr>
              <a:t>2. Estimate discount rate</a:t>
            </a:r>
          </a:p>
          <a:p>
            <a:pPr marL="742950" lvl="1" indent="-285750" eaLnBrk="1" hangingPunct="1">
              <a:buNone/>
            </a:pPr>
            <a:r>
              <a:rPr lang="en-US" altLang="en-US" sz="2800">
                <a:latin typeface="Times New Roman" panose="02020603050405020304" pitchFamily="18" charset="0"/>
                <a:ea typeface="ＭＳ Ｐゴシック" panose="020B0600070205080204" pitchFamily="34" charset="-128"/>
              </a:rPr>
              <a:t>3. Estimate initial costs</a:t>
            </a:r>
          </a:p>
          <a:p>
            <a:pPr marL="342900" indent="-342900" eaLnBrk="1" hangingPunct="1"/>
            <a:r>
              <a:rPr lang="en-US" altLang="en-US" sz="2800">
                <a:latin typeface="Times New Roman" panose="02020603050405020304" pitchFamily="18" charset="0"/>
                <a:ea typeface="ＭＳ Ｐゴシック" panose="020B0600070205080204" pitchFamily="34" charset="-128"/>
              </a:rPr>
              <a:t>Minimum Acceptance Criteria: Accept if NPV &gt; 0</a:t>
            </a:r>
          </a:p>
          <a:p>
            <a:pPr marL="342900" indent="-342900" eaLnBrk="1" hangingPunct="1"/>
            <a:r>
              <a:rPr lang="en-US" altLang="en-US" sz="2800">
                <a:latin typeface="Times New Roman" panose="02020603050405020304" pitchFamily="18" charset="0"/>
                <a:ea typeface="ＭＳ Ｐゴシック" panose="020B0600070205080204" pitchFamily="34" charset="-128"/>
              </a:rPr>
              <a:t>Ranking Criteria: Choose the highest NPV</a:t>
            </a:r>
          </a:p>
        </p:txBody>
      </p:sp>
      <p:sp>
        <p:nvSpPr>
          <p:cNvPr id="13314" name="Rectangle 2">
            <a:extLst>
              <a:ext uri="{FF2B5EF4-FFF2-40B4-BE49-F238E27FC236}">
                <a16:creationId xmlns:a16="http://schemas.microsoft.com/office/drawing/2014/main" id="{97AD0790-AF56-F8CA-7D62-024361648345}"/>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The Net Present Value (NPV) Rule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16419">
                                            <p:txEl>
                                              <p:pRg st="0" end="0"/>
                                            </p:txEl>
                                          </p:spTgt>
                                        </p:tgtEl>
                                        <p:attrNameLst>
                                          <p:attrName>style.visibility</p:attrName>
                                        </p:attrNameLst>
                                      </p:cBhvr>
                                      <p:to>
                                        <p:strVal val="visible"/>
                                      </p:to>
                                    </p:set>
                                    <p:animEffect transition="in" filter="fade">
                                      <p:cBhvr>
                                        <p:cTn id="7" dur="1000"/>
                                        <p:tgtEl>
                                          <p:spTgt spid="316419">
                                            <p:txEl>
                                              <p:pRg st="0" end="0"/>
                                            </p:txEl>
                                          </p:spTgt>
                                        </p:tgtEl>
                                      </p:cBhvr>
                                    </p:animEffect>
                                    <p:anim calcmode="lin" valueType="num">
                                      <p:cBhvr>
                                        <p:cTn id="8" dur="1000" fill="hold"/>
                                        <p:tgtEl>
                                          <p:spTgt spid="31641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1641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16419">
                                            <p:txEl>
                                              <p:pRg st="1" end="1"/>
                                            </p:txEl>
                                          </p:spTgt>
                                        </p:tgtEl>
                                        <p:attrNameLst>
                                          <p:attrName>style.visibility</p:attrName>
                                        </p:attrNameLst>
                                      </p:cBhvr>
                                      <p:to>
                                        <p:strVal val="visible"/>
                                      </p:to>
                                    </p:set>
                                    <p:animEffect transition="in" filter="fade">
                                      <p:cBhvr>
                                        <p:cTn id="14" dur="1000"/>
                                        <p:tgtEl>
                                          <p:spTgt spid="316419">
                                            <p:txEl>
                                              <p:pRg st="1" end="1"/>
                                            </p:txEl>
                                          </p:spTgt>
                                        </p:tgtEl>
                                      </p:cBhvr>
                                    </p:animEffect>
                                    <p:anim calcmode="lin" valueType="num">
                                      <p:cBhvr>
                                        <p:cTn id="15" dur="1000" fill="hold"/>
                                        <p:tgtEl>
                                          <p:spTgt spid="31641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1641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16419">
                                            <p:txEl>
                                              <p:pRg st="2" end="2"/>
                                            </p:txEl>
                                          </p:spTgt>
                                        </p:tgtEl>
                                        <p:attrNameLst>
                                          <p:attrName>style.visibility</p:attrName>
                                        </p:attrNameLst>
                                      </p:cBhvr>
                                      <p:to>
                                        <p:strVal val="visible"/>
                                      </p:to>
                                    </p:set>
                                    <p:animEffect transition="in" filter="fade">
                                      <p:cBhvr>
                                        <p:cTn id="21" dur="1000"/>
                                        <p:tgtEl>
                                          <p:spTgt spid="316419">
                                            <p:txEl>
                                              <p:pRg st="2" end="2"/>
                                            </p:txEl>
                                          </p:spTgt>
                                        </p:tgtEl>
                                      </p:cBhvr>
                                    </p:animEffect>
                                    <p:anim calcmode="lin" valueType="num">
                                      <p:cBhvr>
                                        <p:cTn id="22" dur="1000" fill="hold"/>
                                        <p:tgtEl>
                                          <p:spTgt spid="316419">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16419">
                                            <p:txEl>
                                              <p:pRg st="2" end="2"/>
                                            </p:txEl>
                                          </p:spTgt>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316419">
                                            <p:txEl>
                                              <p:pRg st="3" end="3"/>
                                            </p:txEl>
                                          </p:spTgt>
                                        </p:tgtEl>
                                        <p:attrNameLst>
                                          <p:attrName>style.visibility</p:attrName>
                                        </p:attrNameLst>
                                      </p:cBhvr>
                                      <p:to>
                                        <p:strVal val="visible"/>
                                      </p:to>
                                    </p:set>
                                    <p:animEffect transition="in" filter="fade">
                                      <p:cBhvr>
                                        <p:cTn id="26" dur="1000"/>
                                        <p:tgtEl>
                                          <p:spTgt spid="316419">
                                            <p:txEl>
                                              <p:pRg st="3" end="3"/>
                                            </p:txEl>
                                          </p:spTgt>
                                        </p:tgtEl>
                                      </p:cBhvr>
                                    </p:animEffect>
                                    <p:anim calcmode="lin" valueType="num">
                                      <p:cBhvr>
                                        <p:cTn id="27" dur="1000" fill="hold"/>
                                        <p:tgtEl>
                                          <p:spTgt spid="316419">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16419">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316419">
                                            <p:txEl>
                                              <p:pRg st="4" end="4"/>
                                            </p:txEl>
                                          </p:spTgt>
                                        </p:tgtEl>
                                        <p:attrNameLst>
                                          <p:attrName>style.visibility</p:attrName>
                                        </p:attrNameLst>
                                      </p:cBhvr>
                                      <p:to>
                                        <p:strVal val="visible"/>
                                      </p:to>
                                    </p:set>
                                    <p:animEffect transition="in" filter="fade">
                                      <p:cBhvr>
                                        <p:cTn id="31" dur="1000"/>
                                        <p:tgtEl>
                                          <p:spTgt spid="316419">
                                            <p:txEl>
                                              <p:pRg st="4" end="4"/>
                                            </p:txEl>
                                          </p:spTgt>
                                        </p:tgtEl>
                                      </p:cBhvr>
                                    </p:animEffect>
                                    <p:anim calcmode="lin" valueType="num">
                                      <p:cBhvr>
                                        <p:cTn id="32" dur="1000" fill="hold"/>
                                        <p:tgtEl>
                                          <p:spTgt spid="316419">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16419">
                                            <p:txEl>
                                              <p:pRg st="4" end="4"/>
                                            </p:tx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316419">
                                            <p:txEl>
                                              <p:pRg st="5" end="5"/>
                                            </p:txEl>
                                          </p:spTgt>
                                        </p:tgtEl>
                                        <p:attrNameLst>
                                          <p:attrName>style.visibility</p:attrName>
                                        </p:attrNameLst>
                                      </p:cBhvr>
                                      <p:to>
                                        <p:strVal val="visible"/>
                                      </p:to>
                                    </p:set>
                                    <p:animEffect transition="in" filter="fade">
                                      <p:cBhvr>
                                        <p:cTn id="36" dur="1000"/>
                                        <p:tgtEl>
                                          <p:spTgt spid="316419">
                                            <p:txEl>
                                              <p:pRg st="5" end="5"/>
                                            </p:txEl>
                                          </p:spTgt>
                                        </p:tgtEl>
                                      </p:cBhvr>
                                    </p:animEffect>
                                    <p:anim calcmode="lin" valueType="num">
                                      <p:cBhvr>
                                        <p:cTn id="37" dur="1000" fill="hold"/>
                                        <p:tgtEl>
                                          <p:spTgt spid="316419">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31641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316419">
                                            <p:txEl>
                                              <p:pRg st="6" end="6"/>
                                            </p:txEl>
                                          </p:spTgt>
                                        </p:tgtEl>
                                        <p:attrNameLst>
                                          <p:attrName>style.visibility</p:attrName>
                                        </p:attrNameLst>
                                      </p:cBhvr>
                                      <p:to>
                                        <p:strVal val="visible"/>
                                      </p:to>
                                    </p:set>
                                    <p:animEffect transition="in" filter="fade">
                                      <p:cBhvr>
                                        <p:cTn id="43" dur="1000"/>
                                        <p:tgtEl>
                                          <p:spTgt spid="316419">
                                            <p:txEl>
                                              <p:pRg st="6" end="6"/>
                                            </p:txEl>
                                          </p:spTgt>
                                        </p:tgtEl>
                                      </p:cBhvr>
                                    </p:animEffect>
                                    <p:anim calcmode="lin" valueType="num">
                                      <p:cBhvr>
                                        <p:cTn id="44" dur="1000" fill="hold"/>
                                        <p:tgtEl>
                                          <p:spTgt spid="316419">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316419">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316419">
                                            <p:txEl>
                                              <p:pRg st="7" end="7"/>
                                            </p:txEl>
                                          </p:spTgt>
                                        </p:tgtEl>
                                        <p:attrNameLst>
                                          <p:attrName>style.visibility</p:attrName>
                                        </p:attrNameLst>
                                      </p:cBhvr>
                                      <p:to>
                                        <p:strVal val="visible"/>
                                      </p:to>
                                    </p:set>
                                    <p:animEffect transition="in" filter="fade">
                                      <p:cBhvr>
                                        <p:cTn id="50" dur="1000"/>
                                        <p:tgtEl>
                                          <p:spTgt spid="316419">
                                            <p:txEl>
                                              <p:pRg st="7" end="7"/>
                                            </p:txEl>
                                          </p:spTgt>
                                        </p:tgtEl>
                                      </p:cBhvr>
                                    </p:animEffect>
                                    <p:anim calcmode="lin" valueType="num">
                                      <p:cBhvr>
                                        <p:cTn id="51" dur="1000" fill="hold"/>
                                        <p:tgtEl>
                                          <p:spTgt spid="316419">
                                            <p:txEl>
                                              <p:pRg st="7" end="7"/>
                                            </p:txEl>
                                          </p:spTgt>
                                        </p:tgtEl>
                                        <p:attrNameLst>
                                          <p:attrName>ppt_x</p:attrName>
                                        </p:attrNameLst>
                                      </p:cBhvr>
                                      <p:tavLst>
                                        <p:tav tm="0">
                                          <p:val>
                                            <p:strVal val="#ppt_x"/>
                                          </p:val>
                                        </p:tav>
                                        <p:tav tm="100000">
                                          <p:val>
                                            <p:strVal val="#ppt_x"/>
                                          </p:val>
                                        </p:tav>
                                      </p:tavLst>
                                    </p:anim>
                                    <p:anim calcmode="lin" valueType="num">
                                      <p:cBhvr>
                                        <p:cTn id="52" dur="1000" fill="hold"/>
                                        <p:tgtEl>
                                          <p:spTgt spid="316419">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419" grpId="0" build="p"/>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9187" name="Rectangle 3">
            <a:extLst>
              <a:ext uri="{FF2B5EF4-FFF2-40B4-BE49-F238E27FC236}">
                <a16:creationId xmlns:a16="http://schemas.microsoft.com/office/drawing/2014/main" id="{46420F0E-88B1-A225-7CC0-58AC7EC9F80D}"/>
              </a:ext>
            </a:extLst>
          </p:cNvPr>
          <p:cNvSpPr>
            <a:spLocks noGrp="1"/>
          </p:cNvSpPr>
          <p:nvPr>
            <p:ph idx="1"/>
          </p:nvPr>
        </p:nvSpPr>
        <p:spPr>
          <a:xfrm>
            <a:off x="1981200" y="1481138"/>
            <a:ext cx="8229600" cy="3852862"/>
          </a:xfrm>
        </p:spPr>
        <p:txBody>
          <a:bodyPr/>
          <a:lstStyle/>
          <a:p>
            <a:pPr marL="342900" indent="-342900" eaLnBrk="1" hangingPunct="1">
              <a:lnSpc>
                <a:spcPct val="90000"/>
              </a:lnSpc>
            </a:pPr>
            <a:r>
              <a:rPr lang="en-US" altLang="en-US" sz="2800">
                <a:latin typeface="Times New Roman" panose="02020603050405020304" pitchFamily="18" charset="0"/>
                <a:ea typeface="ＭＳ Ｐゴシック" panose="020B0600070205080204" pitchFamily="34" charset="-128"/>
              </a:rPr>
              <a:t>Spreadsheets are an excellent way to compute NPVs, especially when you have to compute the cash flows as well.</a:t>
            </a:r>
          </a:p>
          <a:p>
            <a:pPr marL="342900" indent="-342900" eaLnBrk="1" hangingPunct="1">
              <a:lnSpc>
                <a:spcPct val="90000"/>
              </a:lnSpc>
            </a:pPr>
            <a:r>
              <a:rPr lang="en-US" altLang="en-US" sz="2800">
                <a:latin typeface="Times New Roman" panose="02020603050405020304" pitchFamily="18" charset="0"/>
                <a:ea typeface="ＭＳ Ｐゴシック" panose="020B0600070205080204" pitchFamily="34" charset="-128"/>
              </a:rPr>
              <a:t>Using the NPV function:</a:t>
            </a:r>
          </a:p>
          <a:p>
            <a:pPr marL="742950" lvl="1" indent="-285750" eaLnBrk="1" hangingPunct="1">
              <a:lnSpc>
                <a:spcPct val="90000"/>
              </a:lnSpc>
            </a:pPr>
            <a:r>
              <a:rPr lang="en-US" altLang="en-US" sz="2400">
                <a:latin typeface="Times New Roman" panose="02020603050405020304" pitchFamily="18" charset="0"/>
                <a:ea typeface="ＭＳ Ｐゴシック" panose="020B0600070205080204" pitchFamily="34" charset="-128"/>
              </a:rPr>
              <a:t>The first component is the required return entered as a decimal.</a:t>
            </a:r>
          </a:p>
          <a:p>
            <a:pPr marL="742950" lvl="1" indent="-285750" eaLnBrk="1" hangingPunct="1">
              <a:lnSpc>
                <a:spcPct val="90000"/>
              </a:lnSpc>
            </a:pPr>
            <a:r>
              <a:rPr lang="en-US" altLang="en-US" sz="2400">
                <a:latin typeface="Times New Roman" panose="02020603050405020304" pitchFamily="18" charset="0"/>
                <a:ea typeface="ＭＳ Ｐゴシック" panose="020B0600070205080204" pitchFamily="34" charset="-128"/>
              </a:rPr>
              <a:t>The second component is the range of cash flows </a:t>
            </a:r>
            <a:r>
              <a:rPr lang="en-US" altLang="en-US" sz="2400" i="1">
                <a:latin typeface="Times New Roman" panose="02020603050405020304" pitchFamily="18" charset="0"/>
                <a:ea typeface="ＭＳ Ｐゴシック" panose="020B0600070205080204" pitchFamily="34" charset="-128"/>
              </a:rPr>
              <a:t>beginning with year 1.</a:t>
            </a:r>
            <a:endParaRPr lang="en-US" altLang="en-US" sz="2400">
              <a:latin typeface="Times New Roman" panose="02020603050405020304" pitchFamily="18" charset="0"/>
              <a:ea typeface="ＭＳ Ｐゴシック" panose="020B0600070205080204" pitchFamily="34" charset="-128"/>
            </a:endParaRPr>
          </a:p>
          <a:p>
            <a:pPr marL="742950" lvl="1" indent="-285750" eaLnBrk="1" hangingPunct="1">
              <a:lnSpc>
                <a:spcPct val="90000"/>
              </a:lnSpc>
            </a:pPr>
            <a:r>
              <a:rPr lang="en-US" altLang="en-US" sz="2400">
                <a:latin typeface="Times New Roman" panose="02020603050405020304" pitchFamily="18" charset="0"/>
                <a:ea typeface="ＭＳ Ｐゴシック" panose="020B0600070205080204" pitchFamily="34" charset="-128"/>
              </a:rPr>
              <a:t>Add the initial investment after computing the NPV.</a:t>
            </a:r>
          </a:p>
        </p:txBody>
      </p:sp>
      <p:sp>
        <p:nvSpPr>
          <p:cNvPr id="15362" name="Rectangle 2">
            <a:extLst>
              <a:ext uri="{FF2B5EF4-FFF2-40B4-BE49-F238E27FC236}">
                <a16:creationId xmlns:a16="http://schemas.microsoft.com/office/drawing/2014/main" id="{046E09D9-D287-C7E2-C66B-1BC3522F008D}"/>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Calculating NPV with Spreadsheets</a:t>
            </a:r>
          </a:p>
        </p:txBody>
      </p:sp>
      <p:graphicFrame>
        <p:nvGraphicFramePr>
          <p:cNvPr id="349188" name="Object 4">
            <a:hlinkClick r:id="" action="ppaction://ole?verb=1"/>
            <a:extLst>
              <a:ext uri="{FF2B5EF4-FFF2-40B4-BE49-F238E27FC236}">
                <a16:creationId xmlns:a16="http://schemas.microsoft.com/office/drawing/2014/main" id="{A4726B8B-08D0-6156-E168-4C8A0AF5366C}"/>
              </a:ext>
            </a:extLst>
          </p:cNvPr>
          <p:cNvGraphicFramePr>
            <a:graphicFrameLocks/>
          </p:cNvGraphicFramePr>
          <p:nvPr/>
        </p:nvGraphicFramePr>
        <p:xfrm>
          <a:off x="8915400" y="2266950"/>
          <a:ext cx="914400" cy="954088"/>
        </p:xfrm>
        <a:graphic>
          <a:graphicData uri="http://schemas.openxmlformats.org/presentationml/2006/ole">
            <mc:AlternateContent xmlns:mc="http://schemas.openxmlformats.org/markup-compatibility/2006">
              <mc:Choice xmlns:v="urn:schemas-microsoft-com:vml" Requires="v">
                <p:oleObj name="Worksheet" showAsIcon="1" r:id="rId3" imgW="380753" imgH="787283" progId="Excel.Sheet.8">
                  <p:embed/>
                </p:oleObj>
              </mc:Choice>
              <mc:Fallback>
                <p:oleObj name="Worksheet" showAsIcon="1" r:id="rId3" imgW="380753" imgH="787283" progId="Excel.Sheet.8">
                  <p:embed/>
                  <p:pic>
                    <p:nvPicPr>
                      <p:cNvPr id="349188" name="Object 4">
                        <a:hlinkClick r:id="" action="ppaction://ole?verb=1"/>
                        <a:extLst>
                          <a:ext uri="{FF2B5EF4-FFF2-40B4-BE49-F238E27FC236}">
                            <a16:creationId xmlns:a16="http://schemas.microsoft.com/office/drawing/2014/main" id="{A4726B8B-08D0-6156-E168-4C8A0AF5366C}"/>
                          </a:ext>
                        </a:extLst>
                      </p:cNvPr>
                      <p:cNvPicPr>
                        <a:picLocks noChangeArrowheads="1"/>
                      </p:cNvPicPr>
                      <p:nvPr/>
                    </p:nvPicPr>
                    <p:blipFill>
                      <a:blip r:embed="rId4">
                        <a:extLst>
                          <a:ext uri="{28A0092B-C50C-407E-A947-70E740481C1C}">
                            <a14:useLocalDpi xmlns:a14="http://schemas.microsoft.com/office/drawing/2010/main" val="0"/>
                          </a:ext>
                        </a:extLst>
                      </a:blip>
                      <a:srcRect b="36369"/>
                      <a:stretch>
                        <a:fillRect/>
                      </a:stretch>
                    </p:blipFill>
                    <p:spPr bwMode="auto">
                      <a:xfrm>
                        <a:off x="8915400" y="2266950"/>
                        <a:ext cx="914400"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49187">
                                            <p:txEl>
                                              <p:pRg st="0" end="0"/>
                                            </p:txEl>
                                          </p:spTgt>
                                        </p:tgtEl>
                                        <p:attrNameLst>
                                          <p:attrName>style.visibility</p:attrName>
                                        </p:attrNameLst>
                                      </p:cBhvr>
                                      <p:to>
                                        <p:strVal val="visible"/>
                                      </p:to>
                                    </p:set>
                                    <p:animEffect transition="in" filter="fade">
                                      <p:cBhvr>
                                        <p:cTn id="7" dur="1000"/>
                                        <p:tgtEl>
                                          <p:spTgt spid="349187">
                                            <p:txEl>
                                              <p:pRg st="0" end="0"/>
                                            </p:txEl>
                                          </p:spTgt>
                                        </p:tgtEl>
                                      </p:cBhvr>
                                    </p:animEffect>
                                    <p:anim calcmode="lin" valueType="num">
                                      <p:cBhvr>
                                        <p:cTn id="8" dur="1000" fill="hold"/>
                                        <p:tgtEl>
                                          <p:spTgt spid="34918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4918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49187">
                                            <p:txEl>
                                              <p:pRg st="1" end="1"/>
                                            </p:txEl>
                                          </p:spTgt>
                                        </p:tgtEl>
                                        <p:attrNameLst>
                                          <p:attrName>style.visibility</p:attrName>
                                        </p:attrNameLst>
                                      </p:cBhvr>
                                      <p:to>
                                        <p:strVal val="visible"/>
                                      </p:to>
                                    </p:set>
                                    <p:animEffect transition="in" filter="fade">
                                      <p:cBhvr>
                                        <p:cTn id="14" dur="1000"/>
                                        <p:tgtEl>
                                          <p:spTgt spid="349187">
                                            <p:txEl>
                                              <p:pRg st="1" end="1"/>
                                            </p:txEl>
                                          </p:spTgt>
                                        </p:tgtEl>
                                      </p:cBhvr>
                                    </p:animEffect>
                                    <p:anim calcmode="lin" valueType="num">
                                      <p:cBhvr>
                                        <p:cTn id="15" dur="1000" fill="hold"/>
                                        <p:tgtEl>
                                          <p:spTgt spid="34918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4918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49187">
                                            <p:txEl>
                                              <p:pRg st="2" end="2"/>
                                            </p:txEl>
                                          </p:spTgt>
                                        </p:tgtEl>
                                        <p:attrNameLst>
                                          <p:attrName>style.visibility</p:attrName>
                                        </p:attrNameLst>
                                      </p:cBhvr>
                                      <p:to>
                                        <p:strVal val="visible"/>
                                      </p:to>
                                    </p:set>
                                    <p:animEffect transition="in" filter="fade">
                                      <p:cBhvr>
                                        <p:cTn id="21" dur="1000"/>
                                        <p:tgtEl>
                                          <p:spTgt spid="349187">
                                            <p:txEl>
                                              <p:pRg st="2" end="2"/>
                                            </p:txEl>
                                          </p:spTgt>
                                        </p:tgtEl>
                                      </p:cBhvr>
                                    </p:animEffect>
                                    <p:anim calcmode="lin" valueType="num">
                                      <p:cBhvr>
                                        <p:cTn id="22" dur="1000" fill="hold"/>
                                        <p:tgtEl>
                                          <p:spTgt spid="34918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4918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49187">
                                            <p:txEl>
                                              <p:pRg st="3" end="3"/>
                                            </p:txEl>
                                          </p:spTgt>
                                        </p:tgtEl>
                                        <p:attrNameLst>
                                          <p:attrName>style.visibility</p:attrName>
                                        </p:attrNameLst>
                                      </p:cBhvr>
                                      <p:to>
                                        <p:strVal val="visible"/>
                                      </p:to>
                                    </p:set>
                                    <p:animEffect transition="in" filter="fade">
                                      <p:cBhvr>
                                        <p:cTn id="28" dur="1000"/>
                                        <p:tgtEl>
                                          <p:spTgt spid="349187">
                                            <p:txEl>
                                              <p:pRg st="3" end="3"/>
                                            </p:txEl>
                                          </p:spTgt>
                                        </p:tgtEl>
                                      </p:cBhvr>
                                    </p:animEffect>
                                    <p:anim calcmode="lin" valueType="num">
                                      <p:cBhvr>
                                        <p:cTn id="29" dur="1000" fill="hold"/>
                                        <p:tgtEl>
                                          <p:spTgt spid="34918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4918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49187">
                                            <p:txEl>
                                              <p:pRg st="4" end="4"/>
                                            </p:txEl>
                                          </p:spTgt>
                                        </p:tgtEl>
                                        <p:attrNameLst>
                                          <p:attrName>style.visibility</p:attrName>
                                        </p:attrNameLst>
                                      </p:cBhvr>
                                      <p:to>
                                        <p:strVal val="visible"/>
                                      </p:to>
                                    </p:set>
                                    <p:animEffect transition="in" filter="fade">
                                      <p:cBhvr>
                                        <p:cTn id="35" dur="1000"/>
                                        <p:tgtEl>
                                          <p:spTgt spid="349187">
                                            <p:txEl>
                                              <p:pRg st="4" end="4"/>
                                            </p:txEl>
                                          </p:spTgt>
                                        </p:tgtEl>
                                      </p:cBhvr>
                                    </p:animEffect>
                                    <p:anim calcmode="lin" valueType="num">
                                      <p:cBhvr>
                                        <p:cTn id="36" dur="1000" fill="hold"/>
                                        <p:tgtEl>
                                          <p:spTgt spid="349187">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49187">
                                            <p:txEl>
                                              <p:pRg st="4" end="4"/>
                                            </p:txEl>
                                          </p:spTgt>
                                        </p:tgtEl>
                                        <p:attrNameLst>
                                          <p:attrName>ppt_y</p:attrName>
                                        </p:attrNameLst>
                                      </p:cBhvr>
                                      <p:tavLst>
                                        <p:tav tm="0">
                                          <p:val>
                                            <p:strVal val="#ppt_y+.1"/>
                                          </p:val>
                                        </p:tav>
                                        <p:tav tm="100000">
                                          <p:val>
                                            <p:strVal val="#ppt_y"/>
                                          </p:val>
                                        </p:tav>
                                      </p:tavLst>
                                    </p:anim>
                                  </p:childTnLst>
                                </p:cTn>
                              </p:par>
                            </p:childTnLst>
                          </p:cTn>
                        </p:par>
                        <p:par>
                          <p:cTn id="38" fill="hold" nodeType="afterGroup">
                            <p:stCondLst>
                              <p:cond delay="1000"/>
                            </p:stCondLst>
                            <p:childTnLst>
                              <p:par>
                                <p:cTn id="39" presetID="42" presetClass="entr" presetSubtype="0" fill="hold" nodeType="afterEffect">
                                  <p:stCondLst>
                                    <p:cond delay="0"/>
                                  </p:stCondLst>
                                  <p:childTnLst>
                                    <p:set>
                                      <p:cBhvr>
                                        <p:cTn id="40" dur="1" fill="hold">
                                          <p:stCondLst>
                                            <p:cond delay="0"/>
                                          </p:stCondLst>
                                        </p:cTn>
                                        <p:tgtEl>
                                          <p:spTgt spid="349188"/>
                                        </p:tgtEl>
                                        <p:attrNameLst>
                                          <p:attrName>style.visibility</p:attrName>
                                        </p:attrNameLst>
                                      </p:cBhvr>
                                      <p:to>
                                        <p:strVal val="visible"/>
                                      </p:to>
                                    </p:set>
                                    <p:animEffect transition="in" filter="fade">
                                      <p:cBhvr>
                                        <p:cTn id="41" dur="1000"/>
                                        <p:tgtEl>
                                          <p:spTgt spid="349188"/>
                                        </p:tgtEl>
                                      </p:cBhvr>
                                    </p:animEffect>
                                    <p:anim calcmode="lin" valueType="num">
                                      <p:cBhvr>
                                        <p:cTn id="42" dur="1000" fill="hold"/>
                                        <p:tgtEl>
                                          <p:spTgt spid="349188"/>
                                        </p:tgtEl>
                                        <p:attrNameLst>
                                          <p:attrName>ppt_x</p:attrName>
                                        </p:attrNameLst>
                                      </p:cBhvr>
                                      <p:tavLst>
                                        <p:tav tm="0">
                                          <p:val>
                                            <p:strVal val="#ppt_x"/>
                                          </p:val>
                                        </p:tav>
                                        <p:tav tm="100000">
                                          <p:val>
                                            <p:strVal val="#ppt_x"/>
                                          </p:val>
                                        </p:tav>
                                      </p:tavLst>
                                    </p:anim>
                                    <p:anim calcmode="lin" valueType="num">
                                      <p:cBhvr>
                                        <p:cTn id="43" dur="1000" fill="hold"/>
                                        <p:tgtEl>
                                          <p:spTgt spid="34918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9187" grpId="0" build="p" bldLvl="2"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0515" name="Rectangle 3">
            <a:extLst>
              <a:ext uri="{FF2B5EF4-FFF2-40B4-BE49-F238E27FC236}">
                <a16:creationId xmlns:a16="http://schemas.microsoft.com/office/drawing/2014/main" id="{0B6D0573-D169-E127-A6A6-9111F8B8C374}"/>
              </a:ext>
            </a:extLst>
          </p:cNvPr>
          <p:cNvSpPr>
            <a:spLocks noGrp="1"/>
          </p:cNvSpPr>
          <p:nvPr>
            <p:ph idx="1"/>
          </p:nvPr>
        </p:nvSpPr>
        <p:spPr/>
        <p:txBody>
          <a:bodyPr/>
          <a:lstStyle/>
          <a:p>
            <a:pPr marL="342900" indent="-342900" eaLnBrk="1" hangingPunct="1"/>
            <a:r>
              <a:rPr lang="en-US" altLang="en-US">
                <a:latin typeface="Times New Roman" panose="02020603050405020304" pitchFamily="18" charset="0"/>
                <a:ea typeface="ＭＳ Ｐゴシック" panose="020B0600070205080204" pitchFamily="34" charset="-128"/>
              </a:rPr>
              <a:t>How long does it take the project to “pay back” its initial investment?</a:t>
            </a:r>
          </a:p>
          <a:p>
            <a:pPr marL="342900" indent="-342900" eaLnBrk="1" hangingPunct="1"/>
            <a:r>
              <a:rPr lang="en-US" altLang="en-US">
                <a:latin typeface="Times New Roman" panose="02020603050405020304" pitchFamily="18" charset="0"/>
                <a:ea typeface="ＭＳ Ｐゴシック" panose="020B0600070205080204" pitchFamily="34" charset="-128"/>
              </a:rPr>
              <a:t>Payback Period = number of years to recover initial costs</a:t>
            </a:r>
          </a:p>
          <a:p>
            <a:pPr marL="342900" indent="-342900" eaLnBrk="1" hangingPunct="1"/>
            <a:r>
              <a:rPr lang="en-US" altLang="en-US">
                <a:latin typeface="Times New Roman" panose="02020603050405020304" pitchFamily="18" charset="0"/>
                <a:ea typeface="ＭＳ Ｐゴシック" panose="020B0600070205080204" pitchFamily="34" charset="-128"/>
              </a:rPr>
              <a:t>Minimum Acceptance Criteria: </a:t>
            </a:r>
          </a:p>
          <a:p>
            <a:pPr marL="742950" lvl="1" indent="-285750" eaLnBrk="1" hangingPunct="1"/>
            <a:r>
              <a:rPr lang="en-US" altLang="en-US">
                <a:latin typeface="Times New Roman" panose="02020603050405020304" pitchFamily="18" charset="0"/>
                <a:ea typeface="ＭＳ Ｐゴシック" panose="020B0600070205080204" pitchFamily="34" charset="-128"/>
              </a:rPr>
              <a:t>Set by management</a:t>
            </a:r>
          </a:p>
          <a:p>
            <a:pPr marL="342900" indent="-342900" eaLnBrk="1" hangingPunct="1"/>
            <a:r>
              <a:rPr lang="en-US" altLang="en-US">
                <a:latin typeface="Times New Roman" panose="02020603050405020304" pitchFamily="18" charset="0"/>
                <a:ea typeface="ＭＳ Ｐゴシック" panose="020B0600070205080204" pitchFamily="34" charset="-128"/>
              </a:rPr>
              <a:t>Ranking Criteria: </a:t>
            </a:r>
          </a:p>
          <a:p>
            <a:pPr marL="742950" lvl="1" indent="-285750" eaLnBrk="1" hangingPunct="1"/>
            <a:r>
              <a:rPr lang="en-US" altLang="en-US">
                <a:latin typeface="Times New Roman" panose="02020603050405020304" pitchFamily="18" charset="0"/>
                <a:ea typeface="ＭＳ Ｐゴシック" panose="020B0600070205080204" pitchFamily="34" charset="-128"/>
              </a:rPr>
              <a:t>Set by management</a:t>
            </a:r>
          </a:p>
        </p:txBody>
      </p:sp>
      <p:sp>
        <p:nvSpPr>
          <p:cNvPr id="17410" name="Rectangle 2">
            <a:extLst>
              <a:ext uri="{FF2B5EF4-FFF2-40B4-BE49-F238E27FC236}">
                <a16:creationId xmlns:a16="http://schemas.microsoft.com/office/drawing/2014/main" id="{5FD6F40E-07F9-98CD-D45B-8A7585AAB77A}"/>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The Payback Period Method</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20515">
                                            <p:txEl>
                                              <p:pRg st="0" end="0"/>
                                            </p:txEl>
                                          </p:spTgt>
                                        </p:tgtEl>
                                        <p:attrNameLst>
                                          <p:attrName>style.visibility</p:attrName>
                                        </p:attrNameLst>
                                      </p:cBhvr>
                                      <p:to>
                                        <p:strVal val="visible"/>
                                      </p:to>
                                    </p:set>
                                    <p:animEffect transition="in" filter="fade">
                                      <p:cBhvr>
                                        <p:cTn id="7" dur="1000"/>
                                        <p:tgtEl>
                                          <p:spTgt spid="320515">
                                            <p:txEl>
                                              <p:pRg st="0" end="0"/>
                                            </p:txEl>
                                          </p:spTgt>
                                        </p:tgtEl>
                                      </p:cBhvr>
                                    </p:animEffect>
                                    <p:anim calcmode="lin" valueType="num">
                                      <p:cBhvr>
                                        <p:cTn id="8" dur="1000" fill="hold"/>
                                        <p:tgtEl>
                                          <p:spTgt spid="32051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2051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20515">
                                            <p:txEl>
                                              <p:pRg st="1" end="1"/>
                                            </p:txEl>
                                          </p:spTgt>
                                        </p:tgtEl>
                                        <p:attrNameLst>
                                          <p:attrName>style.visibility</p:attrName>
                                        </p:attrNameLst>
                                      </p:cBhvr>
                                      <p:to>
                                        <p:strVal val="visible"/>
                                      </p:to>
                                    </p:set>
                                    <p:animEffect transition="in" filter="fade">
                                      <p:cBhvr>
                                        <p:cTn id="14" dur="1000"/>
                                        <p:tgtEl>
                                          <p:spTgt spid="320515">
                                            <p:txEl>
                                              <p:pRg st="1" end="1"/>
                                            </p:txEl>
                                          </p:spTgt>
                                        </p:tgtEl>
                                      </p:cBhvr>
                                    </p:animEffect>
                                    <p:anim calcmode="lin" valueType="num">
                                      <p:cBhvr>
                                        <p:cTn id="15" dur="1000" fill="hold"/>
                                        <p:tgtEl>
                                          <p:spTgt spid="32051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2051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20515">
                                            <p:txEl>
                                              <p:pRg st="2" end="2"/>
                                            </p:txEl>
                                          </p:spTgt>
                                        </p:tgtEl>
                                        <p:attrNameLst>
                                          <p:attrName>style.visibility</p:attrName>
                                        </p:attrNameLst>
                                      </p:cBhvr>
                                      <p:to>
                                        <p:strVal val="visible"/>
                                      </p:to>
                                    </p:set>
                                    <p:animEffect transition="in" filter="fade">
                                      <p:cBhvr>
                                        <p:cTn id="21" dur="1000"/>
                                        <p:tgtEl>
                                          <p:spTgt spid="320515">
                                            <p:txEl>
                                              <p:pRg st="2" end="2"/>
                                            </p:txEl>
                                          </p:spTgt>
                                        </p:tgtEl>
                                      </p:cBhvr>
                                    </p:animEffect>
                                    <p:anim calcmode="lin" valueType="num">
                                      <p:cBhvr>
                                        <p:cTn id="22" dur="1000" fill="hold"/>
                                        <p:tgtEl>
                                          <p:spTgt spid="32051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20515">
                                            <p:txEl>
                                              <p:pRg st="2" end="2"/>
                                            </p:txEl>
                                          </p:spTgt>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320515">
                                            <p:txEl>
                                              <p:pRg st="3" end="3"/>
                                            </p:txEl>
                                          </p:spTgt>
                                        </p:tgtEl>
                                        <p:attrNameLst>
                                          <p:attrName>style.visibility</p:attrName>
                                        </p:attrNameLst>
                                      </p:cBhvr>
                                      <p:to>
                                        <p:strVal val="visible"/>
                                      </p:to>
                                    </p:set>
                                    <p:animEffect transition="in" filter="fade">
                                      <p:cBhvr>
                                        <p:cTn id="26" dur="1000"/>
                                        <p:tgtEl>
                                          <p:spTgt spid="320515">
                                            <p:txEl>
                                              <p:pRg st="3" end="3"/>
                                            </p:txEl>
                                          </p:spTgt>
                                        </p:tgtEl>
                                      </p:cBhvr>
                                    </p:animEffect>
                                    <p:anim calcmode="lin" valueType="num">
                                      <p:cBhvr>
                                        <p:cTn id="27" dur="1000" fill="hold"/>
                                        <p:tgtEl>
                                          <p:spTgt spid="320515">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2051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20515">
                                            <p:txEl>
                                              <p:pRg st="4" end="4"/>
                                            </p:txEl>
                                          </p:spTgt>
                                        </p:tgtEl>
                                        <p:attrNameLst>
                                          <p:attrName>style.visibility</p:attrName>
                                        </p:attrNameLst>
                                      </p:cBhvr>
                                      <p:to>
                                        <p:strVal val="visible"/>
                                      </p:to>
                                    </p:set>
                                    <p:animEffect transition="in" filter="fade">
                                      <p:cBhvr>
                                        <p:cTn id="33" dur="1000"/>
                                        <p:tgtEl>
                                          <p:spTgt spid="320515">
                                            <p:txEl>
                                              <p:pRg st="4" end="4"/>
                                            </p:txEl>
                                          </p:spTgt>
                                        </p:tgtEl>
                                      </p:cBhvr>
                                    </p:animEffect>
                                    <p:anim calcmode="lin" valueType="num">
                                      <p:cBhvr>
                                        <p:cTn id="34" dur="1000" fill="hold"/>
                                        <p:tgtEl>
                                          <p:spTgt spid="320515">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320515">
                                            <p:txEl>
                                              <p:pRg st="4" end="4"/>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320515">
                                            <p:txEl>
                                              <p:pRg st="5" end="5"/>
                                            </p:txEl>
                                          </p:spTgt>
                                        </p:tgtEl>
                                        <p:attrNameLst>
                                          <p:attrName>style.visibility</p:attrName>
                                        </p:attrNameLst>
                                      </p:cBhvr>
                                      <p:to>
                                        <p:strVal val="visible"/>
                                      </p:to>
                                    </p:set>
                                    <p:animEffect transition="in" filter="fade">
                                      <p:cBhvr>
                                        <p:cTn id="38" dur="1000"/>
                                        <p:tgtEl>
                                          <p:spTgt spid="320515">
                                            <p:txEl>
                                              <p:pRg st="5" end="5"/>
                                            </p:txEl>
                                          </p:spTgt>
                                        </p:tgtEl>
                                      </p:cBhvr>
                                    </p:animEffect>
                                    <p:anim calcmode="lin" valueType="num">
                                      <p:cBhvr>
                                        <p:cTn id="39" dur="1000" fill="hold"/>
                                        <p:tgtEl>
                                          <p:spTgt spid="320515">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32051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5" grpId="0" build="p"/>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2563" name="Rectangle 3">
            <a:extLst>
              <a:ext uri="{FF2B5EF4-FFF2-40B4-BE49-F238E27FC236}">
                <a16:creationId xmlns:a16="http://schemas.microsoft.com/office/drawing/2014/main" id="{FC6FEFA3-19A0-2297-BE84-464680CE3803}"/>
              </a:ext>
            </a:extLst>
          </p:cNvPr>
          <p:cNvSpPr>
            <a:spLocks noGrp="1"/>
          </p:cNvSpPr>
          <p:nvPr>
            <p:ph idx="1"/>
          </p:nvPr>
        </p:nvSpPr>
        <p:spPr>
          <a:xfrm>
            <a:off x="2133600" y="1371600"/>
            <a:ext cx="7772400" cy="3886200"/>
          </a:xfrm>
        </p:spPr>
        <p:txBody>
          <a:bodyPr/>
          <a:lstStyle/>
          <a:p>
            <a:pPr marL="342900" indent="-342900" eaLnBrk="1" hangingPunct="1">
              <a:lnSpc>
                <a:spcPct val="90000"/>
              </a:lnSpc>
            </a:pPr>
            <a:r>
              <a:rPr lang="en-US" altLang="en-US">
                <a:latin typeface="Times New Roman" panose="02020603050405020304" pitchFamily="18" charset="0"/>
                <a:ea typeface="ＭＳ Ｐゴシック" panose="020B0600070205080204" pitchFamily="34" charset="-128"/>
              </a:rPr>
              <a:t>Disadvantages:</a:t>
            </a:r>
          </a:p>
          <a:p>
            <a:pPr marL="742950" lvl="1" indent="-285750" eaLnBrk="1" hangingPunct="1">
              <a:lnSpc>
                <a:spcPct val="90000"/>
              </a:lnSpc>
            </a:pPr>
            <a:r>
              <a:rPr lang="en-US" altLang="en-US">
                <a:latin typeface="Times New Roman" panose="02020603050405020304" pitchFamily="18" charset="0"/>
                <a:ea typeface="ＭＳ Ｐゴシック" panose="020B0600070205080204" pitchFamily="34" charset="-128"/>
              </a:rPr>
              <a:t>Ignores the time value of money</a:t>
            </a:r>
          </a:p>
          <a:p>
            <a:pPr marL="742950" lvl="1" indent="-285750" eaLnBrk="1" hangingPunct="1">
              <a:lnSpc>
                <a:spcPct val="90000"/>
              </a:lnSpc>
            </a:pPr>
            <a:r>
              <a:rPr lang="en-US" altLang="en-US">
                <a:latin typeface="Times New Roman" panose="02020603050405020304" pitchFamily="18" charset="0"/>
                <a:ea typeface="ＭＳ Ｐゴシック" panose="020B0600070205080204" pitchFamily="34" charset="-128"/>
              </a:rPr>
              <a:t>Ignores cash flows after the payback period</a:t>
            </a:r>
          </a:p>
          <a:p>
            <a:pPr marL="742950" lvl="1" indent="-285750" eaLnBrk="1" hangingPunct="1">
              <a:lnSpc>
                <a:spcPct val="90000"/>
              </a:lnSpc>
            </a:pPr>
            <a:r>
              <a:rPr lang="en-US" altLang="en-US">
                <a:latin typeface="Times New Roman" panose="02020603050405020304" pitchFamily="18" charset="0"/>
                <a:ea typeface="ＭＳ Ｐゴシック" panose="020B0600070205080204" pitchFamily="34" charset="-128"/>
              </a:rPr>
              <a:t>Biased against long-term projects</a:t>
            </a:r>
          </a:p>
          <a:p>
            <a:pPr marL="742950" lvl="1" indent="-285750" eaLnBrk="1" hangingPunct="1">
              <a:lnSpc>
                <a:spcPct val="90000"/>
              </a:lnSpc>
            </a:pPr>
            <a:r>
              <a:rPr lang="en-US" altLang="en-US">
                <a:latin typeface="Times New Roman" panose="02020603050405020304" pitchFamily="18" charset="0"/>
                <a:ea typeface="ＭＳ Ｐゴシック" panose="020B0600070205080204" pitchFamily="34" charset="-128"/>
              </a:rPr>
              <a:t>Requires an arbitrary acceptance criteria</a:t>
            </a:r>
          </a:p>
          <a:p>
            <a:pPr marL="742950" lvl="1" indent="-285750" eaLnBrk="1" hangingPunct="1">
              <a:lnSpc>
                <a:spcPct val="90000"/>
              </a:lnSpc>
            </a:pPr>
            <a:r>
              <a:rPr lang="en-US" altLang="en-US">
                <a:latin typeface="Times New Roman" panose="02020603050405020304" pitchFamily="18" charset="0"/>
                <a:ea typeface="ＭＳ Ｐゴシック" panose="020B0600070205080204" pitchFamily="34" charset="-128"/>
              </a:rPr>
              <a:t>A project accepted based on the payback criteria may not have a positive NPV</a:t>
            </a:r>
          </a:p>
          <a:p>
            <a:pPr marL="342900" indent="-342900" eaLnBrk="1" hangingPunct="1">
              <a:lnSpc>
                <a:spcPct val="90000"/>
              </a:lnSpc>
            </a:pPr>
            <a:r>
              <a:rPr lang="en-US" altLang="en-US">
                <a:latin typeface="Times New Roman" panose="02020603050405020304" pitchFamily="18" charset="0"/>
                <a:ea typeface="ＭＳ Ｐゴシック" panose="020B0600070205080204" pitchFamily="34" charset="-128"/>
              </a:rPr>
              <a:t>Advantages:</a:t>
            </a:r>
          </a:p>
          <a:p>
            <a:pPr marL="742950" lvl="1" indent="-285750" eaLnBrk="1" hangingPunct="1">
              <a:lnSpc>
                <a:spcPct val="90000"/>
              </a:lnSpc>
            </a:pPr>
            <a:r>
              <a:rPr lang="en-US" altLang="en-US">
                <a:latin typeface="Times New Roman" panose="02020603050405020304" pitchFamily="18" charset="0"/>
                <a:ea typeface="ＭＳ Ｐゴシック" panose="020B0600070205080204" pitchFamily="34" charset="-128"/>
              </a:rPr>
              <a:t>Easy to understand</a:t>
            </a:r>
          </a:p>
          <a:p>
            <a:pPr marL="742950" lvl="1" indent="-285750" eaLnBrk="1" hangingPunct="1">
              <a:lnSpc>
                <a:spcPct val="90000"/>
              </a:lnSpc>
            </a:pPr>
            <a:r>
              <a:rPr lang="en-US" altLang="en-US">
                <a:latin typeface="Times New Roman" panose="02020603050405020304" pitchFamily="18" charset="0"/>
                <a:ea typeface="ＭＳ Ｐゴシック" panose="020B0600070205080204" pitchFamily="34" charset="-128"/>
              </a:rPr>
              <a:t>Biased toward liquidity</a:t>
            </a:r>
          </a:p>
        </p:txBody>
      </p:sp>
      <p:sp>
        <p:nvSpPr>
          <p:cNvPr id="19458" name="Rectangle 2">
            <a:extLst>
              <a:ext uri="{FF2B5EF4-FFF2-40B4-BE49-F238E27FC236}">
                <a16:creationId xmlns:a16="http://schemas.microsoft.com/office/drawing/2014/main" id="{2AF214AD-1A0B-2E87-B55A-7F1FA77F33E9}"/>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The Payback Period Method</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22563">
                                            <p:txEl>
                                              <p:pRg st="0" end="0"/>
                                            </p:txEl>
                                          </p:spTgt>
                                        </p:tgtEl>
                                        <p:attrNameLst>
                                          <p:attrName>style.visibility</p:attrName>
                                        </p:attrNameLst>
                                      </p:cBhvr>
                                      <p:to>
                                        <p:strVal val="visible"/>
                                      </p:to>
                                    </p:set>
                                    <p:animEffect transition="in" filter="fade">
                                      <p:cBhvr>
                                        <p:cTn id="7" dur="1000"/>
                                        <p:tgtEl>
                                          <p:spTgt spid="322563">
                                            <p:txEl>
                                              <p:pRg st="0" end="0"/>
                                            </p:txEl>
                                          </p:spTgt>
                                        </p:tgtEl>
                                      </p:cBhvr>
                                    </p:animEffect>
                                    <p:anim calcmode="lin" valueType="num">
                                      <p:cBhvr>
                                        <p:cTn id="8" dur="1000" fill="hold"/>
                                        <p:tgtEl>
                                          <p:spTgt spid="32256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2256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22563">
                                            <p:txEl>
                                              <p:pRg st="1" end="1"/>
                                            </p:txEl>
                                          </p:spTgt>
                                        </p:tgtEl>
                                        <p:attrNameLst>
                                          <p:attrName>style.visibility</p:attrName>
                                        </p:attrNameLst>
                                      </p:cBhvr>
                                      <p:to>
                                        <p:strVal val="visible"/>
                                      </p:to>
                                    </p:set>
                                    <p:animEffect transition="in" filter="fade">
                                      <p:cBhvr>
                                        <p:cTn id="12" dur="1000"/>
                                        <p:tgtEl>
                                          <p:spTgt spid="322563">
                                            <p:txEl>
                                              <p:pRg st="1" end="1"/>
                                            </p:txEl>
                                          </p:spTgt>
                                        </p:tgtEl>
                                      </p:cBhvr>
                                    </p:animEffect>
                                    <p:anim calcmode="lin" valueType="num">
                                      <p:cBhvr>
                                        <p:cTn id="13" dur="1000" fill="hold"/>
                                        <p:tgtEl>
                                          <p:spTgt spid="32256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2256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22563">
                                            <p:txEl>
                                              <p:pRg st="2" end="2"/>
                                            </p:txEl>
                                          </p:spTgt>
                                        </p:tgtEl>
                                        <p:attrNameLst>
                                          <p:attrName>style.visibility</p:attrName>
                                        </p:attrNameLst>
                                      </p:cBhvr>
                                      <p:to>
                                        <p:strVal val="visible"/>
                                      </p:to>
                                    </p:set>
                                    <p:animEffect transition="in" filter="fade">
                                      <p:cBhvr>
                                        <p:cTn id="17" dur="1000"/>
                                        <p:tgtEl>
                                          <p:spTgt spid="322563">
                                            <p:txEl>
                                              <p:pRg st="2" end="2"/>
                                            </p:txEl>
                                          </p:spTgt>
                                        </p:tgtEl>
                                      </p:cBhvr>
                                    </p:animEffect>
                                    <p:anim calcmode="lin" valueType="num">
                                      <p:cBhvr>
                                        <p:cTn id="18" dur="1000" fill="hold"/>
                                        <p:tgtEl>
                                          <p:spTgt spid="32256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2256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22563">
                                            <p:txEl>
                                              <p:pRg st="3" end="3"/>
                                            </p:txEl>
                                          </p:spTgt>
                                        </p:tgtEl>
                                        <p:attrNameLst>
                                          <p:attrName>style.visibility</p:attrName>
                                        </p:attrNameLst>
                                      </p:cBhvr>
                                      <p:to>
                                        <p:strVal val="visible"/>
                                      </p:to>
                                    </p:set>
                                    <p:animEffect transition="in" filter="fade">
                                      <p:cBhvr>
                                        <p:cTn id="22" dur="1000"/>
                                        <p:tgtEl>
                                          <p:spTgt spid="322563">
                                            <p:txEl>
                                              <p:pRg st="3" end="3"/>
                                            </p:txEl>
                                          </p:spTgt>
                                        </p:tgtEl>
                                      </p:cBhvr>
                                    </p:animEffect>
                                    <p:anim calcmode="lin" valueType="num">
                                      <p:cBhvr>
                                        <p:cTn id="23" dur="1000" fill="hold"/>
                                        <p:tgtEl>
                                          <p:spTgt spid="32256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2256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22563">
                                            <p:txEl>
                                              <p:pRg st="4" end="4"/>
                                            </p:txEl>
                                          </p:spTgt>
                                        </p:tgtEl>
                                        <p:attrNameLst>
                                          <p:attrName>style.visibility</p:attrName>
                                        </p:attrNameLst>
                                      </p:cBhvr>
                                      <p:to>
                                        <p:strVal val="visible"/>
                                      </p:to>
                                    </p:set>
                                    <p:animEffect transition="in" filter="fade">
                                      <p:cBhvr>
                                        <p:cTn id="27" dur="1000"/>
                                        <p:tgtEl>
                                          <p:spTgt spid="322563">
                                            <p:txEl>
                                              <p:pRg st="4" end="4"/>
                                            </p:txEl>
                                          </p:spTgt>
                                        </p:tgtEl>
                                      </p:cBhvr>
                                    </p:animEffect>
                                    <p:anim calcmode="lin" valueType="num">
                                      <p:cBhvr>
                                        <p:cTn id="28" dur="1000" fill="hold"/>
                                        <p:tgtEl>
                                          <p:spTgt spid="32256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2256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22563">
                                            <p:txEl>
                                              <p:pRg st="5" end="5"/>
                                            </p:txEl>
                                          </p:spTgt>
                                        </p:tgtEl>
                                        <p:attrNameLst>
                                          <p:attrName>style.visibility</p:attrName>
                                        </p:attrNameLst>
                                      </p:cBhvr>
                                      <p:to>
                                        <p:strVal val="visible"/>
                                      </p:to>
                                    </p:set>
                                    <p:animEffect transition="in" filter="fade">
                                      <p:cBhvr>
                                        <p:cTn id="32" dur="1000"/>
                                        <p:tgtEl>
                                          <p:spTgt spid="322563">
                                            <p:txEl>
                                              <p:pRg st="5" end="5"/>
                                            </p:txEl>
                                          </p:spTgt>
                                        </p:tgtEl>
                                      </p:cBhvr>
                                    </p:animEffect>
                                    <p:anim calcmode="lin" valueType="num">
                                      <p:cBhvr>
                                        <p:cTn id="33" dur="1000" fill="hold"/>
                                        <p:tgtEl>
                                          <p:spTgt spid="32256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32256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322563">
                                            <p:txEl>
                                              <p:pRg st="6" end="6"/>
                                            </p:txEl>
                                          </p:spTgt>
                                        </p:tgtEl>
                                        <p:attrNameLst>
                                          <p:attrName>style.visibility</p:attrName>
                                        </p:attrNameLst>
                                      </p:cBhvr>
                                      <p:to>
                                        <p:strVal val="visible"/>
                                      </p:to>
                                    </p:set>
                                    <p:animEffect transition="in" filter="fade">
                                      <p:cBhvr>
                                        <p:cTn id="39" dur="1000"/>
                                        <p:tgtEl>
                                          <p:spTgt spid="322563">
                                            <p:txEl>
                                              <p:pRg st="6" end="6"/>
                                            </p:txEl>
                                          </p:spTgt>
                                        </p:tgtEl>
                                      </p:cBhvr>
                                    </p:animEffect>
                                    <p:anim calcmode="lin" valueType="num">
                                      <p:cBhvr>
                                        <p:cTn id="40" dur="1000" fill="hold"/>
                                        <p:tgtEl>
                                          <p:spTgt spid="322563">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322563">
                                            <p:txEl>
                                              <p:pRg st="6" end="6"/>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322563">
                                            <p:txEl>
                                              <p:pRg st="7" end="7"/>
                                            </p:txEl>
                                          </p:spTgt>
                                        </p:tgtEl>
                                        <p:attrNameLst>
                                          <p:attrName>style.visibility</p:attrName>
                                        </p:attrNameLst>
                                      </p:cBhvr>
                                      <p:to>
                                        <p:strVal val="visible"/>
                                      </p:to>
                                    </p:set>
                                    <p:animEffect transition="in" filter="fade">
                                      <p:cBhvr>
                                        <p:cTn id="44" dur="1000"/>
                                        <p:tgtEl>
                                          <p:spTgt spid="322563">
                                            <p:txEl>
                                              <p:pRg st="7" end="7"/>
                                            </p:txEl>
                                          </p:spTgt>
                                        </p:tgtEl>
                                      </p:cBhvr>
                                    </p:animEffect>
                                    <p:anim calcmode="lin" valueType="num">
                                      <p:cBhvr>
                                        <p:cTn id="45" dur="1000" fill="hold"/>
                                        <p:tgtEl>
                                          <p:spTgt spid="322563">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322563">
                                            <p:txEl>
                                              <p:pRg st="7" end="7"/>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322563">
                                            <p:txEl>
                                              <p:pRg st="8" end="8"/>
                                            </p:txEl>
                                          </p:spTgt>
                                        </p:tgtEl>
                                        <p:attrNameLst>
                                          <p:attrName>style.visibility</p:attrName>
                                        </p:attrNameLst>
                                      </p:cBhvr>
                                      <p:to>
                                        <p:strVal val="visible"/>
                                      </p:to>
                                    </p:set>
                                    <p:animEffect transition="in" filter="fade">
                                      <p:cBhvr>
                                        <p:cTn id="49" dur="1000"/>
                                        <p:tgtEl>
                                          <p:spTgt spid="322563">
                                            <p:txEl>
                                              <p:pRg st="8" end="8"/>
                                            </p:txEl>
                                          </p:spTgt>
                                        </p:tgtEl>
                                      </p:cBhvr>
                                    </p:animEffect>
                                    <p:anim calcmode="lin" valueType="num">
                                      <p:cBhvr>
                                        <p:cTn id="50" dur="1000" fill="hold"/>
                                        <p:tgtEl>
                                          <p:spTgt spid="322563">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32256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2563" grpId="0" build="p"/>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4611" name="Rectangle 3">
            <a:extLst>
              <a:ext uri="{FF2B5EF4-FFF2-40B4-BE49-F238E27FC236}">
                <a16:creationId xmlns:a16="http://schemas.microsoft.com/office/drawing/2014/main" id="{04FF688A-4FEE-0C22-BF5E-4C8C0FC78214}"/>
              </a:ext>
            </a:extLst>
          </p:cNvPr>
          <p:cNvSpPr>
            <a:spLocks noGrp="1"/>
          </p:cNvSpPr>
          <p:nvPr>
            <p:ph idx="1"/>
          </p:nvPr>
        </p:nvSpPr>
        <p:spPr>
          <a:xfrm>
            <a:off x="1981200" y="1481138"/>
            <a:ext cx="8229600" cy="3776662"/>
          </a:xfrm>
        </p:spPr>
        <p:txBody>
          <a:bodyPr/>
          <a:lstStyle/>
          <a:p>
            <a:pPr marL="342900" indent="-342900" eaLnBrk="1" hangingPunct="1"/>
            <a:r>
              <a:rPr lang="en-US" altLang="en-US" sz="2800">
                <a:latin typeface="Times New Roman" panose="02020603050405020304" pitchFamily="18" charset="0"/>
                <a:ea typeface="ＭＳ Ｐゴシック" panose="020B0600070205080204" pitchFamily="34" charset="-128"/>
              </a:rPr>
              <a:t>How long does it take the project to “pay back” its initial investment, taking the time value of money into account?</a:t>
            </a:r>
          </a:p>
          <a:p>
            <a:pPr marL="342900" indent="-342900" eaLnBrk="1" hangingPunct="1"/>
            <a:r>
              <a:rPr lang="en-US" altLang="en-US" sz="2800">
                <a:latin typeface="Times New Roman" panose="02020603050405020304" pitchFamily="18" charset="0"/>
                <a:ea typeface="ＭＳ Ｐゴシック" panose="020B0600070205080204" pitchFamily="34" charset="-128"/>
              </a:rPr>
              <a:t>Decision rule: Accept the project if it pays back on a discounted basis within the specified time.</a:t>
            </a:r>
          </a:p>
          <a:p>
            <a:pPr marL="342900" indent="-342900" eaLnBrk="1" hangingPunct="1"/>
            <a:r>
              <a:rPr lang="en-US" altLang="en-US" sz="2800">
                <a:latin typeface="Times New Roman" panose="02020603050405020304" pitchFamily="18" charset="0"/>
                <a:ea typeface="ＭＳ Ｐゴシック" panose="020B0600070205080204" pitchFamily="34" charset="-128"/>
              </a:rPr>
              <a:t>By the time you have discounted the cash flows, you might as well calculate the NPV.</a:t>
            </a:r>
          </a:p>
          <a:p>
            <a:pPr marL="342900" indent="-342900" eaLnBrk="1" hangingPunct="1"/>
            <a:endParaRPr lang="en-US" altLang="en-US" sz="2800">
              <a:latin typeface="Times New Roman" panose="02020603050405020304" pitchFamily="18" charset="0"/>
              <a:ea typeface="ＭＳ Ｐゴシック" panose="020B0600070205080204" pitchFamily="34" charset="-128"/>
            </a:endParaRPr>
          </a:p>
        </p:txBody>
      </p:sp>
      <p:sp>
        <p:nvSpPr>
          <p:cNvPr id="21506" name="Rectangle 2">
            <a:extLst>
              <a:ext uri="{FF2B5EF4-FFF2-40B4-BE49-F238E27FC236}">
                <a16:creationId xmlns:a16="http://schemas.microsoft.com/office/drawing/2014/main" id="{484873A2-CE24-93B8-8BEE-50581EA5D98C}"/>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The Discounted Payback Period</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24611">
                                            <p:txEl>
                                              <p:pRg st="0" end="0"/>
                                            </p:txEl>
                                          </p:spTgt>
                                        </p:tgtEl>
                                        <p:attrNameLst>
                                          <p:attrName>style.visibility</p:attrName>
                                        </p:attrNameLst>
                                      </p:cBhvr>
                                      <p:to>
                                        <p:strVal val="visible"/>
                                      </p:to>
                                    </p:set>
                                    <p:animEffect transition="in" filter="fade">
                                      <p:cBhvr>
                                        <p:cTn id="7" dur="1000"/>
                                        <p:tgtEl>
                                          <p:spTgt spid="324611">
                                            <p:txEl>
                                              <p:pRg st="0" end="0"/>
                                            </p:txEl>
                                          </p:spTgt>
                                        </p:tgtEl>
                                      </p:cBhvr>
                                    </p:animEffect>
                                    <p:anim calcmode="lin" valueType="num">
                                      <p:cBhvr>
                                        <p:cTn id="8" dur="1000" fill="hold"/>
                                        <p:tgtEl>
                                          <p:spTgt spid="32461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246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24611">
                                            <p:txEl>
                                              <p:pRg st="1" end="1"/>
                                            </p:txEl>
                                          </p:spTgt>
                                        </p:tgtEl>
                                        <p:attrNameLst>
                                          <p:attrName>style.visibility</p:attrName>
                                        </p:attrNameLst>
                                      </p:cBhvr>
                                      <p:to>
                                        <p:strVal val="visible"/>
                                      </p:to>
                                    </p:set>
                                    <p:animEffect transition="in" filter="fade">
                                      <p:cBhvr>
                                        <p:cTn id="14" dur="1000"/>
                                        <p:tgtEl>
                                          <p:spTgt spid="324611">
                                            <p:txEl>
                                              <p:pRg st="1" end="1"/>
                                            </p:txEl>
                                          </p:spTgt>
                                        </p:tgtEl>
                                      </p:cBhvr>
                                    </p:animEffect>
                                    <p:anim calcmode="lin" valueType="num">
                                      <p:cBhvr>
                                        <p:cTn id="15" dur="1000" fill="hold"/>
                                        <p:tgtEl>
                                          <p:spTgt spid="324611">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2461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24611">
                                            <p:txEl>
                                              <p:pRg st="2" end="2"/>
                                            </p:txEl>
                                          </p:spTgt>
                                        </p:tgtEl>
                                        <p:attrNameLst>
                                          <p:attrName>style.visibility</p:attrName>
                                        </p:attrNameLst>
                                      </p:cBhvr>
                                      <p:to>
                                        <p:strVal val="visible"/>
                                      </p:to>
                                    </p:set>
                                    <p:animEffect transition="in" filter="fade">
                                      <p:cBhvr>
                                        <p:cTn id="21" dur="1000"/>
                                        <p:tgtEl>
                                          <p:spTgt spid="324611">
                                            <p:txEl>
                                              <p:pRg st="2" end="2"/>
                                            </p:txEl>
                                          </p:spTgt>
                                        </p:tgtEl>
                                      </p:cBhvr>
                                    </p:animEffect>
                                    <p:anim calcmode="lin" valueType="num">
                                      <p:cBhvr>
                                        <p:cTn id="22" dur="1000" fill="hold"/>
                                        <p:tgtEl>
                                          <p:spTgt spid="324611">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24611">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611" grpId="0" build="p"/>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683" name="Rectangle 3">
            <a:extLst>
              <a:ext uri="{FF2B5EF4-FFF2-40B4-BE49-F238E27FC236}">
                <a16:creationId xmlns:a16="http://schemas.microsoft.com/office/drawing/2014/main" id="{FFD8B39A-B6B7-C4AE-02D4-3A4B7AA75797}"/>
              </a:ext>
            </a:extLst>
          </p:cNvPr>
          <p:cNvSpPr>
            <a:spLocks noGrp="1"/>
          </p:cNvSpPr>
          <p:nvPr>
            <p:ph idx="1"/>
          </p:nvPr>
        </p:nvSpPr>
        <p:spPr>
          <a:xfrm>
            <a:off x="1905001" y="1981200"/>
            <a:ext cx="7935913" cy="2971800"/>
          </a:xfrm>
        </p:spPr>
        <p:txBody>
          <a:bodyPr/>
          <a:lstStyle/>
          <a:p>
            <a:pPr marL="342900" indent="-342900" eaLnBrk="1" hangingPunct="1">
              <a:lnSpc>
                <a:spcPct val="85000"/>
              </a:lnSpc>
              <a:spcBef>
                <a:spcPct val="0"/>
              </a:spcBef>
            </a:pPr>
            <a:r>
              <a:rPr lang="en-US" altLang="en-US">
                <a:latin typeface="Times New Roman" panose="02020603050405020304" pitchFamily="18" charset="0"/>
                <a:ea typeface="ＭＳ Ｐゴシック" panose="020B0600070205080204" pitchFamily="34" charset="-128"/>
              </a:rPr>
              <a:t>IRR: the discount rate that sets NPV to zero </a:t>
            </a:r>
          </a:p>
          <a:p>
            <a:pPr marL="342900" indent="-342900" eaLnBrk="1" hangingPunct="1">
              <a:lnSpc>
                <a:spcPct val="85000"/>
              </a:lnSpc>
              <a:spcBef>
                <a:spcPct val="0"/>
              </a:spcBef>
            </a:pPr>
            <a:r>
              <a:rPr lang="en-US" altLang="en-US">
                <a:latin typeface="Times New Roman" panose="02020603050405020304" pitchFamily="18" charset="0"/>
                <a:ea typeface="ＭＳ Ｐゴシック" panose="020B0600070205080204" pitchFamily="34" charset="-128"/>
              </a:rPr>
              <a:t>Minimum Acceptance Criteria: </a:t>
            </a:r>
          </a:p>
          <a:p>
            <a:pPr marL="742950" lvl="1" indent="-285750" eaLnBrk="1" hangingPunct="1">
              <a:lnSpc>
                <a:spcPct val="85000"/>
              </a:lnSpc>
              <a:spcBef>
                <a:spcPct val="0"/>
              </a:spcBef>
            </a:pPr>
            <a:r>
              <a:rPr lang="en-US" altLang="en-US">
                <a:latin typeface="Times New Roman" panose="02020603050405020304" pitchFamily="18" charset="0"/>
                <a:ea typeface="ＭＳ Ｐゴシック" panose="020B0600070205080204" pitchFamily="34" charset="-128"/>
              </a:rPr>
              <a:t>Accept if the IRR exceeds the required return</a:t>
            </a:r>
          </a:p>
          <a:p>
            <a:pPr marL="342900" indent="-342900" eaLnBrk="1" hangingPunct="1">
              <a:lnSpc>
                <a:spcPct val="85000"/>
              </a:lnSpc>
              <a:spcBef>
                <a:spcPct val="0"/>
              </a:spcBef>
            </a:pPr>
            <a:r>
              <a:rPr lang="en-US" altLang="en-US">
                <a:latin typeface="Times New Roman" panose="02020603050405020304" pitchFamily="18" charset="0"/>
                <a:ea typeface="ＭＳ Ｐゴシック" panose="020B0600070205080204" pitchFamily="34" charset="-128"/>
              </a:rPr>
              <a:t>Ranking Criteria: </a:t>
            </a:r>
          </a:p>
          <a:p>
            <a:pPr marL="742950" lvl="1" indent="-285750" eaLnBrk="1" hangingPunct="1">
              <a:lnSpc>
                <a:spcPct val="85000"/>
              </a:lnSpc>
              <a:spcBef>
                <a:spcPct val="0"/>
              </a:spcBef>
            </a:pPr>
            <a:r>
              <a:rPr lang="en-US" altLang="en-US">
                <a:latin typeface="Times New Roman" panose="02020603050405020304" pitchFamily="18" charset="0"/>
                <a:ea typeface="ＭＳ Ｐゴシック" panose="020B0600070205080204" pitchFamily="34" charset="-128"/>
              </a:rPr>
              <a:t>Select alternative with the highest IRR</a:t>
            </a:r>
          </a:p>
          <a:p>
            <a:pPr marL="342900" indent="-342900" eaLnBrk="1" hangingPunct="1">
              <a:lnSpc>
                <a:spcPct val="85000"/>
              </a:lnSpc>
              <a:spcBef>
                <a:spcPct val="0"/>
              </a:spcBef>
            </a:pPr>
            <a:r>
              <a:rPr lang="en-US" altLang="en-US">
                <a:latin typeface="Times New Roman" panose="02020603050405020304" pitchFamily="18" charset="0"/>
                <a:ea typeface="ＭＳ Ｐゴシック" panose="020B0600070205080204" pitchFamily="34" charset="-128"/>
              </a:rPr>
              <a:t>Reinvestment assumption:</a:t>
            </a:r>
            <a:r>
              <a:rPr lang="en-US" altLang="en-US" sz="2800">
                <a:latin typeface="Times New Roman" panose="02020603050405020304" pitchFamily="18" charset="0"/>
                <a:ea typeface="ＭＳ Ｐゴシック" panose="020B0600070205080204" pitchFamily="34" charset="-128"/>
              </a:rPr>
              <a:t> </a:t>
            </a:r>
          </a:p>
          <a:p>
            <a:pPr marL="742950" lvl="1" indent="-285750" eaLnBrk="1" hangingPunct="1">
              <a:lnSpc>
                <a:spcPct val="85000"/>
              </a:lnSpc>
              <a:spcBef>
                <a:spcPct val="0"/>
              </a:spcBef>
            </a:pPr>
            <a:r>
              <a:rPr lang="en-US" altLang="en-US">
                <a:latin typeface="Times New Roman" panose="02020603050405020304" pitchFamily="18" charset="0"/>
                <a:ea typeface="ＭＳ Ｐゴシック" panose="020B0600070205080204" pitchFamily="34" charset="-128"/>
              </a:rPr>
              <a:t>All future cash flows are assumed to be reinvested at the IRR</a:t>
            </a:r>
          </a:p>
        </p:txBody>
      </p:sp>
      <p:sp>
        <p:nvSpPr>
          <p:cNvPr id="23554" name="Rectangle 2">
            <a:extLst>
              <a:ext uri="{FF2B5EF4-FFF2-40B4-BE49-F238E27FC236}">
                <a16:creationId xmlns:a16="http://schemas.microsoft.com/office/drawing/2014/main" id="{AD36965A-69AD-9532-23F8-5893899726A8}"/>
              </a:ext>
            </a:extLst>
          </p:cNvPr>
          <p:cNvSpPr>
            <a:spLocks noGrp="1" noChangeArrowheads="1"/>
          </p:cNvSpPr>
          <p:nvPr>
            <p:ph type="title"/>
          </p:nvPr>
        </p:nvSpPr>
        <p:spPr>
          <a:xfrm>
            <a:off x="1981201" y="533400"/>
            <a:ext cx="8316913" cy="1206500"/>
          </a:xfrm>
        </p:spPr>
        <p:txBody>
          <a:bodyPr/>
          <a:lstStyle/>
          <a:p>
            <a:pPr eaLnBrk="1" fontAlgn="auto" hangingPunct="1">
              <a:spcAft>
                <a:spcPts val="0"/>
              </a:spcAft>
              <a:defRPr/>
            </a:pPr>
            <a:r>
              <a:rPr lang="en-US" altLang="en-US" dirty="0">
                <a:ea typeface="+mj-ea"/>
                <a:cs typeface="+mj-cs"/>
              </a:rPr>
              <a:t> </a:t>
            </a:r>
            <a:r>
              <a:rPr lang="en-US" altLang="en-US" sz="3778" dirty="0">
                <a:ea typeface="+mj-ea"/>
                <a:cs typeface="+mj-cs"/>
              </a:rPr>
              <a:t>The Internal Rate of Return</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27683">
                                            <p:txEl>
                                              <p:pRg st="0" end="0"/>
                                            </p:txEl>
                                          </p:spTgt>
                                        </p:tgtEl>
                                        <p:attrNameLst>
                                          <p:attrName>style.visibility</p:attrName>
                                        </p:attrNameLst>
                                      </p:cBhvr>
                                      <p:to>
                                        <p:strVal val="visible"/>
                                      </p:to>
                                    </p:set>
                                    <p:animEffect transition="in" filter="fade">
                                      <p:cBhvr>
                                        <p:cTn id="7" dur="1000"/>
                                        <p:tgtEl>
                                          <p:spTgt spid="327683">
                                            <p:txEl>
                                              <p:pRg st="0" end="0"/>
                                            </p:txEl>
                                          </p:spTgt>
                                        </p:tgtEl>
                                      </p:cBhvr>
                                    </p:animEffect>
                                    <p:anim calcmode="lin" valueType="num">
                                      <p:cBhvr>
                                        <p:cTn id="8" dur="1000" fill="hold"/>
                                        <p:tgtEl>
                                          <p:spTgt spid="32768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2768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27683">
                                            <p:txEl>
                                              <p:pRg st="1" end="1"/>
                                            </p:txEl>
                                          </p:spTgt>
                                        </p:tgtEl>
                                        <p:attrNameLst>
                                          <p:attrName>style.visibility</p:attrName>
                                        </p:attrNameLst>
                                      </p:cBhvr>
                                      <p:to>
                                        <p:strVal val="visible"/>
                                      </p:to>
                                    </p:set>
                                    <p:animEffect transition="in" filter="fade">
                                      <p:cBhvr>
                                        <p:cTn id="14" dur="1000"/>
                                        <p:tgtEl>
                                          <p:spTgt spid="327683">
                                            <p:txEl>
                                              <p:pRg st="1" end="1"/>
                                            </p:txEl>
                                          </p:spTgt>
                                        </p:tgtEl>
                                      </p:cBhvr>
                                    </p:animEffect>
                                    <p:anim calcmode="lin" valueType="num">
                                      <p:cBhvr>
                                        <p:cTn id="15" dur="1000" fill="hold"/>
                                        <p:tgtEl>
                                          <p:spTgt spid="32768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2768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27683">
                                            <p:txEl>
                                              <p:pRg st="2" end="2"/>
                                            </p:txEl>
                                          </p:spTgt>
                                        </p:tgtEl>
                                        <p:attrNameLst>
                                          <p:attrName>style.visibility</p:attrName>
                                        </p:attrNameLst>
                                      </p:cBhvr>
                                      <p:to>
                                        <p:strVal val="visible"/>
                                      </p:to>
                                    </p:set>
                                    <p:animEffect transition="in" filter="fade">
                                      <p:cBhvr>
                                        <p:cTn id="19" dur="1000"/>
                                        <p:tgtEl>
                                          <p:spTgt spid="327683">
                                            <p:txEl>
                                              <p:pRg st="2" end="2"/>
                                            </p:txEl>
                                          </p:spTgt>
                                        </p:tgtEl>
                                      </p:cBhvr>
                                    </p:animEffect>
                                    <p:anim calcmode="lin" valueType="num">
                                      <p:cBhvr>
                                        <p:cTn id="20" dur="1000" fill="hold"/>
                                        <p:tgtEl>
                                          <p:spTgt spid="32768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2768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27683">
                                            <p:txEl>
                                              <p:pRg st="3" end="3"/>
                                            </p:txEl>
                                          </p:spTgt>
                                        </p:tgtEl>
                                        <p:attrNameLst>
                                          <p:attrName>style.visibility</p:attrName>
                                        </p:attrNameLst>
                                      </p:cBhvr>
                                      <p:to>
                                        <p:strVal val="visible"/>
                                      </p:to>
                                    </p:set>
                                    <p:animEffect transition="in" filter="fade">
                                      <p:cBhvr>
                                        <p:cTn id="26" dur="1000"/>
                                        <p:tgtEl>
                                          <p:spTgt spid="327683">
                                            <p:txEl>
                                              <p:pRg st="3" end="3"/>
                                            </p:txEl>
                                          </p:spTgt>
                                        </p:tgtEl>
                                      </p:cBhvr>
                                    </p:animEffect>
                                    <p:anim calcmode="lin" valueType="num">
                                      <p:cBhvr>
                                        <p:cTn id="27" dur="1000" fill="hold"/>
                                        <p:tgtEl>
                                          <p:spTgt spid="32768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27683">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327683">
                                            <p:txEl>
                                              <p:pRg st="4" end="4"/>
                                            </p:txEl>
                                          </p:spTgt>
                                        </p:tgtEl>
                                        <p:attrNameLst>
                                          <p:attrName>style.visibility</p:attrName>
                                        </p:attrNameLst>
                                      </p:cBhvr>
                                      <p:to>
                                        <p:strVal val="visible"/>
                                      </p:to>
                                    </p:set>
                                    <p:animEffect transition="in" filter="fade">
                                      <p:cBhvr>
                                        <p:cTn id="31" dur="1000"/>
                                        <p:tgtEl>
                                          <p:spTgt spid="327683">
                                            <p:txEl>
                                              <p:pRg st="4" end="4"/>
                                            </p:txEl>
                                          </p:spTgt>
                                        </p:tgtEl>
                                      </p:cBhvr>
                                    </p:animEffect>
                                    <p:anim calcmode="lin" valueType="num">
                                      <p:cBhvr>
                                        <p:cTn id="32" dur="1000" fill="hold"/>
                                        <p:tgtEl>
                                          <p:spTgt spid="32768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2768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327683">
                                            <p:txEl>
                                              <p:pRg st="5" end="5"/>
                                            </p:txEl>
                                          </p:spTgt>
                                        </p:tgtEl>
                                        <p:attrNameLst>
                                          <p:attrName>style.visibility</p:attrName>
                                        </p:attrNameLst>
                                      </p:cBhvr>
                                      <p:to>
                                        <p:strVal val="visible"/>
                                      </p:to>
                                    </p:set>
                                    <p:animEffect transition="in" filter="fade">
                                      <p:cBhvr>
                                        <p:cTn id="38" dur="1000"/>
                                        <p:tgtEl>
                                          <p:spTgt spid="327683">
                                            <p:txEl>
                                              <p:pRg st="5" end="5"/>
                                            </p:txEl>
                                          </p:spTgt>
                                        </p:tgtEl>
                                      </p:cBhvr>
                                    </p:animEffect>
                                    <p:anim calcmode="lin" valueType="num">
                                      <p:cBhvr>
                                        <p:cTn id="39" dur="1000" fill="hold"/>
                                        <p:tgtEl>
                                          <p:spTgt spid="327683">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327683">
                                            <p:txEl>
                                              <p:pRg st="5" end="5"/>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327683">
                                            <p:txEl>
                                              <p:pRg st="6" end="6"/>
                                            </p:txEl>
                                          </p:spTgt>
                                        </p:tgtEl>
                                        <p:attrNameLst>
                                          <p:attrName>style.visibility</p:attrName>
                                        </p:attrNameLst>
                                      </p:cBhvr>
                                      <p:to>
                                        <p:strVal val="visible"/>
                                      </p:to>
                                    </p:set>
                                    <p:animEffect transition="in" filter="fade">
                                      <p:cBhvr>
                                        <p:cTn id="43" dur="1000"/>
                                        <p:tgtEl>
                                          <p:spTgt spid="327683">
                                            <p:txEl>
                                              <p:pRg st="6" end="6"/>
                                            </p:txEl>
                                          </p:spTgt>
                                        </p:tgtEl>
                                      </p:cBhvr>
                                    </p:animEffect>
                                    <p:anim calcmode="lin" valueType="num">
                                      <p:cBhvr>
                                        <p:cTn id="44" dur="1000" fill="hold"/>
                                        <p:tgtEl>
                                          <p:spTgt spid="327683">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32768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68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3" name="Rectangle 3">
            <a:extLst>
              <a:ext uri="{FF2B5EF4-FFF2-40B4-BE49-F238E27FC236}">
                <a16:creationId xmlns:a16="http://schemas.microsoft.com/office/drawing/2014/main" id="{161A0C48-141F-6FA7-577A-96F522D95E60}"/>
              </a:ext>
            </a:extLst>
          </p:cNvPr>
          <p:cNvSpPr>
            <a:spLocks noGrp="1"/>
          </p:cNvSpPr>
          <p:nvPr>
            <p:ph idx="1"/>
          </p:nvPr>
        </p:nvSpPr>
        <p:spPr>
          <a:xfrm>
            <a:off x="1981200" y="1481138"/>
            <a:ext cx="8229600" cy="2786062"/>
          </a:xfrm>
        </p:spPr>
        <p:txBody>
          <a:bodyPr/>
          <a:lstStyle/>
          <a:p>
            <a:pPr eaLnBrk="1" hangingPunct="1">
              <a:lnSpc>
                <a:spcPct val="85000"/>
              </a:lnSpc>
              <a:spcBef>
                <a:spcPct val="0"/>
              </a:spcBef>
            </a:pPr>
            <a:r>
              <a:rPr lang="en-US" altLang="en-US">
                <a:ea typeface="ＭＳ Ｐゴシック" panose="020B0600070205080204" pitchFamily="34" charset="-128"/>
              </a:rPr>
              <a:t>Disadvantages:</a:t>
            </a:r>
          </a:p>
          <a:p>
            <a:pPr lvl="1" eaLnBrk="1" hangingPunct="1">
              <a:lnSpc>
                <a:spcPct val="85000"/>
              </a:lnSpc>
              <a:spcBef>
                <a:spcPct val="0"/>
              </a:spcBef>
            </a:pPr>
            <a:r>
              <a:rPr lang="en-US" altLang="en-US">
                <a:ea typeface="ＭＳ Ｐゴシック" panose="020B0600070205080204" pitchFamily="34" charset="-128"/>
              </a:rPr>
              <a:t>Does not distinguish between investing and borrowing</a:t>
            </a:r>
          </a:p>
          <a:p>
            <a:pPr lvl="1" eaLnBrk="1" hangingPunct="1">
              <a:lnSpc>
                <a:spcPct val="85000"/>
              </a:lnSpc>
              <a:spcBef>
                <a:spcPct val="0"/>
              </a:spcBef>
            </a:pPr>
            <a:r>
              <a:rPr lang="en-US" altLang="en-US">
                <a:ea typeface="ＭＳ Ｐゴシック" panose="020B0600070205080204" pitchFamily="34" charset="-128"/>
              </a:rPr>
              <a:t>IRR may not exist, or there may be multiple IRRs </a:t>
            </a:r>
          </a:p>
          <a:p>
            <a:pPr lvl="1" eaLnBrk="1" hangingPunct="1">
              <a:lnSpc>
                <a:spcPct val="85000"/>
              </a:lnSpc>
              <a:spcBef>
                <a:spcPct val="0"/>
              </a:spcBef>
            </a:pPr>
            <a:r>
              <a:rPr lang="en-US" altLang="en-US">
                <a:ea typeface="ＭＳ Ｐゴシック" panose="020B0600070205080204" pitchFamily="34" charset="-128"/>
              </a:rPr>
              <a:t>Problems with mutually exclusive investments</a:t>
            </a:r>
          </a:p>
          <a:p>
            <a:pPr lvl="1" eaLnBrk="1" hangingPunct="1">
              <a:lnSpc>
                <a:spcPct val="85000"/>
              </a:lnSpc>
              <a:spcBef>
                <a:spcPct val="0"/>
              </a:spcBef>
              <a:buFont typeface="Wingdings" panose="05000000000000000000" pitchFamily="2" charset="2"/>
              <a:buNone/>
            </a:pPr>
            <a:endParaRPr lang="en-US" altLang="en-US">
              <a:ea typeface="ＭＳ Ｐゴシック" panose="020B0600070205080204" pitchFamily="34" charset="-128"/>
            </a:endParaRPr>
          </a:p>
          <a:p>
            <a:pPr eaLnBrk="1" hangingPunct="1">
              <a:lnSpc>
                <a:spcPct val="85000"/>
              </a:lnSpc>
              <a:spcBef>
                <a:spcPct val="0"/>
              </a:spcBef>
            </a:pPr>
            <a:r>
              <a:rPr lang="en-US" altLang="en-US">
                <a:ea typeface="ＭＳ Ｐゴシック" panose="020B0600070205080204" pitchFamily="34" charset="-128"/>
              </a:rPr>
              <a:t>Advantages:</a:t>
            </a:r>
          </a:p>
          <a:p>
            <a:pPr lvl="1" eaLnBrk="1" hangingPunct="1">
              <a:lnSpc>
                <a:spcPct val="85000"/>
              </a:lnSpc>
              <a:spcBef>
                <a:spcPct val="0"/>
              </a:spcBef>
            </a:pPr>
            <a:r>
              <a:rPr lang="en-US" altLang="en-US">
                <a:ea typeface="ＭＳ Ｐゴシック" panose="020B0600070205080204" pitchFamily="34" charset="-128"/>
              </a:rPr>
              <a:t>Easy to understand and communicate</a:t>
            </a:r>
          </a:p>
          <a:p>
            <a:pPr eaLnBrk="1" hangingPunct="1"/>
            <a:endParaRPr lang="en-US" altLang="en-US">
              <a:ea typeface="ＭＳ Ｐゴシック" panose="020B0600070205080204" pitchFamily="34" charset="-128"/>
            </a:endParaRPr>
          </a:p>
        </p:txBody>
      </p:sp>
      <p:sp>
        <p:nvSpPr>
          <p:cNvPr id="25602" name="Rectangle 2">
            <a:extLst>
              <a:ext uri="{FF2B5EF4-FFF2-40B4-BE49-F238E27FC236}">
                <a16:creationId xmlns:a16="http://schemas.microsoft.com/office/drawing/2014/main" id="{69093CBD-2F5E-9679-6D40-CCF6FA9F411C}"/>
              </a:ext>
            </a:extLst>
          </p:cNvPr>
          <p:cNvSpPr>
            <a:spLocks noGrp="1" noChangeArrowheads="1"/>
          </p:cNvSpPr>
          <p:nvPr>
            <p:ph type="title"/>
          </p:nvPr>
        </p:nvSpPr>
        <p:spPr/>
        <p:txBody>
          <a:bodyPr/>
          <a:lstStyle/>
          <a:p>
            <a:pPr eaLnBrk="1" fontAlgn="auto" hangingPunct="1">
              <a:spcAft>
                <a:spcPts val="0"/>
              </a:spcAft>
              <a:defRPr/>
            </a:pPr>
            <a:r>
              <a:rPr lang="en-US" altLang="en-US">
                <a:ea typeface="+mj-ea"/>
                <a:cs typeface="+mj-cs"/>
              </a:rPr>
              <a:t>Internal Rate of Return (IRR)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53283">
                                            <p:txEl>
                                              <p:pRg st="0" end="0"/>
                                            </p:txEl>
                                          </p:spTgt>
                                        </p:tgtEl>
                                        <p:attrNameLst>
                                          <p:attrName>style.visibility</p:attrName>
                                        </p:attrNameLst>
                                      </p:cBhvr>
                                      <p:to>
                                        <p:strVal val="visible"/>
                                      </p:to>
                                    </p:set>
                                    <p:animEffect transition="in" filter="fade">
                                      <p:cBhvr>
                                        <p:cTn id="7" dur="1000"/>
                                        <p:tgtEl>
                                          <p:spTgt spid="353283">
                                            <p:txEl>
                                              <p:pRg st="0" end="0"/>
                                            </p:txEl>
                                          </p:spTgt>
                                        </p:tgtEl>
                                      </p:cBhvr>
                                    </p:animEffect>
                                    <p:anim calcmode="lin" valueType="num">
                                      <p:cBhvr>
                                        <p:cTn id="8" dur="1000" fill="hold"/>
                                        <p:tgtEl>
                                          <p:spTgt spid="35328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5328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53283">
                                            <p:txEl>
                                              <p:pRg st="1" end="1"/>
                                            </p:txEl>
                                          </p:spTgt>
                                        </p:tgtEl>
                                        <p:attrNameLst>
                                          <p:attrName>style.visibility</p:attrName>
                                        </p:attrNameLst>
                                      </p:cBhvr>
                                      <p:to>
                                        <p:strVal val="visible"/>
                                      </p:to>
                                    </p:set>
                                    <p:animEffect transition="in" filter="fade">
                                      <p:cBhvr>
                                        <p:cTn id="12" dur="1000"/>
                                        <p:tgtEl>
                                          <p:spTgt spid="353283">
                                            <p:txEl>
                                              <p:pRg st="1" end="1"/>
                                            </p:txEl>
                                          </p:spTgt>
                                        </p:tgtEl>
                                      </p:cBhvr>
                                    </p:animEffect>
                                    <p:anim calcmode="lin" valueType="num">
                                      <p:cBhvr>
                                        <p:cTn id="13" dur="1000" fill="hold"/>
                                        <p:tgtEl>
                                          <p:spTgt spid="35328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5328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53283">
                                            <p:txEl>
                                              <p:pRg st="2" end="2"/>
                                            </p:txEl>
                                          </p:spTgt>
                                        </p:tgtEl>
                                        <p:attrNameLst>
                                          <p:attrName>style.visibility</p:attrName>
                                        </p:attrNameLst>
                                      </p:cBhvr>
                                      <p:to>
                                        <p:strVal val="visible"/>
                                      </p:to>
                                    </p:set>
                                    <p:animEffect transition="in" filter="fade">
                                      <p:cBhvr>
                                        <p:cTn id="17" dur="1000"/>
                                        <p:tgtEl>
                                          <p:spTgt spid="353283">
                                            <p:txEl>
                                              <p:pRg st="2" end="2"/>
                                            </p:txEl>
                                          </p:spTgt>
                                        </p:tgtEl>
                                      </p:cBhvr>
                                    </p:animEffect>
                                    <p:anim calcmode="lin" valueType="num">
                                      <p:cBhvr>
                                        <p:cTn id="18" dur="1000" fill="hold"/>
                                        <p:tgtEl>
                                          <p:spTgt spid="35328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5328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53283">
                                            <p:txEl>
                                              <p:pRg st="3" end="3"/>
                                            </p:txEl>
                                          </p:spTgt>
                                        </p:tgtEl>
                                        <p:attrNameLst>
                                          <p:attrName>style.visibility</p:attrName>
                                        </p:attrNameLst>
                                      </p:cBhvr>
                                      <p:to>
                                        <p:strVal val="visible"/>
                                      </p:to>
                                    </p:set>
                                    <p:animEffect transition="in" filter="fade">
                                      <p:cBhvr>
                                        <p:cTn id="22" dur="1000"/>
                                        <p:tgtEl>
                                          <p:spTgt spid="353283">
                                            <p:txEl>
                                              <p:pRg st="3" end="3"/>
                                            </p:txEl>
                                          </p:spTgt>
                                        </p:tgtEl>
                                      </p:cBhvr>
                                    </p:animEffect>
                                    <p:anim calcmode="lin" valueType="num">
                                      <p:cBhvr>
                                        <p:cTn id="23" dur="1000" fill="hold"/>
                                        <p:tgtEl>
                                          <p:spTgt spid="35328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5328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353283">
                                            <p:txEl>
                                              <p:pRg st="5" end="5"/>
                                            </p:txEl>
                                          </p:spTgt>
                                        </p:tgtEl>
                                        <p:attrNameLst>
                                          <p:attrName>style.visibility</p:attrName>
                                        </p:attrNameLst>
                                      </p:cBhvr>
                                      <p:to>
                                        <p:strVal val="visible"/>
                                      </p:to>
                                    </p:set>
                                    <p:animEffect transition="in" filter="fade">
                                      <p:cBhvr>
                                        <p:cTn id="29" dur="1000"/>
                                        <p:tgtEl>
                                          <p:spTgt spid="353283">
                                            <p:txEl>
                                              <p:pRg st="5" end="5"/>
                                            </p:txEl>
                                          </p:spTgt>
                                        </p:tgtEl>
                                      </p:cBhvr>
                                    </p:animEffect>
                                    <p:anim calcmode="lin" valueType="num">
                                      <p:cBhvr>
                                        <p:cTn id="30" dur="1000" fill="hold"/>
                                        <p:tgtEl>
                                          <p:spTgt spid="353283">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353283">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53283">
                                            <p:txEl>
                                              <p:pRg st="6" end="6"/>
                                            </p:txEl>
                                          </p:spTgt>
                                        </p:tgtEl>
                                        <p:attrNameLst>
                                          <p:attrName>style.visibility</p:attrName>
                                        </p:attrNameLst>
                                      </p:cBhvr>
                                      <p:to>
                                        <p:strVal val="visible"/>
                                      </p:to>
                                    </p:set>
                                    <p:animEffect transition="in" filter="fade">
                                      <p:cBhvr>
                                        <p:cTn id="34" dur="1000"/>
                                        <p:tgtEl>
                                          <p:spTgt spid="353283">
                                            <p:txEl>
                                              <p:pRg st="6" end="6"/>
                                            </p:txEl>
                                          </p:spTgt>
                                        </p:tgtEl>
                                      </p:cBhvr>
                                    </p:animEffect>
                                    <p:anim calcmode="lin" valueType="num">
                                      <p:cBhvr>
                                        <p:cTn id="35" dur="1000" fill="hold"/>
                                        <p:tgtEl>
                                          <p:spTgt spid="353283">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35328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328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3">
            <a:extLst>
              <a:ext uri="{FF2B5EF4-FFF2-40B4-BE49-F238E27FC236}">
                <a16:creationId xmlns:a16="http://schemas.microsoft.com/office/drawing/2014/main" id="{DEDEA01A-DB43-7775-5FA3-70BBBE582A7D}"/>
              </a:ext>
            </a:extLst>
          </p:cNvPr>
          <p:cNvSpPr>
            <a:spLocks noGrp="1"/>
          </p:cNvSpPr>
          <p:nvPr>
            <p:ph idx="1"/>
          </p:nvPr>
        </p:nvSpPr>
        <p:spPr>
          <a:xfrm>
            <a:off x="1981200" y="1371600"/>
            <a:ext cx="8229600" cy="769938"/>
          </a:xfrm>
        </p:spPr>
        <p:txBody>
          <a:bodyPr/>
          <a:lstStyle/>
          <a:p>
            <a:pPr marL="342900" indent="-342900" eaLnBrk="1" hangingPunct="1">
              <a:buNone/>
            </a:pPr>
            <a:r>
              <a:rPr lang="en-US" altLang="en-US">
                <a:latin typeface="Times New Roman" panose="02020603050405020304" pitchFamily="18" charset="0"/>
                <a:ea typeface="ＭＳ Ｐゴシック" panose="020B0600070205080204" pitchFamily="34" charset="-128"/>
              </a:rPr>
              <a:t>Consider the following project:</a:t>
            </a:r>
          </a:p>
        </p:txBody>
      </p:sp>
      <p:sp>
        <p:nvSpPr>
          <p:cNvPr id="27650" name="Rectangle 2">
            <a:extLst>
              <a:ext uri="{FF2B5EF4-FFF2-40B4-BE49-F238E27FC236}">
                <a16:creationId xmlns:a16="http://schemas.microsoft.com/office/drawing/2014/main" id="{B3C92E21-9B52-C0D8-5A92-21C5A67C3D71}"/>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IRR: Example</a:t>
            </a:r>
          </a:p>
        </p:txBody>
      </p:sp>
      <p:grpSp>
        <p:nvGrpSpPr>
          <p:cNvPr id="2" name="Group 4">
            <a:extLst>
              <a:ext uri="{FF2B5EF4-FFF2-40B4-BE49-F238E27FC236}">
                <a16:creationId xmlns:a16="http://schemas.microsoft.com/office/drawing/2014/main" id="{1A37227F-D5B1-035A-7F1A-94BC5BB429AD}"/>
              </a:ext>
            </a:extLst>
          </p:cNvPr>
          <p:cNvGrpSpPr>
            <a:grpSpLocks/>
          </p:cNvGrpSpPr>
          <p:nvPr/>
        </p:nvGrpSpPr>
        <p:grpSpPr bwMode="auto">
          <a:xfrm>
            <a:off x="2514600" y="1828800"/>
            <a:ext cx="6477000" cy="2133600"/>
            <a:chOff x="624" y="1296"/>
            <a:chExt cx="4080" cy="1344"/>
          </a:xfrm>
        </p:grpSpPr>
        <p:sp>
          <p:nvSpPr>
            <p:cNvPr id="228359" name="Line 5">
              <a:extLst>
                <a:ext uri="{FF2B5EF4-FFF2-40B4-BE49-F238E27FC236}">
                  <a16:creationId xmlns:a16="http://schemas.microsoft.com/office/drawing/2014/main" id="{03A7B626-B784-7009-FA69-BFDCAE699F45}"/>
                </a:ext>
              </a:extLst>
            </p:cNvPr>
            <p:cNvSpPr>
              <a:spLocks noChangeShapeType="1"/>
            </p:cNvSpPr>
            <p:nvPr/>
          </p:nvSpPr>
          <p:spPr bwMode="auto">
            <a:xfrm>
              <a:off x="912" y="1824"/>
              <a:ext cx="3504" cy="0"/>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28360" name="Line 6">
              <a:extLst>
                <a:ext uri="{FF2B5EF4-FFF2-40B4-BE49-F238E27FC236}">
                  <a16:creationId xmlns:a16="http://schemas.microsoft.com/office/drawing/2014/main" id="{98BD47AE-0EBC-4B01-C631-AD08E915E168}"/>
                </a:ext>
              </a:extLst>
            </p:cNvPr>
            <p:cNvSpPr>
              <a:spLocks noChangeShapeType="1"/>
            </p:cNvSpPr>
            <p:nvPr/>
          </p:nvSpPr>
          <p:spPr bwMode="auto">
            <a:xfrm>
              <a:off x="912" y="1632"/>
              <a:ext cx="0" cy="384"/>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28361" name="Line 7">
              <a:extLst>
                <a:ext uri="{FF2B5EF4-FFF2-40B4-BE49-F238E27FC236}">
                  <a16:creationId xmlns:a16="http://schemas.microsoft.com/office/drawing/2014/main" id="{370202B9-B73F-392A-1761-FD05E84D0055}"/>
                </a:ext>
              </a:extLst>
            </p:cNvPr>
            <p:cNvSpPr>
              <a:spLocks noChangeShapeType="1"/>
            </p:cNvSpPr>
            <p:nvPr/>
          </p:nvSpPr>
          <p:spPr bwMode="auto">
            <a:xfrm>
              <a:off x="2077" y="1632"/>
              <a:ext cx="0" cy="384"/>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28362" name="Line 8">
              <a:extLst>
                <a:ext uri="{FF2B5EF4-FFF2-40B4-BE49-F238E27FC236}">
                  <a16:creationId xmlns:a16="http://schemas.microsoft.com/office/drawing/2014/main" id="{6CA94F10-C5C8-5496-8A1C-2651337D9555}"/>
                </a:ext>
              </a:extLst>
            </p:cNvPr>
            <p:cNvSpPr>
              <a:spLocks noChangeShapeType="1"/>
            </p:cNvSpPr>
            <p:nvPr/>
          </p:nvSpPr>
          <p:spPr bwMode="auto">
            <a:xfrm>
              <a:off x="3243" y="1632"/>
              <a:ext cx="0" cy="384"/>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28363" name="Line 9">
              <a:extLst>
                <a:ext uri="{FF2B5EF4-FFF2-40B4-BE49-F238E27FC236}">
                  <a16:creationId xmlns:a16="http://schemas.microsoft.com/office/drawing/2014/main" id="{345371A5-C86B-C6D8-7530-E28A6D0F9720}"/>
                </a:ext>
              </a:extLst>
            </p:cNvPr>
            <p:cNvSpPr>
              <a:spLocks noChangeShapeType="1"/>
            </p:cNvSpPr>
            <p:nvPr/>
          </p:nvSpPr>
          <p:spPr bwMode="auto">
            <a:xfrm>
              <a:off x="4416" y="1632"/>
              <a:ext cx="0" cy="384"/>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28364" name="Text Box 10">
              <a:extLst>
                <a:ext uri="{FF2B5EF4-FFF2-40B4-BE49-F238E27FC236}">
                  <a16:creationId xmlns:a16="http://schemas.microsoft.com/office/drawing/2014/main" id="{B93F0554-116A-EDD9-1E84-4C4BC46AB633}"/>
                </a:ext>
              </a:extLst>
            </p:cNvPr>
            <p:cNvSpPr txBox="1">
              <a:spLocks noChangeArrowheads="1"/>
            </p:cNvSpPr>
            <p:nvPr/>
          </p:nvSpPr>
          <p:spPr bwMode="auto">
            <a:xfrm>
              <a:off x="816" y="2112"/>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algn="ctr" fontAlgn="base">
                <a:spcBef>
                  <a:spcPct val="50000"/>
                </a:spcBef>
                <a:spcAft>
                  <a:spcPct val="0"/>
                </a:spcAft>
                <a:buClrTx/>
                <a:buSzTx/>
                <a:buNone/>
              </a:pPr>
              <a:r>
                <a:rPr lang="en-US" altLang="en-US" sz="2400" i="1">
                  <a:solidFill>
                    <a:prstClr val="black"/>
                  </a:solidFill>
                  <a:latin typeface="Times New Roman" panose="02020603050405020304" pitchFamily="18" charset="0"/>
                </a:rPr>
                <a:t>0</a:t>
              </a:r>
            </a:p>
          </p:txBody>
        </p:sp>
        <p:sp>
          <p:nvSpPr>
            <p:cNvPr id="228365" name="Text Box 11">
              <a:extLst>
                <a:ext uri="{FF2B5EF4-FFF2-40B4-BE49-F238E27FC236}">
                  <a16:creationId xmlns:a16="http://schemas.microsoft.com/office/drawing/2014/main" id="{E75270D2-DDCD-8405-1F74-604C8FDDED2E}"/>
                </a:ext>
              </a:extLst>
            </p:cNvPr>
            <p:cNvSpPr txBox="1">
              <a:spLocks noChangeArrowheads="1"/>
            </p:cNvSpPr>
            <p:nvPr/>
          </p:nvSpPr>
          <p:spPr bwMode="auto">
            <a:xfrm>
              <a:off x="1968" y="2112"/>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algn="ctr" fontAlgn="base">
                <a:spcBef>
                  <a:spcPct val="50000"/>
                </a:spcBef>
                <a:spcAft>
                  <a:spcPct val="0"/>
                </a:spcAft>
                <a:buClrTx/>
                <a:buSzTx/>
                <a:buNone/>
              </a:pPr>
              <a:r>
                <a:rPr lang="en-US" altLang="en-US" sz="2400" i="1">
                  <a:solidFill>
                    <a:prstClr val="black"/>
                  </a:solidFill>
                  <a:latin typeface="Times New Roman" panose="02020603050405020304" pitchFamily="18" charset="0"/>
                </a:rPr>
                <a:t>1</a:t>
              </a:r>
            </a:p>
          </p:txBody>
        </p:sp>
        <p:sp>
          <p:nvSpPr>
            <p:cNvPr id="228366" name="Text Box 12">
              <a:extLst>
                <a:ext uri="{FF2B5EF4-FFF2-40B4-BE49-F238E27FC236}">
                  <a16:creationId xmlns:a16="http://schemas.microsoft.com/office/drawing/2014/main" id="{BF91E474-B0AF-1009-6D23-5C711353E5B5}"/>
                </a:ext>
              </a:extLst>
            </p:cNvPr>
            <p:cNvSpPr txBox="1">
              <a:spLocks noChangeArrowheads="1"/>
            </p:cNvSpPr>
            <p:nvPr/>
          </p:nvSpPr>
          <p:spPr bwMode="auto">
            <a:xfrm>
              <a:off x="3120" y="2112"/>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algn="ctr" fontAlgn="base">
                <a:spcBef>
                  <a:spcPct val="50000"/>
                </a:spcBef>
                <a:spcAft>
                  <a:spcPct val="0"/>
                </a:spcAft>
                <a:buClrTx/>
                <a:buSzTx/>
                <a:buNone/>
              </a:pPr>
              <a:r>
                <a:rPr lang="en-US" altLang="en-US" sz="2400" i="1">
                  <a:solidFill>
                    <a:prstClr val="black"/>
                  </a:solidFill>
                  <a:latin typeface="Times New Roman" panose="02020603050405020304" pitchFamily="18" charset="0"/>
                </a:rPr>
                <a:t>2</a:t>
              </a:r>
            </a:p>
          </p:txBody>
        </p:sp>
        <p:sp>
          <p:nvSpPr>
            <p:cNvPr id="228367" name="Text Box 13">
              <a:extLst>
                <a:ext uri="{FF2B5EF4-FFF2-40B4-BE49-F238E27FC236}">
                  <a16:creationId xmlns:a16="http://schemas.microsoft.com/office/drawing/2014/main" id="{0E532398-6545-5852-E528-E958D5DE696C}"/>
                </a:ext>
              </a:extLst>
            </p:cNvPr>
            <p:cNvSpPr txBox="1">
              <a:spLocks noChangeArrowheads="1"/>
            </p:cNvSpPr>
            <p:nvPr/>
          </p:nvSpPr>
          <p:spPr bwMode="auto">
            <a:xfrm>
              <a:off x="4320" y="2112"/>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algn="ctr" fontAlgn="base">
                <a:spcBef>
                  <a:spcPct val="50000"/>
                </a:spcBef>
                <a:spcAft>
                  <a:spcPct val="0"/>
                </a:spcAft>
                <a:buClrTx/>
                <a:buSzTx/>
                <a:buNone/>
              </a:pPr>
              <a:r>
                <a:rPr lang="en-US" altLang="en-US" sz="2400" i="1">
                  <a:solidFill>
                    <a:prstClr val="black"/>
                  </a:solidFill>
                  <a:latin typeface="Times New Roman" panose="02020603050405020304" pitchFamily="18" charset="0"/>
                </a:rPr>
                <a:t>3</a:t>
              </a:r>
            </a:p>
          </p:txBody>
        </p:sp>
        <p:sp>
          <p:nvSpPr>
            <p:cNvPr id="228368" name="Text Box 14">
              <a:extLst>
                <a:ext uri="{FF2B5EF4-FFF2-40B4-BE49-F238E27FC236}">
                  <a16:creationId xmlns:a16="http://schemas.microsoft.com/office/drawing/2014/main" id="{D84B1CA9-0AB0-5DA4-9225-894747BF268E}"/>
                </a:ext>
              </a:extLst>
            </p:cNvPr>
            <p:cNvSpPr txBox="1">
              <a:spLocks noChangeArrowheads="1"/>
            </p:cNvSpPr>
            <p:nvPr/>
          </p:nvSpPr>
          <p:spPr bwMode="auto">
            <a:xfrm>
              <a:off x="1776" y="1296"/>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algn="ctr" fontAlgn="base">
                <a:spcBef>
                  <a:spcPct val="50000"/>
                </a:spcBef>
                <a:spcAft>
                  <a:spcPct val="0"/>
                </a:spcAft>
                <a:buClrTx/>
                <a:buSzTx/>
                <a:buNone/>
              </a:pPr>
              <a:r>
                <a:rPr lang="en-US" altLang="en-US" sz="2400" i="1">
                  <a:solidFill>
                    <a:prstClr val="black"/>
                  </a:solidFill>
                  <a:latin typeface="Times New Roman" panose="02020603050405020304" pitchFamily="18" charset="0"/>
                </a:rPr>
                <a:t>$50</a:t>
              </a:r>
            </a:p>
          </p:txBody>
        </p:sp>
        <p:sp>
          <p:nvSpPr>
            <p:cNvPr id="228369" name="Text Box 15">
              <a:extLst>
                <a:ext uri="{FF2B5EF4-FFF2-40B4-BE49-F238E27FC236}">
                  <a16:creationId xmlns:a16="http://schemas.microsoft.com/office/drawing/2014/main" id="{4CB6B2FE-7F44-FDBF-6EF7-8E5E33B2D708}"/>
                </a:ext>
              </a:extLst>
            </p:cNvPr>
            <p:cNvSpPr txBox="1">
              <a:spLocks noChangeArrowheads="1"/>
            </p:cNvSpPr>
            <p:nvPr/>
          </p:nvSpPr>
          <p:spPr bwMode="auto">
            <a:xfrm>
              <a:off x="2976" y="1296"/>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algn="ctr" fontAlgn="base">
                <a:spcBef>
                  <a:spcPct val="50000"/>
                </a:spcBef>
                <a:spcAft>
                  <a:spcPct val="0"/>
                </a:spcAft>
                <a:buClrTx/>
                <a:buSzTx/>
                <a:buNone/>
              </a:pPr>
              <a:r>
                <a:rPr lang="en-US" altLang="en-US" sz="2400" i="1">
                  <a:solidFill>
                    <a:prstClr val="black"/>
                  </a:solidFill>
                  <a:latin typeface="Times New Roman" panose="02020603050405020304" pitchFamily="18" charset="0"/>
                </a:rPr>
                <a:t>$100</a:t>
              </a:r>
            </a:p>
          </p:txBody>
        </p:sp>
        <p:sp>
          <p:nvSpPr>
            <p:cNvPr id="228370" name="Text Box 16">
              <a:extLst>
                <a:ext uri="{FF2B5EF4-FFF2-40B4-BE49-F238E27FC236}">
                  <a16:creationId xmlns:a16="http://schemas.microsoft.com/office/drawing/2014/main" id="{283E5E17-C391-B162-BE78-2A36F6165E10}"/>
                </a:ext>
              </a:extLst>
            </p:cNvPr>
            <p:cNvSpPr txBox="1">
              <a:spLocks noChangeArrowheads="1"/>
            </p:cNvSpPr>
            <p:nvPr/>
          </p:nvSpPr>
          <p:spPr bwMode="auto">
            <a:xfrm>
              <a:off x="4128" y="1296"/>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algn="ctr" fontAlgn="base">
                <a:spcBef>
                  <a:spcPct val="50000"/>
                </a:spcBef>
                <a:spcAft>
                  <a:spcPct val="0"/>
                </a:spcAft>
                <a:buClrTx/>
                <a:buSzTx/>
                <a:buNone/>
              </a:pPr>
              <a:r>
                <a:rPr lang="en-US" altLang="en-US" sz="2400" i="1">
                  <a:solidFill>
                    <a:prstClr val="black"/>
                  </a:solidFill>
                  <a:latin typeface="Times New Roman" panose="02020603050405020304" pitchFamily="18" charset="0"/>
                </a:rPr>
                <a:t>$150</a:t>
              </a:r>
            </a:p>
          </p:txBody>
        </p:sp>
        <p:sp>
          <p:nvSpPr>
            <p:cNvPr id="228371" name="Text Box 17">
              <a:extLst>
                <a:ext uri="{FF2B5EF4-FFF2-40B4-BE49-F238E27FC236}">
                  <a16:creationId xmlns:a16="http://schemas.microsoft.com/office/drawing/2014/main" id="{F9D80A82-6390-C682-F594-CA3365B7331B}"/>
                </a:ext>
              </a:extLst>
            </p:cNvPr>
            <p:cNvSpPr txBox="1">
              <a:spLocks noChangeArrowheads="1"/>
            </p:cNvSpPr>
            <p:nvPr/>
          </p:nvSpPr>
          <p:spPr bwMode="auto">
            <a:xfrm>
              <a:off x="624" y="2352"/>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algn="ctr" fontAlgn="base">
                <a:spcBef>
                  <a:spcPct val="50000"/>
                </a:spcBef>
                <a:spcAft>
                  <a:spcPct val="0"/>
                </a:spcAft>
                <a:buClrTx/>
                <a:buSzTx/>
                <a:buNone/>
              </a:pPr>
              <a:r>
                <a:rPr lang="en-US" altLang="en-US" sz="2400" i="1">
                  <a:solidFill>
                    <a:prstClr val="black"/>
                  </a:solidFill>
                  <a:latin typeface="Times New Roman" panose="02020603050405020304" pitchFamily="18" charset="0"/>
                </a:rPr>
                <a:t>-$200</a:t>
              </a:r>
            </a:p>
          </p:txBody>
        </p:sp>
      </p:grpSp>
      <p:sp>
        <p:nvSpPr>
          <p:cNvPr id="328722" name="Rectangle 18">
            <a:extLst>
              <a:ext uri="{FF2B5EF4-FFF2-40B4-BE49-F238E27FC236}">
                <a16:creationId xmlns:a16="http://schemas.microsoft.com/office/drawing/2014/main" id="{983FFFB1-8343-8EA6-E4C2-C74B8DF508C1}"/>
              </a:ext>
            </a:extLst>
          </p:cNvPr>
          <p:cNvSpPr>
            <a:spLocks noChangeArrowheads="1"/>
          </p:cNvSpPr>
          <p:nvPr/>
        </p:nvSpPr>
        <p:spPr bwMode="auto">
          <a:xfrm>
            <a:off x="2324100" y="3962400"/>
            <a:ext cx="83439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marL="342900" indent="-34290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20000"/>
              </a:spcBef>
              <a:spcAft>
                <a:spcPct val="0"/>
              </a:spcAft>
              <a:buClr>
                <a:srgbClr val="671739"/>
              </a:buClr>
              <a:buSzTx/>
              <a:buNone/>
            </a:pPr>
            <a:r>
              <a:rPr lang="en-US" altLang="en-US" sz="2800">
                <a:solidFill>
                  <a:prstClr val="black"/>
                </a:solidFill>
                <a:latin typeface="Times New Roman" panose="02020603050405020304" pitchFamily="18" charset="0"/>
              </a:rPr>
              <a:t>The internal rate of return for this project is 19.44%</a:t>
            </a:r>
          </a:p>
        </p:txBody>
      </p:sp>
      <p:graphicFrame>
        <p:nvGraphicFramePr>
          <p:cNvPr id="328723" name="Object 19">
            <a:extLst>
              <a:ext uri="{FF2B5EF4-FFF2-40B4-BE49-F238E27FC236}">
                <a16:creationId xmlns:a16="http://schemas.microsoft.com/office/drawing/2014/main" id="{F60DBC29-F1FA-3B39-112B-8F3F3378D54B}"/>
              </a:ext>
            </a:extLst>
          </p:cNvPr>
          <p:cNvGraphicFramePr>
            <a:graphicFrameLocks noChangeAspect="1"/>
          </p:cNvGraphicFramePr>
          <p:nvPr/>
        </p:nvGraphicFramePr>
        <p:xfrm>
          <a:off x="2362200" y="4572001"/>
          <a:ext cx="7659688" cy="1000125"/>
        </p:xfrm>
        <a:graphic>
          <a:graphicData uri="http://schemas.openxmlformats.org/presentationml/2006/ole">
            <mc:AlternateContent xmlns:mc="http://schemas.openxmlformats.org/markup-compatibility/2006">
              <mc:Choice xmlns:v="urn:schemas-microsoft-com:vml" Requires="v">
                <p:oleObj name="Equation" r:id="rId3" imgW="3225948" imgH="368271" progId="Equation.3">
                  <p:embed/>
                </p:oleObj>
              </mc:Choice>
              <mc:Fallback>
                <p:oleObj name="Equation" r:id="rId3" imgW="3225948" imgH="368271" progId="Equation.3">
                  <p:embed/>
                  <p:pic>
                    <p:nvPicPr>
                      <p:cNvPr id="328723" name="Object 19">
                        <a:extLst>
                          <a:ext uri="{FF2B5EF4-FFF2-40B4-BE49-F238E27FC236}">
                            <a16:creationId xmlns:a16="http://schemas.microsoft.com/office/drawing/2014/main" id="{F60DBC29-F1FA-3B39-112B-8F3F3378D5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4572001"/>
                        <a:ext cx="7659688" cy="1000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28722"/>
                                        </p:tgtEl>
                                        <p:attrNameLst>
                                          <p:attrName>style.visibility</p:attrName>
                                        </p:attrNameLst>
                                      </p:cBhvr>
                                      <p:to>
                                        <p:strVal val="visible"/>
                                      </p:to>
                                    </p:set>
                                    <p:animEffect transition="in" filter="fade">
                                      <p:cBhvr>
                                        <p:cTn id="14" dur="1000"/>
                                        <p:tgtEl>
                                          <p:spTgt spid="328722"/>
                                        </p:tgtEl>
                                      </p:cBhvr>
                                    </p:animEffect>
                                    <p:anim calcmode="lin" valueType="num">
                                      <p:cBhvr>
                                        <p:cTn id="15" dur="1000" fill="hold"/>
                                        <p:tgtEl>
                                          <p:spTgt spid="328722"/>
                                        </p:tgtEl>
                                        <p:attrNameLst>
                                          <p:attrName>ppt_x</p:attrName>
                                        </p:attrNameLst>
                                      </p:cBhvr>
                                      <p:tavLst>
                                        <p:tav tm="0">
                                          <p:val>
                                            <p:strVal val="#ppt_x"/>
                                          </p:val>
                                        </p:tav>
                                        <p:tav tm="100000">
                                          <p:val>
                                            <p:strVal val="#ppt_x"/>
                                          </p:val>
                                        </p:tav>
                                      </p:tavLst>
                                    </p:anim>
                                    <p:anim calcmode="lin" valueType="num">
                                      <p:cBhvr>
                                        <p:cTn id="16" dur="1000" fill="hold"/>
                                        <p:tgtEl>
                                          <p:spTgt spid="328722"/>
                                        </p:tgtEl>
                                        <p:attrNameLst>
                                          <p:attrName>ppt_y</p:attrName>
                                        </p:attrNameLst>
                                      </p:cBhvr>
                                      <p:tavLst>
                                        <p:tav tm="0">
                                          <p:val>
                                            <p:strVal val="#ppt_y+.1"/>
                                          </p:val>
                                        </p:tav>
                                        <p:tav tm="100000">
                                          <p:val>
                                            <p:strVal val="#ppt_y"/>
                                          </p:val>
                                        </p:tav>
                                      </p:tavLst>
                                    </p:anim>
                                  </p:childTnLst>
                                </p:cTn>
                              </p:par>
                            </p:childTnLst>
                          </p:cTn>
                        </p:par>
                        <p:par>
                          <p:cTn id="17" fill="hold" nodeType="afterGroup">
                            <p:stCondLst>
                              <p:cond delay="1000"/>
                            </p:stCondLst>
                            <p:childTnLst>
                              <p:par>
                                <p:cTn id="18" presetID="42" presetClass="entr" presetSubtype="0" fill="hold" nodeType="afterEffect">
                                  <p:stCondLst>
                                    <p:cond delay="0"/>
                                  </p:stCondLst>
                                  <p:childTnLst>
                                    <p:set>
                                      <p:cBhvr>
                                        <p:cTn id="19" dur="1" fill="hold">
                                          <p:stCondLst>
                                            <p:cond delay="0"/>
                                          </p:stCondLst>
                                        </p:cTn>
                                        <p:tgtEl>
                                          <p:spTgt spid="328723"/>
                                        </p:tgtEl>
                                        <p:attrNameLst>
                                          <p:attrName>style.visibility</p:attrName>
                                        </p:attrNameLst>
                                      </p:cBhvr>
                                      <p:to>
                                        <p:strVal val="visible"/>
                                      </p:to>
                                    </p:set>
                                    <p:animEffect transition="in" filter="fade">
                                      <p:cBhvr>
                                        <p:cTn id="20" dur="1000"/>
                                        <p:tgtEl>
                                          <p:spTgt spid="328723"/>
                                        </p:tgtEl>
                                      </p:cBhvr>
                                    </p:animEffect>
                                    <p:anim calcmode="lin" valueType="num">
                                      <p:cBhvr>
                                        <p:cTn id="21" dur="1000" fill="hold"/>
                                        <p:tgtEl>
                                          <p:spTgt spid="328723"/>
                                        </p:tgtEl>
                                        <p:attrNameLst>
                                          <p:attrName>ppt_x</p:attrName>
                                        </p:attrNameLst>
                                      </p:cBhvr>
                                      <p:tavLst>
                                        <p:tav tm="0">
                                          <p:val>
                                            <p:strVal val="#ppt_x"/>
                                          </p:val>
                                        </p:tav>
                                        <p:tav tm="100000">
                                          <p:val>
                                            <p:strVal val="#ppt_x"/>
                                          </p:val>
                                        </p:tav>
                                      </p:tavLst>
                                    </p:anim>
                                    <p:anim calcmode="lin" valueType="num">
                                      <p:cBhvr>
                                        <p:cTn id="22" dur="1000" fill="hold"/>
                                        <p:tgtEl>
                                          <p:spTgt spid="3287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722"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CE976E4-9541-7867-A418-924FD3FDD7F3}"/>
              </a:ext>
            </a:extLst>
          </p:cNvPr>
          <p:cNvSpPr>
            <a:spLocks noGrp="1" noChangeArrowheads="1"/>
          </p:cNvSpPr>
          <p:nvPr>
            <p:ph type="title"/>
          </p:nvPr>
        </p:nvSpPr>
        <p:spPr/>
        <p:txBody>
          <a:bodyPr/>
          <a:lstStyle/>
          <a:p>
            <a:pPr eaLnBrk="1" fontAlgn="auto" hangingPunct="1">
              <a:spcAft>
                <a:spcPts val="0"/>
              </a:spcAft>
              <a:defRPr/>
            </a:pPr>
            <a:r>
              <a:rPr lang="en-US" altLang="en-US" sz="3400" dirty="0">
                <a:solidFill>
                  <a:schemeClr val="bg2"/>
                </a:solidFill>
                <a:ea typeface="+mj-ea"/>
                <a:cs typeface="+mj-cs"/>
              </a:rPr>
              <a:t>NPV Payoff Profile</a:t>
            </a:r>
          </a:p>
        </p:txBody>
      </p:sp>
      <p:graphicFrame>
        <p:nvGraphicFramePr>
          <p:cNvPr id="329731" name="Object 3">
            <a:extLst>
              <a:ext uri="{FF2B5EF4-FFF2-40B4-BE49-F238E27FC236}">
                <a16:creationId xmlns:a16="http://schemas.microsoft.com/office/drawing/2014/main" id="{3C249912-535E-F548-E72E-A9D3639FD87C}"/>
              </a:ext>
            </a:extLst>
          </p:cNvPr>
          <p:cNvGraphicFramePr>
            <a:graphicFrameLocks noChangeAspect="1"/>
          </p:cNvGraphicFramePr>
          <p:nvPr/>
        </p:nvGraphicFramePr>
        <p:xfrm>
          <a:off x="1928813" y="2427288"/>
          <a:ext cx="2381250" cy="3219450"/>
        </p:xfrm>
        <a:graphic>
          <a:graphicData uri="http://schemas.openxmlformats.org/presentationml/2006/ole">
            <mc:AlternateContent xmlns:mc="http://schemas.openxmlformats.org/markup-compatibility/2006">
              <mc:Choice xmlns:v="urn:schemas-microsoft-com:vml" Requires="v">
                <p:oleObj name="Worksheet" r:id="rId3" imgW="2295449" imgH="3095549" progId="Excel.Sheet.8">
                  <p:embed/>
                </p:oleObj>
              </mc:Choice>
              <mc:Fallback>
                <p:oleObj name="Worksheet" r:id="rId3" imgW="2295449" imgH="3095549" progId="Excel.Sheet.8">
                  <p:embed/>
                  <p:pic>
                    <p:nvPicPr>
                      <p:cNvPr id="329731" name="Object 3">
                        <a:extLst>
                          <a:ext uri="{FF2B5EF4-FFF2-40B4-BE49-F238E27FC236}">
                            <a16:creationId xmlns:a16="http://schemas.microsoft.com/office/drawing/2014/main" id="{3C249912-535E-F548-E72E-A9D3639FD8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8813" y="2427288"/>
                        <a:ext cx="2381250" cy="321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0404" name="Text Box 4">
            <a:extLst>
              <a:ext uri="{FF2B5EF4-FFF2-40B4-BE49-F238E27FC236}">
                <a16:creationId xmlns:a16="http://schemas.microsoft.com/office/drawing/2014/main" id="{AFD729D4-B06C-2928-B0BD-3C854B2E27AA}"/>
              </a:ext>
            </a:extLst>
          </p:cNvPr>
          <p:cNvSpPr txBox="1">
            <a:spLocks noChangeArrowheads="1"/>
          </p:cNvSpPr>
          <p:nvPr/>
        </p:nvSpPr>
        <p:spPr bwMode="auto">
          <a:xfrm>
            <a:off x="2209800" y="1371601"/>
            <a:ext cx="7924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50000"/>
              </a:spcBef>
              <a:spcAft>
                <a:spcPct val="0"/>
              </a:spcAft>
              <a:buClrTx/>
              <a:buSzTx/>
              <a:buNone/>
            </a:pPr>
            <a:r>
              <a:rPr lang="en-US" altLang="en-US" sz="2400">
                <a:solidFill>
                  <a:prstClr val="black"/>
                </a:solidFill>
                <a:latin typeface="Times New Roman" panose="02020603050405020304" pitchFamily="18" charset="0"/>
              </a:rPr>
              <a:t>If we graph NPV versus the discount rate, we can see the IRR as the x-axis intercept.</a:t>
            </a:r>
          </a:p>
        </p:txBody>
      </p:sp>
      <p:grpSp>
        <p:nvGrpSpPr>
          <p:cNvPr id="2" name="Group 5">
            <a:extLst>
              <a:ext uri="{FF2B5EF4-FFF2-40B4-BE49-F238E27FC236}">
                <a16:creationId xmlns:a16="http://schemas.microsoft.com/office/drawing/2014/main" id="{091E654D-408A-3B38-0518-273076EE85DC}"/>
              </a:ext>
            </a:extLst>
          </p:cNvPr>
          <p:cNvGrpSpPr>
            <a:grpSpLocks/>
          </p:cNvGrpSpPr>
          <p:nvPr/>
        </p:nvGrpSpPr>
        <p:grpSpPr bwMode="auto">
          <a:xfrm>
            <a:off x="7796213" y="3417888"/>
            <a:ext cx="2667000" cy="685800"/>
            <a:chOff x="4080" y="3600"/>
            <a:chExt cx="1680" cy="432"/>
          </a:xfrm>
        </p:grpSpPr>
        <p:sp>
          <p:nvSpPr>
            <p:cNvPr id="230407" name="Text Box 6">
              <a:extLst>
                <a:ext uri="{FF2B5EF4-FFF2-40B4-BE49-F238E27FC236}">
                  <a16:creationId xmlns:a16="http://schemas.microsoft.com/office/drawing/2014/main" id="{9FE651D4-E0A9-AEF3-2BD3-63FAA35A6724}"/>
                </a:ext>
              </a:extLst>
            </p:cNvPr>
            <p:cNvSpPr txBox="1">
              <a:spLocks noChangeArrowheads="1"/>
            </p:cNvSpPr>
            <p:nvPr/>
          </p:nvSpPr>
          <p:spPr bwMode="auto">
            <a:xfrm>
              <a:off x="4512" y="3600"/>
              <a:ext cx="1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50000"/>
                </a:spcBef>
                <a:spcAft>
                  <a:spcPct val="0"/>
                </a:spcAft>
                <a:buClrTx/>
                <a:buSzTx/>
                <a:buNone/>
              </a:pPr>
              <a:r>
                <a:rPr lang="en-US" altLang="en-US" sz="2400">
                  <a:solidFill>
                    <a:prstClr val="black"/>
                  </a:solidFill>
                  <a:latin typeface="Times New Roman" panose="02020603050405020304" pitchFamily="18" charset="0"/>
                </a:rPr>
                <a:t>IRR = 19.44%</a:t>
              </a:r>
            </a:p>
          </p:txBody>
        </p:sp>
        <p:sp>
          <p:nvSpPr>
            <p:cNvPr id="230408" name="Arc 7">
              <a:extLst>
                <a:ext uri="{FF2B5EF4-FFF2-40B4-BE49-F238E27FC236}">
                  <a16:creationId xmlns:a16="http://schemas.microsoft.com/office/drawing/2014/main" id="{CE84198A-01B7-96ED-A494-FBD0BA060000}"/>
                </a:ext>
              </a:extLst>
            </p:cNvPr>
            <p:cNvSpPr>
              <a:spLocks/>
            </p:cNvSpPr>
            <p:nvPr/>
          </p:nvSpPr>
          <p:spPr bwMode="auto">
            <a:xfrm flipH="1">
              <a:off x="4080" y="3718"/>
              <a:ext cx="384" cy="31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cap="sq">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grpSp>
      <p:graphicFrame>
        <p:nvGraphicFramePr>
          <p:cNvPr id="329736" name="Object 8">
            <a:extLst>
              <a:ext uri="{FF2B5EF4-FFF2-40B4-BE49-F238E27FC236}">
                <a16:creationId xmlns:a16="http://schemas.microsoft.com/office/drawing/2014/main" id="{B8F24247-C05B-5193-548C-B364165996D3}"/>
              </a:ext>
            </a:extLst>
          </p:cNvPr>
          <p:cNvGraphicFramePr>
            <a:graphicFrameLocks noChangeAspect="1"/>
          </p:cNvGraphicFramePr>
          <p:nvPr/>
        </p:nvGraphicFramePr>
        <p:xfrm>
          <a:off x="4214813" y="2122488"/>
          <a:ext cx="6000750" cy="3886200"/>
        </p:xfrm>
        <a:graphic>
          <a:graphicData uri="http://schemas.openxmlformats.org/presentationml/2006/ole">
            <mc:AlternateContent xmlns:mc="http://schemas.openxmlformats.org/markup-compatibility/2006">
              <mc:Choice xmlns:v="urn:schemas-microsoft-com:vml" Requires="v">
                <p:oleObj name="Chart" r:id="rId5" imgW="4686142" imgH="2914520" progId="Excel.Chart.8">
                  <p:embed/>
                </p:oleObj>
              </mc:Choice>
              <mc:Fallback>
                <p:oleObj name="Chart" r:id="rId5" imgW="4686142" imgH="2914520" progId="Excel.Chart.8">
                  <p:embed/>
                  <p:pic>
                    <p:nvPicPr>
                      <p:cNvPr id="329736" name="Object 8">
                        <a:extLst>
                          <a:ext uri="{FF2B5EF4-FFF2-40B4-BE49-F238E27FC236}">
                            <a16:creationId xmlns:a16="http://schemas.microsoft.com/office/drawing/2014/main" id="{B8F24247-C05B-5193-548C-B364165996D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14813" y="2122488"/>
                        <a:ext cx="600075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499"/>
                                          </p:stCondLst>
                                        </p:cTn>
                                        <p:tgtEl>
                                          <p:spTgt spid="329731"/>
                                        </p:tgtEl>
                                        <p:attrNameLst>
                                          <p:attrName>style.visibility</p:attrName>
                                        </p:attrNameLst>
                                      </p:cBhvr>
                                      <p:to>
                                        <p:strVal val="visible"/>
                                      </p:to>
                                    </p:set>
                                  </p:childTnLst>
                                </p:cTn>
                              </p:par>
                            </p:childTnLst>
                          </p:cTn>
                        </p:par>
                        <p:par>
                          <p:cTn id="7" fill="hold" nodeType="afterGroup">
                            <p:stCondLst>
                              <p:cond delay="500"/>
                            </p:stCondLst>
                            <p:childTnLst>
                              <p:par>
                                <p:cTn id="8" presetID="22" presetClass="entr" presetSubtype="8" fill="hold" grpId="0" nodeType="afterEffect">
                                  <p:stCondLst>
                                    <p:cond delay="0"/>
                                  </p:stCondLst>
                                  <p:childTnLst>
                                    <p:set>
                                      <p:cBhvr>
                                        <p:cTn id="9" dur="1" fill="hold">
                                          <p:stCondLst>
                                            <p:cond delay="0"/>
                                          </p:stCondLst>
                                        </p:cTn>
                                        <p:tgtEl>
                                          <p:spTgt spid="329736"/>
                                        </p:tgtEl>
                                        <p:attrNameLst>
                                          <p:attrName>style.visibility</p:attrName>
                                        </p:attrNameLst>
                                      </p:cBhvr>
                                      <p:to>
                                        <p:strVal val="visible"/>
                                      </p:to>
                                    </p:set>
                                    <p:animEffect transition="in" filter="wipe(left)">
                                      <p:cBhvr>
                                        <p:cTn id="10" dur="500"/>
                                        <p:tgtEl>
                                          <p:spTgt spid="32973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29736"/>
                                        </p:tgtEl>
                                        <p:attrNameLst>
                                          <p:attrName>style.visibility</p:attrName>
                                        </p:attrNameLst>
                                      </p:cBhvr>
                                      <p:to>
                                        <p:strVal val="visible"/>
                                      </p:to>
                                    </p:set>
                                    <p:animEffect transition="in" filter="wipe(left)">
                                      <p:cBhvr>
                                        <p:cTn id="15" dur="500"/>
                                        <p:tgtEl>
                                          <p:spTgt spid="329736"/>
                                        </p:tgtEl>
                                      </p:cBhvr>
                                    </p:animEffect>
                                  </p:childTnLst>
                                </p:cTn>
                              </p:par>
                            </p:childTnLst>
                          </p:cTn>
                        </p:par>
                        <p:par>
                          <p:cTn id="16" fill="hold" nodeType="afterGroup">
                            <p:stCondLst>
                              <p:cond delay="500"/>
                            </p:stCondLst>
                            <p:childTnLst>
                              <p:par>
                                <p:cTn id="17" presetID="22" presetClass="entr" presetSubtype="8"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OleChart spid="329736" grpId="0" bld="series"/>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4307" name="Rectangle 3">
            <a:extLst>
              <a:ext uri="{FF2B5EF4-FFF2-40B4-BE49-F238E27FC236}">
                <a16:creationId xmlns:a16="http://schemas.microsoft.com/office/drawing/2014/main" id="{DA0204DA-A297-C47A-28C8-ED5C9F543072}"/>
              </a:ext>
            </a:extLst>
          </p:cNvPr>
          <p:cNvSpPr>
            <a:spLocks noGrp="1"/>
          </p:cNvSpPr>
          <p:nvPr>
            <p:ph idx="1"/>
          </p:nvPr>
        </p:nvSpPr>
        <p:spPr>
          <a:xfrm>
            <a:off x="1981200" y="1481138"/>
            <a:ext cx="8229600" cy="3776662"/>
          </a:xfrm>
        </p:spPr>
        <p:txBody>
          <a:bodyPr/>
          <a:lstStyle/>
          <a:p>
            <a:pPr marL="342900" indent="-342900" eaLnBrk="1" hangingPunct="1"/>
            <a:r>
              <a:rPr lang="en-US" altLang="en-US" sz="2800">
                <a:latin typeface="Times New Roman" panose="02020603050405020304" pitchFamily="18" charset="0"/>
                <a:ea typeface="ＭＳ Ｐゴシック" panose="020B0600070205080204" pitchFamily="34" charset="-128"/>
              </a:rPr>
              <a:t>You start with the same cash flows as you did for the NPV.</a:t>
            </a:r>
          </a:p>
          <a:p>
            <a:pPr marL="342900" indent="-342900" eaLnBrk="1" hangingPunct="1"/>
            <a:r>
              <a:rPr lang="en-US" altLang="en-US" sz="2800">
                <a:latin typeface="Times New Roman" panose="02020603050405020304" pitchFamily="18" charset="0"/>
                <a:ea typeface="ＭＳ Ｐゴシック" panose="020B0600070205080204" pitchFamily="34" charset="-128"/>
              </a:rPr>
              <a:t>You use the IRR function:</a:t>
            </a:r>
          </a:p>
          <a:p>
            <a:pPr marL="742950" lvl="1" indent="-285750" eaLnBrk="1" hangingPunct="1"/>
            <a:r>
              <a:rPr lang="en-US" altLang="en-US" sz="2400">
                <a:latin typeface="Times New Roman" panose="02020603050405020304" pitchFamily="18" charset="0"/>
                <a:ea typeface="ＭＳ Ｐゴシック" panose="020B0600070205080204" pitchFamily="34" charset="-128"/>
              </a:rPr>
              <a:t>You first enter your range of cash flows, beginning with the initial cash flow.</a:t>
            </a:r>
          </a:p>
          <a:p>
            <a:pPr marL="742950" lvl="1" indent="-285750" eaLnBrk="1" hangingPunct="1"/>
            <a:r>
              <a:rPr lang="en-US" altLang="en-US" sz="2400">
                <a:latin typeface="Times New Roman" panose="02020603050405020304" pitchFamily="18" charset="0"/>
                <a:ea typeface="ＭＳ Ｐゴシック" panose="020B0600070205080204" pitchFamily="34" charset="-128"/>
              </a:rPr>
              <a:t>You can enter a guess, but it is not necessary.</a:t>
            </a:r>
          </a:p>
          <a:p>
            <a:pPr marL="742950" lvl="1" indent="-285750" eaLnBrk="1" hangingPunct="1"/>
            <a:r>
              <a:rPr lang="en-US" altLang="en-US" sz="2400">
                <a:latin typeface="Times New Roman" panose="02020603050405020304" pitchFamily="18" charset="0"/>
                <a:ea typeface="ＭＳ Ｐゴシック" panose="020B0600070205080204" pitchFamily="34" charset="-128"/>
              </a:rPr>
              <a:t>The default format is a whole percent – you will normally want to increase the decimal places to at least two.</a:t>
            </a:r>
          </a:p>
        </p:txBody>
      </p:sp>
      <p:sp>
        <p:nvSpPr>
          <p:cNvPr id="31746" name="Rectangle 2">
            <a:extLst>
              <a:ext uri="{FF2B5EF4-FFF2-40B4-BE49-F238E27FC236}">
                <a16:creationId xmlns:a16="http://schemas.microsoft.com/office/drawing/2014/main" id="{7094C106-8BF6-EC40-43C1-B64255C06BF3}"/>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Calculating IRR with Spreadsheets</a:t>
            </a:r>
          </a:p>
        </p:txBody>
      </p:sp>
      <p:graphicFrame>
        <p:nvGraphicFramePr>
          <p:cNvPr id="354308" name="Object 4">
            <a:hlinkClick r:id="" action="ppaction://ole?verb=1"/>
            <a:extLst>
              <a:ext uri="{FF2B5EF4-FFF2-40B4-BE49-F238E27FC236}">
                <a16:creationId xmlns:a16="http://schemas.microsoft.com/office/drawing/2014/main" id="{D8183949-B1D9-EE67-C629-CD0AD945F544}"/>
              </a:ext>
            </a:extLst>
          </p:cNvPr>
          <p:cNvGraphicFramePr>
            <a:graphicFrameLocks noChangeAspect="1"/>
          </p:cNvGraphicFramePr>
          <p:nvPr/>
        </p:nvGraphicFramePr>
        <p:xfrm>
          <a:off x="8991600" y="1868489"/>
          <a:ext cx="1219200" cy="1125537"/>
        </p:xfrm>
        <a:graphic>
          <a:graphicData uri="http://schemas.openxmlformats.org/presentationml/2006/ole">
            <mc:AlternateContent xmlns:mc="http://schemas.openxmlformats.org/markup-compatibility/2006">
              <mc:Choice xmlns:v="urn:schemas-microsoft-com:vml" Requires="v">
                <p:oleObj name="Worksheet" showAsIcon="1" r:id="rId3" imgW="380753" imgH="787283" progId="Excel.Sheet.8">
                  <p:embed/>
                </p:oleObj>
              </mc:Choice>
              <mc:Fallback>
                <p:oleObj name="Worksheet" showAsIcon="1" r:id="rId3" imgW="380753" imgH="787283" progId="Excel.Sheet.8">
                  <p:embed/>
                  <p:pic>
                    <p:nvPicPr>
                      <p:cNvPr id="354308" name="Object 4">
                        <a:hlinkClick r:id="" action="ppaction://ole?verb=1"/>
                        <a:extLst>
                          <a:ext uri="{FF2B5EF4-FFF2-40B4-BE49-F238E27FC236}">
                            <a16:creationId xmlns:a16="http://schemas.microsoft.com/office/drawing/2014/main" id="{D8183949-B1D9-EE67-C629-CD0AD945F5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50917"/>
                      <a:stretch>
                        <a:fillRect/>
                      </a:stretch>
                    </p:blipFill>
                    <p:spPr bwMode="auto">
                      <a:xfrm>
                        <a:off x="8991600" y="1868489"/>
                        <a:ext cx="1219200" cy="1125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54307">
                                            <p:txEl>
                                              <p:pRg st="0" end="0"/>
                                            </p:txEl>
                                          </p:spTgt>
                                        </p:tgtEl>
                                        <p:attrNameLst>
                                          <p:attrName>style.visibility</p:attrName>
                                        </p:attrNameLst>
                                      </p:cBhvr>
                                      <p:to>
                                        <p:strVal val="visible"/>
                                      </p:to>
                                    </p:set>
                                    <p:animEffect transition="in" filter="fade">
                                      <p:cBhvr>
                                        <p:cTn id="7" dur="1000"/>
                                        <p:tgtEl>
                                          <p:spTgt spid="354307">
                                            <p:txEl>
                                              <p:pRg st="0" end="0"/>
                                            </p:txEl>
                                          </p:spTgt>
                                        </p:tgtEl>
                                      </p:cBhvr>
                                    </p:animEffect>
                                    <p:anim calcmode="lin" valueType="num">
                                      <p:cBhvr>
                                        <p:cTn id="8" dur="1000" fill="hold"/>
                                        <p:tgtEl>
                                          <p:spTgt spid="35430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5430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54307">
                                            <p:txEl>
                                              <p:pRg st="1" end="1"/>
                                            </p:txEl>
                                          </p:spTgt>
                                        </p:tgtEl>
                                        <p:attrNameLst>
                                          <p:attrName>style.visibility</p:attrName>
                                        </p:attrNameLst>
                                      </p:cBhvr>
                                      <p:to>
                                        <p:strVal val="visible"/>
                                      </p:to>
                                    </p:set>
                                    <p:animEffect transition="in" filter="fade">
                                      <p:cBhvr>
                                        <p:cTn id="14" dur="1000"/>
                                        <p:tgtEl>
                                          <p:spTgt spid="354307">
                                            <p:txEl>
                                              <p:pRg st="1" end="1"/>
                                            </p:txEl>
                                          </p:spTgt>
                                        </p:tgtEl>
                                      </p:cBhvr>
                                    </p:animEffect>
                                    <p:anim calcmode="lin" valueType="num">
                                      <p:cBhvr>
                                        <p:cTn id="15" dur="1000" fill="hold"/>
                                        <p:tgtEl>
                                          <p:spTgt spid="35430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5430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54307">
                                            <p:txEl>
                                              <p:pRg st="2" end="2"/>
                                            </p:txEl>
                                          </p:spTgt>
                                        </p:tgtEl>
                                        <p:attrNameLst>
                                          <p:attrName>style.visibility</p:attrName>
                                        </p:attrNameLst>
                                      </p:cBhvr>
                                      <p:to>
                                        <p:strVal val="visible"/>
                                      </p:to>
                                    </p:set>
                                    <p:animEffect transition="in" filter="fade">
                                      <p:cBhvr>
                                        <p:cTn id="21" dur="1000"/>
                                        <p:tgtEl>
                                          <p:spTgt spid="354307">
                                            <p:txEl>
                                              <p:pRg st="2" end="2"/>
                                            </p:txEl>
                                          </p:spTgt>
                                        </p:tgtEl>
                                      </p:cBhvr>
                                    </p:animEffect>
                                    <p:anim calcmode="lin" valueType="num">
                                      <p:cBhvr>
                                        <p:cTn id="22" dur="1000" fill="hold"/>
                                        <p:tgtEl>
                                          <p:spTgt spid="35430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5430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54307">
                                            <p:txEl>
                                              <p:pRg st="3" end="3"/>
                                            </p:txEl>
                                          </p:spTgt>
                                        </p:tgtEl>
                                        <p:attrNameLst>
                                          <p:attrName>style.visibility</p:attrName>
                                        </p:attrNameLst>
                                      </p:cBhvr>
                                      <p:to>
                                        <p:strVal val="visible"/>
                                      </p:to>
                                    </p:set>
                                    <p:animEffect transition="in" filter="fade">
                                      <p:cBhvr>
                                        <p:cTn id="28" dur="1000"/>
                                        <p:tgtEl>
                                          <p:spTgt spid="354307">
                                            <p:txEl>
                                              <p:pRg st="3" end="3"/>
                                            </p:txEl>
                                          </p:spTgt>
                                        </p:tgtEl>
                                      </p:cBhvr>
                                    </p:animEffect>
                                    <p:anim calcmode="lin" valueType="num">
                                      <p:cBhvr>
                                        <p:cTn id="29" dur="1000" fill="hold"/>
                                        <p:tgtEl>
                                          <p:spTgt spid="35430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5430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54307">
                                            <p:txEl>
                                              <p:pRg st="4" end="4"/>
                                            </p:txEl>
                                          </p:spTgt>
                                        </p:tgtEl>
                                        <p:attrNameLst>
                                          <p:attrName>style.visibility</p:attrName>
                                        </p:attrNameLst>
                                      </p:cBhvr>
                                      <p:to>
                                        <p:strVal val="visible"/>
                                      </p:to>
                                    </p:set>
                                    <p:animEffect transition="in" filter="fade">
                                      <p:cBhvr>
                                        <p:cTn id="35" dur="1000"/>
                                        <p:tgtEl>
                                          <p:spTgt spid="354307">
                                            <p:txEl>
                                              <p:pRg st="4" end="4"/>
                                            </p:txEl>
                                          </p:spTgt>
                                        </p:tgtEl>
                                      </p:cBhvr>
                                    </p:animEffect>
                                    <p:anim calcmode="lin" valueType="num">
                                      <p:cBhvr>
                                        <p:cTn id="36" dur="1000" fill="hold"/>
                                        <p:tgtEl>
                                          <p:spTgt spid="354307">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54307">
                                            <p:txEl>
                                              <p:pRg st="4" end="4"/>
                                            </p:txEl>
                                          </p:spTgt>
                                        </p:tgtEl>
                                        <p:attrNameLst>
                                          <p:attrName>ppt_y</p:attrName>
                                        </p:attrNameLst>
                                      </p:cBhvr>
                                      <p:tavLst>
                                        <p:tav tm="0">
                                          <p:val>
                                            <p:strVal val="#ppt_y+.1"/>
                                          </p:val>
                                        </p:tav>
                                        <p:tav tm="100000">
                                          <p:val>
                                            <p:strVal val="#ppt_y"/>
                                          </p:val>
                                        </p:tav>
                                      </p:tavLst>
                                    </p:anim>
                                  </p:childTnLst>
                                </p:cTn>
                              </p:par>
                            </p:childTnLst>
                          </p:cTn>
                        </p:par>
                        <p:par>
                          <p:cTn id="38" fill="hold" nodeType="afterGroup">
                            <p:stCondLst>
                              <p:cond delay="1000"/>
                            </p:stCondLst>
                            <p:childTnLst>
                              <p:par>
                                <p:cTn id="39" presetID="42" presetClass="entr" presetSubtype="0" fill="hold" nodeType="afterEffect">
                                  <p:stCondLst>
                                    <p:cond delay="0"/>
                                  </p:stCondLst>
                                  <p:childTnLst>
                                    <p:set>
                                      <p:cBhvr>
                                        <p:cTn id="40" dur="1" fill="hold">
                                          <p:stCondLst>
                                            <p:cond delay="0"/>
                                          </p:stCondLst>
                                        </p:cTn>
                                        <p:tgtEl>
                                          <p:spTgt spid="354308"/>
                                        </p:tgtEl>
                                        <p:attrNameLst>
                                          <p:attrName>style.visibility</p:attrName>
                                        </p:attrNameLst>
                                      </p:cBhvr>
                                      <p:to>
                                        <p:strVal val="visible"/>
                                      </p:to>
                                    </p:set>
                                    <p:animEffect transition="in" filter="fade">
                                      <p:cBhvr>
                                        <p:cTn id="41" dur="1000"/>
                                        <p:tgtEl>
                                          <p:spTgt spid="354308"/>
                                        </p:tgtEl>
                                      </p:cBhvr>
                                    </p:animEffect>
                                    <p:anim calcmode="lin" valueType="num">
                                      <p:cBhvr>
                                        <p:cTn id="42" dur="1000" fill="hold"/>
                                        <p:tgtEl>
                                          <p:spTgt spid="354308"/>
                                        </p:tgtEl>
                                        <p:attrNameLst>
                                          <p:attrName>ppt_x</p:attrName>
                                        </p:attrNameLst>
                                      </p:cBhvr>
                                      <p:tavLst>
                                        <p:tav tm="0">
                                          <p:val>
                                            <p:strVal val="#ppt_x"/>
                                          </p:val>
                                        </p:tav>
                                        <p:tav tm="100000">
                                          <p:val>
                                            <p:strVal val="#ppt_x"/>
                                          </p:val>
                                        </p:tav>
                                      </p:tavLst>
                                    </p:anim>
                                    <p:anim calcmode="lin" valueType="num">
                                      <p:cBhvr>
                                        <p:cTn id="43" dur="1000" fill="hold"/>
                                        <p:tgtEl>
                                          <p:spTgt spid="35430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4307" grpId="0" build="p" bldLvl="2"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4498" name="Rectangle 3">
            <a:extLst>
              <a:ext uri="{FF2B5EF4-FFF2-40B4-BE49-F238E27FC236}">
                <a16:creationId xmlns:a16="http://schemas.microsoft.com/office/drawing/2014/main" id="{01CD6EF8-9D55-F665-E642-FE43720B3440}"/>
              </a:ext>
            </a:extLst>
          </p:cNvPr>
          <p:cNvSpPr>
            <a:spLocks noGrp="1"/>
          </p:cNvSpPr>
          <p:nvPr>
            <p:ph idx="1"/>
          </p:nvPr>
        </p:nvSpPr>
        <p:spPr/>
        <p:txBody>
          <a:bodyPr/>
          <a:lstStyle/>
          <a:p>
            <a:pPr marL="342900" indent="-342900" eaLnBrk="1" hangingPunct="1"/>
            <a:endParaRPr lang="en-US" altLang="en-US">
              <a:ea typeface="ＭＳ Ｐゴシック" panose="020B0600070205080204" pitchFamily="34" charset="-128"/>
            </a:endParaRPr>
          </a:p>
          <a:p>
            <a:pPr marL="342900" indent="-342900" eaLnBrk="1" hangingPunct="1">
              <a:buNone/>
            </a:pPr>
            <a:endParaRPr lang="en-US" altLang="en-US">
              <a:ea typeface="ＭＳ Ｐゴシック" panose="020B0600070205080204" pitchFamily="34" charset="-128"/>
            </a:endParaRPr>
          </a:p>
        </p:txBody>
      </p:sp>
      <p:sp>
        <p:nvSpPr>
          <p:cNvPr id="33794" name="Rectangle 2">
            <a:extLst>
              <a:ext uri="{FF2B5EF4-FFF2-40B4-BE49-F238E27FC236}">
                <a16:creationId xmlns:a16="http://schemas.microsoft.com/office/drawing/2014/main" id="{35ED96A4-BC34-A1B4-E55D-C7061CBB81B2}"/>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Problems with IRR</a:t>
            </a:r>
          </a:p>
        </p:txBody>
      </p:sp>
      <p:sp>
        <p:nvSpPr>
          <p:cNvPr id="330756" name="Rectangle 4">
            <a:extLst>
              <a:ext uri="{FF2B5EF4-FFF2-40B4-BE49-F238E27FC236}">
                <a16:creationId xmlns:a16="http://schemas.microsoft.com/office/drawing/2014/main" id="{668923B4-247B-6096-3FD4-C8E16E3B2217}"/>
              </a:ext>
            </a:extLst>
          </p:cNvPr>
          <p:cNvSpPr>
            <a:spLocks noChangeArrowheads="1"/>
          </p:cNvSpPr>
          <p:nvPr/>
        </p:nvSpPr>
        <p:spPr bwMode="auto">
          <a:xfrm>
            <a:off x="2133600" y="1828800"/>
            <a:ext cx="77724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75" tIns="44443" rIns="90475" bIns="44443"/>
          <a:lstStyle>
            <a:lvl1pPr marL="342900" indent="-34290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50000"/>
              </a:spcBef>
              <a:spcAft>
                <a:spcPct val="0"/>
              </a:spcAft>
              <a:buClr>
                <a:srgbClr val="464646"/>
              </a:buClr>
              <a:buSzPct val="70000"/>
              <a:buFont typeface="Wingdings" panose="05000000000000000000" pitchFamily="2" charset="2"/>
              <a:buChar char="q"/>
            </a:pPr>
            <a:r>
              <a:rPr lang="en-US" altLang="en-US" sz="2800">
                <a:solidFill>
                  <a:prstClr val="black"/>
                </a:solidFill>
                <a:latin typeface="Times New Roman" panose="02020603050405020304" pitchFamily="18" charset="0"/>
              </a:rPr>
              <a:t>Multiple IRRs</a:t>
            </a:r>
          </a:p>
          <a:p>
            <a:pPr fontAlgn="base">
              <a:spcBef>
                <a:spcPct val="50000"/>
              </a:spcBef>
              <a:spcAft>
                <a:spcPct val="0"/>
              </a:spcAft>
              <a:buClr>
                <a:srgbClr val="464646"/>
              </a:buClr>
              <a:buSzPct val="70000"/>
              <a:buFont typeface="Wingdings" panose="05000000000000000000" pitchFamily="2" charset="2"/>
              <a:buChar char="q"/>
            </a:pPr>
            <a:r>
              <a:rPr lang="en-US" altLang="en-US" sz="2800">
                <a:solidFill>
                  <a:prstClr val="black"/>
                </a:solidFill>
                <a:latin typeface="Times New Roman" panose="02020603050405020304" pitchFamily="18" charset="0"/>
              </a:rPr>
              <a:t>Are We Borrowing or Lending</a:t>
            </a:r>
          </a:p>
          <a:p>
            <a:pPr fontAlgn="base">
              <a:spcBef>
                <a:spcPct val="50000"/>
              </a:spcBef>
              <a:spcAft>
                <a:spcPct val="0"/>
              </a:spcAft>
              <a:buClr>
                <a:srgbClr val="464646"/>
              </a:buClr>
              <a:buSzPct val="70000"/>
              <a:buFont typeface="Wingdings" panose="05000000000000000000" pitchFamily="2" charset="2"/>
              <a:buChar char="q"/>
            </a:pPr>
            <a:r>
              <a:rPr lang="en-US" altLang="en-US" sz="2800">
                <a:solidFill>
                  <a:prstClr val="black"/>
                </a:solidFill>
                <a:latin typeface="Times New Roman" panose="02020603050405020304" pitchFamily="18" charset="0"/>
              </a:rPr>
              <a:t>The Scale Problem</a:t>
            </a:r>
          </a:p>
          <a:p>
            <a:pPr fontAlgn="base">
              <a:spcBef>
                <a:spcPct val="50000"/>
              </a:spcBef>
              <a:spcAft>
                <a:spcPct val="0"/>
              </a:spcAft>
              <a:buClr>
                <a:srgbClr val="464646"/>
              </a:buClr>
              <a:buSzPct val="70000"/>
              <a:buFont typeface="Wingdings" panose="05000000000000000000" pitchFamily="2" charset="2"/>
              <a:buChar char="q"/>
            </a:pPr>
            <a:r>
              <a:rPr lang="en-US" altLang="en-US" sz="2800">
                <a:solidFill>
                  <a:prstClr val="black"/>
                </a:solidFill>
                <a:latin typeface="Times New Roman" panose="02020603050405020304" pitchFamily="18" charset="0"/>
              </a:rPr>
              <a:t>The Timing Problem</a:t>
            </a:r>
          </a:p>
          <a:p>
            <a:pPr fontAlgn="base">
              <a:spcBef>
                <a:spcPct val="50000"/>
              </a:spcBef>
              <a:spcAft>
                <a:spcPct val="0"/>
              </a:spcAft>
              <a:buClrTx/>
              <a:buSzTx/>
              <a:buNone/>
            </a:pPr>
            <a:endParaRPr lang="en-US" altLang="en-US" sz="3200">
              <a:solidFill>
                <a:prstClr val="black"/>
              </a:solidFill>
              <a:latin typeface="Times New Roman" panose="02020603050405020304" pitchFamily="18" charset="0"/>
            </a:endParaRPr>
          </a:p>
          <a:p>
            <a:pPr fontAlgn="base">
              <a:spcBef>
                <a:spcPct val="50000"/>
              </a:spcBef>
              <a:spcAft>
                <a:spcPct val="0"/>
              </a:spcAft>
              <a:buClrTx/>
              <a:buSzTx/>
              <a:buNone/>
            </a:pPr>
            <a:endParaRPr lang="en-US" altLang="en-US" sz="2400">
              <a:solidFill>
                <a:prstClr val="black"/>
              </a:solidFill>
              <a:latin typeface="Times New Roman" panose="02020603050405020304" pitchFamily="18" charset="0"/>
            </a:endParaRPr>
          </a:p>
          <a:p>
            <a:pPr fontAlgn="base">
              <a:spcBef>
                <a:spcPct val="50000"/>
              </a:spcBef>
              <a:spcAft>
                <a:spcPct val="0"/>
              </a:spcAft>
              <a:buClrTx/>
              <a:buSzTx/>
              <a:buNone/>
            </a:pPr>
            <a:endParaRPr lang="en-US" altLang="en-US" sz="2500">
              <a:solidFill>
                <a:prstClr val="black"/>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30756">
                                            <p:txEl>
                                              <p:pRg st="0" end="0"/>
                                            </p:txEl>
                                          </p:spTgt>
                                        </p:tgtEl>
                                        <p:attrNameLst>
                                          <p:attrName>style.visibility</p:attrName>
                                        </p:attrNameLst>
                                      </p:cBhvr>
                                      <p:to>
                                        <p:strVal val="visible"/>
                                      </p:to>
                                    </p:set>
                                    <p:animEffect transition="in" filter="fade">
                                      <p:cBhvr>
                                        <p:cTn id="7" dur="1000"/>
                                        <p:tgtEl>
                                          <p:spTgt spid="330756">
                                            <p:txEl>
                                              <p:pRg st="0" end="0"/>
                                            </p:txEl>
                                          </p:spTgt>
                                        </p:tgtEl>
                                      </p:cBhvr>
                                    </p:animEffect>
                                    <p:anim calcmode="lin" valueType="num">
                                      <p:cBhvr>
                                        <p:cTn id="8" dur="1000" fill="hold"/>
                                        <p:tgtEl>
                                          <p:spTgt spid="33075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3075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330756">
                                            <p:txEl>
                                              <p:pRg st="1" end="1"/>
                                            </p:txEl>
                                          </p:spTgt>
                                        </p:tgtEl>
                                        <p:attrNameLst>
                                          <p:attrName>style.visibility</p:attrName>
                                        </p:attrNameLst>
                                      </p:cBhvr>
                                      <p:to>
                                        <p:strVal val="visible"/>
                                      </p:to>
                                    </p:set>
                                    <p:animEffect transition="in" filter="fade">
                                      <p:cBhvr>
                                        <p:cTn id="14" dur="1000"/>
                                        <p:tgtEl>
                                          <p:spTgt spid="330756">
                                            <p:txEl>
                                              <p:pRg st="1" end="1"/>
                                            </p:txEl>
                                          </p:spTgt>
                                        </p:tgtEl>
                                      </p:cBhvr>
                                    </p:animEffect>
                                    <p:anim calcmode="lin" valueType="num">
                                      <p:cBhvr>
                                        <p:cTn id="15" dur="1000" fill="hold"/>
                                        <p:tgtEl>
                                          <p:spTgt spid="33075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3075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330756">
                                            <p:txEl>
                                              <p:pRg st="2" end="2"/>
                                            </p:txEl>
                                          </p:spTgt>
                                        </p:tgtEl>
                                        <p:attrNameLst>
                                          <p:attrName>style.visibility</p:attrName>
                                        </p:attrNameLst>
                                      </p:cBhvr>
                                      <p:to>
                                        <p:strVal val="visible"/>
                                      </p:to>
                                    </p:set>
                                    <p:animEffect transition="in" filter="fade">
                                      <p:cBhvr>
                                        <p:cTn id="21" dur="1000"/>
                                        <p:tgtEl>
                                          <p:spTgt spid="330756">
                                            <p:txEl>
                                              <p:pRg st="2" end="2"/>
                                            </p:txEl>
                                          </p:spTgt>
                                        </p:tgtEl>
                                      </p:cBhvr>
                                    </p:animEffect>
                                    <p:anim calcmode="lin" valueType="num">
                                      <p:cBhvr>
                                        <p:cTn id="22" dur="1000" fill="hold"/>
                                        <p:tgtEl>
                                          <p:spTgt spid="33075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3075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330756">
                                            <p:txEl>
                                              <p:pRg st="3" end="3"/>
                                            </p:txEl>
                                          </p:spTgt>
                                        </p:tgtEl>
                                        <p:attrNameLst>
                                          <p:attrName>style.visibility</p:attrName>
                                        </p:attrNameLst>
                                      </p:cBhvr>
                                      <p:to>
                                        <p:strVal val="visible"/>
                                      </p:to>
                                    </p:set>
                                    <p:animEffect transition="in" filter="fade">
                                      <p:cBhvr>
                                        <p:cTn id="28" dur="1000"/>
                                        <p:tgtEl>
                                          <p:spTgt spid="330756">
                                            <p:txEl>
                                              <p:pRg st="3" end="3"/>
                                            </p:txEl>
                                          </p:spTgt>
                                        </p:tgtEl>
                                      </p:cBhvr>
                                    </p:animEffect>
                                    <p:anim calcmode="lin" valueType="num">
                                      <p:cBhvr>
                                        <p:cTn id="29" dur="1000" fill="hold"/>
                                        <p:tgtEl>
                                          <p:spTgt spid="330756">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3075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43" name="Rectangle 3">
            <a:extLst>
              <a:ext uri="{FF2B5EF4-FFF2-40B4-BE49-F238E27FC236}">
                <a16:creationId xmlns:a16="http://schemas.microsoft.com/office/drawing/2014/main" id="{5A56652C-4422-5133-D470-538AF1A77954}"/>
              </a:ext>
            </a:extLst>
          </p:cNvPr>
          <p:cNvSpPr>
            <a:spLocks noGrp="1"/>
          </p:cNvSpPr>
          <p:nvPr>
            <p:ph idx="1"/>
          </p:nvPr>
        </p:nvSpPr>
        <p:spPr>
          <a:xfrm>
            <a:off x="1981200" y="1600201"/>
            <a:ext cx="8229600" cy="4525963"/>
          </a:xfrm>
        </p:spPr>
        <p:txBody>
          <a:bodyPr/>
          <a:lstStyle/>
          <a:p>
            <a:pPr marL="342900" indent="-342900" eaLnBrk="1" hangingPunct="1">
              <a:lnSpc>
                <a:spcPct val="90000"/>
              </a:lnSpc>
            </a:pPr>
            <a:r>
              <a:rPr lang="en-US" altLang="en-US" sz="2800">
                <a:latin typeface="Times New Roman" panose="02020603050405020304" pitchFamily="18" charset="0"/>
                <a:ea typeface="ＭＳ Ｐゴシック" panose="020B0600070205080204" pitchFamily="34" charset="-128"/>
              </a:rPr>
              <a:t>Mutually Exclusive Projects: only ONE of several potential projects can be chosen, e.g., acquiring an accounting system. </a:t>
            </a:r>
          </a:p>
          <a:p>
            <a:pPr marL="742950" lvl="1" indent="-285750" eaLnBrk="1" hangingPunct="1">
              <a:lnSpc>
                <a:spcPct val="90000"/>
              </a:lnSpc>
            </a:pPr>
            <a:r>
              <a:rPr lang="en-US" altLang="en-US" sz="2400">
                <a:latin typeface="Times New Roman" panose="02020603050405020304" pitchFamily="18" charset="0"/>
                <a:ea typeface="ＭＳ Ｐゴシック" panose="020B0600070205080204" pitchFamily="34" charset="-128"/>
              </a:rPr>
              <a:t>RANK all alternatives, and select the best one.</a:t>
            </a:r>
          </a:p>
          <a:p>
            <a:pPr marL="342900" indent="-342900" eaLnBrk="1" hangingPunct="1">
              <a:lnSpc>
                <a:spcPct val="90000"/>
              </a:lnSpc>
            </a:pPr>
            <a:endParaRPr lang="en-US" altLang="en-US" sz="2800">
              <a:latin typeface="Times New Roman" panose="02020603050405020304" pitchFamily="18" charset="0"/>
              <a:ea typeface="ＭＳ Ｐゴシック" panose="020B0600070205080204" pitchFamily="34" charset="-128"/>
            </a:endParaRPr>
          </a:p>
          <a:p>
            <a:pPr marL="342900" indent="-342900" eaLnBrk="1" hangingPunct="1">
              <a:lnSpc>
                <a:spcPct val="90000"/>
              </a:lnSpc>
            </a:pPr>
            <a:r>
              <a:rPr lang="en-US" altLang="en-US" sz="2800">
                <a:latin typeface="Times New Roman" panose="02020603050405020304" pitchFamily="18" charset="0"/>
                <a:ea typeface="ＭＳ Ｐゴシック" panose="020B0600070205080204" pitchFamily="34" charset="-128"/>
              </a:rPr>
              <a:t>Independent Projects: accepting or rejecting one project does not affect the decision of the other projects.</a:t>
            </a:r>
          </a:p>
          <a:p>
            <a:pPr marL="742950" lvl="1" indent="-285750" eaLnBrk="1" hangingPunct="1">
              <a:lnSpc>
                <a:spcPct val="90000"/>
              </a:lnSpc>
            </a:pPr>
            <a:r>
              <a:rPr lang="en-US" altLang="en-US" sz="2400">
                <a:latin typeface="Times New Roman" panose="02020603050405020304" pitchFamily="18" charset="0"/>
                <a:ea typeface="ＭＳ Ｐゴシック" panose="020B0600070205080204" pitchFamily="34" charset="-128"/>
              </a:rPr>
              <a:t>Must exceed a MINIMUM acceptance criteria</a:t>
            </a:r>
          </a:p>
        </p:txBody>
      </p:sp>
      <p:sp>
        <p:nvSpPr>
          <p:cNvPr id="35842" name="Rectangle 2">
            <a:extLst>
              <a:ext uri="{FF2B5EF4-FFF2-40B4-BE49-F238E27FC236}">
                <a16:creationId xmlns:a16="http://schemas.microsoft.com/office/drawing/2014/main" id="{4E659CD4-1F56-706D-49D9-E1B7B7D0E179}"/>
              </a:ext>
            </a:extLst>
          </p:cNvPr>
          <p:cNvSpPr>
            <a:spLocks noGrp="1" noChangeArrowheads="1"/>
          </p:cNvSpPr>
          <p:nvPr>
            <p:ph type="title"/>
          </p:nvPr>
        </p:nvSpPr>
        <p:spPr>
          <a:xfrm>
            <a:off x="1981201" y="533400"/>
            <a:ext cx="8316913" cy="1206500"/>
          </a:xfrm>
        </p:spPr>
        <p:txBody>
          <a:bodyPr/>
          <a:lstStyle/>
          <a:p>
            <a:pPr eaLnBrk="1" fontAlgn="auto" hangingPunct="1">
              <a:spcAft>
                <a:spcPts val="0"/>
              </a:spcAft>
              <a:defRPr/>
            </a:pPr>
            <a:r>
              <a:rPr lang="en-US" altLang="en-US" sz="3400" dirty="0">
                <a:ea typeface="+mj-ea"/>
                <a:cs typeface="+mj-cs"/>
              </a:rPr>
              <a:t>Mutually Exclusive vs. Independent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68643">
                                            <p:txEl>
                                              <p:pRg st="0" end="0"/>
                                            </p:txEl>
                                          </p:spTgt>
                                        </p:tgtEl>
                                        <p:attrNameLst>
                                          <p:attrName>style.visibility</p:attrName>
                                        </p:attrNameLst>
                                      </p:cBhvr>
                                      <p:to>
                                        <p:strVal val="visible"/>
                                      </p:to>
                                    </p:set>
                                    <p:animEffect transition="in" filter="fade">
                                      <p:cBhvr>
                                        <p:cTn id="7" dur="1000"/>
                                        <p:tgtEl>
                                          <p:spTgt spid="368643">
                                            <p:txEl>
                                              <p:pRg st="0" end="0"/>
                                            </p:txEl>
                                          </p:spTgt>
                                        </p:tgtEl>
                                      </p:cBhvr>
                                    </p:animEffect>
                                    <p:anim calcmode="lin" valueType="num">
                                      <p:cBhvr>
                                        <p:cTn id="8" dur="1000" fill="hold"/>
                                        <p:tgtEl>
                                          <p:spTgt spid="36864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6864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68643">
                                            <p:txEl>
                                              <p:pRg st="1" end="1"/>
                                            </p:txEl>
                                          </p:spTgt>
                                        </p:tgtEl>
                                        <p:attrNameLst>
                                          <p:attrName>style.visibility</p:attrName>
                                        </p:attrNameLst>
                                      </p:cBhvr>
                                      <p:to>
                                        <p:strVal val="visible"/>
                                      </p:to>
                                    </p:set>
                                    <p:animEffect transition="in" filter="fade">
                                      <p:cBhvr>
                                        <p:cTn id="12" dur="1000"/>
                                        <p:tgtEl>
                                          <p:spTgt spid="368643">
                                            <p:txEl>
                                              <p:pRg st="1" end="1"/>
                                            </p:txEl>
                                          </p:spTgt>
                                        </p:tgtEl>
                                      </p:cBhvr>
                                    </p:animEffect>
                                    <p:anim calcmode="lin" valueType="num">
                                      <p:cBhvr>
                                        <p:cTn id="13" dur="1000" fill="hold"/>
                                        <p:tgtEl>
                                          <p:spTgt spid="36864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6864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68643">
                                            <p:txEl>
                                              <p:pRg st="3" end="3"/>
                                            </p:txEl>
                                          </p:spTgt>
                                        </p:tgtEl>
                                        <p:attrNameLst>
                                          <p:attrName>style.visibility</p:attrName>
                                        </p:attrNameLst>
                                      </p:cBhvr>
                                      <p:to>
                                        <p:strVal val="visible"/>
                                      </p:to>
                                    </p:set>
                                    <p:animEffect transition="in" filter="fade">
                                      <p:cBhvr>
                                        <p:cTn id="19" dur="1000"/>
                                        <p:tgtEl>
                                          <p:spTgt spid="368643">
                                            <p:txEl>
                                              <p:pRg st="3" end="3"/>
                                            </p:txEl>
                                          </p:spTgt>
                                        </p:tgtEl>
                                      </p:cBhvr>
                                    </p:animEffect>
                                    <p:anim calcmode="lin" valueType="num">
                                      <p:cBhvr>
                                        <p:cTn id="20" dur="1000" fill="hold"/>
                                        <p:tgtEl>
                                          <p:spTgt spid="368643">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68643">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68643">
                                            <p:txEl>
                                              <p:pRg st="4" end="4"/>
                                            </p:txEl>
                                          </p:spTgt>
                                        </p:tgtEl>
                                        <p:attrNameLst>
                                          <p:attrName>style.visibility</p:attrName>
                                        </p:attrNameLst>
                                      </p:cBhvr>
                                      <p:to>
                                        <p:strVal val="visible"/>
                                      </p:to>
                                    </p:set>
                                    <p:animEffect transition="in" filter="fade">
                                      <p:cBhvr>
                                        <p:cTn id="24" dur="1000"/>
                                        <p:tgtEl>
                                          <p:spTgt spid="368643">
                                            <p:txEl>
                                              <p:pRg st="4" end="4"/>
                                            </p:txEl>
                                          </p:spTgt>
                                        </p:tgtEl>
                                      </p:cBhvr>
                                    </p:animEffect>
                                    <p:anim calcmode="lin" valueType="num">
                                      <p:cBhvr>
                                        <p:cTn id="25" dur="1000" fill="hold"/>
                                        <p:tgtEl>
                                          <p:spTgt spid="368643">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36864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43" grpId="0" build="p"/>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8594" name="Rectangle 3">
            <a:extLst>
              <a:ext uri="{FF2B5EF4-FFF2-40B4-BE49-F238E27FC236}">
                <a16:creationId xmlns:a16="http://schemas.microsoft.com/office/drawing/2014/main" id="{0B7A332F-CABE-7F36-0402-BE2ED9045E85}"/>
              </a:ext>
            </a:extLst>
          </p:cNvPr>
          <p:cNvSpPr>
            <a:spLocks noGrp="1"/>
          </p:cNvSpPr>
          <p:nvPr>
            <p:ph idx="1"/>
          </p:nvPr>
        </p:nvSpPr>
        <p:spPr>
          <a:xfrm>
            <a:off x="2155825" y="1238250"/>
            <a:ext cx="6781800" cy="533400"/>
          </a:xfrm>
        </p:spPr>
        <p:txBody>
          <a:bodyPr/>
          <a:lstStyle/>
          <a:p>
            <a:pPr marL="0" indent="0" eaLnBrk="1" hangingPunct="1">
              <a:buNone/>
              <a:tabLst>
                <a:tab pos="1550988" algn="l"/>
                <a:tab pos="4006850" algn="r"/>
                <a:tab pos="6172200" algn="r"/>
              </a:tabLst>
            </a:pPr>
            <a:r>
              <a:rPr lang="en-US" altLang="en-US" sz="2800">
                <a:latin typeface="Times New Roman" panose="02020603050405020304" pitchFamily="18" charset="0"/>
                <a:ea typeface="ＭＳ Ｐゴシック" panose="020B0600070205080204" pitchFamily="34" charset="-128"/>
              </a:rPr>
              <a:t>There are two IRRs for this project:  </a:t>
            </a:r>
            <a:endParaRPr lang="en-US" altLang="en-US">
              <a:latin typeface="Times New Roman" panose="02020603050405020304" pitchFamily="18" charset="0"/>
              <a:ea typeface="ＭＳ Ｐゴシック" panose="020B0600070205080204" pitchFamily="34" charset="-128"/>
            </a:endParaRPr>
          </a:p>
        </p:txBody>
      </p:sp>
      <p:sp>
        <p:nvSpPr>
          <p:cNvPr id="37890" name="Rectangle 2">
            <a:extLst>
              <a:ext uri="{FF2B5EF4-FFF2-40B4-BE49-F238E27FC236}">
                <a16:creationId xmlns:a16="http://schemas.microsoft.com/office/drawing/2014/main" id="{FC33AC78-335A-C7FE-D272-1B9FA1829616}"/>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Multiple </a:t>
            </a:r>
            <a:r>
              <a:rPr lang="en-US" altLang="en-US" sz="3400" dirty="0" err="1">
                <a:ea typeface="+mj-ea"/>
                <a:cs typeface="+mj-cs"/>
              </a:rPr>
              <a:t>IRRs</a:t>
            </a:r>
            <a:endParaRPr lang="en-US" altLang="en-US" sz="3400" dirty="0">
              <a:ea typeface="+mj-ea"/>
              <a:cs typeface="+mj-cs"/>
            </a:endParaRPr>
          </a:p>
        </p:txBody>
      </p:sp>
      <p:grpSp>
        <p:nvGrpSpPr>
          <p:cNvPr id="2" name="Group 4">
            <a:extLst>
              <a:ext uri="{FF2B5EF4-FFF2-40B4-BE49-F238E27FC236}">
                <a16:creationId xmlns:a16="http://schemas.microsoft.com/office/drawing/2014/main" id="{B647453E-67B6-5A93-11C9-E72ED65FF4AF}"/>
              </a:ext>
            </a:extLst>
          </p:cNvPr>
          <p:cNvGrpSpPr>
            <a:grpSpLocks/>
          </p:cNvGrpSpPr>
          <p:nvPr/>
        </p:nvGrpSpPr>
        <p:grpSpPr bwMode="auto">
          <a:xfrm>
            <a:off x="2438400" y="1676400"/>
            <a:ext cx="5715000" cy="1619250"/>
            <a:chOff x="1488" y="1296"/>
            <a:chExt cx="3600" cy="1406"/>
          </a:xfrm>
        </p:grpSpPr>
        <p:sp>
          <p:nvSpPr>
            <p:cNvPr id="238606" name="Line 5">
              <a:extLst>
                <a:ext uri="{FF2B5EF4-FFF2-40B4-BE49-F238E27FC236}">
                  <a16:creationId xmlns:a16="http://schemas.microsoft.com/office/drawing/2014/main" id="{577E3A96-535B-108F-A5D6-C67BEC3675A4}"/>
                </a:ext>
              </a:extLst>
            </p:cNvPr>
            <p:cNvSpPr>
              <a:spLocks noChangeShapeType="1"/>
            </p:cNvSpPr>
            <p:nvPr/>
          </p:nvSpPr>
          <p:spPr bwMode="auto">
            <a:xfrm>
              <a:off x="1776" y="1776"/>
              <a:ext cx="2448" cy="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38607" name="Line 6">
              <a:extLst>
                <a:ext uri="{FF2B5EF4-FFF2-40B4-BE49-F238E27FC236}">
                  <a16:creationId xmlns:a16="http://schemas.microsoft.com/office/drawing/2014/main" id="{30288556-FAF4-5DBF-B717-3C091461BF38}"/>
                </a:ext>
              </a:extLst>
            </p:cNvPr>
            <p:cNvSpPr>
              <a:spLocks noChangeShapeType="1"/>
            </p:cNvSpPr>
            <p:nvPr/>
          </p:nvSpPr>
          <p:spPr bwMode="auto">
            <a:xfrm>
              <a:off x="1776" y="1632"/>
              <a:ext cx="0" cy="28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38608" name="Line 7">
              <a:extLst>
                <a:ext uri="{FF2B5EF4-FFF2-40B4-BE49-F238E27FC236}">
                  <a16:creationId xmlns:a16="http://schemas.microsoft.com/office/drawing/2014/main" id="{CBEFE6C1-14EB-6DD9-C43F-F81581279CB2}"/>
                </a:ext>
              </a:extLst>
            </p:cNvPr>
            <p:cNvSpPr>
              <a:spLocks noChangeShapeType="1"/>
            </p:cNvSpPr>
            <p:nvPr/>
          </p:nvSpPr>
          <p:spPr bwMode="auto">
            <a:xfrm>
              <a:off x="2496" y="1632"/>
              <a:ext cx="0" cy="28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38609" name="Line 8">
              <a:extLst>
                <a:ext uri="{FF2B5EF4-FFF2-40B4-BE49-F238E27FC236}">
                  <a16:creationId xmlns:a16="http://schemas.microsoft.com/office/drawing/2014/main" id="{6D3A2F9A-391A-9A3B-D1D4-B5A88F915227}"/>
                </a:ext>
              </a:extLst>
            </p:cNvPr>
            <p:cNvSpPr>
              <a:spLocks noChangeShapeType="1"/>
            </p:cNvSpPr>
            <p:nvPr/>
          </p:nvSpPr>
          <p:spPr bwMode="auto">
            <a:xfrm>
              <a:off x="3456" y="1632"/>
              <a:ext cx="0" cy="28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38610" name="Text Box 9">
              <a:extLst>
                <a:ext uri="{FF2B5EF4-FFF2-40B4-BE49-F238E27FC236}">
                  <a16:creationId xmlns:a16="http://schemas.microsoft.com/office/drawing/2014/main" id="{9F03E1DA-A9F2-8B9F-693F-1A81F1B17E57}"/>
                </a:ext>
              </a:extLst>
            </p:cNvPr>
            <p:cNvSpPr txBox="1">
              <a:spLocks noChangeArrowheads="1"/>
            </p:cNvSpPr>
            <p:nvPr/>
          </p:nvSpPr>
          <p:spPr bwMode="auto">
            <a:xfrm>
              <a:off x="1632" y="1967"/>
              <a:ext cx="3456"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50000"/>
                </a:spcBef>
                <a:spcAft>
                  <a:spcPct val="0"/>
                </a:spcAft>
                <a:buClrTx/>
                <a:buSzTx/>
                <a:buNone/>
              </a:pPr>
              <a:r>
                <a:rPr lang="en-US" altLang="en-US" sz="2400">
                  <a:solidFill>
                    <a:prstClr val="black"/>
                  </a:solidFill>
                  <a:latin typeface="Book Antiqua" panose="02040602050305030304" pitchFamily="18" charset="0"/>
                </a:rPr>
                <a:t>0	    1	        	2         	    </a:t>
              </a:r>
              <a:r>
                <a:rPr lang="en-US" altLang="en-US" sz="2400" i="1">
                  <a:solidFill>
                    <a:prstClr val="black"/>
                  </a:solidFill>
                  <a:latin typeface="Book Antiqua" panose="02040602050305030304" pitchFamily="18" charset="0"/>
                </a:rPr>
                <a:t>3</a:t>
              </a:r>
            </a:p>
          </p:txBody>
        </p:sp>
        <p:sp>
          <p:nvSpPr>
            <p:cNvPr id="238611" name="Line 10">
              <a:extLst>
                <a:ext uri="{FF2B5EF4-FFF2-40B4-BE49-F238E27FC236}">
                  <a16:creationId xmlns:a16="http://schemas.microsoft.com/office/drawing/2014/main" id="{48102091-874D-3C1E-EFEC-79356ECA75C6}"/>
                </a:ext>
              </a:extLst>
            </p:cNvPr>
            <p:cNvSpPr>
              <a:spLocks noChangeShapeType="1"/>
            </p:cNvSpPr>
            <p:nvPr/>
          </p:nvSpPr>
          <p:spPr bwMode="auto">
            <a:xfrm>
              <a:off x="4224" y="1632"/>
              <a:ext cx="0" cy="28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38612" name="Text Box 11">
              <a:extLst>
                <a:ext uri="{FF2B5EF4-FFF2-40B4-BE49-F238E27FC236}">
                  <a16:creationId xmlns:a16="http://schemas.microsoft.com/office/drawing/2014/main" id="{EF392023-CA98-0774-29DE-713AFFAF1B6F}"/>
                </a:ext>
              </a:extLst>
            </p:cNvPr>
            <p:cNvSpPr txBox="1">
              <a:spLocks noChangeArrowheads="1"/>
            </p:cNvSpPr>
            <p:nvPr/>
          </p:nvSpPr>
          <p:spPr bwMode="auto">
            <a:xfrm>
              <a:off x="2304" y="1296"/>
              <a:ext cx="14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475" tIns="44443" rIns="90475" bIns="44443"/>
            <a:lstStyle>
              <a:lvl1pPr marL="342900" indent="-34290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50000"/>
                </a:spcBef>
                <a:spcAft>
                  <a:spcPct val="0"/>
                </a:spcAft>
                <a:buClrTx/>
                <a:buSzTx/>
                <a:buNone/>
              </a:pPr>
              <a:r>
                <a:rPr lang="en-US" altLang="en-US" sz="2400" i="1">
                  <a:solidFill>
                    <a:prstClr val="black"/>
                  </a:solidFill>
                  <a:latin typeface="Book Antiqua" panose="02040602050305030304" pitchFamily="18" charset="0"/>
                </a:rPr>
                <a:t>$200	     $800</a:t>
              </a:r>
            </a:p>
          </p:txBody>
        </p:sp>
        <p:sp>
          <p:nvSpPr>
            <p:cNvPr id="238613" name="Text Box 12">
              <a:extLst>
                <a:ext uri="{FF2B5EF4-FFF2-40B4-BE49-F238E27FC236}">
                  <a16:creationId xmlns:a16="http://schemas.microsoft.com/office/drawing/2014/main" id="{0905CFB5-396C-2E06-6183-26B2E11EFD85}"/>
                </a:ext>
              </a:extLst>
            </p:cNvPr>
            <p:cNvSpPr txBox="1">
              <a:spLocks noChangeArrowheads="1"/>
            </p:cNvSpPr>
            <p:nvPr/>
          </p:nvSpPr>
          <p:spPr bwMode="auto">
            <a:xfrm>
              <a:off x="1488" y="2305"/>
              <a:ext cx="624"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50000"/>
                </a:spcBef>
                <a:spcAft>
                  <a:spcPct val="0"/>
                </a:spcAft>
                <a:buClrTx/>
                <a:buSzTx/>
                <a:buNone/>
              </a:pPr>
              <a:r>
                <a:rPr lang="en-US" altLang="en-US" sz="2400" i="1">
                  <a:solidFill>
                    <a:prstClr val="black"/>
                  </a:solidFill>
                  <a:latin typeface="Book Antiqua" panose="02040602050305030304" pitchFamily="18" charset="0"/>
                </a:rPr>
                <a:t>-$200</a:t>
              </a:r>
            </a:p>
          </p:txBody>
        </p:sp>
        <p:sp>
          <p:nvSpPr>
            <p:cNvPr id="238614" name="Text Box 13">
              <a:extLst>
                <a:ext uri="{FF2B5EF4-FFF2-40B4-BE49-F238E27FC236}">
                  <a16:creationId xmlns:a16="http://schemas.microsoft.com/office/drawing/2014/main" id="{2BF1D1E5-D302-B9E3-BDCD-6BE9297EBF8B}"/>
                </a:ext>
              </a:extLst>
            </p:cNvPr>
            <p:cNvSpPr txBox="1">
              <a:spLocks noChangeArrowheads="1"/>
            </p:cNvSpPr>
            <p:nvPr/>
          </p:nvSpPr>
          <p:spPr bwMode="auto">
            <a:xfrm>
              <a:off x="3840" y="2208"/>
              <a:ext cx="6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475" tIns="44443" rIns="90475" bIns="44443"/>
            <a:lstStyle>
              <a:lvl1pPr marL="342900" indent="-34290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50000"/>
                </a:spcBef>
                <a:spcAft>
                  <a:spcPct val="0"/>
                </a:spcAft>
                <a:buClrTx/>
                <a:buSzTx/>
                <a:buNone/>
              </a:pPr>
              <a:r>
                <a:rPr lang="en-US" altLang="en-US" sz="2400" i="1">
                  <a:solidFill>
                    <a:prstClr val="black"/>
                  </a:solidFill>
                  <a:latin typeface="Book Antiqua" panose="02040602050305030304" pitchFamily="18" charset="0"/>
                </a:rPr>
                <a:t>- $800</a:t>
              </a:r>
            </a:p>
          </p:txBody>
        </p:sp>
      </p:grpSp>
      <p:graphicFrame>
        <p:nvGraphicFramePr>
          <p:cNvPr id="331790" name="Object 14">
            <a:extLst>
              <a:ext uri="{FF2B5EF4-FFF2-40B4-BE49-F238E27FC236}">
                <a16:creationId xmlns:a16="http://schemas.microsoft.com/office/drawing/2014/main" id="{4112821D-F7AF-88CB-5FBD-38E99B4CF265}"/>
              </a:ext>
            </a:extLst>
          </p:cNvPr>
          <p:cNvGraphicFramePr>
            <a:graphicFrameLocks noChangeAspect="1"/>
          </p:cNvGraphicFramePr>
          <p:nvPr/>
        </p:nvGraphicFramePr>
        <p:xfrm>
          <a:off x="2133600" y="3257550"/>
          <a:ext cx="7029450" cy="3162300"/>
        </p:xfrm>
        <a:graphic>
          <a:graphicData uri="http://schemas.openxmlformats.org/presentationml/2006/ole">
            <mc:AlternateContent xmlns:mc="http://schemas.openxmlformats.org/markup-compatibility/2006">
              <mc:Choice xmlns:v="urn:schemas-microsoft-com:vml" Requires="v">
                <p:oleObj name="Chart" r:id="rId3" imgW="5810193" imgH="2990743" progId="Excel.Chart.8">
                  <p:embed/>
                </p:oleObj>
              </mc:Choice>
              <mc:Fallback>
                <p:oleObj name="Chart" r:id="rId3" imgW="5810193" imgH="2990743" progId="Excel.Chart.8">
                  <p:embed/>
                  <p:pic>
                    <p:nvPicPr>
                      <p:cNvPr id="331790" name="Object 14">
                        <a:extLst>
                          <a:ext uri="{FF2B5EF4-FFF2-40B4-BE49-F238E27FC236}">
                            <a16:creationId xmlns:a16="http://schemas.microsoft.com/office/drawing/2014/main" id="{4112821D-F7AF-88CB-5FBD-38E99B4CF2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3257550"/>
                        <a:ext cx="7029450" cy="316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 name="Group 15">
            <a:extLst>
              <a:ext uri="{FF2B5EF4-FFF2-40B4-BE49-F238E27FC236}">
                <a16:creationId xmlns:a16="http://schemas.microsoft.com/office/drawing/2014/main" id="{46186172-1DC0-CC8C-1B42-05BA01A1FD4D}"/>
              </a:ext>
            </a:extLst>
          </p:cNvPr>
          <p:cNvGrpSpPr>
            <a:grpSpLocks/>
          </p:cNvGrpSpPr>
          <p:nvPr/>
        </p:nvGrpSpPr>
        <p:grpSpPr bwMode="auto">
          <a:xfrm>
            <a:off x="6424614" y="3783013"/>
            <a:ext cx="2300288" cy="914400"/>
            <a:chOff x="3120" y="2208"/>
            <a:chExt cx="1449" cy="576"/>
          </a:xfrm>
        </p:grpSpPr>
        <p:sp>
          <p:nvSpPr>
            <p:cNvPr id="238604" name="Rectangle 16">
              <a:extLst>
                <a:ext uri="{FF2B5EF4-FFF2-40B4-BE49-F238E27FC236}">
                  <a16:creationId xmlns:a16="http://schemas.microsoft.com/office/drawing/2014/main" id="{72160EC9-7E43-4CBD-75F7-9053983976A5}"/>
                </a:ext>
              </a:extLst>
            </p:cNvPr>
            <p:cNvSpPr>
              <a:spLocks noChangeArrowheads="1"/>
            </p:cNvSpPr>
            <p:nvPr/>
          </p:nvSpPr>
          <p:spPr bwMode="auto">
            <a:xfrm>
              <a:off x="3550" y="2208"/>
              <a:ext cx="101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87425">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defTabSz="9874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defTabSz="987425">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defTabSz="987425">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defTabSz="987425">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0"/>
                </a:spcBef>
                <a:spcAft>
                  <a:spcPct val="0"/>
                </a:spcAft>
                <a:buClrTx/>
                <a:buSzTx/>
                <a:buNone/>
              </a:pPr>
              <a:r>
                <a:rPr lang="en-US" altLang="en-US" sz="2200" b="1">
                  <a:solidFill>
                    <a:prstClr val="black"/>
                  </a:solidFill>
                  <a:latin typeface="Times New Roman" panose="02020603050405020304" pitchFamily="18" charset="0"/>
                </a:rPr>
                <a:t>100% = IRR</a:t>
              </a:r>
              <a:r>
                <a:rPr lang="en-US" altLang="en-US" sz="2200" b="1" baseline="-25000">
                  <a:solidFill>
                    <a:prstClr val="black"/>
                  </a:solidFill>
                  <a:latin typeface="Times New Roman" panose="02020603050405020304" pitchFamily="18" charset="0"/>
                </a:rPr>
                <a:t>2</a:t>
              </a:r>
              <a:endParaRPr lang="en-US" altLang="en-US" sz="2200">
                <a:solidFill>
                  <a:prstClr val="black"/>
                </a:solidFill>
                <a:latin typeface="Times New Roman" panose="02020603050405020304" pitchFamily="18" charset="0"/>
              </a:endParaRPr>
            </a:p>
          </p:txBody>
        </p:sp>
        <p:sp>
          <p:nvSpPr>
            <p:cNvPr id="238605" name="Arc 17">
              <a:extLst>
                <a:ext uri="{FF2B5EF4-FFF2-40B4-BE49-F238E27FC236}">
                  <a16:creationId xmlns:a16="http://schemas.microsoft.com/office/drawing/2014/main" id="{A647418A-4C88-CF32-3320-41BC373B3F8F}"/>
                </a:ext>
              </a:extLst>
            </p:cNvPr>
            <p:cNvSpPr>
              <a:spLocks/>
            </p:cNvSpPr>
            <p:nvPr/>
          </p:nvSpPr>
          <p:spPr bwMode="auto">
            <a:xfrm flipH="1">
              <a:off x="3120" y="2352"/>
              <a:ext cx="384" cy="43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cap="sq">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grpSp>
      <p:grpSp>
        <p:nvGrpSpPr>
          <p:cNvPr id="4" name="Group 18">
            <a:extLst>
              <a:ext uri="{FF2B5EF4-FFF2-40B4-BE49-F238E27FC236}">
                <a16:creationId xmlns:a16="http://schemas.microsoft.com/office/drawing/2014/main" id="{F13FBD72-4474-6BF0-1529-BE9D4F4B9332}"/>
              </a:ext>
            </a:extLst>
          </p:cNvPr>
          <p:cNvGrpSpPr>
            <a:grpSpLocks/>
          </p:cNvGrpSpPr>
          <p:nvPr/>
        </p:nvGrpSpPr>
        <p:grpSpPr bwMode="auto">
          <a:xfrm>
            <a:off x="4191000" y="4591050"/>
            <a:ext cx="2311400" cy="1100138"/>
            <a:chOff x="1714" y="2784"/>
            <a:chExt cx="1456" cy="693"/>
          </a:xfrm>
        </p:grpSpPr>
        <p:sp>
          <p:nvSpPr>
            <p:cNvPr id="238602" name="Rectangle 19">
              <a:extLst>
                <a:ext uri="{FF2B5EF4-FFF2-40B4-BE49-F238E27FC236}">
                  <a16:creationId xmlns:a16="http://schemas.microsoft.com/office/drawing/2014/main" id="{FD7D2FC0-80F6-FB2D-9AF8-D634A0536510}"/>
                </a:ext>
              </a:extLst>
            </p:cNvPr>
            <p:cNvSpPr>
              <a:spLocks noChangeArrowheads="1"/>
            </p:cNvSpPr>
            <p:nvPr/>
          </p:nvSpPr>
          <p:spPr bwMode="auto">
            <a:xfrm>
              <a:off x="2160" y="3264"/>
              <a:ext cx="101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87425">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defTabSz="9874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defTabSz="987425">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defTabSz="987425">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defTabSz="987425">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0"/>
                </a:spcBef>
                <a:spcAft>
                  <a:spcPct val="0"/>
                </a:spcAft>
                <a:buClrTx/>
                <a:buSzTx/>
                <a:buNone/>
              </a:pPr>
              <a:r>
                <a:rPr lang="en-US" altLang="en-US" sz="2200" b="1">
                  <a:solidFill>
                    <a:prstClr val="black"/>
                  </a:solidFill>
                  <a:latin typeface="Times New Roman" panose="02020603050405020304" pitchFamily="18" charset="0"/>
                </a:rPr>
                <a:t>0% = IRR</a:t>
              </a:r>
              <a:r>
                <a:rPr lang="en-US" altLang="en-US" sz="2200" b="1" baseline="-25000">
                  <a:solidFill>
                    <a:prstClr val="black"/>
                  </a:solidFill>
                  <a:latin typeface="Times New Roman" panose="02020603050405020304" pitchFamily="18" charset="0"/>
                </a:rPr>
                <a:t>1</a:t>
              </a:r>
              <a:endParaRPr lang="en-US" altLang="en-US" sz="2200">
                <a:solidFill>
                  <a:prstClr val="black"/>
                </a:solidFill>
                <a:latin typeface="Times New Roman" panose="02020603050405020304" pitchFamily="18" charset="0"/>
              </a:endParaRPr>
            </a:p>
          </p:txBody>
        </p:sp>
        <p:sp>
          <p:nvSpPr>
            <p:cNvPr id="238603" name="Arc 20">
              <a:extLst>
                <a:ext uri="{FF2B5EF4-FFF2-40B4-BE49-F238E27FC236}">
                  <a16:creationId xmlns:a16="http://schemas.microsoft.com/office/drawing/2014/main" id="{E13B6F40-3391-56BE-98A2-70D0436C661F}"/>
                </a:ext>
              </a:extLst>
            </p:cNvPr>
            <p:cNvSpPr>
              <a:spLocks/>
            </p:cNvSpPr>
            <p:nvPr/>
          </p:nvSpPr>
          <p:spPr bwMode="auto">
            <a:xfrm flipH="1" flipV="1">
              <a:off x="1714" y="2784"/>
              <a:ext cx="369" cy="576"/>
            </a:xfrm>
            <a:custGeom>
              <a:avLst/>
              <a:gdLst>
                <a:gd name="T0" fmla="*/ 0 w 20757"/>
                <a:gd name="T1" fmla="*/ 0 h 21600"/>
                <a:gd name="T2" fmla="*/ 0 w 20757"/>
                <a:gd name="T3" fmla="*/ 0 h 21600"/>
                <a:gd name="T4" fmla="*/ 0 w 20757"/>
                <a:gd name="T5" fmla="*/ 0 h 21600"/>
                <a:gd name="T6" fmla="*/ 0 60000 65536"/>
                <a:gd name="T7" fmla="*/ 0 60000 65536"/>
                <a:gd name="T8" fmla="*/ 0 60000 65536"/>
                <a:gd name="T9" fmla="*/ 0 w 20757"/>
                <a:gd name="T10" fmla="*/ 0 h 21600"/>
                <a:gd name="T11" fmla="*/ 20757 w 20757"/>
                <a:gd name="T12" fmla="*/ 21600 h 21600"/>
              </a:gdLst>
              <a:ahLst/>
              <a:cxnLst>
                <a:cxn ang="T6">
                  <a:pos x="T0" y="T1"/>
                </a:cxn>
                <a:cxn ang="T7">
                  <a:pos x="T2" y="T3"/>
                </a:cxn>
                <a:cxn ang="T8">
                  <a:pos x="T4" y="T5"/>
                </a:cxn>
              </a:cxnLst>
              <a:rect l="T9" t="T10" r="T11" b="T12"/>
              <a:pathLst>
                <a:path w="20757" h="21600" fill="none" extrusionOk="0">
                  <a:moveTo>
                    <a:pt x="-1" y="0"/>
                  </a:moveTo>
                  <a:cubicBezTo>
                    <a:pt x="9628" y="0"/>
                    <a:pt x="18093" y="6372"/>
                    <a:pt x="20757" y="15624"/>
                  </a:cubicBezTo>
                </a:path>
                <a:path w="20757" h="21600" stroke="0" extrusionOk="0">
                  <a:moveTo>
                    <a:pt x="-1" y="0"/>
                  </a:moveTo>
                  <a:cubicBezTo>
                    <a:pt x="9628" y="0"/>
                    <a:pt x="18093" y="6372"/>
                    <a:pt x="20757" y="15624"/>
                  </a:cubicBezTo>
                  <a:lnTo>
                    <a:pt x="0" y="21600"/>
                  </a:lnTo>
                  <a:lnTo>
                    <a:pt x="-1" y="0"/>
                  </a:lnTo>
                  <a:close/>
                </a:path>
              </a:pathLst>
            </a:custGeom>
            <a:noFill/>
            <a:ln w="28575" cap="sq">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grpSp>
      <p:sp>
        <p:nvSpPr>
          <p:cNvPr id="331797" name="Rectangle 21">
            <a:extLst>
              <a:ext uri="{FF2B5EF4-FFF2-40B4-BE49-F238E27FC236}">
                <a16:creationId xmlns:a16="http://schemas.microsoft.com/office/drawing/2014/main" id="{C9D33FC9-C356-5CD5-E9DC-C162A9A9BC55}"/>
              </a:ext>
            </a:extLst>
          </p:cNvPr>
          <p:cNvSpPr>
            <a:spLocks noChangeArrowheads="1"/>
          </p:cNvSpPr>
          <p:nvPr/>
        </p:nvSpPr>
        <p:spPr bwMode="auto">
          <a:xfrm>
            <a:off x="7108825" y="1771650"/>
            <a:ext cx="3124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ts val="400"/>
              </a:spcBef>
              <a:buClr>
                <a:schemeClr val="accent1"/>
              </a:buClr>
              <a:buSzPct val="68000"/>
              <a:buFont typeface="Wingdings 3" panose="05040102010807070707" pitchFamily="18" charset="2"/>
              <a:buChar char=""/>
              <a:tabLst>
                <a:tab pos="1550988" algn="l"/>
                <a:tab pos="4006850" algn="r"/>
                <a:tab pos="6172200" algn="r"/>
              </a:tabLst>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tabLst>
                <a:tab pos="1550988" algn="l"/>
                <a:tab pos="4006850" algn="r"/>
                <a:tab pos="6172200" algn="r"/>
              </a:tabLst>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tabLst>
                <a:tab pos="1550988" algn="l"/>
                <a:tab pos="4006850" algn="r"/>
                <a:tab pos="6172200" algn="r"/>
              </a:tabLst>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tabLst>
                <a:tab pos="1550988" algn="l"/>
                <a:tab pos="4006850" algn="r"/>
                <a:tab pos="6172200" algn="r"/>
              </a:tabLst>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tabLst>
                <a:tab pos="1550988" algn="l"/>
                <a:tab pos="4006850" algn="r"/>
                <a:tab pos="6172200" algn="r"/>
              </a:tabLst>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tabLst>
                <a:tab pos="1550988" algn="l"/>
                <a:tab pos="4006850" algn="r"/>
                <a:tab pos="6172200" algn="r"/>
              </a:tabLst>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tabLst>
                <a:tab pos="1550988" algn="l"/>
                <a:tab pos="4006850" algn="r"/>
                <a:tab pos="6172200" algn="r"/>
              </a:tabLst>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tabLst>
                <a:tab pos="1550988" algn="l"/>
                <a:tab pos="4006850" algn="r"/>
                <a:tab pos="6172200" algn="r"/>
              </a:tabLst>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tabLst>
                <a:tab pos="1550988" algn="l"/>
                <a:tab pos="4006850" algn="r"/>
                <a:tab pos="6172200" algn="r"/>
              </a:tabLst>
              <a:defRPr>
                <a:solidFill>
                  <a:schemeClr val="tx1"/>
                </a:solidFill>
                <a:latin typeface="Lucida Sans Unicode" panose="020B0602030504020204" pitchFamily="34" charset="0"/>
                <a:ea typeface="ＭＳ Ｐゴシック" panose="020B0600070205080204" pitchFamily="34" charset="-128"/>
              </a:defRPr>
            </a:lvl9pPr>
          </a:lstStyle>
          <a:p>
            <a:pPr algn="r" fontAlgn="base">
              <a:spcBef>
                <a:spcPct val="20000"/>
              </a:spcBef>
              <a:spcAft>
                <a:spcPct val="0"/>
              </a:spcAft>
              <a:buClr>
                <a:srgbClr val="671739"/>
              </a:buClr>
              <a:buSzTx/>
              <a:buNone/>
            </a:pPr>
            <a:r>
              <a:rPr lang="en-US" altLang="en-US" sz="2800">
                <a:solidFill>
                  <a:prstClr val="black"/>
                </a:solidFill>
                <a:latin typeface="Times New Roman" panose="02020603050405020304" pitchFamily="18" charset="0"/>
              </a:rPr>
              <a:t>Which one should we use?</a:t>
            </a:r>
            <a:r>
              <a:rPr lang="en-US" altLang="en-US" sz="2800">
                <a:solidFill>
                  <a:srgbClr val="644A1A"/>
                </a:solidFill>
                <a:latin typeface="Times New Roman" panose="02020603050405020304" pitchFamily="18" charset="0"/>
              </a:rPr>
              <a:t>  </a:t>
            </a:r>
            <a:endParaRPr lang="en-US" altLang="en-US" sz="3200">
              <a:solidFill>
                <a:srgbClr val="644A1A"/>
              </a:solidFill>
              <a:latin typeface="Times New Roman" panose="02020603050405020304" pitchFamily="18" charset="0"/>
            </a:endParaRPr>
          </a:p>
        </p:txBody>
      </p:sp>
      <p:sp>
        <p:nvSpPr>
          <p:cNvPr id="238601" name="TextBox 21">
            <a:extLst>
              <a:ext uri="{FF2B5EF4-FFF2-40B4-BE49-F238E27FC236}">
                <a16:creationId xmlns:a16="http://schemas.microsoft.com/office/drawing/2014/main" id="{C19DAD5B-A7F2-51B0-A9D1-927A322F6C9F}"/>
              </a:ext>
            </a:extLst>
          </p:cNvPr>
          <p:cNvSpPr txBox="1">
            <a:spLocks noChangeArrowheads="1"/>
          </p:cNvSpPr>
          <p:nvPr/>
        </p:nvSpPr>
        <p:spPr bwMode="auto">
          <a:xfrm>
            <a:off x="6096000" y="6400800"/>
            <a:ext cx="40322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algn="r" eaLnBrk="0" fontAlgn="base" hangingPunct="0">
              <a:spcBef>
                <a:spcPct val="0"/>
              </a:spcBef>
              <a:spcAft>
                <a:spcPct val="0"/>
              </a:spcAft>
              <a:buClrTx/>
              <a:buSzTx/>
              <a:buNone/>
            </a:pPr>
            <a:r>
              <a:rPr lang="en-US" altLang="en-US" sz="800">
                <a:solidFill>
                  <a:prstClr val="black"/>
                </a:solidFill>
                <a:latin typeface="Times New Roman" panose="02020603050405020304" pitchFamily="18" charset="0"/>
              </a:rPr>
              <a:t>Copyright © 2016 McGraw-Hill Education. All rights reserved.</a:t>
            </a:r>
          </a:p>
          <a:p>
            <a:pPr algn="r" eaLnBrk="0" fontAlgn="base" hangingPunct="0">
              <a:spcBef>
                <a:spcPct val="0"/>
              </a:spcBef>
              <a:spcAft>
                <a:spcPct val="0"/>
              </a:spcAft>
              <a:buClrTx/>
              <a:buSzTx/>
              <a:buNone/>
            </a:pPr>
            <a:r>
              <a:rPr lang="en-US" altLang="en-US" sz="800">
                <a:solidFill>
                  <a:prstClr val="black"/>
                </a:solidFill>
                <a:latin typeface="Times New Roman" panose="02020603050405020304" pitchFamily="18" charset="0"/>
              </a:rPr>
              <a:t> No reproduction or distribution without the prior written consent of McGraw-Hill Education.</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31790"/>
                                        </p:tgtEl>
                                        <p:attrNameLst>
                                          <p:attrName>style.visibility</p:attrName>
                                        </p:attrNameLst>
                                      </p:cBhvr>
                                      <p:to>
                                        <p:strVal val="visible"/>
                                      </p:to>
                                    </p:set>
                                    <p:animEffect transition="in" filter="wipe(left)">
                                      <p:cBhvr>
                                        <p:cTn id="11" dur="500"/>
                                        <p:tgtEl>
                                          <p:spTgt spid="331790"/>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31790"/>
                                        </p:tgtEl>
                                        <p:attrNameLst>
                                          <p:attrName>style.visibility</p:attrName>
                                        </p:attrNameLst>
                                      </p:cBhvr>
                                      <p:to>
                                        <p:strVal val="visible"/>
                                      </p:to>
                                    </p:set>
                                    <p:animEffect transition="in" filter="wipe(left)">
                                      <p:cBhvr>
                                        <p:cTn id="15" dur="500"/>
                                        <p:tgtEl>
                                          <p:spTgt spid="331790"/>
                                        </p:tgtEl>
                                      </p:cBhvr>
                                    </p:animEffect>
                                  </p:childTnLst>
                                </p:cTn>
                              </p:par>
                            </p:childTnLst>
                          </p:cTn>
                        </p:par>
                        <p:par>
                          <p:cTn id="16" fill="hold" nodeType="afterGroup">
                            <p:stCondLst>
                              <p:cond delay="1500"/>
                            </p:stCondLst>
                            <p:childTnLst>
                              <p:par>
                                <p:cTn id="17" presetID="22" presetClass="entr" presetSubtype="4"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down)">
                                      <p:cBhvr>
                                        <p:cTn id="19" dur="500"/>
                                        <p:tgtEl>
                                          <p:spTgt spid="4"/>
                                        </p:tgtEl>
                                      </p:cBhvr>
                                    </p:animEffect>
                                  </p:childTnLst>
                                </p:cTn>
                              </p:par>
                            </p:childTnLst>
                          </p:cTn>
                        </p:par>
                        <p:par>
                          <p:cTn id="20" fill="hold" nodeType="afterGroup">
                            <p:stCondLst>
                              <p:cond delay="2000"/>
                            </p:stCondLst>
                            <p:childTnLst>
                              <p:par>
                                <p:cTn id="21" presetID="22" presetClass="entr" presetSubtype="1" fill="hold"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up)">
                                      <p:cBhvr>
                                        <p:cTn id="23" dur="500"/>
                                        <p:tgtEl>
                                          <p:spTgt spid="3"/>
                                        </p:tgtEl>
                                      </p:cBhvr>
                                    </p:animEffect>
                                  </p:childTnLst>
                                </p:cTn>
                              </p:par>
                            </p:childTnLst>
                          </p:cTn>
                        </p:par>
                        <p:par>
                          <p:cTn id="24" fill="hold" nodeType="afterGroup">
                            <p:stCondLst>
                              <p:cond delay="2500"/>
                            </p:stCondLst>
                            <p:childTnLst>
                              <p:par>
                                <p:cTn id="25" presetID="1" presetClass="entr" presetSubtype="0" fill="hold" grpId="0" nodeType="afterEffect">
                                  <p:stCondLst>
                                    <p:cond delay="0"/>
                                  </p:stCondLst>
                                  <p:childTnLst>
                                    <p:set>
                                      <p:cBhvr>
                                        <p:cTn id="26" dur="1" fill="hold">
                                          <p:stCondLst>
                                            <p:cond delay="499"/>
                                          </p:stCondLst>
                                        </p:cTn>
                                        <p:tgtEl>
                                          <p:spTgt spid="3317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OleChart spid="331790" grpId="0" bld="series"/>
      <p:bldP spid="331797"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3" name="Rectangle 3">
            <a:extLst>
              <a:ext uri="{FF2B5EF4-FFF2-40B4-BE49-F238E27FC236}">
                <a16:creationId xmlns:a16="http://schemas.microsoft.com/office/drawing/2014/main" id="{434473F8-6D1F-A65A-7E5A-DF93BC1CC4C3}"/>
              </a:ext>
            </a:extLst>
          </p:cNvPr>
          <p:cNvSpPr>
            <a:spLocks noGrp="1"/>
          </p:cNvSpPr>
          <p:nvPr>
            <p:ph idx="1"/>
          </p:nvPr>
        </p:nvSpPr>
        <p:spPr/>
        <p:txBody>
          <a:bodyPr/>
          <a:lstStyle/>
          <a:p>
            <a:pPr eaLnBrk="1" hangingPunct="1"/>
            <a:r>
              <a:rPr lang="en-US" altLang="en-US" sz="2800">
                <a:latin typeface="Times New Roman" panose="02020603050405020304" pitchFamily="18" charset="0"/>
                <a:ea typeface="ＭＳ Ｐゴシック" panose="020B0600070205080204" pitchFamily="34" charset="-128"/>
              </a:rPr>
              <a:t>Calculate the net present value of all cash outflows using the borrowing rate.</a:t>
            </a:r>
          </a:p>
          <a:p>
            <a:pPr eaLnBrk="1" hangingPunct="1"/>
            <a:r>
              <a:rPr lang="en-US" altLang="en-US" sz="2800">
                <a:latin typeface="Times New Roman" panose="02020603050405020304" pitchFamily="18" charset="0"/>
                <a:ea typeface="ＭＳ Ｐゴシック" panose="020B0600070205080204" pitchFamily="34" charset="-128"/>
              </a:rPr>
              <a:t>Calculate the net future value of all cash inflows using the investing rate.</a:t>
            </a:r>
          </a:p>
          <a:p>
            <a:pPr eaLnBrk="1" hangingPunct="1"/>
            <a:r>
              <a:rPr lang="en-US" altLang="en-US" sz="2800">
                <a:latin typeface="Times New Roman" panose="02020603050405020304" pitchFamily="18" charset="0"/>
                <a:ea typeface="ＭＳ Ｐゴシック" panose="020B0600070205080204" pitchFamily="34" charset="-128"/>
              </a:rPr>
              <a:t>Find the rate of return that equates these values.</a:t>
            </a:r>
          </a:p>
          <a:p>
            <a:pPr eaLnBrk="1" hangingPunct="1"/>
            <a:r>
              <a:rPr lang="en-US" altLang="en-US" sz="2800">
                <a:latin typeface="Times New Roman" panose="02020603050405020304" pitchFamily="18" charset="0"/>
                <a:ea typeface="ＭＳ Ｐゴシック" panose="020B0600070205080204" pitchFamily="34" charset="-128"/>
              </a:rPr>
              <a:t>Benefits: single answer and specific rates for borrowing and reinvestment</a:t>
            </a:r>
          </a:p>
        </p:txBody>
      </p:sp>
      <p:sp>
        <p:nvSpPr>
          <p:cNvPr id="39938" name="Rectangle 2">
            <a:extLst>
              <a:ext uri="{FF2B5EF4-FFF2-40B4-BE49-F238E27FC236}">
                <a16:creationId xmlns:a16="http://schemas.microsoft.com/office/drawing/2014/main" id="{3C38E1DA-7581-2DE9-8CD6-A664E5D84867}"/>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Modified IRR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58403">
                                            <p:txEl>
                                              <p:pRg st="0" end="0"/>
                                            </p:txEl>
                                          </p:spTgt>
                                        </p:tgtEl>
                                        <p:attrNameLst>
                                          <p:attrName>style.visibility</p:attrName>
                                        </p:attrNameLst>
                                      </p:cBhvr>
                                      <p:to>
                                        <p:strVal val="visible"/>
                                      </p:to>
                                    </p:set>
                                    <p:animEffect transition="in" filter="fade">
                                      <p:cBhvr>
                                        <p:cTn id="7" dur="1000"/>
                                        <p:tgtEl>
                                          <p:spTgt spid="358403">
                                            <p:txEl>
                                              <p:pRg st="0" end="0"/>
                                            </p:txEl>
                                          </p:spTgt>
                                        </p:tgtEl>
                                      </p:cBhvr>
                                    </p:animEffect>
                                    <p:anim calcmode="lin" valueType="num">
                                      <p:cBhvr>
                                        <p:cTn id="8" dur="1000" fill="hold"/>
                                        <p:tgtEl>
                                          <p:spTgt spid="35840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5840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358403">
                                            <p:txEl>
                                              <p:pRg st="1" end="1"/>
                                            </p:txEl>
                                          </p:spTgt>
                                        </p:tgtEl>
                                        <p:attrNameLst>
                                          <p:attrName>style.visibility</p:attrName>
                                        </p:attrNameLst>
                                      </p:cBhvr>
                                      <p:to>
                                        <p:strVal val="visible"/>
                                      </p:to>
                                    </p:set>
                                    <p:animEffect transition="in" filter="fade">
                                      <p:cBhvr>
                                        <p:cTn id="14" dur="1000"/>
                                        <p:tgtEl>
                                          <p:spTgt spid="358403">
                                            <p:txEl>
                                              <p:pRg st="1" end="1"/>
                                            </p:txEl>
                                          </p:spTgt>
                                        </p:tgtEl>
                                      </p:cBhvr>
                                    </p:animEffect>
                                    <p:anim calcmode="lin" valueType="num">
                                      <p:cBhvr>
                                        <p:cTn id="15" dur="1000" fill="hold"/>
                                        <p:tgtEl>
                                          <p:spTgt spid="35840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5840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358403">
                                            <p:txEl>
                                              <p:pRg st="2" end="2"/>
                                            </p:txEl>
                                          </p:spTgt>
                                        </p:tgtEl>
                                        <p:attrNameLst>
                                          <p:attrName>style.visibility</p:attrName>
                                        </p:attrNameLst>
                                      </p:cBhvr>
                                      <p:to>
                                        <p:strVal val="visible"/>
                                      </p:to>
                                    </p:set>
                                    <p:animEffect transition="in" filter="fade">
                                      <p:cBhvr>
                                        <p:cTn id="21" dur="1000"/>
                                        <p:tgtEl>
                                          <p:spTgt spid="358403">
                                            <p:txEl>
                                              <p:pRg st="2" end="2"/>
                                            </p:txEl>
                                          </p:spTgt>
                                        </p:tgtEl>
                                      </p:cBhvr>
                                    </p:animEffect>
                                    <p:anim calcmode="lin" valueType="num">
                                      <p:cBhvr>
                                        <p:cTn id="22" dur="1000" fill="hold"/>
                                        <p:tgtEl>
                                          <p:spTgt spid="35840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5840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358403">
                                            <p:txEl>
                                              <p:pRg st="3" end="3"/>
                                            </p:txEl>
                                          </p:spTgt>
                                        </p:tgtEl>
                                        <p:attrNameLst>
                                          <p:attrName>style.visibility</p:attrName>
                                        </p:attrNameLst>
                                      </p:cBhvr>
                                      <p:to>
                                        <p:strVal val="visible"/>
                                      </p:to>
                                    </p:set>
                                    <p:animEffect transition="in" filter="fade">
                                      <p:cBhvr>
                                        <p:cTn id="28" dur="1000"/>
                                        <p:tgtEl>
                                          <p:spTgt spid="358403">
                                            <p:txEl>
                                              <p:pRg st="3" end="3"/>
                                            </p:txEl>
                                          </p:spTgt>
                                        </p:tgtEl>
                                      </p:cBhvr>
                                    </p:animEffect>
                                    <p:anim calcmode="lin" valueType="num">
                                      <p:cBhvr>
                                        <p:cTn id="29" dur="1000" fill="hold"/>
                                        <p:tgtEl>
                                          <p:spTgt spid="35840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5840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2803" name="Rectangle 3">
            <a:extLst>
              <a:ext uri="{FF2B5EF4-FFF2-40B4-BE49-F238E27FC236}">
                <a16:creationId xmlns:a16="http://schemas.microsoft.com/office/drawing/2014/main" id="{00CDB343-9EE2-85D6-1DD0-D9AFFF6BFCE7}"/>
              </a:ext>
            </a:extLst>
          </p:cNvPr>
          <p:cNvSpPr>
            <a:spLocks noGrp="1"/>
          </p:cNvSpPr>
          <p:nvPr>
            <p:ph idx="1"/>
          </p:nvPr>
        </p:nvSpPr>
        <p:spPr>
          <a:xfrm>
            <a:off x="1981200" y="1481138"/>
            <a:ext cx="8229600" cy="3395662"/>
          </a:xfrm>
        </p:spPr>
        <p:txBody>
          <a:bodyPr/>
          <a:lstStyle/>
          <a:p>
            <a:pPr marL="342900" indent="-342900" eaLnBrk="1" hangingPunct="1"/>
            <a:endParaRPr lang="en-US" altLang="en-US">
              <a:ea typeface="ＭＳ Ｐゴシック" panose="020B0600070205080204" pitchFamily="34" charset="-128"/>
            </a:endParaRPr>
          </a:p>
          <a:p>
            <a:pPr marL="342900" indent="-342900" eaLnBrk="1" hangingPunct="1">
              <a:buNone/>
            </a:pPr>
            <a:endParaRPr lang="en-US" altLang="en-US">
              <a:ea typeface="ＭＳ Ｐゴシック" panose="020B0600070205080204" pitchFamily="34" charset="-128"/>
            </a:endParaRPr>
          </a:p>
        </p:txBody>
      </p:sp>
      <p:sp>
        <p:nvSpPr>
          <p:cNvPr id="41986" name="Rectangle 2">
            <a:extLst>
              <a:ext uri="{FF2B5EF4-FFF2-40B4-BE49-F238E27FC236}">
                <a16:creationId xmlns:a16="http://schemas.microsoft.com/office/drawing/2014/main" id="{70BD1A5A-AC9F-D1FD-CE49-1A98C1BC1A71}"/>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The Scale Problem</a:t>
            </a:r>
          </a:p>
        </p:txBody>
      </p:sp>
      <p:sp>
        <p:nvSpPr>
          <p:cNvPr id="242692" name="Rectangle 4">
            <a:extLst>
              <a:ext uri="{FF2B5EF4-FFF2-40B4-BE49-F238E27FC236}">
                <a16:creationId xmlns:a16="http://schemas.microsoft.com/office/drawing/2014/main" id="{C2E93EFD-0E49-C8DB-D4C7-CEA98E29B7A3}"/>
              </a:ext>
            </a:extLst>
          </p:cNvPr>
          <p:cNvSpPr>
            <a:spLocks noChangeArrowheads="1"/>
          </p:cNvSpPr>
          <p:nvPr/>
        </p:nvSpPr>
        <p:spPr bwMode="auto">
          <a:xfrm>
            <a:off x="2057400" y="1828800"/>
            <a:ext cx="77724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75" tIns="44443" rIns="90475" bIns="44443"/>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50000"/>
              </a:spcBef>
              <a:spcAft>
                <a:spcPct val="0"/>
              </a:spcAft>
              <a:buClrTx/>
              <a:buSzTx/>
              <a:buNone/>
            </a:pPr>
            <a:r>
              <a:rPr lang="en-US" altLang="en-US" sz="2800">
                <a:solidFill>
                  <a:prstClr val="black"/>
                </a:solidFill>
                <a:latin typeface="Times New Roman" panose="02020603050405020304" pitchFamily="18" charset="0"/>
              </a:rPr>
              <a:t>Would you rather make 100% or 50% on your investments?</a:t>
            </a:r>
          </a:p>
          <a:p>
            <a:pPr fontAlgn="base">
              <a:spcBef>
                <a:spcPct val="50000"/>
              </a:spcBef>
              <a:spcAft>
                <a:spcPct val="0"/>
              </a:spcAft>
              <a:buClrTx/>
              <a:buSzTx/>
              <a:buNone/>
            </a:pPr>
            <a:r>
              <a:rPr lang="en-US" altLang="en-US" sz="2800">
                <a:solidFill>
                  <a:prstClr val="black"/>
                </a:solidFill>
                <a:latin typeface="Times New Roman" panose="02020603050405020304" pitchFamily="18" charset="0"/>
              </a:rPr>
              <a:t>What if the 100% return is on a $1 investment, while the 50% return is on a $1,000 investment?</a:t>
            </a:r>
          </a:p>
          <a:p>
            <a:pPr fontAlgn="base">
              <a:spcBef>
                <a:spcPct val="50000"/>
              </a:spcBef>
              <a:spcAft>
                <a:spcPct val="0"/>
              </a:spcAft>
              <a:buClrTx/>
              <a:buSzTx/>
              <a:buNone/>
            </a:pPr>
            <a:endParaRPr lang="en-US" altLang="en-US" sz="3200">
              <a:solidFill>
                <a:prstClr val="black"/>
              </a:solidFill>
              <a:latin typeface="Times New Roman" panose="02020603050405020304" pitchFamily="18" charset="0"/>
            </a:endParaRPr>
          </a:p>
          <a:p>
            <a:pPr fontAlgn="base">
              <a:spcBef>
                <a:spcPct val="50000"/>
              </a:spcBef>
              <a:spcAft>
                <a:spcPct val="0"/>
              </a:spcAft>
              <a:buClrTx/>
              <a:buSzTx/>
              <a:buNone/>
            </a:pPr>
            <a:endParaRPr lang="en-US" altLang="en-US" sz="3200">
              <a:solidFill>
                <a:prstClr val="black"/>
              </a:solidFill>
              <a:latin typeface="Times New Roman" panose="02020603050405020304" pitchFamily="18" charset="0"/>
            </a:endParaRPr>
          </a:p>
          <a:p>
            <a:pPr fontAlgn="base">
              <a:spcBef>
                <a:spcPct val="50000"/>
              </a:spcBef>
              <a:spcAft>
                <a:spcPct val="0"/>
              </a:spcAft>
              <a:buClrTx/>
              <a:buSzTx/>
              <a:buNone/>
            </a:pPr>
            <a:endParaRPr lang="en-US" altLang="en-US" sz="3200">
              <a:solidFill>
                <a:prstClr val="black"/>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332803">
                                            <p:txEl>
                                              <p:pRg st="0" end="0"/>
                                            </p:txEl>
                                          </p:spTgt>
                                        </p:tgtEl>
                                        <p:attrNameLst>
                                          <p:attrName>style.visibility</p:attrName>
                                        </p:attrNameLst>
                                      </p:cBhvr>
                                      <p:to>
                                        <p:strVal val="visible"/>
                                      </p:to>
                                    </p:set>
                                    <p:animEffect transition="in" filter="fade">
                                      <p:cBhvr>
                                        <p:cTn id="7" dur="1000"/>
                                        <p:tgtEl>
                                          <p:spTgt spid="332803">
                                            <p:txEl>
                                              <p:pRg st="0" end="0"/>
                                            </p:txEl>
                                          </p:spTgt>
                                        </p:tgtEl>
                                      </p:cBhvr>
                                    </p:animEffect>
                                    <p:anim calcmode="lin" valueType="num">
                                      <p:cBhvr>
                                        <p:cTn id="8" dur="1000" fill="hold"/>
                                        <p:tgtEl>
                                          <p:spTgt spid="33280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3280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2803" grpId="0" build="p"/>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4738" name="Rectangle 3">
            <a:extLst>
              <a:ext uri="{FF2B5EF4-FFF2-40B4-BE49-F238E27FC236}">
                <a16:creationId xmlns:a16="http://schemas.microsoft.com/office/drawing/2014/main" id="{0978681F-1A76-63FC-98F3-1C0072DF1566}"/>
              </a:ext>
            </a:extLst>
          </p:cNvPr>
          <p:cNvSpPr>
            <a:spLocks noGrp="1"/>
          </p:cNvSpPr>
          <p:nvPr>
            <p:ph idx="1"/>
          </p:nvPr>
        </p:nvSpPr>
        <p:spPr>
          <a:xfrm>
            <a:off x="1295400" y="2362201"/>
            <a:ext cx="8229600" cy="4041775"/>
          </a:xfrm>
        </p:spPr>
        <p:txBody>
          <a:bodyPr/>
          <a:lstStyle/>
          <a:p>
            <a:pPr marL="342900" indent="-342900" eaLnBrk="1" hangingPunct="1"/>
            <a:endParaRPr lang="en-US" altLang="en-US">
              <a:ea typeface="ＭＳ Ｐゴシック" panose="020B0600070205080204" pitchFamily="34" charset="-128"/>
            </a:endParaRPr>
          </a:p>
          <a:p>
            <a:pPr marL="342900" indent="-342900" eaLnBrk="1" hangingPunct="1">
              <a:buNone/>
            </a:pPr>
            <a:endParaRPr lang="en-US" altLang="en-US">
              <a:ea typeface="ＭＳ Ｐゴシック" panose="020B0600070205080204" pitchFamily="34" charset="-128"/>
            </a:endParaRPr>
          </a:p>
        </p:txBody>
      </p:sp>
      <p:sp>
        <p:nvSpPr>
          <p:cNvPr id="44034" name="Rectangle 2">
            <a:extLst>
              <a:ext uri="{FF2B5EF4-FFF2-40B4-BE49-F238E27FC236}">
                <a16:creationId xmlns:a16="http://schemas.microsoft.com/office/drawing/2014/main" id="{9AF9AC83-02FD-1835-12CA-9169F597FBD6}"/>
              </a:ext>
            </a:extLst>
          </p:cNvPr>
          <p:cNvSpPr>
            <a:spLocks noGrp="1" noChangeArrowheads="1"/>
          </p:cNvSpPr>
          <p:nvPr>
            <p:ph type="title"/>
          </p:nvPr>
        </p:nvSpPr>
        <p:spPr>
          <a:xfrm>
            <a:off x="1981200" y="415925"/>
            <a:ext cx="8229600" cy="1073150"/>
          </a:xfrm>
        </p:spPr>
        <p:txBody>
          <a:bodyPr/>
          <a:lstStyle/>
          <a:p>
            <a:pPr eaLnBrk="1" fontAlgn="auto" hangingPunct="1">
              <a:spcAft>
                <a:spcPts val="0"/>
              </a:spcAft>
              <a:defRPr/>
            </a:pPr>
            <a:r>
              <a:rPr lang="en-US" altLang="en-US" sz="3400" dirty="0">
                <a:ea typeface="+mj-ea"/>
                <a:cs typeface="+mj-cs"/>
              </a:rPr>
              <a:t>The Timing Problem</a:t>
            </a:r>
          </a:p>
        </p:txBody>
      </p:sp>
      <p:sp>
        <p:nvSpPr>
          <p:cNvPr id="244740" name="Rectangle 4">
            <a:extLst>
              <a:ext uri="{FF2B5EF4-FFF2-40B4-BE49-F238E27FC236}">
                <a16:creationId xmlns:a16="http://schemas.microsoft.com/office/drawing/2014/main" id="{72901B9C-145D-D7F3-B663-F8C277165A64}"/>
              </a:ext>
            </a:extLst>
          </p:cNvPr>
          <p:cNvSpPr>
            <a:spLocks noChangeArrowheads="1"/>
          </p:cNvSpPr>
          <p:nvPr/>
        </p:nvSpPr>
        <p:spPr bwMode="auto">
          <a:xfrm>
            <a:off x="2209800" y="2133600"/>
            <a:ext cx="77724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75" tIns="44443" rIns="90475" bIns="44443"/>
          <a:lstStyle>
            <a:lvl1pPr marL="342900" indent="-34290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50000"/>
              </a:spcBef>
              <a:spcAft>
                <a:spcPct val="0"/>
              </a:spcAft>
              <a:buClrTx/>
              <a:buSzTx/>
              <a:buNone/>
            </a:pPr>
            <a:endParaRPr lang="en-US" altLang="en-US" sz="2500">
              <a:solidFill>
                <a:prstClr val="black"/>
              </a:solidFill>
              <a:latin typeface="Times New Roman" panose="02020603050405020304" pitchFamily="18" charset="0"/>
            </a:endParaRPr>
          </a:p>
        </p:txBody>
      </p:sp>
      <p:grpSp>
        <p:nvGrpSpPr>
          <p:cNvPr id="2" name="Group 5">
            <a:extLst>
              <a:ext uri="{FF2B5EF4-FFF2-40B4-BE49-F238E27FC236}">
                <a16:creationId xmlns:a16="http://schemas.microsoft.com/office/drawing/2014/main" id="{922EBBE7-CDBE-73C3-0FBB-B472F74EE4A1}"/>
              </a:ext>
            </a:extLst>
          </p:cNvPr>
          <p:cNvGrpSpPr>
            <a:grpSpLocks/>
          </p:cNvGrpSpPr>
          <p:nvPr/>
        </p:nvGrpSpPr>
        <p:grpSpPr bwMode="auto">
          <a:xfrm>
            <a:off x="2286000" y="1752601"/>
            <a:ext cx="7696200" cy="1960563"/>
            <a:chOff x="912" y="1008"/>
            <a:chExt cx="4848" cy="1315"/>
          </a:xfrm>
        </p:grpSpPr>
        <p:sp>
          <p:nvSpPr>
            <p:cNvPr id="244753" name="Line 6">
              <a:extLst>
                <a:ext uri="{FF2B5EF4-FFF2-40B4-BE49-F238E27FC236}">
                  <a16:creationId xmlns:a16="http://schemas.microsoft.com/office/drawing/2014/main" id="{0533EB12-FB7E-FC87-3ACD-760352D23F90}"/>
                </a:ext>
              </a:extLst>
            </p:cNvPr>
            <p:cNvSpPr>
              <a:spLocks noChangeShapeType="1"/>
            </p:cNvSpPr>
            <p:nvPr/>
          </p:nvSpPr>
          <p:spPr bwMode="auto">
            <a:xfrm>
              <a:off x="2448" y="1488"/>
              <a:ext cx="2448" cy="0"/>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44754" name="Line 7">
              <a:extLst>
                <a:ext uri="{FF2B5EF4-FFF2-40B4-BE49-F238E27FC236}">
                  <a16:creationId xmlns:a16="http://schemas.microsoft.com/office/drawing/2014/main" id="{CA24A835-8035-CE8B-1C38-EE2E0A640204}"/>
                </a:ext>
              </a:extLst>
            </p:cNvPr>
            <p:cNvSpPr>
              <a:spLocks noChangeShapeType="1"/>
            </p:cNvSpPr>
            <p:nvPr/>
          </p:nvSpPr>
          <p:spPr bwMode="auto">
            <a:xfrm>
              <a:off x="2448" y="1344"/>
              <a:ext cx="0" cy="288"/>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44755" name="Line 8">
              <a:extLst>
                <a:ext uri="{FF2B5EF4-FFF2-40B4-BE49-F238E27FC236}">
                  <a16:creationId xmlns:a16="http://schemas.microsoft.com/office/drawing/2014/main" id="{7406EB12-3DB2-6DA7-B62C-3713686F87A8}"/>
                </a:ext>
              </a:extLst>
            </p:cNvPr>
            <p:cNvSpPr>
              <a:spLocks noChangeShapeType="1"/>
            </p:cNvSpPr>
            <p:nvPr/>
          </p:nvSpPr>
          <p:spPr bwMode="auto">
            <a:xfrm>
              <a:off x="3168" y="1344"/>
              <a:ext cx="0" cy="288"/>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44756" name="Line 9">
              <a:extLst>
                <a:ext uri="{FF2B5EF4-FFF2-40B4-BE49-F238E27FC236}">
                  <a16:creationId xmlns:a16="http://schemas.microsoft.com/office/drawing/2014/main" id="{5B992FF3-C2B2-096A-8B8F-7FB754745B46}"/>
                </a:ext>
              </a:extLst>
            </p:cNvPr>
            <p:cNvSpPr>
              <a:spLocks noChangeShapeType="1"/>
            </p:cNvSpPr>
            <p:nvPr/>
          </p:nvSpPr>
          <p:spPr bwMode="auto">
            <a:xfrm>
              <a:off x="4128" y="1344"/>
              <a:ext cx="0" cy="288"/>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44757" name="Text Box 10">
              <a:extLst>
                <a:ext uri="{FF2B5EF4-FFF2-40B4-BE49-F238E27FC236}">
                  <a16:creationId xmlns:a16="http://schemas.microsoft.com/office/drawing/2014/main" id="{8F396F17-8DAF-57D0-AB6F-622804A69C7B}"/>
                </a:ext>
              </a:extLst>
            </p:cNvPr>
            <p:cNvSpPr txBox="1">
              <a:spLocks noChangeArrowheads="1"/>
            </p:cNvSpPr>
            <p:nvPr/>
          </p:nvSpPr>
          <p:spPr bwMode="auto">
            <a:xfrm>
              <a:off x="2304" y="1680"/>
              <a:ext cx="3456"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50000"/>
                </a:spcBef>
                <a:spcAft>
                  <a:spcPct val="0"/>
                </a:spcAft>
                <a:buClrTx/>
                <a:buSzTx/>
                <a:buNone/>
              </a:pPr>
              <a:r>
                <a:rPr lang="en-US" altLang="en-US" sz="2400">
                  <a:solidFill>
                    <a:prstClr val="black"/>
                  </a:solidFill>
                  <a:latin typeface="Book Antiqua" panose="02040602050305030304" pitchFamily="18" charset="0"/>
                </a:rPr>
                <a:t>0	    1	        	2         	    </a:t>
              </a:r>
              <a:r>
                <a:rPr lang="en-US" altLang="en-US" sz="2400" i="1">
                  <a:solidFill>
                    <a:prstClr val="black"/>
                  </a:solidFill>
                  <a:latin typeface="Book Antiqua" panose="02040602050305030304" pitchFamily="18" charset="0"/>
                </a:rPr>
                <a:t>3</a:t>
              </a:r>
            </a:p>
          </p:txBody>
        </p:sp>
        <p:sp>
          <p:nvSpPr>
            <p:cNvPr id="244758" name="Line 11">
              <a:extLst>
                <a:ext uri="{FF2B5EF4-FFF2-40B4-BE49-F238E27FC236}">
                  <a16:creationId xmlns:a16="http://schemas.microsoft.com/office/drawing/2014/main" id="{A14561C9-A2A2-8892-932B-27394C08CF40}"/>
                </a:ext>
              </a:extLst>
            </p:cNvPr>
            <p:cNvSpPr>
              <a:spLocks noChangeShapeType="1"/>
            </p:cNvSpPr>
            <p:nvPr/>
          </p:nvSpPr>
          <p:spPr bwMode="auto">
            <a:xfrm>
              <a:off x="4896" y="1344"/>
              <a:ext cx="0" cy="288"/>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44759" name="Text Box 12">
              <a:extLst>
                <a:ext uri="{FF2B5EF4-FFF2-40B4-BE49-F238E27FC236}">
                  <a16:creationId xmlns:a16="http://schemas.microsoft.com/office/drawing/2014/main" id="{34954FCA-82B1-F534-DADE-192CC12FC89D}"/>
                </a:ext>
              </a:extLst>
            </p:cNvPr>
            <p:cNvSpPr txBox="1">
              <a:spLocks noChangeArrowheads="1"/>
            </p:cNvSpPr>
            <p:nvPr/>
          </p:nvSpPr>
          <p:spPr bwMode="auto">
            <a:xfrm>
              <a:off x="2784" y="1008"/>
              <a:ext cx="24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475" tIns="44443" rIns="90475" bIns="44443"/>
            <a:lstStyle>
              <a:lvl1pPr marL="342900" indent="-34290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50000"/>
                </a:spcBef>
                <a:spcAft>
                  <a:spcPct val="0"/>
                </a:spcAft>
                <a:buClrTx/>
                <a:buSzTx/>
                <a:buNone/>
              </a:pPr>
              <a:r>
                <a:rPr lang="en-US" altLang="en-US" sz="2400" i="1">
                  <a:solidFill>
                    <a:prstClr val="black"/>
                  </a:solidFill>
                  <a:latin typeface="Book Antiqua" panose="02040602050305030304" pitchFamily="18" charset="0"/>
                </a:rPr>
                <a:t>$10,000     $1,000	$1,000</a:t>
              </a:r>
            </a:p>
          </p:txBody>
        </p:sp>
        <p:sp>
          <p:nvSpPr>
            <p:cNvPr id="244760" name="Text Box 13">
              <a:extLst>
                <a:ext uri="{FF2B5EF4-FFF2-40B4-BE49-F238E27FC236}">
                  <a16:creationId xmlns:a16="http://schemas.microsoft.com/office/drawing/2014/main" id="{251439D7-F714-DBFF-200E-AD6B68D7603E}"/>
                </a:ext>
              </a:extLst>
            </p:cNvPr>
            <p:cNvSpPr txBox="1">
              <a:spLocks noChangeArrowheads="1"/>
            </p:cNvSpPr>
            <p:nvPr/>
          </p:nvSpPr>
          <p:spPr bwMode="auto">
            <a:xfrm>
              <a:off x="2160" y="2016"/>
              <a:ext cx="912"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50000"/>
                </a:spcBef>
                <a:spcAft>
                  <a:spcPct val="0"/>
                </a:spcAft>
                <a:buClrTx/>
                <a:buSzTx/>
                <a:buNone/>
              </a:pPr>
              <a:r>
                <a:rPr lang="en-US" altLang="en-US" sz="2400" i="1">
                  <a:solidFill>
                    <a:prstClr val="black"/>
                  </a:solidFill>
                  <a:latin typeface="Book Antiqua" panose="02040602050305030304" pitchFamily="18" charset="0"/>
                </a:rPr>
                <a:t>-$10,000</a:t>
              </a:r>
            </a:p>
          </p:txBody>
        </p:sp>
        <p:sp>
          <p:nvSpPr>
            <p:cNvPr id="244761" name="Text Box 14">
              <a:extLst>
                <a:ext uri="{FF2B5EF4-FFF2-40B4-BE49-F238E27FC236}">
                  <a16:creationId xmlns:a16="http://schemas.microsoft.com/office/drawing/2014/main" id="{4259EB9A-E4E7-861E-B261-D4559BA50232}"/>
                </a:ext>
              </a:extLst>
            </p:cNvPr>
            <p:cNvSpPr txBox="1">
              <a:spLocks noChangeArrowheads="1"/>
            </p:cNvSpPr>
            <p:nvPr/>
          </p:nvSpPr>
          <p:spPr bwMode="auto">
            <a:xfrm>
              <a:off x="912" y="1345"/>
              <a:ext cx="129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50000"/>
                </a:spcBef>
                <a:spcAft>
                  <a:spcPct val="0"/>
                </a:spcAft>
                <a:buClrTx/>
                <a:buSzTx/>
                <a:buNone/>
              </a:pPr>
              <a:r>
                <a:rPr lang="en-US" altLang="en-US" sz="2400">
                  <a:solidFill>
                    <a:prstClr val="black"/>
                  </a:solidFill>
                  <a:latin typeface="Times New Roman" panose="02020603050405020304" pitchFamily="18" charset="0"/>
                </a:rPr>
                <a:t>Project A</a:t>
              </a:r>
            </a:p>
          </p:txBody>
        </p:sp>
      </p:grpSp>
      <p:grpSp>
        <p:nvGrpSpPr>
          <p:cNvPr id="3" name="Group 15">
            <a:extLst>
              <a:ext uri="{FF2B5EF4-FFF2-40B4-BE49-F238E27FC236}">
                <a16:creationId xmlns:a16="http://schemas.microsoft.com/office/drawing/2014/main" id="{6C92F972-D9BB-5CFA-9977-5FB3175CFB40}"/>
              </a:ext>
            </a:extLst>
          </p:cNvPr>
          <p:cNvGrpSpPr>
            <a:grpSpLocks/>
          </p:cNvGrpSpPr>
          <p:nvPr/>
        </p:nvGrpSpPr>
        <p:grpSpPr bwMode="auto">
          <a:xfrm>
            <a:off x="2286000" y="3962401"/>
            <a:ext cx="7696200" cy="1960563"/>
            <a:chOff x="912" y="2592"/>
            <a:chExt cx="4848" cy="1315"/>
          </a:xfrm>
        </p:grpSpPr>
        <p:sp>
          <p:nvSpPr>
            <p:cNvPr id="244744" name="Line 16">
              <a:extLst>
                <a:ext uri="{FF2B5EF4-FFF2-40B4-BE49-F238E27FC236}">
                  <a16:creationId xmlns:a16="http://schemas.microsoft.com/office/drawing/2014/main" id="{5A8B876B-4D37-EB05-D991-7BB5D37FA367}"/>
                </a:ext>
              </a:extLst>
            </p:cNvPr>
            <p:cNvSpPr>
              <a:spLocks noChangeShapeType="1"/>
            </p:cNvSpPr>
            <p:nvPr/>
          </p:nvSpPr>
          <p:spPr bwMode="auto">
            <a:xfrm>
              <a:off x="2448" y="3072"/>
              <a:ext cx="2448" cy="0"/>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44745" name="Line 17">
              <a:extLst>
                <a:ext uri="{FF2B5EF4-FFF2-40B4-BE49-F238E27FC236}">
                  <a16:creationId xmlns:a16="http://schemas.microsoft.com/office/drawing/2014/main" id="{D4290788-132A-875F-6FF3-274D237C6F61}"/>
                </a:ext>
              </a:extLst>
            </p:cNvPr>
            <p:cNvSpPr>
              <a:spLocks noChangeShapeType="1"/>
            </p:cNvSpPr>
            <p:nvPr/>
          </p:nvSpPr>
          <p:spPr bwMode="auto">
            <a:xfrm>
              <a:off x="2448" y="2928"/>
              <a:ext cx="0" cy="288"/>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44746" name="Line 18">
              <a:extLst>
                <a:ext uri="{FF2B5EF4-FFF2-40B4-BE49-F238E27FC236}">
                  <a16:creationId xmlns:a16="http://schemas.microsoft.com/office/drawing/2014/main" id="{BA3AFA6E-2EF3-4453-F485-9D1233E37137}"/>
                </a:ext>
              </a:extLst>
            </p:cNvPr>
            <p:cNvSpPr>
              <a:spLocks noChangeShapeType="1"/>
            </p:cNvSpPr>
            <p:nvPr/>
          </p:nvSpPr>
          <p:spPr bwMode="auto">
            <a:xfrm>
              <a:off x="3168" y="2928"/>
              <a:ext cx="0" cy="288"/>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44747" name="Line 19">
              <a:extLst>
                <a:ext uri="{FF2B5EF4-FFF2-40B4-BE49-F238E27FC236}">
                  <a16:creationId xmlns:a16="http://schemas.microsoft.com/office/drawing/2014/main" id="{59CA562C-E62F-5386-C761-F903668B481F}"/>
                </a:ext>
              </a:extLst>
            </p:cNvPr>
            <p:cNvSpPr>
              <a:spLocks noChangeShapeType="1"/>
            </p:cNvSpPr>
            <p:nvPr/>
          </p:nvSpPr>
          <p:spPr bwMode="auto">
            <a:xfrm>
              <a:off x="4128" y="2928"/>
              <a:ext cx="0" cy="288"/>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44748" name="Text Box 20">
              <a:extLst>
                <a:ext uri="{FF2B5EF4-FFF2-40B4-BE49-F238E27FC236}">
                  <a16:creationId xmlns:a16="http://schemas.microsoft.com/office/drawing/2014/main" id="{81D1CA66-3A1A-3522-6FBA-0FF3E6D6F625}"/>
                </a:ext>
              </a:extLst>
            </p:cNvPr>
            <p:cNvSpPr txBox="1">
              <a:spLocks noChangeArrowheads="1"/>
            </p:cNvSpPr>
            <p:nvPr/>
          </p:nvSpPr>
          <p:spPr bwMode="auto">
            <a:xfrm>
              <a:off x="2304" y="3264"/>
              <a:ext cx="3456"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50000"/>
                </a:spcBef>
                <a:spcAft>
                  <a:spcPct val="0"/>
                </a:spcAft>
                <a:buClrTx/>
                <a:buSzTx/>
                <a:buNone/>
              </a:pPr>
              <a:r>
                <a:rPr lang="en-US" altLang="en-US" sz="2400">
                  <a:solidFill>
                    <a:prstClr val="black"/>
                  </a:solidFill>
                  <a:latin typeface="Book Antiqua" panose="02040602050305030304" pitchFamily="18" charset="0"/>
                </a:rPr>
                <a:t>0	    1	        	2         	    </a:t>
              </a:r>
              <a:r>
                <a:rPr lang="en-US" altLang="en-US" sz="2400" i="1">
                  <a:solidFill>
                    <a:prstClr val="black"/>
                  </a:solidFill>
                  <a:latin typeface="Book Antiqua" panose="02040602050305030304" pitchFamily="18" charset="0"/>
                </a:rPr>
                <a:t>3</a:t>
              </a:r>
            </a:p>
          </p:txBody>
        </p:sp>
        <p:sp>
          <p:nvSpPr>
            <p:cNvPr id="244749" name="Line 21">
              <a:extLst>
                <a:ext uri="{FF2B5EF4-FFF2-40B4-BE49-F238E27FC236}">
                  <a16:creationId xmlns:a16="http://schemas.microsoft.com/office/drawing/2014/main" id="{C8DB5B37-57D8-6256-A75C-75A6188D60FE}"/>
                </a:ext>
              </a:extLst>
            </p:cNvPr>
            <p:cNvSpPr>
              <a:spLocks noChangeShapeType="1"/>
            </p:cNvSpPr>
            <p:nvPr/>
          </p:nvSpPr>
          <p:spPr bwMode="auto">
            <a:xfrm>
              <a:off x="4896" y="2928"/>
              <a:ext cx="0" cy="288"/>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44750" name="Text Box 22">
              <a:extLst>
                <a:ext uri="{FF2B5EF4-FFF2-40B4-BE49-F238E27FC236}">
                  <a16:creationId xmlns:a16="http://schemas.microsoft.com/office/drawing/2014/main" id="{1C48DD0D-7071-F33F-8EF8-885A3513DA92}"/>
                </a:ext>
              </a:extLst>
            </p:cNvPr>
            <p:cNvSpPr txBox="1">
              <a:spLocks noChangeArrowheads="1"/>
            </p:cNvSpPr>
            <p:nvPr/>
          </p:nvSpPr>
          <p:spPr bwMode="auto">
            <a:xfrm>
              <a:off x="2736" y="2592"/>
              <a:ext cx="30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475" tIns="44443" rIns="90475" bIns="44443"/>
            <a:lstStyle>
              <a:lvl1pPr marL="342900" indent="-34290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50000"/>
                </a:spcBef>
                <a:spcAft>
                  <a:spcPct val="0"/>
                </a:spcAft>
                <a:buClrTx/>
                <a:buSzTx/>
                <a:buNone/>
              </a:pPr>
              <a:r>
                <a:rPr lang="en-US" altLang="en-US" sz="2400" i="1">
                  <a:solidFill>
                    <a:prstClr val="black"/>
                  </a:solidFill>
                  <a:latin typeface="Book Antiqua" panose="02040602050305030304" pitchFamily="18" charset="0"/>
                </a:rPr>
                <a:t>$1,000	        $1,000	    $12,000</a:t>
              </a:r>
            </a:p>
          </p:txBody>
        </p:sp>
        <p:sp>
          <p:nvSpPr>
            <p:cNvPr id="244751" name="Text Box 23">
              <a:extLst>
                <a:ext uri="{FF2B5EF4-FFF2-40B4-BE49-F238E27FC236}">
                  <a16:creationId xmlns:a16="http://schemas.microsoft.com/office/drawing/2014/main" id="{10146B77-E9EF-DCFA-A0DE-C2DD09C86D6C}"/>
                </a:ext>
              </a:extLst>
            </p:cNvPr>
            <p:cNvSpPr txBox="1">
              <a:spLocks noChangeArrowheads="1"/>
            </p:cNvSpPr>
            <p:nvPr/>
          </p:nvSpPr>
          <p:spPr bwMode="auto">
            <a:xfrm>
              <a:off x="2160" y="3600"/>
              <a:ext cx="816"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50000"/>
                </a:spcBef>
                <a:spcAft>
                  <a:spcPct val="0"/>
                </a:spcAft>
                <a:buClrTx/>
                <a:buSzTx/>
                <a:buNone/>
              </a:pPr>
              <a:r>
                <a:rPr lang="en-US" altLang="en-US" sz="2400" i="1">
                  <a:solidFill>
                    <a:prstClr val="black"/>
                  </a:solidFill>
                  <a:latin typeface="Book Antiqua" panose="02040602050305030304" pitchFamily="18" charset="0"/>
                </a:rPr>
                <a:t>-$10,000</a:t>
              </a:r>
            </a:p>
          </p:txBody>
        </p:sp>
        <p:sp>
          <p:nvSpPr>
            <p:cNvPr id="244752" name="Text Box 24">
              <a:extLst>
                <a:ext uri="{FF2B5EF4-FFF2-40B4-BE49-F238E27FC236}">
                  <a16:creationId xmlns:a16="http://schemas.microsoft.com/office/drawing/2014/main" id="{24AC7830-EA44-460C-0028-7782BE006144}"/>
                </a:ext>
              </a:extLst>
            </p:cNvPr>
            <p:cNvSpPr txBox="1">
              <a:spLocks noChangeArrowheads="1"/>
            </p:cNvSpPr>
            <p:nvPr/>
          </p:nvSpPr>
          <p:spPr bwMode="auto">
            <a:xfrm>
              <a:off x="912" y="2929"/>
              <a:ext cx="124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50000"/>
                </a:spcBef>
                <a:spcAft>
                  <a:spcPct val="0"/>
                </a:spcAft>
                <a:buClrTx/>
                <a:buSzTx/>
                <a:buNone/>
              </a:pPr>
              <a:r>
                <a:rPr lang="en-US" altLang="en-US" sz="2400">
                  <a:solidFill>
                    <a:prstClr val="black"/>
                  </a:solidFill>
                  <a:latin typeface="Times New Roman" panose="02020603050405020304" pitchFamily="18" charset="0"/>
                </a:rPr>
                <a:t>Project B</a:t>
              </a:r>
            </a:p>
          </p:txBody>
        </p:sp>
      </p:grpSp>
      <p:sp>
        <p:nvSpPr>
          <p:cNvPr id="333849" name="Text Box 25">
            <a:extLst>
              <a:ext uri="{FF2B5EF4-FFF2-40B4-BE49-F238E27FC236}">
                <a16:creationId xmlns:a16="http://schemas.microsoft.com/office/drawing/2014/main" id="{045D1E2B-EDFA-E0C3-4131-19DDBB13F3C3}"/>
              </a:ext>
            </a:extLst>
          </p:cNvPr>
          <p:cNvSpPr txBox="1">
            <a:spLocks noChangeArrowheads="1"/>
          </p:cNvSpPr>
          <p:nvPr/>
        </p:nvSpPr>
        <p:spPr bwMode="auto">
          <a:xfrm>
            <a:off x="1828800" y="6324600"/>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50000"/>
              </a:spcBef>
              <a:spcAft>
                <a:spcPct val="0"/>
              </a:spcAft>
              <a:buClrTx/>
              <a:buSzTx/>
              <a:buNone/>
            </a:pPr>
            <a:endParaRPr lang="en-US" altLang="en-US" sz="2400">
              <a:solidFill>
                <a:prstClr val="black"/>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2" presetClass="entr" presetSubtype="0" fill="hold" grpId="0" nodeType="clickEffect" nodePh="1">
                                  <p:stCondLst>
                                    <p:cond delay="0"/>
                                  </p:stCondLst>
                                  <p:endCondLst>
                                    <p:cond evt="begin" delay="0">
                                      <p:tn val="15"/>
                                    </p:cond>
                                  </p:endCondLst>
                                  <p:childTnLst>
                                    <p:set>
                                      <p:cBhvr>
                                        <p:cTn id="16" dur="1" fill="hold">
                                          <p:stCondLst>
                                            <p:cond delay="0"/>
                                          </p:stCondLst>
                                        </p:cTn>
                                        <p:tgtEl>
                                          <p:spTgt spid="333849"/>
                                        </p:tgtEl>
                                        <p:attrNameLst>
                                          <p:attrName>style.visibility</p:attrName>
                                        </p:attrNameLst>
                                      </p:cBhvr>
                                      <p:to>
                                        <p:strVal val="visible"/>
                                      </p:to>
                                    </p:set>
                                    <p:animEffect transition="in" filter="fade">
                                      <p:cBhvr>
                                        <p:cTn id="17" dur="1000"/>
                                        <p:tgtEl>
                                          <p:spTgt spid="333849"/>
                                        </p:tgtEl>
                                      </p:cBhvr>
                                    </p:animEffect>
                                    <p:anim calcmode="lin" valueType="num">
                                      <p:cBhvr>
                                        <p:cTn id="18" dur="1000" fill="hold"/>
                                        <p:tgtEl>
                                          <p:spTgt spid="333849"/>
                                        </p:tgtEl>
                                        <p:attrNameLst>
                                          <p:attrName>ppt_x</p:attrName>
                                        </p:attrNameLst>
                                      </p:cBhvr>
                                      <p:tavLst>
                                        <p:tav tm="0">
                                          <p:val>
                                            <p:strVal val="#ppt_x"/>
                                          </p:val>
                                        </p:tav>
                                        <p:tav tm="100000">
                                          <p:val>
                                            <p:strVal val="#ppt_x"/>
                                          </p:val>
                                        </p:tav>
                                      </p:tavLst>
                                    </p:anim>
                                    <p:anim calcmode="lin" valueType="num">
                                      <p:cBhvr>
                                        <p:cTn id="19" dur="1000" fill="hold"/>
                                        <p:tgtEl>
                                          <p:spTgt spid="33384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3849"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6775D8BC-26E2-259C-C96B-D09CDF6593E6}"/>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The Timing Problem</a:t>
            </a:r>
          </a:p>
        </p:txBody>
      </p:sp>
      <p:graphicFrame>
        <p:nvGraphicFramePr>
          <p:cNvPr id="334851" name="Object 3">
            <a:extLst>
              <a:ext uri="{FF2B5EF4-FFF2-40B4-BE49-F238E27FC236}">
                <a16:creationId xmlns:a16="http://schemas.microsoft.com/office/drawing/2014/main" id="{9BB28AAA-5B9F-0D8C-A854-401774DCAD71}"/>
              </a:ext>
            </a:extLst>
          </p:cNvPr>
          <p:cNvGraphicFramePr>
            <a:graphicFrameLocks noChangeAspect="1"/>
          </p:cNvGraphicFramePr>
          <p:nvPr/>
        </p:nvGraphicFramePr>
        <p:xfrm>
          <a:off x="1828800" y="1295400"/>
          <a:ext cx="8267700" cy="4800600"/>
        </p:xfrm>
        <a:graphic>
          <a:graphicData uri="http://schemas.openxmlformats.org/presentationml/2006/ole">
            <mc:AlternateContent xmlns:mc="http://schemas.openxmlformats.org/markup-compatibility/2006">
              <mc:Choice xmlns:v="urn:schemas-microsoft-com:vml" Requires="v">
                <p:oleObj name="Chart" r:id="rId3" imgW="5162607" imgH="3581377" progId="Excel.Chart.8">
                  <p:embed/>
                </p:oleObj>
              </mc:Choice>
              <mc:Fallback>
                <p:oleObj name="Chart" r:id="rId3" imgW="5162607" imgH="3581377" progId="Excel.Chart.8">
                  <p:embed/>
                  <p:pic>
                    <p:nvPicPr>
                      <p:cNvPr id="334851" name="Object 3">
                        <a:extLst>
                          <a:ext uri="{FF2B5EF4-FFF2-40B4-BE49-F238E27FC236}">
                            <a16:creationId xmlns:a16="http://schemas.microsoft.com/office/drawing/2014/main" id="{9BB28AAA-5B9F-0D8C-A854-401774DCAD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1295400"/>
                        <a:ext cx="826770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4">
            <a:extLst>
              <a:ext uri="{FF2B5EF4-FFF2-40B4-BE49-F238E27FC236}">
                <a16:creationId xmlns:a16="http://schemas.microsoft.com/office/drawing/2014/main" id="{0766C625-61B5-8AC0-D6A3-C4503B76D218}"/>
              </a:ext>
            </a:extLst>
          </p:cNvPr>
          <p:cNvGrpSpPr>
            <a:grpSpLocks/>
          </p:cNvGrpSpPr>
          <p:nvPr/>
        </p:nvGrpSpPr>
        <p:grpSpPr bwMode="auto">
          <a:xfrm>
            <a:off x="5181600" y="2667000"/>
            <a:ext cx="3810000" cy="533400"/>
            <a:chOff x="2928" y="1824"/>
            <a:chExt cx="2400" cy="336"/>
          </a:xfrm>
        </p:grpSpPr>
        <p:sp>
          <p:nvSpPr>
            <p:cNvPr id="246795" name="Rectangle 5">
              <a:extLst>
                <a:ext uri="{FF2B5EF4-FFF2-40B4-BE49-F238E27FC236}">
                  <a16:creationId xmlns:a16="http://schemas.microsoft.com/office/drawing/2014/main" id="{688A0259-2BA4-B7C7-8174-1A828C36188A}"/>
                </a:ext>
              </a:extLst>
            </p:cNvPr>
            <p:cNvSpPr>
              <a:spLocks noChangeArrowheads="1"/>
            </p:cNvSpPr>
            <p:nvPr/>
          </p:nvSpPr>
          <p:spPr bwMode="auto">
            <a:xfrm flipH="1">
              <a:off x="3456" y="1824"/>
              <a:ext cx="187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87425">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defTabSz="9874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defTabSz="987425">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defTabSz="987425">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defTabSz="987425">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0"/>
                </a:spcBef>
                <a:spcAft>
                  <a:spcPct val="0"/>
                </a:spcAft>
                <a:buClrTx/>
                <a:buSzTx/>
                <a:buNone/>
              </a:pPr>
              <a:r>
                <a:rPr lang="en-US" altLang="en-US" sz="2200" b="1">
                  <a:solidFill>
                    <a:prstClr val="black"/>
                  </a:solidFill>
                  <a:latin typeface="Times New Roman" panose="02020603050405020304" pitchFamily="18" charset="0"/>
                </a:rPr>
                <a:t>10.55% = crossover rate</a:t>
              </a:r>
              <a:endParaRPr lang="en-US" altLang="en-US" sz="2200" i="1">
                <a:solidFill>
                  <a:prstClr val="black"/>
                </a:solidFill>
                <a:latin typeface="Times New Roman" panose="02020603050405020304" pitchFamily="18" charset="0"/>
              </a:endParaRPr>
            </a:p>
          </p:txBody>
        </p:sp>
        <p:sp>
          <p:nvSpPr>
            <p:cNvPr id="246796" name="Arc 6">
              <a:extLst>
                <a:ext uri="{FF2B5EF4-FFF2-40B4-BE49-F238E27FC236}">
                  <a16:creationId xmlns:a16="http://schemas.microsoft.com/office/drawing/2014/main" id="{6553D732-5500-65C7-527C-51E3FFBEADFB}"/>
                </a:ext>
              </a:extLst>
            </p:cNvPr>
            <p:cNvSpPr>
              <a:spLocks/>
            </p:cNvSpPr>
            <p:nvPr/>
          </p:nvSpPr>
          <p:spPr bwMode="auto">
            <a:xfrm flipH="1">
              <a:off x="2928" y="1968"/>
              <a:ext cx="864" cy="192"/>
            </a:xfrm>
            <a:custGeom>
              <a:avLst/>
              <a:gdLst>
                <a:gd name="T0" fmla="*/ 0 w 21600"/>
                <a:gd name="T1" fmla="*/ 0 h 21109"/>
                <a:gd name="T2" fmla="*/ 0 w 21600"/>
                <a:gd name="T3" fmla="*/ 0 h 21109"/>
                <a:gd name="T4" fmla="*/ 0 w 21600"/>
                <a:gd name="T5" fmla="*/ 0 h 21109"/>
                <a:gd name="T6" fmla="*/ 0 60000 65536"/>
                <a:gd name="T7" fmla="*/ 0 60000 65536"/>
                <a:gd name="T8" fmla="*/ 0 60000 65536"/>
                <a:gd name="T9" fmla="*/ 0 w 21600"/>
                <a:gd name="T10" fmla="*/ 0 h 21109"/>
                <a:gd name="T11" fmla="*/ 21600 w 21600"/>
                <a:gd name="T12" fmla="*/ 21109 h 21109"/>
              </a:gdLst>
              <a:ahLst/>
              <a:cxnLst>
                <a:cxn ang="T6">
                  <a:pos x="T0" y="T1"/>
                </a:cxn>
                <a:cxn ang="T7">
                  <a:pos x="T2" y="T3"/>
                </a:cxn>
                <a:cxn ang="T8">
                  <a:pos x="T4" y="T5"/>
                </a:cxn>
              </a:cxnLst>
              <a:rect l="T9" t="T10" r="T11" b="T12"/>
              <a:pathLst>
                <a:path w="21600" h="21109" fill="none" extrusionOk="0">
                  <a:moveTo>
                    <a:pt x="9893" y="-1"/>
                  </a:moveTo>
                  <a:cubicBezTo>
                    <a:pt x="17082" y="3703"/>
                    <a:pt x="21600" y="11113"/>
                    <a:pt x="21600" y="19201"/>
                  </a:cubicBezTo>
                  <a:cubicBezTo>
                    <a:pt x="21600" y="19837"/>
                    <a:pt x="21571" y="20474"/>
                    <a:pt x="21515" y="21108"/>
                  </a:cubicBezTo>
                </a:path>
                <a:path w="21600" h="21109" stroke="0" extrusionOk="0">
                  <a:moveTo>
                    <a:pt x="9893" y="-1"/>
                  </a:moveTo>
                  <a:cubicBezTo>
                    <a:pt x="17082" y="3703"/>
                    <a:pt x="21600" y="11113"/>
                    <a:pt x="21600" y="19201"/>
                  </a:cubicBezTo>
                  <a:cubicBezTo>
                    <a:pt x="21600" y="19837"/>
                    <a:pt x="21571" y="20474"/>
                    <a:pt x="21515" y="21108"/>
                  </a:cubicBezTo>
                  <a:lnTo>
                    <a:pt x="0" y="19201"/>
                  </a:lnTo>
                  <a:lnTo>
                    <a:pt x="9893" y="-1"/>
                  </a:lnTo>
                  <a:close/>
                </a:path>
              </a:pathLst>
            </a:custGeom>
            <a:noFill/>
            <a:ln w="28575" cap="sq">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grpSp>
      <p:grpSp>
        <p:nvGrpSpPr>
          <p:cNvPr id="3" name="Group 7">
            <a:extLst>
              <a:ext uri="{FF2B5EF4-FFF2-40B4-BE49-F238E27FC236}">
                <a16:creationId xmlns:a16="http://schemas.microsoft.com/office/drawing/2014/main" id="{CBC61D53-BA6B-F176-696C-B34BCBE53F5F}"/>
              </a:ext>
            </a:extLst>
          </p:cNvPr>
          <p:cNvGrpSpPr>
            <a:grpSpLocks/>
          </p:cNvGrpSpPr>
          <p:nvPr/>
        </p:nvGrpSpPr>
        <p:grpSpPr bwMode="auto">
          <a:xfrm>
            <a:off x="5715000" y="3505201"/>
            <a:ext cx="2362200" cy="1709738"/>
            <a:chOff x="3408" y="2400"/>
            <a:chExt cx="1488" cy="1077"/>
          </a:xfrm>
        </p:grpSpPr>
        <p:sp>
          <p:nvSpPr>
            <p:cNvPr id="246793" name="Rectangle 8">
              <a:extLst>
                <a:ext uri="{FF2B5EF4-FFF2-40B4-BE49-F238E27FC236}">
                  <a16:creationId xmlns:a16="http://schemas.microsoft.com/office/drawing/2014/main" id="{7FAFB574-373A-64C2-EE63-5BA604316EFD}"/>
                </a:ext>
              </a:extLst>
            </p:cNvPr>
            <p:cNvSpPr>
              <a:spLocks noChangeArrowheads="1"/>
            </p:cNvSpPr>
            <p:nvPr/>
          </p:nvSpPr>
          <p:spPr bwMode="auto">
            <a:xfrm flipH="1">
              <a:off x="3648" y="3264"/>
              <a:ext cx="124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87425">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defTabSz="9874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defTabSz="987425">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defTabSz="987425">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defTabSz="987425">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0"/>
                </a:spcBef>
                <a:spcAft>
                  <a:spcPct val="0"/>
                </a:spcAft>
                <a:buClrTx/>
                <a:buSzTx/>
                <a:buNone/>
              </a:pPr>
              <a:r>
                <a:rPr lang="en-US" altLang="en-US" sz="2200" b="1">
                  <a:solidFill>
                    <a:prstClr val="black"/>
                  </a:solidFill>
                  <a:latin typeface="Times New Roman" panose="02020603050405020304" pitchFamily="18" charset="0"/>
                </a:rPr>
                <a:t>16.04% = IRR</a:t>
              </a:r>
              <a:r>
                <a:rPr lang="en-US" altLang="en-US" sz="2200" b="1" i="1" baseline="-25000">
                  <a:solidFill>
                    <a:prstClr val="black"/>
                  </a:solidFill>
                  <a:latin typeface="Times New Roman" panose="02020603050405020304" pitchFamily="18" charset="0"/>
                </a:rPr>
                <a:t>A</a:t>
              </a:r>
              <a:endParaRPr lang="en-US" altLang="en-US" sz="2200" i="1">
                <a:solidFill>
                  <a:prstClr val="black"/>
                </a:solidFill>
                <a:latin typeface="Times New Roman" panose="02020603050405020304" pitchFamily="18" charset="0"/>
              </a:endParaRPr>
            </a:p>
          </p:txBody>
        </p:sp>
        <p:sp>
          <p:nvSpPr>
            <p:cNvPr id="246794" name="Arc 9">
              <a:extLst>
                <a:ext uri="{FF2B5EF4-FFF2-40B4-BE49-F238E27FC236}">
                  <a16:creationId xmlns:a16="http://schemas.microsoft.com/office/drawing/2014/main" id="{EF517F84-CD86-7B48-4501-9902796A7559}"/>
                </a:ext>
              </a:extLst>
            </p:cNvPr>
            <p:cNvSpPr>
              <a:spLocks/>
            </p:cNvSpPr>
            <p:nvPr/>
          </p:nvSpPr>
          <p:spPr bwMode="auto">
            <a:xfrm flipH="1" flipV="1">
              <a:off x="3408" y="2400"/>
              <a:ext cx="432" cy="831"/>
            </a:xfrm>
            <a:custGeom>
              <a:avLst/>
              <a:gdLst>
                <a:gd name="T0" fmla="*/ 0 w 21600"/>
                <a:gd name="T1" fmla="*/ 0 h 21109"/>
                <a:gd name="T2" fmla="*/ 0 w 21600"/>
                <a:gd name="T3" fmla="*/ 0 h 21109"/>
                <a:gd name="T4" fmla="*/ 0 w 21600"/>
                <a:gd name="T5" fmla="*/ 0 h 21109"/>
                <a:gd name="T6" fmla="*/ 0 60000 65536"/>
                <a:gd name="T7" fmla="*/ 0 60000 65536"/>
                <a:gd name="T8" fmla="*/ 0 60000 65536"/>
                <a:gd name="T9" fmla="*/ 0 w 21600"/>
                <a:gd name="T10" fmla="*/ 0 h 21109"/>
                <a:gd name="T11" fmla="*/ 21600 w 21600"/>
                <a:gd name="T12" fmla="*/ 21109 h 21109"/>
              </a:gdLst>
              <a:ahLst/>
              <a:cxnLst>
                <a:cxn ang="T6">
                  <a:pos x="T0" y="T1"/>
                </a:cxn>
                <a:cxn ang="T7">
                  <a:pos x="T2" y="T3"/>
                </a:cxn>
                <a:cxn ang="T8">
                  <a:pos x="T4" y="T5"/>
                </a:cxn>
              </a:cxnLst>
              <a:rect l="T9" t="T10" r="T11" b="T12"/>
              <a:pathLst>
                <a:path w="21600" h="21109" fill="none" extrusionOk="0">
                  <a:moveTo>
                    <a:pt x="9893" y="-1"/>
                  </a:moveTo>
                  <a:cubicBezTo>
                    <a:pt x="17082" y="3703"/>
                    <a:pt x="21600" y="11113"/>
                    <a:pt x="21600" y="19201"/>
                  </a:cubicBezTo>
                  <a:cubicBezTo>
                    <a:pt x="21600" y="19837"/>
                    <a:pt x="21571" y="20474"/>
                    <a:pt x="21515" y="21108"/>
                  </a:cubicBezTo>
                </a:path>
                <a:path w="21600" h="21109" stroke="0" extrusionOk="0">
                  <a:moveTo>
                    <a:pt x="9893" y="-1"/>
                  </a:moveTo>
                  <a:cubicBezTo>
                    <a:pt x="17082" y="3703"/>
                    <a:pt x="21600" y="11113"/>
                    <a:pt x="21600" y="19201"/>
                  </a:cubicBezTo>
                  <a:cubicBezTo>
                    <a:pt x="21600" y="19837"/>
                    <a:pt x="21571" y="20474"/>
                    <a:pt x="21515" y="21108"/>
                  </a:cubicBezTo>
                  <a:lnTo>
                    <a:pt x="0" y="19201"/>
                  </a:lnTo>
                  <a:lnTo>
                    <a:pt x="9893" y="-1"/>
                  </a:lnTo>
                  <a:close/>
                </a:path>
              </a:pathLst>
            </a:custGeom>
            <a:noFill/>
            <a:ln w="28575" cap="sq">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grpSp>
      <p:grpSp>
        <p:nvGrpSpPr>
          <p:cNvPr id="4" name="Group 10">
            <a:extLst>
              <a:ext uri="{FF2B5EF4-FFF2-40B4-BE49-F238E27FC236}">
                <a16:creationId xmlns:a16="http://schemas.microsoft.com/office/drawing/2014/main" id="{FA2E2C0C-215B-C6FE-488E-25696CAB61C8}"/>
              </a:ext>
            </a:extLst>
          </p:cNvPr>
          <p:cNvGrpSpPr>
            <a:grpSpLocks/>
          </p:cNvGrpSpPr>
          <p:nvPr/>
        </p:nvGrpSpPr>
        <p:grpSpPr bwMode="auto">
          <a:xfrm>
            <a:off x="3810001" y="3581402"/>
            <a:ext cx="2132013" cy="1657351"/>
            <a:chOff x="2160" y="2385"/>
            <a:chExt cx="1343" cy="1044"/>
          </a:xfrm>
        </p:grpSpPr>
        <p:sp>
          <p:nvSpPr>
            <p:cNvPr id="246791" name="Rectangle 11">
              <a:extLst>
                <a:ext uri="{FF2B5EF4-FFF2-40B4-BE49-F238E27FC236}">
                  <a16:creationId xmlns:a16="http://schemas.microsoft.com/office/drawing/2014/main" id="{0815D4B2-D348-31A9-996D-D61B999A033D}"/>
                </a:ext>
              </a:extLst>
            </p:cNvPr>
            <p:cNvSpPr>
              <a:spLocks noChangeArrowheads="1"/>
            </p:cNvSpPr>
            <p:nvPr/>
          </p:nvSpPr>
          <p:spPr bwMode="auto">
            <a:xfrm>
              <a:off x="2160" y="3216"/>
              <a:ext cx="1343"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87425">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defTabSz="9874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defTabSz="987425">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defTabSz="987425">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defTabSz="987425">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0"/>
                </a:spcBef>
                <a:spcAft>
                  <a:spcPct val="0"/>
                </a:spcAft>
                <a:buClrTx/>
                <a:buSzTx/>
                <a:buNone/>
              </a:pPr>
              <a:r>
                <a:rPr lang="en-US" altLang="en-US" sz="2200" b="1">
                  <a:solidFill>
                    <a:prstClr val="black"/>
                  </a:solidFill>
                  <a:latin typeface="Times New Roman" panose="02020603050405020304" pitchFamily="18" charset="0"/>
                </a:rPr>
                <a:t>12.94% = IRR</a:t>
              </a:r>
              <a:r>
                <a:rPr lang="en-US" altLang="en-US" sz="2200" b="1" i="1" baseline="-25000">
                  <a:solidFill>
                    <a:prstClr val="black"/>
                  </a:solidFill>
                  <a:latin typeface="Times New Roman" panose="02020603050405020304" pitchFamily="18" charset="0"/>
                </a:rPr>
                <a:t>B</a:t>
              </a:r>
              <a:endParaRPr lang="en-US" altLang="en-US" sz="2200" i="1">
                <a:solidFill>
                  <a:prstClr val="black"/>
                </a:solidFill>
                <a:latin typeface="Times New Roman" panose="02020603050405020304" pitchFamily="18" charset="0"/>
              </a:endParaRPr>
            </a:p>
          </p:txBody>
        </p:sp>
        <p:sp>
          <p:nvSpPr>
            <p:cNvPr id="246792" name="Arc 12">
              <a:extLst>
                <a:ext uri="{FF2B5EF4-FFF2-40B4-BE49-F238E27FC236}">
                  <a16:creationId xmlns:a16="http://schemas.microsoft.com/office/drawing/2014/main" id="{F12BDC4D-AFE1-D090-FE5D-2D15AEB08A0B}"/>
                </a:ext>
              </a:extLst>
            </p:cNvPr>
            <p:cNvSpPr>
              <a:spLocks/>
            </p:cNvSpPr>
            <p:nvPr/>
          </p:nvSpPr>
          <p:spPr bwMode="auto">
            <a:xfrm flipV="1">
              <a:off x="2736" y="2385"/>
              <a:ext cx="353" cy="831"/>
            </a:xfrm>
            <a:custGeom>
              <a:avLst/>
              <a:gdLst>
                <a:gd name="T0" fmla="*/ 0 w 21600"/>
                <a:gd name="T1" fmla="*/ 0 h 21109"/>
                <a:gd name="T2" fmla="*/ 0 w 21600"/>
                <a:gd name="T3" fmla="*/ 0 h 21109"/>
                <a:gd name="T4" fmla="*/ 0 w 21600"/>
                <a:gd name="T5" fmla="*/ 0 h 21109"/>
                <a:gd name="T6" fmla="*/ 0 60000 65536"/>
                <a:gd name="T7" fmla="*/ 0 60000 65536"/>
                <a:gd name="T8" fmla="*/ 0 60000 65536"/>
                <a:gd name="T9" fmla="*/ 0 w 21600"/>
                <a:gd name="T10" fmla="*/ 0 h 21109"/>
                <a:gd name="T11" fmla="*/ 21600 w 21600"/>
                <a:gd name="T12" fmla="*/ 21109 h 21109"/>
              </a:gdLst>
              <a:ahLst/>
              <a:cxnLst>
                <a:cxn ang="T6">
                  <a:pos x="T0" y="T1"/>
                </a:cxn>
                <a:cxn ang="T7">
                  <a:pos x="T2" y="T3"/>
                </a:cxn>
                <a:cxn ang="T8">
                  <a:pos x="T4" y="T5"/>
                </a:cxn>
              </a:cxnLst>
              <a:rect l="T9" t="T10" r="T11" b="T12"/>
              <a:pathLst>
                <a:path w="21600" h="21109" fill="none" extrusionOk="0">
                  <a:moveTo>
                    <a:pt x="9893" y="-1"/>
                  </a:moveTo>
                  <a:cubicBezTo>
                    <a:pt x="17082" y="3703"/>
                    <a:pt x="21600" y="11113"/>
                    <a:pt x="21600" y="19201"/>
                  </a:cubicBezTo>
                  <a:cubicBezTo>
                    <a:pt x="21600" y="19837"/>
                    <a:pt x="21571" y="20474"/>
                    <a:pt x="21515" y="21108"/>
                  </a:cubicBezTo>
                </a:path>
                <a:path w="21600" h="21109" stroke="0" extrusionOk="0">
                  <a:moveTo>
                    <a:pt x="9893" y="-1"/>
                  </a:moveTo>
                  <a:cubicBezTo>
                    <a:pt x="17082" y="3703"/>
                    <a:pt x="21600" y="11113"/>
                    <a:pt x="21600" y="19201"/>
                  </a:cubicBezTo>
                  <a:cubicBezTo>
                    <a:pt x="21600" y="19837"/>
                    <a:pt x="21571" y="20474"/>
                    <a:pt x="21515" y="21108"/>
                  </a:cubicBezTo>
                  <a:lnTo>
                    <a:pt x="0" y="19201"/>
                  </a:lnTo>
                  <a:lnTo>
                    <a:pt x="9893" y="-1"/>
                  </a:lnTo>
                  <a:close/>
                </a:path>
              </a:pathLst>
            </a:custGeom>
            <a:noFill/>
            <a:ln w="28575" cap="sq">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4851"/>
                                        </p:tgtEl>
                                        <p:attrNameLst>
                                          <p:attrName>style.visibility</p:attrName>
                                        </p:attrNameLst>
                                      </p:cBhvr>
                                      <p:to>
                                        <p:strVal val="visible"/>
                                      </p:to>
                                    </p:set>
                                    <p:animEffect transition="in" filter="wipe(left)">
                                      <p:cBhvr>
                                        <p:cTn id="7" dur="500"/>
                                        <p:tgtEl>
                                          <p:spTgt spid="3348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4851"/>
                                        </p:tgtEl>
                                        <p:attrNameLst>
                                          <p:attrName>style.visibility</p:attrName>
                                        </p:attrNameLst>
                                      </p:cBhvr>
                                      <p:to>
                                        <p:strVal val="visible"/>
                                      </p:to>
                                    </p:set>
                                    <p:animEffect transition="in" filter="wipe(left)">
                                      <p:cBhvr>
                                        <p:cTn id="12" dur="500"/>
                                        <p:tgtEl>
                                          <p:spTgt spid="3348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34851"/>
                                        </p:tgtEl>
                                        <p:attrNameLst>
                                          <p:attrName>style.visibility</p:attrName>
                                        </p:attrNameLst>
                                      </p:cBhvr>
                                      <p:to>
                                        <p:strVal val="visible"/>
                                      </p:to>
                                    </p:set>
                                    <p:animEffect transition="in" filter="wipe(left)">
                                      <p:cBhvr>
                                        <p:cTn id="17" dur="500"/>
                                        <p:tgtEl>
                                          <p:spTgt spid="334851"/>
                                        </p:tgtEl>
                                      </p:cBhvr>
                                    </p:animEffect>
                                  </p:childTnLst>
                                </p:cTn>
                              </p:par>
                            </p:childTnLst>
                          </p:cTn>
                        </p:par>
                        <p:par>
                          <p:cTn id="18" fill="hold" nodeType="afterGroup">
                            <p:stCondLst>
                              <p:cond delay="500"/>
                            </p:stCondLst>
                            <p:childTnLst>
                              <p:par>
                                <p:cTn id="19" presetID="22" presetClass="entr" presetSubtype="4" fill="hold"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down)">
                                      <p:cBhvr>
                                        <p:cTn id="21" dur="500"/>
                                        <p:tgtEl>
                                          <p:spTgt spid="4"/>
                                        </p:tgtEl>
                                      </p:cBhvr>
                                    </p:animEffect>
                                  </p:childTnLst>
                                </p:cTn>
                              </p:par>
                            </p:childTnLst>
                          </p:cTn>
                        </p:par>
                        <p:par>
                          <p:cTn id="22" fill="hold" nodeType="afterGroup">
                            <p:stCondLst>
                              <p:cond delay="1000"/>
                            </p:stCondLst>
                            <p:childTnLst>
                              <p:par>
                                <p:cTn id="23" presetID="22" presetClass="entr" presetSubtype="4" fill="hold" nodeType="after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down)">
                                      <p:cBhvr>
                                        <p:cTn id="25" dur="500"/>
                                        <p:tgtEl>
                                          <p:spTgt spid="3"/>
                                        </p:tgtEl>
                                      </p:cBhvr>
                                    </p:animEffect>
                                  </p:childTnLst>
                                </p:cTn>
                              </p:par>
                            </p:childTnLst>
                          </p:cTn>
                        </p:par>
                        <p:par>
                          <p:cTn id="26" fill="hold" nodeType="afterGroup">
                            <p:stCondLst>
                              <p:cond delay="1500"/>
                            </p:stCondLst>
                            <p:childTnLst>
                              <p:par>
                                <p:cTn id="27" presetID="22" presetClass="entr" presetSubtype="2" fill="hold" nodeType="after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wipe(right)">
                                      <p:cBhvr>
                                        <p:cTn id="2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OleChart spid="334851" grpId="0" bld="series"/>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B9470DA0-3424-113E-06E8-461F5ECC9595}"/>
              </a:ext>
            </a:extLst>
          </p:cNvPr>
          <p:cNvSpPr>
            <a:spLocks noGrp="1" noChangeArrowheads="1"/>
          </p:cNvSpPr>
          <p:nvPr>
            <p:ph type="title"/>
          </p:nvPr>
        </p:nvSpPr>
        <p:spPr/>
        <p:txBody>
          <a:bodyPr/>
          <a:lstStyle/>
          <a:p>
            <a:pPr eaLnBrk="1" fontAlgn="auto" hangingPunct="1">
              <a:spcAft>
                <a:spcPts val="0"/>
              </a:spcAft>
              <a:defRPr/>
            </a:pPr>
            <a:r>
              <a:rPr lang="en-US" altLang="en-US" sz="3400" dirty="0">
                <a:solidFill>
                  <a:schemeClr val="bg2"/>
                </a:solidFill>
                <a:ea typeface="+mj-ea"/>
                <a:cs typeface="+mj-cs"/>
              </a:rPr>
              <a:t>Calculating the Crossover Rate</a:t>
            </a:r>
          </a:p>
        </p:txBody>
      </p:sp>
      <p:sp>
        <p:nvSpPr>
          <p:cNvPr id="248835" name="Rectangle 3">
            <a:extLst>
              <a:ext uri="{FF2B5EF4-FFF2-40B4-BE49-F238E27FC236}">
                <a16:creationId xmlns:a16="http://schemas.microsoft.com/office/drawing/2014/main" id="{D528F221-4ED9-5CF6-D61F-05ACEF39FA73}"/>
              </a:ext>
            </a:extLst>
          </p:cNvPr>
          <p:cNvSpPr>
            <a:spLocks noChangeArrowheads="1"/>
          </p:cNvSpPr>
          <p:nvPr/>
        </p:nvSpPr>
        <p:spPr bwMode="auto">
          <a:xfrm>
            <a:off x="2362200" y="1295400"/>
            <a:ext cx="8001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ts val="400"/>
              </a:spcBef>
              <a:buClr>
                <a:schemeClr val="accent1"/>
              </a:buClr>
              <a:buSzPct val="68000"/>
              <a:buFont typeface="Wingdings 3" panose="05040102010807070707" pitchFamily="18" charset="2"/>
              <a:buChar char=""/>
              <a:tabLst>
                <a:tab pos="1550988" algn="l"/>
                <a:tab pos="4006850" algn="r"/>
                <a:tab pos="6172200" algn="r"/>
              </a:tabLst>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tabLst>
                <a:tab pos="1550988" algn="l"/>
                <a:tab pos="4006850" algn="r"/>
                <a:tab pos="6172200" algn="r"/>
              </a:tabLst>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tabLst>
                <a:tab pos="1550988" algn="l"/>
                <a:tab pos="4006850" algn="r"/>
                <a:tab pos="6172200" algn="r"/>
              </a:tabLst>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tabLst>
                <a:tab pos="1550988" algn="l"/>
                <a:tab pos="4006850" algn="r"/>
                <a:tab pos="6172200" algn="r"/>
              </a:tabLst>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tabLst>
                <a:tab pos="1550988" algn="l"/>
                <a:tab pos="4006850" algn="r"/>
                <a:tab pos="6172200" algn="r"/>
              </a:tabLst>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tabLst>
                <a:tab pos="1550988" algn="l"/>
                <a:tab pos="4006850" algn="r"/>
                <a:tab pos="6172200" algn="r"/>
              </a:tabLst>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tabLst>
                <a:tab pos="1550988" algn="l"/>
                <a:tab pos="4006850" algn="r"/>
                <a:tab pos="6172200" algn="r"/>
              </a:tabLst>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tabLst>
                <a:tab pos="1550988" algn="l"/>
                <a:tab pos="4006850" algn="r"/>
                <a:tab pos="6172200" algn="r"/>
              </a:tabLst>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tabLst>
                <a:tab pos="1550988" algn="l"/>
                <a:tab pos="4006850" algn="r"/>
                <a:tab pos="6172200" algn="r"/>
              </a:tabLst>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20000"/>
              </a:spcBef>
              <a:spcAft>
                <a:spcPct val="0"/>
              </a:spcAft>
              <a:buClr>
                <a:srgbClr val="671739"/>
              </a:buClr>
              <a:buSzTx/>
              <a:buNone/>
            </a:pPr>
            <a:r>
              <a:rPr lang="en-US" altLang="en-US" sz="2800">
                <a:solidFill>
                  <a:prstClr val="black"/>
                </a:solidFill>
                <a:latin typeface="Times New Roman" panose="02020603050405020304" pitchFamily="18" charset="0"/>
              </a:rPr>
              <a:t>Compute the IRR for either project “A-B” or “B-A”</a:t>
            </a:r>
          </a:p>
          <a:p>
            <a:pPr fontAlgn="base">
              <a:spcBef>
                <a:spcPct val="20000"/>
              </a:spcBef>
              <a:spcAft>
                <a:spcPct val="0"/>
              </a:spcAft>
              <a:buClr>
                <a:srgbClr val="671739"/>
              </a:buClr>
              <a:buSzTx/>
              <a:buNone/>
            </a:pPr>
            <a:endParaRPr lang="en-US" altLang="en-US" sz="2800">
              <a:solidFill>
                <a:prstClr val="white"/>
              </a:solidFill>
              <a:latin typeface="Times New Roman" panose="02020603050405020304" pitchFamily="18" charset="0"/>
            </a:endParaRPr>
          </a:p>
        </p:txBody>
      </p:sp>
      <p:graphicFrame>
        <p:nvGraphicFramePr>
          <p:cNvPr id="248836" name="Object 4">
            <a:extLst>
              <a:ext uri="{FF2B5EF4-FFF2-40B4-BE49-F238E27FC236}">
                <a16:creationId xmlns:a16="http://schemas.microsoft.com/office/drawing/2014/main" id="{13D4170A-CE22-A5D0-60F8-D5B3CBE5428F}"/>
              </a:ext>
            </a:extLst>
          </p:cNvPr>
          <p:cNvGraphicFramePr>
            <a:graphicFrameLocks noChangeAspect="1"/>
          </p:cNvGraphicFramePr>
          <p:nvPr/>
        </p:nvGraphicFramePr>
        <p:xfrm>
          <a:off x="3600451" y="2133600"/>
          <a:ext cx="4587875" cy="1150938"/>
        </p:xfrm>
        <a:graphic>
          <a:graphicData uri="http://schemas.openxmlformats.org/presentationml/2006/ole">
            <mc:AlternateContent xmlns:mc="http://schemas.openxmlformats.org/markup-compatibility/2006">
              <mc:Choice xmlns:v="urn:schemas-microsoft-com:vml" Requires="v">
                <p:oleObj name="Worksheet" r:id="rId3" imgW="4587204" imgH="1150630" progId="Excel.Sheet.8">
                  <p:embed/>
                </p:oleObj>
              </mc:Choice>
              <mc:Fallback>
                <p:oleObj name="Worksheet" r:id="rId3" imgW="4587204" imgH="1150630" progId="Excel.Sheet.8">
                  <p:embed/>
                  <p:pic>
                    <p:nvPicPr>
                      <p:cNvPr id="248836" name="Object 4">
                        <a:extLst>
                          <a:ext uri="{FF2B5EF4-FFF2-40B4-BE49-F238E27FC236}">
                            <a16:creationId xmlns:a16="http://schemas.microsoft.com/office/drawing/2014/main" id="{13D4170A-CE22-A5D0-60F8-D5B3CBE542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0451" y="2133600"/>
                        <a:ext cx="4587875" cy="1150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6901" name="Object 5">
            <a:extLst>
              <a:ext uri="{FF2B5EF4-FFF2-40B4-BE49-F238E27FC236}">
                <a16:creationId xmlns:a16="http://schemas.microsoft.com/office/drawing/2014/main" id="{79C80757-B59B-9D38-8B47-BA65D77EFE76}"/>
              </a:ext>
            </a:extLst>
          </p:cNvPr>
          <p:cNvGraphicFramePr>
            <a:graphicFrameLocks noChangeAspect="1"/>
          </p:cNvGraphicFramePr>
          <p:nvPr/>
        </p:nvGraphicFramePr>
        <p:xfrm>
          <a:off x="2514600" y="3371850"/>
          <a:ext cx="6305550" cy="2724150"/>
        </p:xfrm>
        <a:graphic>
          <a:graphicData uri="http://schemas.openxmlformats.org/presentationml/2006/ole">
            <mc:AlternateContent xmlns:mc="http://schemas.openxmlformats.org/markup-compatibility/2006">
              <mc:Choice xmlns:v="urn:schemas-microsoft-com:vml" Requires="v">
                <p:oleObj name="Chart" r:id="rId5" imgW="5086502" imgH="2581351" progId="Excel.Chart.8">
                  <p:embed/>
                </p:oleObj>
              </mc:Choice>
              <mc:Fallback>
                <p:oleObj name="Chart" r:id="rId5" imgW="5086502" imgH="2581351" progId="Excel.Chart.8">
                  <p:embed/>
                  <p:pic>
                    <p:nvPicPr>
                      <p:cNvPr id="336901" name="Object 5">
                        <a:extLst>
                          <a:ext uri="{FF2B5EF4-FFF2-40B4-BE49-F238E27FC236}">
                            <a16:creationId xmlns:a16="http://schemas.microsoft.com/office/drawing/2014/main" id="{79C80757-B59B-9D38-8B47-BA65D77EFE7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4600" y="3371850"/>
                        <a:ext cx="6305550" cy="272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6">
            <a:extLst>
              <a:ext uri="{FF2B5EF4-FFF2-40B4-BE49-F238E27FC236}">
                <a16:creationId xmlns:a16="http://schemas.microsoft.com/office/drawing/2014/main" id="{CCAC4666-78B2-8B19-6067-B47A421C6FE5}"/>
              </a:ext>
            </a:extLst>
          </p:cNvPr>
          <p:cNvGrpSpPr>
            <a:grpSpLocks/>
          </p:cNvGrpSpPr>
          <p:nvPr/>
        </p:nvGrpSpPr>
        <p:grpSpPr bwMode="auto">
          <a:xfrm>
            <a:off x="6019800" y="3886200"/>
            <a:ext cx="3810000" cy="533400"/>
            <a:chOff x="2928" y="1824"/>
            <a:chExt cx="2400" cy="336"/>
          </a:xfrm>
        </p:grpSpPr>
        <p:sp>
          <p:nvSpPr>
            <p:cNvPr id="248839" name="Rectangle 7">
              <a:extLst>
                <a:ext uri="{FF2B5EF4-FFF2-40B4-BE49-F238E27FC236}">
                  <a16:creationId xmlns:a16="http://schemas.microsoft.com/office/drawing/2014/main" id="{1EA08A11-CB9E-EE00-2CBE-A57AE1776D28}"/>
                </a:ext>
              </a:extLst>
            </p:cNvPr>
            <p:cNvSpPr>
              <a:spLocks noChangeArrowheads="1"/>
            </p:cNvSpPr>
            <p:nvPr/>
          </p:nvSpPr>
          <p:spPr bwMode="auto">
            <a:xfrm flipH="1">
              <a:off x="3456" y="1824"/>
              <a:ext cx="187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87425">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defTabSz="9874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defTabSz="987425">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defTabSz="987425">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defTabSz="987425">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0"/>
                </a:spcBef>
                <a:spcAft>
                  <a:spcPct val="0"/>
                </a:spcAft>
                <a:buClrTx/>
                <a:buSzTx/>
                <a:buNone/>
              </a:pPr>
              <a:r>
                <a:rPr lang="en-US" altLang="en-US" sz="2200" b="1">
                  <a:solidFill>
                    <a:prstClr val="black"/>
                  </a:solidFill>
                  <a:latin typeface="Times New Roman" panose="02020603050405020304" pitchFamily="18" charset="0"/>
                </a:rPr>
                <a:t>10.55% = IRR</a:t>
              </a:r>
              <a:endParaRPr lang="en-US" altLang="en-US" sz="2200" i="1">
                <a:solidFill>
                  <a:prstClr val="black"/>
                </a:solidFill>
                <a:latin typeface="Times New Roman" panose="02020603050405020304" pitchFamily="18" charset="0"/>
              </a:endParaRPr>
            </a:p>
          </p:txBody>
        </p:sp>
        <p:sp>
          <p:nvSpPr>
            <p:cNvPr id="248840" name="Arc 8">
              <a:extLst>
                <a:ext uri="{FF2B5EF4-FFF2-40B4-BE49-F238E27FC236}">
                  <a16:creationId xmlns:a16="http://schemas.microsoft.com/office/drawing/2014/main" id="{212B0A5C-9CC1-1AB2-87FE-15F14695E3F8}"/>
                </a:ext>
              </a:extLst>
            </p:cNvPr>
            <p:cNvSpPr>
              <a:spLocks/>
            </p:cNvSpPr>
            <p:nvPr/>
          </p:nvSpPr>
          <p:spPr bwMode="auto">
            <a:xfrm flipH="1">
              <a:off x="2928" y="1968"/>
              <a:ext cx="864" cy="192"/>
            </a:xfrm>
            <a:custGeom>
              <a:avLst/>
              <a:gdLst>
                <a:gd name="T0" fmla="*/ 0 w 21600"/>
                <a:gd name="T1" fmla="*/ 0 h 21109"/>
                <a:gd name="T2" fmla="*/ 0 w 21600"/>
                <a:gd name="T3" fmla="*/ 0 h 21109"/>
                <a:gd name="T4" fmla="*/ 0 w 21600"/>
                <a:gd name="T5" fmla="*/ 0 h 21109"/>
                <a:gd name="T6" fmla="*/ 0 60000 65536"/>
                <a:gd name="T7" fmla="*/ 0 60000 65536"/>
                <a:gd name="T8" fmla="*/ 0 60000 65536"/>
                <a:gd name="T9" fmla="*/ 0 w 21600"/>
                <a:gd name="T10" fmla="*/ 0 h 21109"/>
                <a:gd name="T11" fmla="*/ 21600 w 21600"/>
                <a:gd name="T12" fmla="*/ 21109 h 21109"/>
              </a:gdLst>
              <a:ahLst/>
              <a:cxnLst>
                <a:cxn ang="T6">
                  <a:pos x="T0" y="T1"/>
                </a:cxn>
                <a:cxn ang="T7">
                  <a:pos x="T2" y="T3"/>
                </a:cxn>
                <a:cxn ang="T8">
                  <a:pos x="T4" y="T5"/>
                </a:cxn>
              </a:cxnLst>
              <a:rect l="T9" t="T10" r="T11" b="T12"/>
              <a:pathLst>
                <a:path w="21600" h="21109" fill="none" extrusionOk="0">
                  <a:moveTo>
                    <a:pt x="9893" y="-1"/>
                  </a:moveTo>
                  <a:cubicBezTo>
                    <a:pt x="17082" y="3703"/>
                    <a:pt x="21600" y="11113"/>
                    <a:pt x="21600" y="19201"/>
                  </a:cubicBezTo>
                  <a:cubicBezTo>
                    <a:pt x="21600" y="19837"/>
                    <a:pt x="21571" y="20474"/>
                    <a:pt x="21515" y="21108"/>
                  </a:cubicBezTo>
                </a:path>
                <a:path w="21600" h="21109" stroke="0" extrusionOk="0">
                  <a:moveTo>
                    <a:pt x="9893" y="-1"/>
                  </a:moveTo>
                  <a:cubicBezTo>
                    <a:pt x="17082" y="3703"/>
                    <a:pt x="21600" y="11113"/>
                    <a:pt x="21600" y="19201"/>
                  </a:cubicBezTo>
                  <a:cubicBezTo>
                    <a:pt x="21600" y="19837"/>
                    <a:pt x="21571" y="20474"/>
                    <a:pt x="21515" y="21108"/>
                  </a:cubicBezTo>
                  <a:lnTo>
                    <a:pt x="0" y="19201"/>
                  </a:lnTo>
                  <a:lnTo>
                    <a:pt x="9893" y="-1"/>
                  </a:lnTo>
                  <a:close/>
                </a:path>
              </a:pathLst>
            </a:custGeom>
            <a:noFill/>
            <a:ln w="28575" cap="sq">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6901"/>
                                        </p:tgtEl>
                                        <p:attrNameLst>
                                          <p:attrName>style.visibility</p:attrName>
                                        </p:attrNameLst>
                                      </p:cBhvr>
                                      <p:to>
                                        <p:strVal val="visible"/>
                                      </p:to>
                                    </p:set>
                                    <p:animEffect transition="in" filter="wipe(left)">
                                      <p:cBhvr>
                                        <p:cTn id="7" dur="500"/>
                                        <p:tgtEl>
                                          <p:spTgt spid="33690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6901"/>
                                        </p:tgtEl>
                                        <p:attrNameLst>
                                          <p:attrName>style.visibility</p:attrName>
                                        </p:attrNameLst>
                                      </p:cBhvr>
                                      <p:to>
                                        <p:strVal val="visible"/>
                                      </p:to>
                                    </p:set>
                                    <p:animEffect transition="in" filter="wipe(left)">
                                      <p:cBhvr>
                                        <p:cTn id="12" dur="500"/>
                                        <p:tgtEl>
                                          <p:spTgt spid="33690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36901"/>
                                        </p:tgtEl>
                                        <p:attrNameLst>
                                          <p:attrName>style.visibility</p:attrName>
                                        </p:attrNameLst>
                                      </p:cBhvr>
                                      <p:to>
                                        <p:strVal val="visible"/>
                                      </p:to>
                                    </p:set>
                                    <p:animEffect transition="in" filter="wipe(left)">
                                      <p:cBhvr>
                                        <p:cTn id="17" dur="500"/>
                                        <p:tgtEl>
                                          <p:spTgt spid="336901"/>
                                        </p:tgtEl>
                                      </p:cBhvr>
                                    </p:animEffect>
                                  </p:childTnLst>
                                </p:cTn>
                              </p:par>
                            </p:childTnLst>
                          </p:cTn>
                        </p:par>
                        <p:par>
                          <p:cTn id="18" fill="hold" nodeType="afterGroup">
                            <p:stCondLst>
                              <p:cond delay="500"/>
                            </p:stCondLst>
                            <p:childTnLst>
                              <p:par>
                                <p:cTn id="19" presetID="22" presetClass="entr" presetSubtype="2"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right)">
                                      <p:cBhvr>
                                        <p:cTn id="2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OleChart spid="336901" grpId="0" bld="series"/>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1475" name="Rectangle 3">
            <a:extLst>
              <a:ext uri="{FF2B5EF4-FFF2-40B4-BE49-F238E27FC236}">
                <a16:creationId xmlns:a16="http://schemas.microsoft.com/office/drawing/2014/main" id="{94CB4C06-ABD9-1D2E-A2DA-07BC65D82605}"/>
              </a:ext>
            </a:extLst>
          </p:cNvPr>
          <p:cNvSpPr>
            <a:spLocks noGrp="1"/>
          </p:cNvSpPr>
          <p:nvPr>
            <p:ph idx="1"/>
          </p:nvPr>
        </p:nvSpPr>
        <p:spPr>
          <a:xfrm>
            <a:off x="1981200" y="1481138"/>
            <a:ext cx="8229600" cy="3395662"/>
          </a:xfrm>
        </p:spPr>
        <p:txBody>
          <a:bodyPr/>
          <a:lstStyle/>
          <a:p>
            <a:pPr marL="342900" indent="-342900" eaLnBrk="1" hangingPunct="1"/>
            <a:r>
              <a:rPr lang="en-US" altLang="en-US" sz="2800">
                <a:latin typeface="Times New Roman" panose="02020603050405020304" pitchFamily="18" charset="0"/>
                <a:ea typeface="ＭＳ Ｐゴシック" panose="020B0600070205080204" pitchFamily="34" charset="-128"/>
              </a:rPr>
              <a:t>NPV and IRR will generally give the same decision.</a:t>
            </a:r>
          </a:p>
          <a:p>
            <a:pPr marL="342900" indent="-342900" eaLnBrk="1" hangingPunct="1"/>
            <a:r>
              <a:rPr lang="en-US" altLang="en-US" sz="2800">
                <a:latin typeface="Times New Roman" panose="02020603050405020304" pitchFamily="18" charset="0"/>
                <a:ea typeface="ＭＳ Ｐゴシック" panose="020B0600070205080204" pitchFamily="34" charset="-128"/>
              </a:rPr>
              <a:t>Exceptions:</a:t>
            </a:r>
          </a:p>
          <a:p>
            <a:pPr marL="742950" lvl="1" indent="-285750" eaLnBrk="1" hangingPunct="1"/>
            <a:r>
              <a:rPr lang="en-US" altLang="en-US" sz="2400">
                <a:latin typeface="Times New Roman" panose="02020603050405020304" pitchFamily="18" charset="0"/>
                <a:ea typeface="ＭＳ Ｐゴシック" panose="020B0600070205080204" pitchFamily="34" charset="-128"/>
              </a:rPr>
              <a:t>Non-conventional cash flows – cash flow signs change more than once</a:t>
            </a:r>
          </a:p>
          <a:p>
            <a:pPr marL="742950" lvl="1" indent="-285750" eaLnBrk="1" hangingPunct="1"/>
            <a:r>
              <a:rPr lang="en-US" altLang="en-US" sz="2400">
                <a:latin typeface="Times New Roman" panose="02020603050405020304" pitchFamily="18" charset="0"/>
                <a:ea typeface="ＭＳ Ｐゴシック" panose="020B0600070205080204" pitchFamily="34" charset="-128"/>
              </a:rPr>
              <a:t>Mutually exclusive projects</a:t>
            </a:r>
          </a:p>
          <a:p>
            <a:pPr marL="1143000" lvl="2" eaLnBrk="1" hangingPunct="1"/>
            <a:r>
              <a:rPr lang="en-US" altLang="en-US">
                <a:latin typeface="Times New Roman" panose="02020603050405020304" pitchFamily="18" charset="0"/>
                <a:ea typeface="ＭＳ Ｐゴシック" panose="020B0600070205080204" pitchFamily="34" charset="-128"/>
              </a:rPr>
              <a:t>Initial investments are substantially different</a:t>
            </a:r>
          </a:p>
          <a:p>
            <a:pPr marL="1143000" lvl="2" eaLnBrk="1" hangingPunct="1"/>
            <a:r>
              <a:rPr lang="en-US" altLang="en-US">
                <a:latin typeface="Times New Roman" panose="02020603050405020304" pitchFamily="18" charset="0"/>
                <a:ea typeface="ＭＳ Ｐゴシック" panose="020B0600070205080204" pitchFamily="34" charset="-128"/>
              </a:rPr>
              <a:t>Timing of cash flows is substantially different</a:t>
            </a:r>
          </a:p>
        </p:txBody>
      </p:sp>
      <p:sp>
        <p:nvSpPr>
          <p:cNvPr id="50178" name="Rectangle 2">
            <a:extLst>
              <a:ext uri="{FF2B5EF4-FFF2-40B4-BE49-F238E27FC236}">
                <a16:creationId xmlns:a16="http://schemas.microsoft.com/office/drawing/2014/main" id="{EBD1D739-DECD-8642-A403-C80F1587570F}"/>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NPV versus IRR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61475">
                                            <p:txEl>
                                              <p:pRg st="0" end="0"/>
                                            </p:txEl>
                                          </p:spTgt>
                                        </p:tgtEl>
                                        <p:attrNameLst>
                                          <p:attrName>style.visibility</p:attrName>
                                        </p:attrNameLst>
                                      </p:cBhvr>
                                      <p:to>
                                        <p:strVal val="visible"/>
                                      </p:to>
                                    </p:set>
                                    <p:animEffect transition="in" filter="fade">
                                      <p:cBhvr>
                                        <p:cTn id="7" dur="1000"/>
                                        <p:tgtEl>
                                          <p:spTgt spid="361475">
                                            <p:txEl>
                                              <p:pRg st="0" end="0"/>
                                            </p:txEl>
                                          </p:spTgt>
                                        </p:tgtEl>
                                      </p:cBhvr>
                                    </p:animEffect>
                                    <p:anim calcmode="lin" valueType="num">
                                      <p:cBhvr>
                                        <p:cTn id="8" dur="1000" fill="hold"/>
                                        <p:tgtEl>
                                          <p:spTgt spid="36147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6147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61475">
                                            <p:txEl>
                                              <p:pRg st="1" end="1"/>
                                            </p:txEl>
                                          </p:spTgt>
                                        </p:tgtEl>
                                        <p:attrNameLst>
                                          <p:attrName>style.visibility</p:attrName>
                                        </p:attrNameLst>
                                      </p:cBhvr>
                                      <p:to>
                                        <p:strVal val="visible"/>
                                      </p:to>
                                    </p:set>
                                    <p:animEffect transition="in" filter="fade">
                                      <p:cBhvr>
                                        <p:cTn id="14" dur="1000"/>
                                        <p:tgtEl>
                                          <p:spTgt spid="361475">
                                            <p:txEl>
                                              <p:pRg st="1" end="1"/>
                                            </p:txEl>
                                          </p:spTgt>
                                        </p:tgtEl>
                                      </p:cBhvr>
                                    </p:animEffect>
                                    <p:anim calcmode="lin" valueType="num">
                                      <p:cBhvr>
                                        <p:cTn id="15" dur="1000" fill="hold"/>
                                        <p:tgtEl>
                                          <p:spTgt spid="36147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6147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61475">
                                            <p:txEl>
                                              <p:pRg st="2" end="2"/>
                                            </p:txEl>
                                          </p:spTgt>
                                        </p:tgtEl>
                                        <p:attrNameLst>
                                          <p:attrName>style.visibility</p:attrName>
                                        </p:attrNameLst>
                                      </p:cBhvr>
                                      <p:to>
                                        <p:strVal val="visible"/>
                                      </p:to>
                                    </p:set>
                                    <p:animEffect transition="in" filter="fade">
                                      <p:cBhvr>
                                        <p:cTn id="21" dur="1000"/>
                                        <p:tgtEl>
                                          <p:spTgt spid="361475">
                                            <p:txEl>
                                              <p:pRg st="2" end="2"/>
                                            </p:txEl>
                                          </p:spTgt>
                                        </p:tgtEl>
                                      </p:cBhvr>
                                    </p:animEffect>
                                    <p:anim calcmode="lin" valueType="num">
                                      <p:cBhvr>
                                        <p:cTn id="22" dur="1000" fill="hold"/>
                                        <p:tgtEl>
                                          <p:spTgt spid="36147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6147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61475">
                                            <p:txEl>
                                              <p:pRg st="3" end="3"/>
                                            </p:txEl>
                                          </p:spTgt>
                                        </p:tgtEl>
                                        <p:attrNameLst>
                                          <p:attrName>style.visibility</p:attrName>
                                        </p:attrNameLst>
                                      </p:cBhvr>
                                      <p:to>
                                        <p:strVal val="visible"/>
                                      </p:to>
                                    </p:set>
                                    <p:animEffect transition="in" filter="fade">
                                      <p:cBhvr>
                                        <p:cTn id="28" dur="1000"/>
                                        <p:tgtEl>
                                          <p:spTgt spid="361475">
                                            <p:txEl>
                                              <p:pRg st="3" end="3"/>
                                            </p:txEl>
                                          </p:spTgt>
                                        </p:tgtEl>
                                      </p:cBhvr>
                                    </p:animEffect>
                                    <p:anim calcmode="lin" valueType="num">
                                      <p:cBhvr>
                                        <p:cTn id="29" dur="1000" fill="hold"/>
                                        <p:tgtEl>
                                          <p:spTgt spid="361475">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6147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61475">
                                            <p:txEl>
                                              <p:pRg st="4" end="4"/>
                                            </p:txEl>
                                          </p:spTgt>
                                        </p:tgtEl>
                                        <p:attrNameLst>
                                          <p:attrName>style.visibility</p:attrName>
                                        </p:attrNameLst>
                                      </p:cBhvr>
                                      <p:to>
                                        <p:strVal val="visible"/>
                                      </p:to>
                                    </p:set>
                                    <p:animEffect transition="in" filter="fade">
                                      <p:cBhvr>
                                        <p:cTn id="35" dur="1000"/>
                                        <p:tgtEl>
                                          <p:spTgt spid="361475">
                                            <p:txEl>
                                              <p:pRg st="4" end="4"/>
                                            </p:txEl>
                                          </p:spTgt>
                                        </p:tgtEl>
                                      </p:cBhvr>
                                    </p:animEffect>
                                    <p:anim calcmode="lin" valueType="num">
                                      <p:cBhvr>
                                        <p:cTn id="36" dur="1000" fill="hold"/>
                                        <p:tgtEl>
                                          <p:spTgt spid="361475">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6147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61475">
                                            <p:txEl>
                                              <p:pRg st="5" end="5"/>
                                            </p:txEl>
                                          </p:spTgt>
                                        </p:tgtEl>
                                        <p:attrNameLst>
                                          <p:attrName>style.visibility</p:attrName>
                                        </p:attrNameLst>
                                      </p:cBhvr>
                                      <p:to>
                                        <p:strVal val="visible"/>
                                      </p:to>
                                    </p:set>
                                    <p:animEffect transition="in" filter="fade">
                                      <p:cBhvr>
                                        <p:cTn id="42" dur="1000"/>
                                        <p:tgtEl>
                                          <p:spTgt spid="361475">
                                            <p:txEl>
                                              <p:pRg st="5" end="5"/>
                                            </p:txEl>
                                          </p:spTgt>
                                        </p:tgtEl>
                                      </p:cBhvr>
                                    </p:animEffect>
                                    <p:anim calcmode="lin" valueType="num">
                                      <p:cBhvr>
                                        <p:cTn id="43" dur="1000" fill="hold"/>
                                        <p:tgtEl>
                                          <p:spTgt spid="361475">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6147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475" grpId="0" build="p" bldLvl="3"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9971" name="Rectangle 3">
            <a:extLst>
              <a:ext uri="{FF2B5EF4-FFF2-40B4-BE49-F238E27FC236}">
                <a16:creationId xmlns:a16="http://schemas.microsoft.com/office/drawing/2014/main" id="{54CF9885-2DC5-CE48-3673-734E5EA4ABEF}"/>
              </a:ext>
            </a:extLst>
          </p:cNvPr>
          <p:cNvSpPr>
            <a:spLocks noGrp="1"/>
          </p:cNvSpPr>
          <p:nvPr>
            <p:ph idx="1"/>
          </p:nvPr>
        </p:nvSpPr>
        <p:spPr>
          <a:xfrm>
            <a:off x="2133600" y="3276600"/>
            <a:ext cx="8001000" cy="2514600"/>
          </a:xfrm>
        </p:spPr>
        <p:txBody>
          <a:bodyPr/>
          <a:lstStyle/>
          <a:p>
            <a:pPr marL="342900" indent="-342900" eaLnBrk="1" hangingPunct="1">
              <a:lnSpc>
                <a:spcPct val="90000"/>
              </a:lnSpc>
            </a:pPr>
            <a:r>
              <a:rPr lang="en-US" altLang="en-US">
                <a:latin typeface="Times New Roman" panose="02020603050405020304" pitchFamily="18" charset="0"/>
                <a:ea typeface="ＭＳ Ｐゴシック" panose="020B0600070205080204" pitchFamily="34" charset="-128"/>
              </a:rPr>
              <a:t>Minimum Acceptance Criteria: </a:t>
            </a:r>
          </a:p>
          <a:p>
            <a:pPr marL="742950" lvl="1" indent="-285750" eaLnBrk="1" hangingPunct="1">
              <a:lnSpc>
                <a:spcPct val="90000"/>
              </a:lnSpc>
            </a:pPr>
            <a:r>
              <a:rPr lang="en-US" altLang="en-US">
                <a:latin typeface="Times New Roman" panose="02020603050405020304" pitchFamily="18" charset="0"/>
                <a:ea typeface="ＭＳ Ｐゴシック" panose="020B0600070205080204" pitchFamily="34" charset="-128"/>
              </a:rPr>
              <a:t>Accept if PI &gt; 1</a:t>
            </a:r>
          </a:p>
          <a:p>
            <a:pPr marL="742950" lvl="1" indent="-285750" eaLnBrk="1" hangingPunct="1">
              <a:lnSpc>
                <a:spcPct val="90000"/>
              </a:lnSpc>
              <a:buNone/>
            </a:pPr>
            <a:endParaRPr lang="en-US" altLang="en-US">
              <a:latin typeface="Times New Roman" panose="02020603050405020304" pitchFamily="18" charset="0"/>
              <a:ea typeface="ＭＳ Ｐゴシック" panose="020B0600070205080204" pitchFamily="34" charset="-128"/>
            </a:endParaRPr>
          </a:p>
          <a:p>
            <a:pPr marL="342900" indent="-342900" eaLnBrk="1" hangingPunct="1">
              <a:lnSpc>
                <a:spcPct val="90000"/>
              </a:lnSpc>
            </a:pPr>
            <a:r>
              <a:rPr lang="en-US" altLang="en-US">
                <a:latin typeface="Times New Roman" panose="02020603050405020304" pitchFamily="18" charset="0"/>
                <a:ea typeface="ＭＳ Ｐゴシック" panose="020B0600070205080204" pitchFamily="34" charset="-128"/>
              </a:rPr>
              <a:t>Ranking Criteria: </a:t>
            </a:r>
          </a:p>
          <a:p>
            <a:pPr marL="742950" lvl="1" indent="-285750" eaLnBrk="1" hangingPunct="1">
              <a:lnSpc>
                <a:spcPct val="90000"/>
              </a:lnSpc>
            </a:pPr>
            <a:r>
              <a:rPr lang="en-US" altLang="en-US">
                <a:latin typeface="Times New Roman" panose="02020603050405020304" pitchFamily="18" charset="0"/>
                <a:ea typeface="ＭＳ Ｐゴシック" panose="020B0600070205080204" pitchFamily="34" charset="-128"/>
              </a:rPr>
              <a:t>Select alternative with highest PI</a:t>
            </a:r>
          </a:p>
        </p:txBody>
      </p:sp>
      <p:sp>
        <p:nvSpPr>
          <p:cNvPr id="52226" name="Rectangle 2">
            <a:extLst>
              <a:ext uri="{FF2B5EF4-FFF2-40B4-BE49-F238E27FC236}">
                <a16:creationId xmlns:a16="http://schemas.microsoft.com/office/drawing/2014/main" id="{3EC3FE0B-4161-816E-FEE9-0E89EC5B715D}"/>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The Profitability Index (PI)</a:t>
            </a:r>
          </a:p>
        </p:txBody>
      </p:sp>
      <p:graphicFrame>
        <p:nvGraphicFramePr>
          <p:cNvPr id="252932" name="Object 4">
            <a:extLst>
              <a:ext uri="{FF2B5EF4-FFF2-40B4-BE49-F238E27FC236}">
                <a16:creationId xmlns:a16="http://schemas.microsoft.com/office/drawing/2014/main" id="{41C1A1AC-374F-7ECF-324E-7A021E4CCF08}"/>
              </a:ext>
            </a:extLst>
          </p:cNvPr>
          <p:cNvGraphicFramePr>
            <a:graphicFrameLocks noChangeAspect="1"/>
          </p:cNvGraphicFramePr>
          <p:nvPr/>
        </p:nvGraphicFramePr>
        <p:xfrm>
          <a:off x="3282951" y="2041525"/>
          <a:ext cx="5387975" cy="952500"/>
        </p:xfrm>
        <a:graphic>
          <a:graphicData uri="http://schemas.openxmlformats.org/presentationml/2006/ole">
            <mc:AlternateContent xmlns:mc="http://schemas.openxmlformats.org/markup-compatibility/2006">
              <mc:Choice xmlns:v="urn:schemas-microsoft-com:vml" Requires="v">
                <p:oleObj name="Equation" r:id="rId3" imgW="2247826" imgH="342900" progId="Equation.3">
                  <p:embed/>
                </p:oleObj>
              </mc:Choice>
              <mc:Fallback>
                <p:oleObj name="Equation" r:id="rId3" imgW="2247826" imgH="342900" progId="Equation.3">
                  <p:embed/>
                  <p:pic>
                    <p:nvPicPr>
                      <p:cNvPr id="252932" name="Object 4">
                        <a:extLst>
                          <a:ext uri="{FF2B5EF4-FFF2-40B4-BE49-F238E27FC236}">
                            <a16:creationId xmlns:a16="http://schemas.microsoft.com/office/drawing/2014/main" id="{41C1A1AC-374F-7ECF-324E-7A021E4CCF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2951" y="2041525"/>
                        <a:ext cx="5387975" cy="952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39971">
                                            <p:txEl>
                                              <p:pRg st="0" end="0"/>
                                            </p:txEl>
                                          </p:spTgt>
                                        </p:tgtEl>
                                        <p:attrNameLst>
                                          <p:attrName>style.visibility</p:attrName>
                                        </p:attrNameLst>
                                      </p:cBhvr>
                                      <p:to>
                                        <p:strVal val="visible"/>
                                      </p:to>
                                    </p:set>
                                    <p:animEffect transition="in" filter="fade">
                                      <p:cBhvr>
                                        <p:cTn id="7" dur="1000"/>
                                        <p:tgtEl>
                                          <p:spTgt spid="339971">
                                            <p:txEl>
                                              <p:pRg st="0" end="0"/>
                                            </p:txEl>
                                          </p:spTgt>
                                        </p:tgtEl>
                                      </p:cBhvr>
                                    </p:animEffect>
                                    <p:anim calcmode="lin" valueType="num">
                                      <p:cBhvr>
                                        <p:cTn id="8" dur="1000" fill="hold"/>
                                        <p:tgtEl>
                                          <p:spTgt spid="33997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39971">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39971">
                                            <p:txEl>
                                              <p:pRg st="1" end="1"/>
                                            </p:txEl>
                                          </p:spTgt>
                                        </p:tgtEl>
                                        <p:attrNameLst>
                                          <p:attrName>style.visibility</p:attrName>
                                        </p:attrNameLst>
                                      </p:cBhvr>
                                      <p:to>
                                        <p:strVal val="visible"/>
                                      </p:to>
                                    </p:set>
                                    <p:animEffect transition="in" filter="fade">
                                      <p:cBhvr>
                                        <p:cTn id="12" dur="1000"/>
                                        <p:tgtEl>
                                          <p:spTgt spid="339971">
                                            <p:txEl>
                                              <p:pRg st="1" end="1"/>
                                            </p:txEl>
                                          </p:spTgt>
                                        </p:tgtEl>
                                      </p:cBhvr>
                                    </p:animEffect>
                                    <p:anim calcmode="lin" valueType="num">
                                      <p:cBhvr>
                                        <p:cTn id="13" dur="1000" fill="hold"/>
                                        <p:tgtEl>
                                          <p:spTgt spid="339971">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3997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39971">
                                            <p:txEl>
                                              <p:pRg st="3" end="3"/>
                                            </p:txEl>
                                          </p:spTgt>
                                        </p:tgtEl>
                                        <p:attrNameLst>
                                          <p:attrName>style.visibility</p:attrName>
                                        </p:attrNameLst>
                                      </p:cBhvr>
                                      <p:to>
                                        <p:strVal val="visible"/>
                                      </p:to>
                                    </p:set>
                                    <p:animEffect transition="in" filter="fade">
                                      <p:cBhvr>
                                        <p:cTn id="19" dur="1000"/>
                                        <p:tgtEl>
                                          <p:spTgt spid="339971">
                                            <p:txEl>
                                              <p:pRg st="3" end="3"/>
                                            </p:txEl>
                                          </p:spTgt>
                                        </p:tgtEl>
                                      </p:cBhvr>
                                    </p:animEffect>
                                    <p:anim calcmode="lin" valueType="num">
                                      <p:cBhvr>
                                        <p:cTn id="20" dur="1000" fill="hold"/>
                                        <p:tgtEl>
                                          <p:spTgt spid="339971">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39971">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39971">
                                            <p:txEl>
                                              <p:pRg st="4" end="4"/>
                                            </p:txEl>
                                          </p:spTgt>
                                        </p:tgtEl>
                                        <p:attrNameLst>
                                          <p:attrName>style.visibility</p:attrName>
                                        </p:attrNameLst>
                                      </p:cBhvr>
                                      <p:to>
                                        <p:strVal val="visible"/>
                                      </p:to>
                                    </p:set>
                                    <p:animEffect transition="in" filter="fade">
                                      <p:cBhvr>
                                        <p:cTn id="24" dur="1000"/>
                                        <p:tgtEl>
                                          <p:spTgt spid="339971">
                                            <p:txEl>
                                              <p:pRg st="4" end="4"/>
                                            </p:txEl>
                                          </p:spTgt>
                                        </p:tgtEl>
                                      </p:cBhvr>
                                    </p:animEffect>
                                    <p:anim calcmode="lin" valueType="num">
                                      <p:cBhvr>
                                        <p:cTn id="25" dur="1000" fill="hold"/>
                                        <p:tgtEl>
                                          <p:spTgt spid="339971">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339971">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9971"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7" name="Rectangle 3">
            <a:extLst>
              <a:ext uri="{FF2B5EF4-FFF2-40B4-BE49-F238E27FC236}">
                <a16:creationId xmlns:a16="http://schemas.microsoft.com/office/drawing/2014/main" id="{5F566F82-D57B-394D-3968-972DCA838025}"/>
              </a:ext>
            </a:extLst>
          </p:cNvPr>
          <p:cNvSpPr>
            <a:spLocks noGrp="1"/>
          </p:cNvSpPr>
          <p:nvPr>
            <p:ph idx="1"/>
          </p:nvPr>
        </p:nvSpPr>
        <p:spPr>
          <a:xfrm>
            <a:off x="1981200" y="1481138"/>
            <a:ext cx="8229600" cy="3471862"/>
          </a:xfrm>
        </p:spPr>
        <p:txBody>
          <a:bodyPr/>
          <a:lstStyle/>
          <a:p>
            <a:pPr eaLnBrk="1" hangingPunct="1"/>
            <a:r>
              <a:rPr lang="en-US" altLang="en-US">
                <a:latin typeface="Times New Roman" panose="02020603050405020304" pitchFamily="18" charset="0"/>
                <a:ea typeface="ＭＳ Ｐゴシック" panose="020B0600070205080204" pitchFamily="34" charset="-128"/>
              </a:rPr>
              <a:t>Disadvantages:</a:t>
            </a:r>
          </a:p>
          <a:p>
            <a:pPr lvl="1" eaLnBrk="1" hangingPunct="1"/>
            <a:r>
              <a:rPr lang="en-US" altLang="en-US">
                <a:latin typeface="Times New Roman" panose="02020603050405020304" pitchFamily="18" charset="0"/>
                <a:ea typeface="ＭＳ Ｐゴシック" panose="020B0600070205080204" pitchFamily="34" charset="-128"/>
              </a:rPr>
              <a:t>Problems with mutually exclusive investments</a:t>
            </a:r>
          </a:p>
          <a:p>
            <a:pPr lvl="1" eaLnBrk="1" hangingPunct="1">
              <a:buFont typeface="Verdana" panose="020B0604030504040204" pitchFamily="34" charset="0"/>
              <a:buNone/>
            </a:pPr>
            <a:endParaRPr lang="en-US" altLang="en-US">
              <a:latin typeface="Times New Roman" panose="02020603050405020304" pitchFamily="18" charset="0"/>
              <a:ea typeface="ＭＳ Ｐゴシック" panose="020B0600070205080204" pitchFamily="34" charset="-128"/>
            </a:endParaRPr>
          </a:p>
          <a:p>
            <a:pPr eaLnBrk="1" hangingPunct="1"/>
            <a:r>
              <a:rPr lang="en-US" altLang="en-US">
                <a:latin typeface="Times New Roman" panose="02020603050405020304" pitchFamily="18" charset="0"/>
                <a:ea typeface="ＭＳ Ｐゴシック" panose="020B0600070205080204" pitchFamily="34" charset="-128"/>
              </a:rPr>
              <a:t>Advantages:</a:t>
            </a:r>
          </a:p>
          <a:p>
            <a:pPr lvl="1" eaLnBrk="1" hangingPunct="1"/>
            <a:r>
              <a:rPr lang="en-US" altLang="en-US">
                <a:latin typeface="Times New Roman" panose="02020603050405020304" pitchFamily="18" charset="0"/>
                <a:ea typeface="ＭＳ Ｐゴシック" panose="020B0600070205080204" pitchFamily="34" charset="-128"/>
              </a:rPr>
              <a:t>May be useful when available investment funds are limited</a:t>
            </a:r>
          </a:p>
          <a:p>
            <a:pPr lvl="1" eaLnBrk="1" hangingPunct="1"/>
            <a:r>
              <a:rPr lang="en-US" altLang="en-US">
                <a:latin typeface="Times New Roman" panose="02020603050405020304" pitchFamily="18" charset="0"/>
                <a:ea typeface="ＭＳ Ｐゴシック" panose="020B0600070205080204" pitchFamily="34" charset="-128"/>
              </a:rPr>
              <a:t>Easy to understand and communicate</a:t>
            </a:r>
          </a:p>
          <a:p>
            <a:pPr lvl="1" eaLnBrk="1" hangingPunct="1"/>
            <a:r>
              <a:rPr lang="en-US" altLang="en-US">
                <a:latin typeface="Times New Roman" panose="02020603050405020304" pitchFamily="18" charset="0"/>
                <a:ea typeface="ＭＳ Ｐゴシック" panose="020B0600070205080204" pitchFamily="34" charset="-128"/>
              </a:rPr>
              <a:t>Correct decision when evaluating independent projects</a:t>
            </a:r>
          </a:p>
          <a:p>
            <a:pPr eaLnBrk="1" hangingPunct="1"/>
            <a:endParaRPr lang="en-US" altLang="en-US">
              <a:ea typeface="ＭＳ Ｐゴシック" panose="020B0600070205080204" pitchFamily="34" charset="-128"/>
            </a:endParaRPr>
          </a:p>
        </p:txBody>
      </p:sp>
      <p:sp>
        <p:nvSpPr>
          <p:cNvPr id="54274" name="Rectangle 2">
            <a:extLst>
              <a:ext uri="{FF2B5EF4-FFF2-40B4-BE49-F238E27FC236}">
                <a16:creationId xmlns:a16="http://schemas.microsoft.com/office/drawing/2014/main" id="{AE6CC0B9-BBB2-DBB2-E0C5-6A277CAE3BF6}"/>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The Profitability Index</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59427">
                                            <p:txEl>
                                              <p:pRg st="0" end="0"/>
                                            </p:txEl>
                                          </p:spTgt>
                                        </p:tgtEl>
                                        <p:attrNameLst>
                                          <p:attrName>style.visibility</p:attrName>
                                        </p:attrNameLst>
                                      </p:cBhvr>
                                      <p:to>
                                        <p:strVal val="visible"/>
                                      </p:to>
                                    </p:set>
                                    <p:animEffect transition="in" filter="fade">
                                      <p:cBhvr>
                                        <p:cTn id="7" dur="1000"/>
                                        <p:tgtEl>
                                          <p:spTgt spid="359427">
                                            <p:txEl>
                                              <p:pRg st="0" end="0"/>
                                            </p:txEl>
                                          </p:spTgt>
                                        </p:tgtEl>
                                      </p:cBhvr>
                                    </p:animEffect>
                                    <p:anim calcmode="lin" valueType="num">
                                      <p:cBhvr>
                                        <p:cTn id="8" dur="1000" fill="hold"/>
                                        <p:tgtEl>
                                          <p:spTgt spid="35942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5942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59427">
                                            <p:txEl>
                                              <p:pRg st="1" end="1"/>
                                            </p:txEl>
                                          </p:spTgt>
                                        </p:tgtEl>
                                        <p:attrNameLst>
                                          <p:attrName>style.visibility</p:attrName>
                                        </p:attrNameLst>
                                      </p:cBhvr>
                                      <p:to>
                                        <p:strVal val="visible"/>
                                      </p:to>
                                    </p:set>
                                    <p:animEffect transition="in" filter="fade">
                                      <p:cBhvr>
                                        <p:cTn id="12" dur="1000"/>
                                        <p:tgtEl>
                                          <p:spTgt spid="359427">
                                            <p:txEl>
                                              <p:pRg st="1" end="1"/>
                                            </p:txEl>
                                          </p:spTgt>
                                        </p:tgtEl>
                                      </p:cBhvr>
                                    </p:animEffect>
                                    <p:anim calcmode="lin" valueType="num">
                                      <p:cBhvr>
                                        <p:cTn id="13" dur="1000" fill="hold"/>
                                        <p:tgtEl>
                                          <p:spTgt spid="35942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5942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2" presetClass="entr" presetSubtype="0" fill="hold" nodeType="clickEffect">
                                  <p:stCondLst>
                                    <p:cond delay="0"/>
                                  </p:stCondLst>
                                  <p:childTnLst>
                                    <p:set>
                                      <p:cBhvr>
                                        <p:cTn id="18" dur="1" fill="hold">
                                          <p:stCondLst>
                                            <p:cond delay="0"/>
                                          </p:stCondLst>
                                        </p:cTn>
                                        <p:tgtEl>
                                          <p:spTgt spid="359427">
                                            <p:txEl>
                                              <p:pRg st="3" end="3"/>
                                            </p:txEl>
                                          </p:spTgt>
                                        </p:tgtEl>
                                        <p:attrNameLst>
                                          <p:attrName>style.visibility</p:attrName>
                                        </p:attrNameLst>
                                      </p:cBhvr>
                                      <p:to>
                                        <p:strVal val="visible"/>
                                      </p:to>
                                    </p:set>
                                    <p:animEffect transition="in" filter="fade">
                                      <p:cBhvr>
                                        <p:cTn id="19" dur="1000"/>
                                        <p:tgtEl>
                                          <p:spTgt spid="359427">
                                            <p:txEl>
                                              <p:pRg st="3" end="3"/>
                                            </p:txEl>
                                          </p:spTgt>
                                        </p:tgtEl>
                                      </p:cBhvr>
                                    </p:animEffect>
                                    <p:anim calcmode="lin" valueType="num">
                                      <p:cBhvr>
                                        <p:cTn id="20" dur="1000" fill="hold"/>
                                        <p:tgtEl>
                                          <p:spTgt spid="359427">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59427">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59427">
                                            <p:txEl>
                                              <p:pRg st="4" end="4"/>
                                            </p:txEl>
                                          </p:spTgt>
                                        </p:tgtEl>
                                        <p:attrNameLst>
                                          <p:attrName>style.visibility</p:attrName>
                                        </p:attrNameLst>
                                      </p:cBhvr>
                                      <p:to>
                                        <p:strVal val="visible"/>
                                      </p:to>
                                    </p:set>
                                    <p:animEffect transition="in" filter="fade">
                                      <p:cBhvr>
                                        <p:cTn id="24" dur="1000"/>
                                        <p:tgtEl>
                                          <p:spTgt spid="359427">
                                            <p:txEl>
                                              <p:pRg st="4" end="4"/>
                                            </p:txEl>
                                          </p:spTgt>
                                        </p:tgtEl>
                                      </p:cBhvr>
                                    </p:animEffect>
                                    <p:anim calcmode="lin" valueType="num">
                                      <p:cBhvr>
                                        <p:cTn id="25" dur="1000" fill="hold"/>
                                        <p:tgtEl>
                                          <p:spTgt spid="359427">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359427">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59427">
                                            <p:txEl>
                                              <p:pRg st="5" end="5"/>
                                            </p:txEl>
                                          </p:spTgt>
                                        </p:tgtEl>
                                        <p:attrNameLst>
                                          <p:attrName>style.visibility</p:attrName>
                                        </p:attrNameLst>
                                      </p:cBhvr>
                                      <p:to>
                                        <p:strVal val="visible"/>
                                      </p:to>
                                    </p:set>
                                    <p:animEffect transition="in" filter="fade">
                                      <p:cBhvr>
                                        <p:cTn id="29" dur="1000"/>
                                        <p:tgtEl>
                                          <p:spTgt spid="359427">
                                            <p:txEl>
                                              <p:pRg st="5" end="5"/>
                                            </p:txEl>
                                          </p:spTgt>
                                        </p:tgtEl>
                                      </p:cBhvr>
                                    </p:animEffect>
                                    <p:anim calcmode="lin" valueType="num">
                                      <p:cBhvr>
                                        <p:cTn id="30" dur="1000" fill="hold"/>
                                        <p:tgtEl>
                                          <p:spTgt spid="359427">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359427">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59427">
                                            <p:txEl>
                                              <p:pRg st="6" end="6"/>
                                            </p:txEl>
                                          </p:spTgt>
                                        </p:tgtEl>
                                        <p:attrNameLst>
                                          <p:attrName>style.visibility</p:attrName>
                                        </p:attrNameLst>
                                      </p:cBhvr>
                                      <p:to>
                                        <p:strVal val="visible"/>
                                      </p:to>
                                    </p:set>
                                    <p:animEffect transition="in" filter="fade">
                                      <p:cBhvr>
                                        <p:cTn id="34" dur="1000"/>
                                        <p:tgtEl>
                                          <p:spTgt spid="359427">
                                            <p:txEl>
                                              <p:pRg st="6" end="6"/>
                                            </p:txEl>
                                          </p:spTgt>
                                        </p:tgtEl>
                                      </p:cBhvr>
                                    </p:animEffect>
                                    <p:anim calcmode="lin" valueType="num">
                                      <p:cBhvr>
                                        <p:cTn id="35" dur="1000" fill="hold"/>
                                        <p:tgtEl>
                                          <p:spTgt spid="359427">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35942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0995" name="Rectangle 3">
            <a:extLst>
              <a:ext uri="{FF2B5EF4-FFF2-40B4-BE49-F238E27FC236}">
                <a16:creationId xmlns:a16="http://schemas.microsoft.com/office/drawing/2014/main" id="{CB4394B9-1F5A-0AA2-D763-4B345C0066CF}"/>
              </a:ext>
            </a:extLst>
          </p:cNvPr>
          <p:cNvSpPr>
            <a:spLocks noGrp="1"/>
          </p:cNvSpPr>
          <p:nvPr>
            <p:ph idx="1"/>
          </p:nvPr>
        </p:nvSpPr>
        <p:spPr>
          <a:xfrm>
            <a:off x="1905000" y="1905001"/>
            <a:ext cx="8229600" cy="2405063"/>
          </a:xfrm>
        </p:spPr>
        <p:txBody>
          <a:bodyPr/>
          <a:lstStyle/>
          <a:p>
            <a:pPr marL="342900" indent="-342900" eaLnBrk="1" hangingPunct="1"/>
            <a:r>
              <a:rPr lang="en-US" altLang="en-US">
                <a:latin typeface="Times New Roman" panose="02020603050405020304" pitchFamily="18" charset="0"/>
                <a:ea typeface="ＭＳ Ｐゴシック" panose="020B0600070205080204" pitchFamily="34" charset="-128"/>
              </a:rPr>
              <a:t>Varies by industry:</a:t>
            </a:r>
          </a:p>
          <a:p>
            <a:pPr marL="742950" lvl="1" indent="-285750" eaLnBrk="1" hangingPunct="1"/>
            <a:r>
              <a:rPr lang="en-US" altLang="en-US">
                <a:latin typeface="Times New Roman" panose="02020603050405020304" pitchFamily="18" charset="0"/>
                <a:ea typeface="ＭＳ Ｐゴシック" panose="020B0600070205080204" pitchFamily="34" charset="-128"/>
              </a:rPr>
              <a:t>Some firms may use payback, while others choose an alternative approach.</a:t>
            </a:r>
          </a:p>
          <a:p>
            <a:pPr marL="742950" lvl="1" indent="-285750" eaLnBrk="1" hangingPunct="1">
              <a:buNone/>
            </a:pPr>
            <a:endParaRPr lang="en-US" altLang="en-US">
              <a:latin typeface="Times New Roman" panose="02020603050405020304" pitchFamily="18" charset="0"/>
              <a:ea typeface="ＭＳ Ｐゴシック" panose="020B0600070205080204" pitchFamily="34" charset="-128"/>
            </a:endParaRPr>
          </a:p>
          <a:p>
            <a:pPr marL="342900" indent="-342900" eaLnBrk="1" hangingPunct="1"/>
            <a:r>
              <a:rPr lang="en-US" altLang="en-US">
                <a:latin typeface="Times New Roman" panose="02020603050405020304" pitchFamily="18" charset="0"/>
                <a:ea typeface="ＭＳ Ｐゴシック" panose="020B0600070205080204" pitchFamily="34" charset="-128"/>
              </a:rPr>
              <a:t>The most frequently used technique for large corporations is either IRR or NPV.</a:t>
            </a:r>
          </a:p>
        </p:txBody>
      </p:sp>
      <p:sp>
        <p:nvSpPr>
          <p:cNvPr id="56322" name="Rectangle 2">
            <a:extLst>
              <a:ext uri="{FF2B5EF4-FFF2-40B4-BE49-F238E27FC236}">
                <a16:creationId xmlns:a16="http://schemas.microsoft.com/office/drawing/2014/main" id="{2F12473B-4C94-9BF4-16B9-6962EEA99E71}"/>
              </a:ext>
            </a:extLst>
          </p:cNvPr>
          <p:cNvSpPr>
            <a:spLocks noGrp="1" noChangeArrowheads="1"/>
          </p:cNvSpPr>
          <p:nvPr>
            <p:ph type="title"/>
          </p:nvPr>
        </p:nvSpPr>
        <p:spPr>
          <a:xfrm>
            <a:off x="1752600" y="609600"/>
            <a:ext cx="8686800" cy="1143000"/>
          </a:xfrm>
        </p:spPr>
        <p:txBody>
          <a:bodyPr/>
          <a:lstStyle/>
          <a:p>
            <a:pPr eaLnBrk="1" fontAlgn="auto" hangingPunct="1">
              <a:spcAft>
                <a:spcPts val="0"/>
              </a:spcAft>
              <a:defRPr/>
            </a:pPr>
            <a:r>
              <a:rPr lang="en-US" altLang="en-US" sz="3400" dirty="0">
                <a:ea typeface="+mj-ea"/>
                <a:cs typeface="+mj-cs"/>
              </a:rPr>
              <a:t>The Practice of Capital Budgeting</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40995">
                                            <p:txEl>
                                              <p:pRg st="0" end="0"/>
                                            </p:txEl>
                                          </p:spTgt>
                                        </p:tgtEl>
                                        <p:attrNameLst>
                                          <p:attrName>style.visibility</p:attrName>
                                        </p:attrNameLst>
                                      </p:cBhvr>
                                      <p:to>
                                        <p:strVal val="visible"/>
                                      </p:to>
                                    </p:set>
                                    <p:animEffect transition="in" filter="fade">
                                      <p:cBhvr>
                                        <p:cTn id="7" dur="1000"/>
                                        <p:tgtEl>
                                          <p:spTgt spid="340995">
                                            <p:txEl>
                                              <p:pRg st="0" end="0"/>
                                            </p:txEl>
                                          </p:spTgt>
                                        </p:tgtEl>
                                      </p:cBhvr>
                                    </p:animEffect>
                                    <p:anim calcmode="lin" valueType="num">
                                      <p:cBhvr>
                                        <p:cTn id="8" dur="1000" fill="hold"/>
                                        <p:tgtEl>
                                          <p:spTgt spid="34099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4099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40995">
                                            <p:txEl>
                                              <p:pRg st="1" end="1"/>
                                            </p:txEl>
                                          </p:spTgt>
                                        </p:tgtEl>
                                        <p:attrNameLst>
                                          <p:attrName>style.visibility</p:attrName>
                                        </p:attrNameLst>
                                      </p:cBhvr>
                                      <p:to>
                                        <p:strVal val="visible"/>
                                      </p:to>
                                    </p:set>
                                    <p:animEffect transition="in" filter="fade">
                                      <p:cBhvr>
                                        <p:cTn id="12" dur="1000"/>
                                        <p:tgtEl>
                                          <p:spTgt spid="340995">
                                            <p:txEl>
                                              <p:pRg st="1" end="1"/>
                                            </p:txEl>
                                          </p:spTgt>
                                        </p:tgtEl>
                                      </p:cBhvr>
                                    </p:animEffect>
                                    <p:anim calcmode="lin" valueType="num">
                                      <p:cBhvr>
                                        <p:cTn id="13" dur="1000" fill="hold"/>
                                        <p:tgtEl>
                                          <p:spTgt spid="34099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4099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40995">
                                            <p:txEl>
                                              <p:pRg st="3" end="3"/>
                                            </p:txEl>
                                          </p:spTgt>
                                        </p:tgtEl>
                                        <p:attrNameLst>
                                          <p:attrName>style.visibility</p:attrName>
                                        </p:attrNameLst>
                                      </p:cBhvr>
                                      <p:to>
                                        <p:strVal val="visible"/>
                                      </p:to>
                                    </p:set>
                                    <p:animEffect transition="in" filter="fade">
                                      <p:cBhvr>
                                        <p:cTn id="19" dur="1000"/>
                                        <p:tgtEl>
                                          <p:spTgt spid="340995">
                                            <p:txEl>
                                              <p:pRg st="3" end="3"/>
                                            </p:txEl>
                                          </p:spTgt>
                                        </p:tgtEl>
                                      </p:cBhvr>
                                    </p:animEffect>
                                    <p:anim calcmode="lin" valueType="num">
                                      <p:cBhvr>
                                        <p:cTn id="20" dur="1000" fill="hold"/>
                                        <p:tgtEl>
                                          <p:spTgt spid="340995">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4099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5"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3">
            <a:extLst>
              <a:ext uri="{FF2B5EF4-FFF2-40B4-BE49-F238E27FC236}">
                <a16:creationId xmlns:a16="http://schemas.microsoft.com/office/drawing/2014/main" id="{7CD25B0E-2DBE-BB9B-8A5D-DB1C407F8F0C}"/>
              </a:ext>
            </a:extLst>
          </p:cNvPr>
          <p:cNvSpPr>
            <a:spLocks noGrp="1"/>
          </p:cNvSpPr>
          <p:nvPr>
            <p:ph idx="1"/>
          </p:nvPr>
        </p:nvSpPr>
        <p:spPr/>
        <p:txBody>
          <a:bodyPr/>
          <a:lstStyle/>
          <a:p>
            <a:pPr marL="0" indent="0" eaLnBrk="1" hangingPunct="1">
              <a:buNone/>
              <a:tabLst>
                <a:tab pos="1550988" algn="l"/>
                <a:tab pos="4006850" algn="r"/>
                <a:tab pos="6172200" algn="r"/>
              </a:tabLst>
            </a:pPr>
            <a:r>
              <a:rPr lang="en-US" altLang="en-US" sz="2800">
                <a:latin typeface="Times New Roman" panose="02020603050405020304" pitchFamily="18" charset="0"/>
                <a:ea typeface="ＭＳ Ｐゴシック" panose="020B0600070205080204" pitchFamily="34" charset="-128"/>
              </a:rPr>
              <a:t>Compute the IRR, NPV, PI, and payback period for the following  two projects. Assume the required return is 10%. </a:t>
            </a:r>
          </a:p>
          <a:p>
            <a:pPr marL="0" indent="0" eaLnBrk="1" hangingPunct="1">
              <a:buNone/>
              <a:tabLst>
                <a:tab pos="1550988" algn="l"/>
                <a:tab pos="4006850" algn="r"/>
                <a:tab pos="6172200" algn="r"/>
              </a:tabLst>
            </a:pPr>
            <a:r>
              <a:rPr lang="en-US" altLang="en-US" u="sng">
                <a:ea typeface="ＭＳ Ｐゴシック" panose="020B0600070205080204" pitchFamily="34" charset="-128"/>
              </a:rPr>
              <a:t>            Year	       Project A	       Project B</a:t>
            </a:r>
          </a:p>
          <a:p>
            <a:pPr marL="0" indent="0" eaLnBrk="1" hangingPunct="1">
              <a:buNone/>
              <a:tabLst>
                <a:tab pos="1550988" algn="l"/>
                <a:tab pos="4006850" algn="r"/>
                <a:tab pos="6172200" algn="r"/>
              </a:tabLst>
            </a:pPr>
            <a:r>
              <a:rPr lang="en-US" altLang="en-US">
                <a:ea typeface="ＭＳ Ｐゴシック" panose="020B0600070205080204" pitchFamily="34" charset="-128"/>
              </a:rPr>
              <a:t>	0	-$200	-$150</a:t>
            </a:r>
          </a:p>
          <a:p>
            <a:pPr marL="0" indent="0" eaLnBrk="1" hangingPunct="1">
              <a:buNone/>
              <a:tabLst>
                <a:tab pos="1550988" algn="l"/>
                <a:tab pos="4006850" algn="r"/>
                <a:tab pos="6172200" algn="r"/>
              </a:tabLst>
            </a:pPr>
            <a:r>
              <a:rPr lang="en-US" altLang="en-US">
                <a:ea typeface="ＭＳ Ｐゴシック" panose="020B0600070205080204" pitchFamily="34" charset="-128"/>
              </a:rPr>
              <a:t>	1	$200	$50</a:t>
            </a:r>
          </a:p>
          <a:p>
            <a:pPr marL="0" indent="0" eaLnBrk="1" hangingPunct="1">
              <a:buNone/>
              <a:tabLst>
                <a:tab pos="1550988" algn="l"/>
                <a:tab pos="4006850" algn="r"/>
                <a:tab pos="6172200" algn="r"/>
              </a:tabLst>
            </a:pPr>
            <a:r>
              <a:rPr lang="en-US" altLang="en-US">
                <a:ea typeface="ＭＳ Ｐゴシック" panose="020B0600070205080204" pitchFamily="34" charset="-128"/>
              </a:rPr>
              <a:t>	2	$800	$100</a:t>
            </a:r>
          </a:p>
          <a:p>
            <a:pPr marL="0" indent="0" eaLnBrk="1" hangingPunct="1">
              <a:buNone/>
              <a:tabLst>
                <a:tab pos="1550988" algn="l"/>
                <a:tab pos="4006850" algn="r"/>
                <a:tab pos="6172200" algn="r"/>
              </a:tabLst>
            </a:pPr>
            <a:r>
              <a:rPr lang="en-US" altLang="en-US">
                <a:ea typeface="ＭＳ Ｐゴシック" panose="020B0600070205080204" pitchFamily="34" charset="-128"/>
              </a:rPr>
              <a:t>	3	-$800	$150</a:t>
            </a:r>
          </a:p>
        </p:txBody>
      </p:sp>
      <p:sp>
        <p:nvSpPr>
          <p:cNvPr id="58370" name="Rectangle 2">
            <a:extLst>
              <a:ext uri="{FF2B5EF4-FFF2-40B4-BE49-F238E27FC236}">
                <a16:creationId xmlns:a16="http://schemas.microsoft.com/office/drawing/2014/main" id="{C4DA86CE-DD3E-628C-92EA-FA254AB03B80}"/>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Example of Investment Rules</a:t>
            </a: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3">
            <a:extLst>
              <a:ext uri="{FF2B5EF4-FFF2-40B4-BE49-F238E27FC236}">
                <a16:creationId xmlns:a16="http://schemas.microsoft.com/office/drawing/2014/main" id="{F481A43A-D9A6-CC0A-1D7D-DA3EC14C5DBC}"/>
              </a:ext>
            </a:extLst>
          </p:cNvPr>
          <p:cNvSpPr>
            <a:spLocks noGrp="1"/>
          </p:cNvSpPr>
          <p:nvPr>
            <p:ph idx="1"/>
          </p:nvPr>
        </p:nvSpPr>
        <p:spPr>
          <a:xfrm>
            <a:off x="2438400" y="1828800"/>
            <a:ext cx="7773988" cy="3581400"/>
          </a:xfrm>
        </p:spPr>
        <p:txBody>
          <a:bodyPr/>
          <a:lstStyle/>
          <a:p>
            <a:pPr marL="0" indent="0" eaLnBrk="1" hangingPunct="1">
              <a:buNone/>
              <a:tabLst>
                <a:tab pos="3952875" algn="r"/>
                <a:tab pos="6480175" algn="r"/>
              </a:tabLst>
            </a:pPr>
            <a:r>
              <a:rPr lang="en-US" altLang="en-US" u="sng">
                <a:ea typeface="ＭＳ Ｐゴシック" panose="020B0600070205080204" pitchFamily="34" charset="-128"/>
              </a:rPr>
              <a:t>	Project A	Project B</a:t>
            </a:r>
          </a:p>
          <a:p>
            <a:pPr marL="0" indent="0" eaLnBrk="1" hangingPunct="1">
              <a:buNone/>
              <a:tabLst>
                <a:tab pos="3952875" algn="r"/>
                <a:tab pos="6480175" algn="r"/>
              </a:tabLst>
            </a:pPr>
            <a:r>
              <a:rPr lang="en-US" altLang="en-US">
                <a:ea typeface="ＭＳ Ｐゴシック" panose="020B0600070205080204" pitchFamily="34" charset="-128"/>
              </a:rPr>
              <a:t>CF</a:t>
            </a:r>
            <a:r>
              <a:rPr lang="en-US" altLang="en-US" baseline="-25000">
                <a:ea typeface="ＭＳ Ｐゴシック" panose="020B0600070205080204" pitchFamily="34" charset="-128"/>
              </a:rPr>
              <a:t>0</a:t>
            </a:r>
            <a:r>
              <a:rPr lang="en-US" altLang="en-US">
                <a:ea typeface="ＭＳ Ｐゴシック" panose="020B0600070205080204" pitchFamily="34" charset="-128"/>
              </a:rPr>
              <a:t>	-$200.00	-$150.00</a:t>
            </a:r>
          </a:p>
          <a:p>
            <a:pPr marL="0" indent="0" eaLnBrk="1" hangingPunct="1">
              <a:buNone/>
              <a:tabLst>
                <a:tab pos="3952875" algn="r"/>
                <a:tab pos="6480175" algn="r"/>
              </a:tabLst>
            </a:pPr>
            <a:r>
              <a:rPr lang="en-US" altLang="en-US">
                <a:ea typeface="ＭＳ Ｐゴシック" panose="020B0600070205080204" pitchFamily="34" charset="-128"/>
              </a:rPr>
              <a:t>PV</a:t>
            </a:r>
            <a:r>
              <a:rPr lang="en-US" altLang="en-US" baseline="-25000">
                <a:ea typeface="ＭＳ Ｐゴシック" panose="020B0600070205080204" pitchFamily="34" charset="-128"/>
              </a:rPr>
              <a:t>0</a:t>
            </a:r>
            <a:r>
              <a:rPr lang="en-US" altLang="en-US">
                <a:ea typeface="ＭＳ Ｐゴシック" panose="020B0600070205080204" pitchFamily="34" charset="-128"/>
              </a:rPr>
              <a:t> of CF</a:t>
            </a:r>
            <a:r>
              <a:rPr lang="en-US" altLang="en-US" baseline="-25000">
                <a:ea typeface="ＭＳ Ｐゴシック" panose="020B0600070205080204" pitchFamily="34" charset="-128"/>
              </a:rPr>
              <a:t>1-3</a:t>
            </a:r>
            <a:r>
              <a:rPr lang="en-US" altLang="en-US">
                <a:ea typeface="ＭＳ Ｐゴシック" panose="020B0600070205080204" pitchFamily="34" charset="-128"/>
              </a:rPr>
              <a:t>	$241.92	$240.80</a:t>
            </a:r>
          </a:p>
          <a:p>
            <a:pPr marL="0" indent="0" eaLnBrk="1" hangingPunct="1">
              <a:buNone/>
              <a:tabLst>
                <a:tab pos="3952875" algn="r"/>
                <a:tab pos="6480175" algn="r"/>
              </a:tabLst>
            </a:pPr>
            <a:endParaRPr lang="en-US" altLang="en-US">
              <a:ea typeface="ＭＳ Ｐゴシック" panose="020B0600070205080204" pitchFamily="34" charset="-128"/>
            </a:endParaRPr>
          </a:p>
          <a:p>
            <a:pPr marL="0" indent="0" eaLnBrk="1" hangingPunct="1">
              <a:buNone/>
              <a:tabLst>
                <a:tab pos="3952875" algn="r"/>
                <a:tab pos="6480175" algn="r"/>
              </a:tabLst>
            </a:pPr>
            <a:r>
              <a:rPr lang="en-US" altLang="en-US">
                <a:ea typeface="ＭＳ Ｐゴシック" panose="020B0600070205080204" pitchFamily="34" charset="-128"/>
              </a:rPr>
              <a:t>NPV =	$41.92	$90.80</a:t>
            </a:r>
          </a:p>
          <a:p>
            <a:pPr marL="0" indent="0" eaLnBrk="1" hangingPunct="1">
              <a:buNone/>
              <a:tabLst>
                <a:tab pos="3952875" algn="r"/>
                <a:tab pos="6480175" algn="r"/>
              </a:tabLst>
            </a:pPr>
            <a:r>
              <a:rPr lang="en-US" altLang="en-US">
                <a:ea typeface="ＭＳ Ｐゴシック" panose="020B0600070205080204" pitchFamily="34" charset="-128"/>
              </a:rPr>
              <a:t>IRR =	                0%, 100%	   36.19%</a:t>
            </a:r>
          </a:p>
          <a:p>
            <a:pPr marL="0" indent="0" eaLnBrk="1" hangingPunct="1">
              <a:buNone/>
              <a:tabLst>
                <a:tab pos="3952875" algn="r"/>
                <a:tab pos="6480175" algn="r"/>
              </a:tabLst>
            </a:pPr>
            <a:r>
              <a:rPr lang="en-US" altLang="en-US">
                <a:ea typeface="ＭＳ Ｐゴシック" panose="020B0600070205080204" pitchFamily="34" charset="-128"/>
              </a:rPr>
              <a:t>PI =	1.2096	1.6053 </a:t>
            </a:r>
          </a:p>
        </p:txBody>
      </p:sp>
      <p:sp>
        <p:nvSpPr>
          <p:cNvPr id="60418" name="Rectangle 2">
            <a:extLst>
              <a:ext uri="{FF2B5EF4-FFF2-40B4-BE49-F238E27FC236}">
                <a16:creationId xmlns:a16="http://schemas.microsoft.com/office/drawing/2014/main" id="{4D83D4EF-3286-91A6-49B1-FBFC9E3B5B8E}"/>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Example of Investment Rules</a:t>
            </a: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3">
            <a:extLst>
              <a:ext uri="{FF2B5EF4-FFF2-40B4-BE49-F238E27FC236}">
                <a16:creationId xmlns:a16="http://schemas.microsoft.com/office/drawing/2014/main" id="{172E3B2C-FD22-BDEC-0A44-E8CBCDF66E33}"/>
              </a:ext>
            </a:extLst>
          </p:cNvPr>
          <p:cNvSpPr>
            <a:spLocks noGrp="1"/>
          </p:cNvSpPr>
          <p:nvPr>
            <p:ph idx="1"/>
          </p:nvPr>
        </p:nvSpPr>
        <p:spPr>
          <a:xfrm>
            <a:off x="1981200" y="1219200"/>
            <a:ext cx="8229600" cy="4495800"/>
          </a:xfrm>
        </p:spPr>
        <p:txBody>
          <a:bodyPr/>
          <a:lstStyle/>
          <a:p>
            <a:pPr marL="0" indent="0" eaLnBrk="1" hangingPunct="1">
              <a:lnSpc>
                <a:spcPct val="90000"/>
              </a:lnSpc>
              <a:buNone/>
              <a:tabLst>
                <a:tab pos="992188" algn="l"/>
                <a:tab pos="2906713" algn="r"/>
                <a:tab pos="4513263" algn="r"/>
                <a:tab pos="6045200" algn="r"/>
                <a:tab pos="7400925" algn="r"/>
              </a:tabLst>
            </a:pPr>
            <a:r>
              <a:rPr lang="en-US" altLang="en-US" sz="2800">
                <a:latin typeface="Times New Roman" panose="02020603050405020304" pitchFamily="18" charset="0"/>
                <a:ea typeface="ＭＳ Ｐゴシック" panose="020B0600070205080204" pitchFamily="34" charset="-128"/>
              </a:rPr>
              <a:t>Payback Period:</a:t>
            </a:r>
          </a:p>
          <a:p>
            <a:pPr marL="0" indent="0" eaLnBrk="1" hangingPunct="1">
              <a:lnSpc>
                <a:spcPct val="90000"/>
              </a:lnSpc>
              <a:buNone/>
              <a:tabLst>
                <a:tab pos="992188" algn="l"/>
                <a:tab pos="2906713" algn="r"/>
                <a:tab pos="4513263" algn="r"/>
                <a:tab pos="6045200" algn="r"/>
                <a:tab pos="7400925" algn="r"/>
              </a:tabLst>
            </a:pPr>
            <a:r>
              <a:rPr lang="en-US" altLang="en-US" sz="2800" b="1" i="1">
                <a:ea typeface="ＭＳ Ｐゴシック" panose="020B0600070205080204" pitchFamily="34" charset="-128"/>
              </a:rPr>
              <a:t>			Project A		Project B</a:t>
            </a:r>
            <a:endParaRPr lang="en-US" altLang="en-US" sz="2800" u="sng">
              <a:ea typeface="ＭＳ Ｐゴシック" panose="020B0600070205080204" pitchFamily="34" charset="-128"/>
            </a:endParaRPr>
          </a:p>
          <a:p>
            <a:pPr marL="0" indent="0" eaLnBrk="1" hangingPunct="1">
              <a:lnSpc>
                <a:spcPct val="90000"/>
              </a:lnSpc>
              <a:buNone/>
              <a:tabLst>
                <a:tab pos="992188" algn="l"/>
                <a:tab pos="2906713" algn="r"/>
                <a:tab pos="4513263" algn="r"/>
                <a:tab pos="6045200" algn="r"/>
                <a:tab pos="7400925" algn="r"/>
              </a:tabLst>
            </a:pPr>
            <a:r>
              <a:rPr lang="en-US" altLang="en-US" sz="2800" u="sng">
                <a:ea typeface="ＭＳ Ｐゴシック" panose="020B0600070205080204" pitchFamily="34" charset="-128"/>
              </a:rPr>
              <a:t>  Time            CF	       Cum. CF	CF	   Cum.CF</a:t>
            </a:r>
            <a:endParaRPr lang="en-US" altLang="en-US" sz="2800">
              <a:ea typeface="ＭＳ Ｐゴシック" panose="020B0600070205080204" pitchFamily="34" charset="-128"/>
            </a:endParaRPr>
          </a:p>
          <a:p>
            <a:pPr marL="0" indent="0" eaLnBrk="1" hangingPunct="1">
              <a:lnSpc>
                <a:spcPct val="90000"/>
              </a:lnSpc>
              <a:buNone/>
              <a:tabLst>
                <a:tab pos="992188" algn="l"/>
                <a:tab pos="2906713" algn="r"/>
                <a:tab pos="4513263" algn="r"/>
                <a:tab pos="6045200" algn="r"/>
                <a:tab pos="7400925" algn="r"/>
              </a:tabLst>
            </a:pPr>
            <a:r>
              <a:rPr lang="en-US" altLang="en-US" sz="2800">
                <a:ea typeface="ＭＳ Ｐゴシック" panose="020B0600070205080204" pitchFamily="34" charset="-128"/>
              </a:rPr>
              <a:t>	0	-200	-200	-150	-150</a:t>
            </a:r>
          </a:p>
          <a:p>
            <a:pPr marL="0" indent="0" eaLnBrk="1" hangingPunct="1">
              <a:lnSpc>
                <a:spcPct val="90000"/>
              </a:lnSpc>
              <a:buNone/>
              <a:tabLst>
                <a:tab pos="992188" algn="l"/>
                <a:tab pos="2906713" algn="r"/>
                <a:tab pos="4513263" algn="r"/>
                <a:tab pos="6045200" algn="r"/>
                <a:tab pos="7400925" algn="r"/>
              </a:tabLst>
            </a:pPr>
            <a:r>
              <a:rPr lang="en-US" altLang="en-US" sz="2800">
                <a:ea typeface="ＭＳ Ｐゴシック" panose="020B0600070205080204" pitchFamily="34" charset="-128"/>
              </a:rPr>
              <a:t>	1	200	0	50	-100</a:t>
            </a:r>
          </a:p>
          <a:p>
            <a:pPr marL="0" indent="0" eaLnBrk="1" hangingPunct="1">
              <a:lnSpc>
                <a:spcPct val="90000"/>
              </a:lnSpc>
              <a:buNone/>
              <a:tabLst>
                <a:tab pos="992188" algn="l"/>
                <a:tab pos="2906713" algn="r"/>
                <a:tab pos="4513263" algn="r"/>
                <a:tab pos="6045200" algn="r"/>
                <a:tab pos="7400925" algn="r"/>
              </a:tabLst>
            </a:pPr>
            <a:r>
              <a:rPr lang="en-US" altLang="en-US" sz="2800">
                <a:ea typeface="ＭＳ Ｐゴシック" panose="020B0600070205080204" pitchFamily="34" charset="-128"/>
              </a:rPr>
              <a:t>	2	800	800	100	0</a:t>
            </a:r>
          </a:p>
          <a:p>
            <a:pPr marL="0" indent="0" eaLnBrk="1" hangingPunct="1">
              <a:lnSpc>
                <a:spcPct val="90000"/>
              </a:lnSpc>
              <a:buNone/>
              <a:tabLst>
                <a:tab pos="992188" algn="l"/>
                <a:tab pos="2906713" algn="r"/>
                <a:tab pos="4513263" algn="r"/>
                <a:tab pos="6045200" algn="r"/>
                <a:tab pos="7400925" algn="r"/>
              </a:tabLst>
            </a:pPr>
            <a:r>
              <a:rPr lang="en-US" altLang="en-US" sz="2800">
                <a:ea typeface="ＭＳ Ｐゴシック" panose="020B0600070205080204" pitchFamily="34" charset="-128"/>
              </a:rPr>
              <a:t>	3	-800	0	150	150</a:t>
            </a:r>
          </a:p>
          <a:p>
            <a:pPr marL="0" indent="0" eaLnBrk="1" hangingPunct="1">
              <a:lnSpc>
                <a:spcPct val="90000"/>
              </a:lnSpc>
              <a:buNone/>
              <a:tabLst>
                <a:tab pos="992188" algn="l"/>
                <a:tab pos="2906713" algn="r"/>
                <a:tab pos="4513263" algn="r"/>
                <a:tab pos="6045200" algn="r"/>
                <a:tab pos="7400925" algn="r"/>
              </a:tabLst>
            </a:pPr>
            <a:endParaRPr lang="en-US" altLang="en-US" sz="2800">
              <a:ea typeface="ＭＳ Ｐゴシック" panose="020B0600070205080204" pitchFamily="34" charset="-128"/>
            </a:endParaRPr>
          </a:p>
          <a:p>
            <a:pPr marL="0" indent="0" eaLnBrk="1" hangingPunct="1">
              <a:lnSpc>
                <a:spcPct val="90000"/>
              </a:lnSpc>
              <a:buNone/>
              <a:tabLst>
                <a:tab pos="992188" algn="l"/>
                <a:tab pos="2906713" algn="r"/>
                <a:tab pos="4513263" algn="r"/>
                <a:tab pos="6045200" algn="r"/>
                <a:tab pos="7400925" algn="r"/>
              </a:tabLst>
            </a:pPr>
            <a:r>
              <a:rPr lang="en-US" altLang="en-US" sz="2800">
                <a:latin typeface="Times New Roman" panose="02020603050405020304" pitchFamily="18" charset="0"/>
                <a:ea typeface="ＭＳ Ｐゴシック" panose="020B0600070205080204" pitchFamily="34" charset="-128"/>
              </a:rPr>
              <a:t>Payback period for project B = 2 years.</a:t>
            </a:r>
          </a:p>
          <a:p>
            <a:pPr marL="0" indent="0" eaLnBrk="1" hangingPunct="1">
              <a:lnSpc>
                <a:spcPct val="90000"/>
              </a:lnSpc>
              <a:buNone/>
              <a:tabLst>
                <a:tab pos="992188" algn="l"/>
                <a:tab pos="2906713" algn="r"/>
                <a:tab pos="4513263" algn="r"/>
                <a:tab pos="6045200" algn="r"/>
                <a:tab pos="7400925" algn="r"/>
              </a:tabLst>
            </a:pPr>
            <a:r>
              <a:rPr lang="en-US" altLang="en-US" sz="2800">
                <a:latin typeface="Times New Roman" panose="02020603050405020304" pitchFamily="18" charset="0"/>
                <a:ea typeface="ＭＳ Ｐゴシック" panose="020B0600070205080204" pitchFamily="34" charset="-128"/>
              </a:rPr>
              <a:t>Payback period for project A = 	1 or 3 years?</a:t>
            </a:r>
          </a:p>
        </p:txBody>
      </p:sp>
      <p:sp>
        <p:nvSpPr>
          <p:cNvPr id="62466" name="Rectangle 2">
            <a:extLst>
              <a:ext uri="{FF2B5EF4-FFF2-40B4-BE49-F238E27FC236}">
                <a16:creationId xmlns:a16="http://schemas.microsoft.com/office/drawing/2014/main" id="{354D51FF-5E75-98C0-0597-7F84D2764D8D}"/>
              </a:ext>
            </a:extLst>
          </p:cNvPr>
          <p:cNvSpPr>
            <a:spLocks noGrp="1" noChangeArrowheads="1"/>
          </p:cNvSpPr>
          <p:nvPr>
            <p:ph type="title"/>
          </p:nvPr>
        </p:nvSpPr>
        <p:spPr>
          <a:xfrm>
            <a:off x="1981200" y="152400"/>
            <a:ext cx="8229600" cy="1143000"/>
          </a:xfrm>
        </p:spPr>
        <p:txBody>
          <a:bodyPr/>
          <a:lstStyle/>
          <a:p>
            <a:pPr eaLnBrk="1" fontAlgn="auto" hangingPunct="1">
              <a:spcAft>
                <a:spcPts val="0"/>
              </a:spcAft>
              <a:defRPr/>
            </a:pPr>
            <a:r>
              <a:rPr lang="en-US" altLang="en-US" sz="3400" dirty="0">
                <a:ea typeface="+mj-ea"/>
                <a:cs typeface="+mj-cs"/>
              </a:rPr>
              <a:t>Example of Investment Rules</a:t>
            </a: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3">
            <a:extLst>
              <a:ext uri="{FF2B5EF4-FFF2-40B4-BE49-F238E27FC236}">
                <a16:creationId xmlns:a16="http://schemas.microsoft.com/office/drawing/2014/main" id="{71D77E62-AC84-E265-47D1-80AF1D37F8ED}"/>
              </a:ext>
            </a:extLst>
          </p:cNvPr>
          <p:cNvSpPr>
            <a:spLocks noGrp="1"/>
          </p:cNvSpPr>
          <p:nvPr>
            <p:ph idx="1"/>
          </p:nvPr>
        </p:nvSpPr>
        <p:spPr>
          <a:xfrm>
            <a:off x="2362200" y="1828800"/>
            <a:ext cx="7773988" cy="381000"/>
          </a:xfrm>
        </p:spPr>
        <p:txBody>
          <a:bodyPr/>
          <a:lstStyle/>
          <a:p>
            <a:pPr marL="0" indent="0" eaLnBrk="1" hangingPunct="1">
              <a:lnSpc>
                <a:spcPct val="90000"/>
              </a:lnSpc>
              <a:buNone/>
              <a:tabLst>
                <a:tab pos="1606550" algn="dec"/>
                <a:tab pos="3573463" algn="dec"/>
                <a:tab pos="5921375" algn="dec"/>
              </a:tabLst>
            </a:pPr>
            <a:r>
              <a:rPr lang="en-US" altLang="en-US" u="sng">
                <a:ea typeface="ＭＳ Ｐゴシック" panose="020B0600070205080204" pitchFamily="34" charset="-128"/>
              </a:rPr>
              <a:t>Discount rate	     NPV for A	       NPV for B</a:t>
            </a:r>
          </a:p>
          <a:p>
            <a:pPr marL="0" indent="0" eaLnBrk="1" hangingPunct="1">
              <a:lnSpc>
                <a:spcPct val="90000"/>
              </a:lnSpc>
              <a:buNone/>
              <a:tabLst>
                <a:tab pos="1606550" algn="dec"/>
                <a:tab pos="3573463" algn="dec"/>
                <a:tab pos="5921375" algn="dec"/>
              </a:tabLst>
            </a:pPr>
            <a:r>
              <a:rPr lang="en-US" altLang="en-US">
                <a:ea typeface="ＭＳ Ｐゴシック" panose="020B0600070205080204" pitchFamily="34" charset="-128"/>
              </a:rPr>
              <a:t>         -10%           -87.52	 234.77</a:t>
            </a:r>
          </a:p>
          <a:p>
            <a:pPr marL="0" indent="0" eaLnBrk="1" hangingPunct="1">
              <a:lnSpc>
                <a:spcPct val="90000"/>
              </a:lnSpc>
              <a:buNone/>
              <a:tabLst>
                <a:tab pos="1606550" algn="dec"/>
                <a:tab pos="3573463" algn="dec"/>
                <a:tab pos="5921375" algn="dec"/>
              </a:tabLst>
            </a:pPr>
            <a:r>
              <a:rPr lang="en-US" altLang="en-US">
                <a:ea typeface="ＭＳ Ｐゴシック" panose="020B0600070205080204" pitchFamily="34" charset="-128"/>
              </a:rPr>
              <a:t>	0%	0.00           150.00	20%	59.26	 47.92</a:t>
            </a:r>
          </a:p>
          <a:p>
            <a:pPr marL="0" indent="0" eaLnBrk="1" hangingPunct="1">
              <a:lnSpc>
                <a:spcPct val="90000"/>
              </a:lnSpc>
              <a:buNone/>
              <a:tabLst>
                <a:tab pos="1606550" algn="dec"/>
                <a:tab pos="3573463" algn="dec"/>
                <a:tab pos="5921375" algn="dec"/>
              </a:tabLst>
            </a:pPr>
            <a:r>
              <a:rPr lang="en-US" altLang="en-US">
                <a:ea typeface="ＭＳ Ｐゴシック" panose="020B0600070205080204" pitchFamily="34" charset="-128"/>
              </a:rPr>
              <a:t>	40%	59.48	-8.60	</a:t>
            </a:r>
          </a:p>
          <a:p>
            <a:pPr marL="0" indent="0" eaLnBrk="1" hangingPunct="1">
              <a:lnSpc>
                <a:spcPct val="90000"/>
              </a:lnSpc>
              <a:buNone/>
              <a:tabLst>
                <a:tab pos="1606550" algn="dec"/>
                <a:tab pos="3573463" algn="dec"/>
                <a:tab pos="5921375" algn="dec"/>
              </a:tabLst>
            </a:pPr>
            <a:r>
              <a:rPr lang="en-US" altLang="en-US">
                <a:ea typeface="ＭＳ Ｐゴシック" panose="020B0600070205080204" pitchFamily="34" charset="-128"/>
              </a:rPr>
              <a:t>	60%	42.19	-43.07	</a:t>
            </a:r>
          </a:p>
          <a:p>
            <a:pPr marL="0" indent="0" eaLnBrk="1" hangingPunct="1">
              <a:lnSpc>
                <a:spcPct val="90000"/>
              </a:lnSpc>
              <a:buNone/>
              <a:tabLst>
                <a:tab pos="1606550" algn="dec"/>
                <a:tab pos="3573463" algn="dec"/>
                <a:tab pos="5921375" algn="dec"/>
              </a:tabLst>
            </a:pPr>
            <a:r>
              <a:rPr lang="en-US" altLang="en-US">
                <a:ea typeface="ＭＳ Ｐゴシック" panose="020B0600070205080204" pitchFamily="34" charset="-128"/>
              </a:rPr>
              <a:t>	80%	20.85	-65.64	</a:t>
            </a:r>
          </a:p>
          <a:p>
            <a:pPr marL="0" indent="0" eaLnBrk="1" hangingPunct="1">
              <a:lnSpc>
                <a:spcPct val="90000"/>
              </a:lnSpc>
              <a:buNone/>
              <a:tabLst>
                <a:tab pos="1606550" algn="dec"/>
                <a:tab pos="3573463" algn="dec"/>
                <a:tab pos="5921375" algn="dec"/>
              </a:tabLst>
            </a:pPr>
            <a:r>
              <a:rPr lang="en-US" altLang="en-US">
                <a:ea typeface="ＭＳ Ｐゴシック" panose="020B0600070205080204" pitchFamily="34" charset="-128"/>
              </a:rPr>
              <a:t>	100%	0.00	-81.25	</a:t>
            </a:r>
          </a:p>
          <a:p>
            <a:pPr marL="0" indent="0" eaLnBrk="1" hangingPunct="1">
              <a:lnSpc>
                <a:spcPct val="90000"/>
              </a:lnSpc>
              <a:buNone/>
              <a:tabLst>
                <a:tab pos="1606550" algn="dec"/>
                <a:tab pos="3573463" algn="dec"/>
                <a:tab pos="5921375" algn="dec"/>
              </a:tabLst>
            </a:pPr>
            <a:r>
              <a:rPr lang="en-US" altLang="en-US">
                <a:ea typeface="ＭＳ Ｐゴシック" panose="020B0600070205080204" pitchFamily="34" charset="-128"/>
              </a:rPr>
              <a:t>	120%           -18.93	-92.52	</a:t>
            </a:r>
          </a:p>
        </p:txBody>
      </p:sp>
      <p:sp>
        <p:nvSpPr>
          <p:cNvPr id="64514" name="Rectangle 2">
            <a:extLst>
              <a:ext uri="{FF2B5EF4-FFF2-40B4-BE49-F238E27FC236}">
                <a16:creationId xmlns:a16="http://schemas.microsoft.com/office/drawing/2014/main" id="{8146CA55-67D3-7551-6D86-45C60C992C60}"/>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NPV and IRR Relationship</a:t>
            </a: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7E7D0BCE-A4A9-C073-B9A7-243884DD5EE5}"/>
              </a:ext>
            </a:extLst>
          </p:cNvPr>
          <p:cNvGrpSpPr>
            <a:grpSpLocks/>
          </p:cNvGrpSpPr>
          <p:nvPr/>
        </p:nvGrpSpPr>
        <p:grpSpPr bwMode="auto">
          <a:xfrm>
            <a:off x="8001001" y="5181600"/>
            <a:ext cx="1458913" cy="338138"/>
            <a:chOff x="4487" y="3471"/>
            <a:chExt cx="919" cy="213"/>
          </a:xfrm>
        </p:grpSpPr>
        <p:sp>
          <p:nvSpPr>
            <p:cNvPr id="267450" name="Line 3">
              <a:extLst>
                <a:ext uri="{FF2B5EF4-FFF2-40B4-BE49-F238E27FC236}">
                  <a16:creationId xmlns:a16="http://schemas.microsoft.com/office/drawing/2014/main" id="{6FFB38A7-8F96-946C-B13F-E67516047BC3}"/>
                </a:ext>
              </a:extLst>
            </p:cNvPr>
            <p:cNvSpPr>
              <a:spLocks noChangeShapeType="1"/>
            </p:cNvSpPr>
            <p:nvPr/>
          </p:nvSpPr>
          <p:spPr bwMode="auto">
            <a:xfrm>
              <a:off x="4487" y="3572"/>
              <a:ext cx="169" cy="1"/>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451" name="Freeform 4">
              <a:extLst>
                <a:ext uri="{FF2B5EF4-FFF2-40B4-BE49-F238E27FC236}">
                  <a16:creationId xmlns:a16="http://schemas.microsoft.com/office/drawing/2014/main" id="{052D2744-7C83-0037-EBE6-C1DE2E06E7DE}"/>
                </a:ext>
              </a:extLst>
            </p:cNvPr>
            <p:cNvSpPr>
              <a:spLocks/>
            </p:cNvSpPr>
            <p:nvPr/>
          </p:nvSpPr>
          <p:spPr bwMode="auto">
            <a:xfrm>
              <a:off x="4550" y="3552"/>
              <a:ext cx="37" cy="42"/>
            </a:xfrm>
            <a:custGeom>
              <a:avLst/>
              <a:gdLst>
                <a:gd name="T0" fmla="*/ 32 w 36"/>
                <a:gd name="T1" fmla="*/ 0 h 37"/>
                <a:gd name="T2" fmla="*/ 50 w 36"/>
                <a:gd name="T3" fmla="*/ 108 h 37"/>
                <a:gd name="T4" fmla="*/ 32 w 36"/>
                <a:gd name="T5" fmla="*/ 218 h 37"/>
                <a:gd name="T6" fmla="*/ 0 w 36"/>
                <a:gd name="T7" fmla="*/ 108 h 37"/>
                <a:gd name="T8" fmla="*/ 32 w 36"/>
                <a:gd name="T9" fmla="*/ 0 h 37"/>
                <a:gd name="T10" fmla="*/ 0 60000 65536"/>
                <a:gd name="T11" fmla="*/ 0 60000 65536"/>
                <a:gd name="T12" fmla="*/ 0 60000 65536"/>
                <a:gd name="T13" fmla="*/ 0 60000 65536"/>
                <a:gd name="T14" fmla="*/ 0 60000 65536"/>
                <a:gd name="T15" fmla="*/ 0 w 36"/>
                <a:gd name="T16" fmla="*/ 0 h 37"/>
                <a:gd name="T17" fmla="*/ 36 w 36"/>
                <a:gd name="T18" fmla="*/ 37 h 37"/>
              </a:gdLst>
              <a:ahLst/>
              <a:cxnLst>
                <a:cxn ang="T10">
                  <a:pos x="T0" y="T1"/>
                </a:cxn>
                <a:cxn ang="T11">
                  <a:pos x="T2" y="T3"/>
                </a:cxn>
                <a:cxn ang="T12">
                  <a:pos x="T4" y="T5"/>
                </a:cxn>
                <a:cxn ang="T13">
                  <a:pos x="T6" y="T7"/>
                </a:cxn>
                <a:cxn ang="T14">
                  <a:pos x="T8" y="T9"/>
                </a:cxn>
              </a:cxnLst>
              <a:rect l="T15" t="T16" r="T17" b="T18"/>
              <a:pathLst>
                <a:path w="36" h="37">
                  <a:moveTo>
                    <a:pt x="18" y="0"/>
                  </a:moveTo>
                  <a:lnTo>
                    <a:pt x="36" y="18"/>
                  </a:lnTo>
                  <a:lnTo>
                    <a:pt x="18" y="37"/>
                  </a:lnTo>
                  <a:lnTo>
                    <a:pt x="0" y="18"/>
                  </a:lnTo>
                  <a:lnTo>
                    <a:pt x="18" y="0"/>
                  </a:lnTo>
                  <a:close/>
                </a:path>
              </a:pathLst>
            </a:custGeom>
            <a:solidFill>
              <a:srgbClr val="000099"/>
            </a:solidFill>
            <a:ln w="9525">
              <a:solidFill>
                <a:srgbClr val="000099"/>
              </a:solidFill>
              <a:round/>
              <a:headEnd/>
              <a:tailEnd/>
            </a:ln>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452" name="Rectangle 5">
              <a:extLst>
                <a:ext uri="{FF2B5EF4-FFF2-40B4-BE49-F238E27FC236}">
                  <a16:creationId xmlns:a16="http://schemas.microsoft.com/office/drawing/2014/main" id="{864FD559-8DF6-825C-8C76-F8AC742C33B9}"/>
                </a:ext>
              </a:extLst>
            </p:cNvPr>
            <p:cNvSpPr>
              <a:spLocks noChangeArrowheads="1"/>
            </p:cNvSpPr>
            <p:nvPr/>
          </p:nvSpPr>
          <p:spPr bwMode="auto">
            <a:xfrm>
              <a:off x="4693" y="3471"/>
              <a:ext cx="713"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87425">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defTabSz="9874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defTabSz="987425">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defTabSz="987425">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defTabSz="987425">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0"/>
                </a:spcBef>
                <a:spcAft>
                  <a:spcPct val="0"/>
                </a:spcAft>
                <a:buClrTx/>
                <a:buSzTx/>
                <a:buNone/>
              </a:pPr>
              <a:r>
                <a:rPr lang="en-US" altLang="en-US" sz="2200" b="1">
                  <a:solidFill>
                    <a:prstClr val="black"/>
                  </a:solidFill>
                  <a:latin typeface="Times New Roman" panose="02020603050405020304" pitchFamily="18" charset="0"/>
                </a:rPr>
                <a:t>Project A</a:t>
              </a:r>
              <a:endParaRPr lang="en-US" altLang="en-US" sz="2200">
                <a:solidFill>
                  <a:prstClr val="black"/>
                </a:solidFill>
                <a:latin typeface="Times New Roman" panose="02020603050405020304" pitchFamily="18" charset="0"/>
              </a:endParaRPr>
            </a:p>
          </p:txBody>
        </p:sp>
      </p:grpSp>
      <p:grpSp>
        <p:nvGrpSpPr>
          <p:cNvPr id="3" name="Group 6">
            <a:extLst>
              <a:ext uri="{FF2B5EF4-FFF2-40B4-BE49-F238E27FC236}">
                <a16:creationId xmlns:a16="http://schemas.microsoft.com/office/drawing/2014/main" id="{C16AE085-915F-2035-CBC9-EB74719F01A0}"/>
              </a:ext>
            </a:extLst>
          </p:cNvPr>
          <p:cNvGrpSpPr>
            <a:grpSpLocks/>
          </p:cNvGrpSpPr>
          <p:nvPr/>
        </p:nvGrpSpPr>
        <p:grpSpPr bwMode="auto">
          <a:xfrm>
            <a:off x="8001001" y="5487989"/>
            <a:ext cx="1458913" cy="338137"/>
            <a:chOff x="4487" y="3664"/>
            <a:chExt cx="919" cy="213"/>
          </a:xfrm>
        </p:grpSpPr>
        <p:sp>
          <p:nvSpPr>
            <p:cNvPr id="267447" name="Line 7">
              <a:extLst>
                <a:ext uri="{FF2B5EF4-FFF2-40B4-BE49-F238E27FC236}">
                  <a16:creationId xmlns:a16="http://schemas.microsoft.com/office/drawing/2014/main" id="{760FC613-10DB-B497-3EED-07F4F80298C5}"/>
                </a:ext>
              </a:extLst>
            </p:cNvPr>
            <p:cNvSpPr>
              <a:spLocks noChangeShapeType="1"/>
            </p:cNvSpPr>
            <p:nvPr/>
          </p:nvSpPr>
          <p:spPr bwMode="auto">
            <a:xfrm>
              <a:off x="4487" y="3767"/>
              <a:ext cx="169" cy="1"/>
            </a:xfrm>
            <a:prstGeom prst="line">
              <a:avLst/>
            </a:prstGeom>
            <a:noFill/>
            <a:ln w="9525">
              <a:solidFill>
                <a:srgbClr val="A819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448" name="Rectangle 8">
              <a:extLst>
                <a:ext uri="{FF2B5EF4-FFF2-40B4-BE49-F238E27FC236}">
                  <a16:creationId xmlns:a16="http://schemas.microsoft.com/office/drawing/2014/main" id="{5672C479-F5ED-5D45-2471-E15BD6154175}"/>
                </a:ext>
              </a:extLst>
            </p:cNvPr>
            <p:cNvSpPr>
              <a:spLocks noChangeArrowheads="1"/>
            </p:cNvSpPr>
            <p:nvPr/>
          </p:nvSpPr>
          <p:spPr bwMode="auto">
            <a:xfrm>
              <a:off x="4550" y="3746"/>
              <a:ext cx="31" cy="34"/>
            </a:xfrm>
            <a:prstGeom prst="rect">
              <a:avLst/>
            </a:prstGeom>
            <a:solidFill>
              <a:srgbClr val="A81900"/>
            </a:solidFill>
            <a:ln w="9525">
              <a:solidFill>
                <a:srgbClr val="A81900"/>
              </a:solidFill>
              <a:miter lim="800000"/>
              <a:headEnd/>
              <a:tailEnd/>
            </a:ln>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0"/>
                </a:spcBef>
                <a:spcAft>
                  <a:spcPct val="0"/>
                </a:spcAft>
                <a:buClrTx/>
                <a:buSzTx/>
                <a:buNone/>
              </a:pPr>
              <a:endParaRPr lang="en-US" altLang="en-US" sz="1800">
                <a:solidFill>
                  <a:prstClr val="black"/>
                </a:solidFill>
                <a:latin typeface="Times New Roman" panose="02020603050405020304" pitchFamily="18" charset="0"/>
              </a:endParaRPr>
            </a:p>
          </p:txBody>
        </p:sp>
        <p:sp>
          <p:nvSpPr>
            <p:cNvPr id="267449" name="Rectangle 9">
              <a:extLst>
                <a:ext uri="{FF2B5EF4-FFF2-40B4-BE49-F238E27FC236}">
                  <a16:creationId xmlns:a16="http://schemas.microsoft.com/office/drawing/2014/main" id="{814FA3F1-9B24-1886-6D13-E7CEC74825C4}"/>
                </a:ext>
              </a:extLst>
            </p:cNvPr>
            <p:cNvSpPr>
              <a:spLocks noChangeArrowheads="1"/>
            </p:cNvSpPr>
            <p:nvPr/>
          </p:nvSpPr>
          <p:spPr bwMode="auto">
            <a:xfrm>
              <a:off x="4693" y="3664"/>
              <a:ext cx="713"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87425">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defTabSz="9874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defTabSz="987425">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defTabSz="987425">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defTabSz="987425">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0"/>
                </a:spcBef>
                <a:spcAft>
                  <a:spcPct val="0"/>
                </a:spcAft>
                <a:buClrTx/>
                <a:buSzTx/>
                <a:buNone/>
              </a:pPr>
              <a:r>
                <a:rPr lang="en-US" altLang="en-US" sz="2200" b="1">
                  <a:solidFill>
                    <a:prstClr val="black"/>
                  </a:solidFill>
                  <a:latin typeface="Times New Roman" panose="02020603050405020304" pitchFamily="18" charset="0"/>
                </a:rPr>
                <a:t>Project B</a:t>
              </a:r>
              <a:endParaRPr lang="en-US" altLang="en-US" sz="2200">
                <a:solidFill>
                  <a:prstClr val="black"/>
                </a:solidFill>
                <a:latin typeface="Times New Roman" panose="02020603050405020304" pitchFamily="18" charset="0"/>
              </a:endParaRPr>
            </a:p>
          </p:txBody>
        </p:sp>
      </p:grpSp>
      <p:sp>
        <p:nvSpPr>
          <p:cNvPr id="267268" name="Line 10">
            <a:extLst>
              <a:ext uri="{FF2B5EF4-FFF2-40B4-BE49-F238E27FC236}">
                <a16:creationId xmlns:a16="http://schemas.microsoft.com/office/drawing/2014/main" id="{832349E2-E492-CB56-EBB2-C3D3E71D2C95}"/>
              </a:ext>
            </a:extLst>
          </p:cNvPr>
          <p:cNvSpPr>
            <a:spLocks noChangeShapeType="1"/>
          </p:cNvSpPr>
          <p:nvPr/>
        </p:nvSpPr>
        <p:spPr bwMode="auto">
          <a:xfrm>
            <a:off x="3392489" y="1320801"/>
            <a:ext cx="1587" cy="36496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269" name="Line 11">
            <a:extLst>
              <a:ext uri="{FF2B5EF4-FFF2-40B4-BE49-F238E27FC236}">
                <a16:creationId xmlns:a16="http://schemas.microsoft.com/office/drawing/2014/main" id="{F265E8D8-F00E-0CD6-31DC-97D3C9804443}"/>
              </a:ext>
            </a:extLst>
          </p:cNvPr>
          <p:cNvSpPr>
            <a:spLocks noChangeShapeType="1"/>
          </p:cNvSpPr>
          <p:nvPr/>
        </p:nvSpPr>
        <p:spPr bwMode="auto">
          <a:xfrm>
            <a:off x="3403600" y="3751264"/>
            <a:ext cx="6026150" cy="15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270" name="Line 12">
            <a:extLst>
              <a:ext uri="{FF2B5EF4-FFF2-40B4-BE49-F238E27FC236}">
                <a16:creationId xmlns:a16="http://schemas.microsoft.com/office/drawing/2014/main" id="{E96F8A86-9A11-E63E-82FC-ED1B491B10B6}"/>
              </a:ext>
            </a:extLst>
          </p:cNvPr>
          <p:cNvSpPr>
            <a:spLocks noChangeShapeType="1"/>
          </p:cNvSpPr>
          <p:nvPr/>
        </p:nvSpPr>
        <p:spPr bwMode="auto">
          <a:xfrm flipV="1">
            <a:off x="3613150" y="3751263"/>
            <a:ext cx="1588" cy="746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271" name="Line 13">
            <a:extLst>
              <a:ext uri="{FF2B5EF4-FFF2-40B4-BE49-F238E27FC236}">
                <a16:creationId xmlns:a16="http://schemas.microsoft.com/office/drawing/2014/main" id="{4D6AE5D0-ECB0-C0E2-175B-2B043D43499C}"/>
              </a:ext>
            </a:extLst>
          </p:cNvPr>
          <p:cNvSpPr>
            <a:spLocks noChangeShapeType="1"/>
          </p:cNvSpPr>
          <p:nvPr/>
        </p:nvSpPr>
        <p:spPr bwMode="auto">
          <a:xfrm flipV="1">
            <a:off x="3833814" y="3751263"/>
            <a:ext cx="1587" cy="746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272" name="Line 14">
            <a:extLst>
              <a:ext uri="{FF2B5EF4-FFF2-40B4-BE49-F238E27FC236}">
                <a16:creationId xmlns:a16="http://schemas.microsoft.com/office/drawing/2014/main" id="{B2F903CA-C001-824A-8BD0-FDC960A78612}"/>
              </a:ext>
            </a:extLst>
          </p:cNvPr>
          <p:cNvSpPr>
            <a:spLocks noChangeShapeType="1"/>
          </p:cNvSpPr>
          <p:nvPr/>
        </p:nvSpPr>
        <p:spPr bwMode="auto">
          <a:xfrm flipV="1">
            <a:off x="4044950" y="3751263"/>
            <a:ext cx="1588" cy="746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273" name="Line 15">
            <a:extLst>
              <a:ext uri="{FF2B5EF4-FFF2-40B4-BE49-F238E27FC236}">
                <a16:creationId xmlns:a16="http://schemas.microsoft.com/office/drawing/2014/main" id="{B64DCAC3-9995-CAAF-B595-ACBA809218BB}"/>
              </a:ext>
            </a:extLst>
          </p:cNvPr>
          <p:cNvSpPr>
            <a:spLocks noChangeShapeType="1"/>
          </p:cNvSpPr>
          <p:nvPr/>
        </p:nvSpPr>
        <p:spPr bwMode="auto">
          <a:xfrm flipV="1">
            <a:off x="4265614" y="3751263"/>
            <a:ext cx="1587" cy="746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274" name="Line 16">
            <a:extLst>
              <a:ext uri="{FF2B5EF4-FFF2-40B4-BE49-F238E27FC236}">
                <a16:creationId xmlns:a16="http://schemas.microsoft.com/office/drawing/2014/main" id="{7C450428-0F36-D20F-4453-C645D61BEBCB}"/>
              </a:ext>
            </a:extLst>
          </p:cNvPr>
          <p:cNvSpPr>
            <a:spLocks noChangeShapeType="1"/>
          </p:cNvSpPr>
          <p:nvPr/>
        </p:nvSpPr>
        <p:spPr bwMode="auto">
          <a:xfrm flipV="1">
            <a:off x="4478339" y="3751263"/>
            <a:ext cx="1587" cy="746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275" name="Line 17">
            <a:extLst>
              <a:ext uri="{FF2B5EF4-FFF2-40B4-BE49-F238E27FC236}">
                <a16:creationId xmlns:a16="http://schemas.microsoft.com/office/drawing/2014/main" id="{C515694D-38A9-38E3-C256-31E34A1684C4}"/>
              </a:ext>
            </a:extLst>
          </p:cNvPr>
          <p:cNvSpPr>
            <a:spLocks noChangeShapeType="1"/>
          </p:cNvSpPr>
          <p:nvPr/>
        </p:nvSpPr>
        <p:spPr bwMode="auto">
          <a:xfrm flipV="1">
            <a:off x="4699000" y="3751263"/>
            <a:ext cx="1588" cy="746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276" name="Line 18">
            <a:extLst>
              <a:ext uri="{FF2B5EF4-FFF2-40B4-BE49-F238E27FC236}">
                <a16:creationId xmlns:a16="http://schemas.microsoft.com/office/drawing/2014/main" id="{AE841D42-4246-8002-6CBA-93CCD545DFB6}"/>
              </a:ext>
            </a:extLst>
          </p:cNvPr>
          <p:cNvSpPr>
            <a:spLocks noChangeShapeType="1"/>
          </p:cNvSpPr>
          <p:nvPr/>
        </p:nvSpPr>
        <p:spPr bwMode="auto">
          <a:xfrm flipV="1">
            <a:off x="4908550" y="3751263"/>
            <a:ext cx="1588" cy="746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277" name="Line 19">
            <a:extLst>
              <a:ext uri="{FF2B5EF4-FFF2-40B4-BE49-F238E27FC236}">
                <a16:creationId xmlns:a16="http://schemas.microsoft.com/office/drawing/2014/main" id="{D7526568-DEF2-3170-71A0-AD08732B5629}"/>
              </a:ext>
            </a:extLst>
          </p:cNvPr>
          <p:cNvSpPr>
            <a:spLocks noChangeShapeType="1"/>
          </p:cNvSpPr>
          <p:nvPr/>
        </p:nvSpPr>
        <p:spPr bwMode="auto">
          <a:xfrm flipV="1">
            <a:off x="5119689" y="3751263"/>
            <a:ext cx="1587" cy="746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278" name="Line 20">
            <a:extLst>
              <a:ext uri="{FF2B5EF4-FFF2-40B4-BE49-F238E27FC236}">
                <a16:creationId xmlns:a16="http://schemas.microsoft.com/office/drawing/2014/main" id="{E3FAE84B-84B1-6368-C3BC-94F546E6CEB1}"/>
              </a:ext>
            </a:extLst>
          </p:cNvPr>
          <p:cNvSpPr>
            <a:spLocks noChangeShapeType="1"/>
          </p:cNvSpPr>
          <p:nvPr/>
        </p:nvSpPr>
        <p:spPr bwMode="auto">
          <a:xfrm flipV="1">
            <a:off x="5340350" y="3751263"/>
            <a:ext cx="1588" cy="746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279" name="Line 21">
            <a:extLst>
              <a:ext uri="{FF2B5EF4-FFF2-40B4-BE49-F238E27FC236}">
                <a16:creationId xmlns:a16="http://schemas.microsoft.com/office/drawing/2014/main" id="{6EC1FB7F-B0F6-7622-D078-F0ADE9473C06}"/>
              </a:ext>
            </a:extLst>
          </p:cNvPr>
          <p:cNvSpPr>
            <a:spLocks noChangeShapeType="1"/>
          </p:cNvSpPr>
          <p:nvPr/>
        </p:nvSpPr>
        <p:spPr bwMode="auto">
          <a:xfrm flipV="1">
            <a:off x="5551489" y="3751263"/>
            <a:ext cx="1587" cy="746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280" name="Line 22">
            <a:extLst>
              <a:ext uri="{FF2B5EF4-FFF2-40B4-BE49-F238E27FC236}">
                <a16:creationId xmlns:a16="http://schemas.microsoft.com/office/drawing/2014/main" id="{EF8513F8-B002-27EB-ACF9-6C6E3D1F1F60}"/>
              </a:ext>
            </a:extLst>
          </p:cNvPr>
          <p:cNvSpPr>
            <a:spLocks noChangeShapeType="1"/>
          </p:cNvSpPr>
          <p:nvPr/>
        </p:nvSpPr>
        <p:spPr bwMode="auto">
          <a:xfrm flipV="1">
            <a:off x="5772150" y="3751263"/>
            <a:ext cx="1588" cy="746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281" name="Line 23">
            <a:extLst>
              <a:ext uri="{FF2B5EF4-FFF2-40B4-BE49-F238E27FC236}">
                <a16:creationId xmlns:a16="http://schemas.microsoft.com/office/drawing/2014/main" id="{A7D0C678-271A-136A-8731-BBE10B2BB9EA}"/>
              </a:ext>
            </a:extLst>
          </p:cNvPr>
          <p:cNvSpPr>
            <a:spLocks noChangeShapeType="1"/>
          </p:cNvSpPr>
          <p:nvPr/>
        </p:nvSpPr>
        <p:spPr bwMode="auto">
          <a:xfrm flipV="1">
            <a:off x="5983289" y="3751263"/>
            <a:ext cx="1587" cy="746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282" name="Line 24">
            <a:extLst>
              <a:ext uri="{FF2B5EF4-FFF2-40B4-BE49-F238E27FC236}">
                <a16:creationId xmlns:a16="http://schemas.microsoft.com/office/drawing/2014/main" id="{27F1ED52-3FB1-C28B-ABCE-7B9078E2988A}"/>
              </a:ext>
            </a:extLst>
          </p:cNvPr>
          <p:cNvSpPr>
            <a:spLocks noChangeShapeType="1"/>
          </p:cNvSpPr>
          <p:nvPr/>
        </p:nvSpPr>
        <p:spPr bwMode="auto">
          <a:xfrm flipV="1">
            <a:off x="6205539" y="3751263"/>
            <a:ext cx="1587" cy="746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283" name="Line 25">
            <a:extLst>
              <a:ext uri="{FF2B5EF4-FFF2-40B4-BE49-F238E27FC236}">
                <a16:creationId xmlns:a16="http://schemas.microsoft.com/office/drawing/2014/main" id="{567CA578-EB89-71C3-357A-9B9097EF9C17}"/>
              </a:ext>
            </a:extLst>
          </p:cNvPr>
          <p:cNvSpPr>
            <a:spLocks noChangeShapeType="1"/>
          </p:cNvSpPr>
          <p:nvPr/>
        </p:nvSpPr>
        <p:spPr bwMode="auto">
          <a:xfrm flipV="1">
            <a:off x="6415089" y="3751263"/>
            <a:ext cx="1587" cy="746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284" name="Line 26">
            <a:extLst>
              <a:ext uri="{FF2B5EF4-FFF2-40B4-BE49-F238E27FC236}">
                <a16:creationId xmlns:a16="http://schemas.microsoft.com/office/drawing/2014/main" id="{14936BEF-2214-E019-86B9-B85DBE2200DF}"/>
              </a:ext>
            </a:extLst>
          </p:cNvPr>
          <p:cNvSpPr>
            <a:spLocks noChangeShapeType="1"/>
          </p:cNvSpPr>
          <p:nvPr/>
        </p:nvSpPr>
        <p:spPr bwMode="auto">
          <a:xfrm flipV="1">
            <a:off x="6627814" y="3751263"/>
            <a:ext cx="1587" cy="746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285" name="Line 27">
            <a:extLst>
              <a:ext uri="{FF2B5EF4-FFF2-40B4-BE49-F238E27FC236}">
                <a16:creationId xmlns:a16="http://schemas.microsoft.com/office/drawing/2014/main" id="{A4F2DD24-C934-9C26-C619-DC15AEE3C4D2}"/>
              </a:ext>
            </a:extLst>
          </p:cNvPr>
          <p:cNvSpPr>
            <a:spLocks noChangeShapeType="1"/>
          </p:cNvSpPr>
          <p:nvPr/>
        </p:nvSpPr>
        <p:spPr bwMode="auto">
          <a:xfrm flipV="1">
            <a:off x="6846889" y="3751263"/>
            <a:ext cx="1587" cy="746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286" name="Line 28">
            <a:extLst>
              <a:ext uri="{FF2B5EF4-FFF2-40B4-BE49-F238E27FC236}">
                <a16:creationId xmlns:a16="http://schemas.microsoft.com/office/drawing/2014/main" id="{A776B1F0-CBBD-235B-528E-D9E6E700AD6F}"/>
              </a:ext>
            </a:extLst>
          </p:cNvPr>
          <p:cNvSpPr>
            <a:spLocks noChangeShapeType="1"/>
          </p:cNvSpPr>
          <p:nvPr/>
        </p:nvSpPr>
        <p:spPr bwMode="auto">
          <a:xfrm flipV="1">
            <a:off x="7058026" y="3751263"/>
            <a:ext cx="3175" cy="746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287" name="Line 29">
            <a:extLst>
              <a:ext uri="{FF2B5EF4-FFF2-40B4-BE49-F238E27FC236}">
                <a16:creationId xmlns:a16="http://schemas.microsoft.com/office/drawing/2014/main" id="{E2E85A00-C7E5-81BF-0DEF-E21D791E729B}"/>
              </a:ext>
            </a:extLst>
          </p:cNvPr>
          <p:cNvSpPr>
            <a:spLocks noChangeShapeType="1"/>
          </p:cNvSpPr>
          <p:nvPr/>
        </p:nvSpPr>
        <p:spPr bwMode="auto">
          <a:xfrm flipV="1">
            <a:off x="7278689" y="3751263"/>
            <a:ext cx="1587" cy="746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288" name="Line 30">
            <a:extLst>
              <a:ext uri="{FF2B5EF4-FFF2-40B4-BE49-F238E27FC236}">
                <a16:creationId xmlns:a16="http://schemas.microsoft.com/office/drawing/2014/main" id="{C46ACA1D-1869-62B2-0143-41ED3BC6C27A}"/>
              </a:ext>
            </a:extLst>
          </p:cNvPr>
          <p:cNvSpPr>
            <a:spLocks noChangeShapeType="1"/>
          </p:cNvSpPr>
          <p:nvPr/>
        </p:nvSpPr>
        <p:spPr bwMode="auto">
          <a:xfrm flipV="1">
            <a:off x="7489825" y="3751263"/>
            <a:ext cx="1588" cy="746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289" name="Line 31">
            <a:extLst>
              <a:ext uri="{FF2B5EF4-FFF2-40B4-BE49-F238E27FC236}">
                <a16:creationId xmlns:a16="http://schemas.microsoft.com/office/drawing/2014/main" id="{463D4A5A-FDF4-5384-55EA-529B1A0FF81C}"/>
              </a:ext>
            </a:extLst>
          </p:cNvPr>
          <p:cNvSpPr>
            <a:spLocks noChangeShapeType="1"/>
          </p:cNvSpPr>
          <p:nvPr/>
        </p:nvSpPr>
        <p:spPr bwMode="auto">
          <a:xfrm flipV="1">
            <a:off x="7712075" y="3751263"/>
            <a:ext cx="1588" cy="746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290" name="Line 32">
            <a:extLst>
              <a:ext uri="{FF2B5EF4-FFF2-40B4-BE49-F238E27FC236}">
                <a16:creationId xmlns:a16="http://schemas.microsoft.com/office/drawing/2014/main" id="{EB21BB98-D5E5-A39C-CA14-37F3B24F1E63}"/>
              </a:ext>
            </a:extLst>
          </p:cNvPr>
          <p:cNvSpPr>
            <a:spLocks noChangeShapeType="1"/>
          </p:cNvSpPr>
          <p:nvPr/>
        </p:nvSpPr>
        <p:spPr bwMode="auto">
          <a:xfrm flipV="1">
            <a:off x="7923214" y="3751263"/>
            <a:ext cx="1587" cy="746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291" name="Line 33">
            <a:extLst>
              <a:ext uri="{FF2B5EF4-FFF2-40B4-BE49-F238E27FC236}">
                <a16:creationId xmlns:a16="http://schemas.microsoft.com/office/drawing/2014/main" id="{81DD489A-A40E-DAFB-8392-318E86727622}"/>
              </a:ext>
            </a:extLst>
          </p:cNvPr>
          <p:cNvSpPr>
            <a:spLocks noChangeShapeType="1"/>
          </p:cNvSpPr>
          <p:nvPr/>
        </p:nvSpPr>
        <p:spPr bwMode="auto">
          <a:xfrm flipV="1">
            <a:off x="8134350" y="3751263"/>
            <a:ext cx="1588" cy="746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292" name="Line 34">
            <a:extLst>
              <a:ext uri="{FF2B5EF4-FFF2-40B4-BE49-F238E27FC236}">
                <a16:creationId xmlns:a16="http://schemas.microsoft.com/office/drawing/2014/main" id="{1EB98548-4771-D637-E39B-E1587C0B5AEB}"/>
              </a:ext>
            </a:extLst>
          </p:cNvPr>
          <p:cNvSpPr>
            <a:spLocks noChangeShapeType="1"/>
          </p:cNvSpPr>
          <p:nvPr/>
        </p:nvSpPr>
        <p:spPr bwMode="auto">
          <a:xfrm flipV="1">
            <a:off x="8355014" y="3751263"/>
            <a:ext cx="1587" cy="746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293" name="Line 35">
            <a:extLst>
              <a:ext uri="{FF2B5EF4-FFF2-40B4-BE49-F238E27FC236}">
                <a16:creationId xmlns:a16="http://schemas.microsoft.com/office/drawing/2014/main" id="{11FF33A4-B019-B7B6-87DE-CDBB90CFFA38}"/>
              </a:ext>
            </a:extLst>
          </p:cNvPr>
          <p:cNvSpPr>
            <a:spLocks noChangeShapeType="1"/>
          </p:cNvSpPr>
          <p:nvPr/>
        </p:nvSpPr>
        <p:spPr bwMode="auto">
          <a:xfrm flipV="1">
            <a:off x="8564564" y="3751263"/>
            <a:ext cx="1587" cy="746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294" name="Line 36">
            <a:extLst>
              <a:ext uri="{FF2B5EF4-FFF2-40B4-BE49-F238E27FC236}">
                <a16:creationId xmlns:a16="http://schemas.microsoft.com/office/drawing/2014/main" id="{BA61C38C-DBD4-EB65-44EC-6646632CBC60}"/>
              </a:ext>
            </a:extLst>
          </p:cNvPr>
          <p:cNvSpPr>
            <a:spLocks noChangeShapeType="1"/>
          </p:cNvSpPr>
          <p:nvPr/>
        </p:nvSpPr>
        <p:spPr bwMode="auto">
          <a:xfrm flipV="1">
            <a:off x="8786814" y="3751263"/>
            <a:ext cx="1587" cy="746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295" name="Line 37">
            <a:extLst>
              <a:ext uri="{FF2B5EF4-FFF2-40B4-BE49-F238E27FC236}">
                <a16:creationId xmlns:a16="http://schemas.microsoft.com/office/drawing/2014/main" id="{D1454480-DAC7-8775-5E1A-1EC45E5F0A9C}"/>
              </a:ext>
            </a:extLst>
          </p:cNvPr>
          <p:cNvSpPr>
            <a:spLocks noChangeShapeType="1"/>
          </p:cNvSpPr>
          <p:nvPr/>
        </p:nvSpPr>
        <p:spPr bwMode="auto">
          <a:xfrm flipV="1">
            <a:off x="8996364" y="3751263"/>
            <a:ext cx="1587" cy="746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296" name="Line 38">
            <a:extLst>
              <a:ext uri="{FF2B5EF4-FFF2-40B4-BE49-F238E27FC236}">
                <a16:creationId xmlns:a16="http://schemas.microsoft.com/office/drawing/2014/main" id="{FECFE097-39C6-1B59-EBF7-12375F8F94F5}"/>
              </a:ext>
            </a:extLst>
          </p:cNvPr>
          <p:cNvSpPr>
            <a:spLocks noChangeShapeType="1"/>
          </p:cNvSpPr>
          <p:nvPr/>
        </p:nvSpPr>
        <p:spPr bwMode="auto">
          <a:xfrm flipV="1">
            <a:off x="9220200" y="3751263"/>
            <a:ext cx="1588" cy="746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297" name="Line 39">
            <a:extLst>
              <a:ext uri="{FF2B5EF4-FFF2-40B4-BE49-F238E27FC236}">
                <a16:creationId xmlns:a16="http://schemas.microsoft.com/office/drawing/2014/main" id="{B83A4228-8CEC-C65F-B168-91F59CD336A7}"/>
              </a:ext>
            </a:extLst>
          </p:cNvPr>
          <p:cNvSpPr>
            <a:spLocks noChangeShapeType="1"/>
          </p:cNvSpPr>
          <p:nvPr/>
        </p:nvSpPr>
        <p:spPr bwMode="auto">
          <a:xfrm flipV="1">
            <a:off x="9429750" y="3751263"/>
            <a:ext cx="1588" cy="746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298" name="Rectangle 40">
            <a:extLst>
              <a:ext uri="{FF2B5EF4-FFF2-40B4-BE49-F238E27FC236}">
                <a16:creationId xmlns:a16="http://schemas.microsoft.com/office/drawing/2014/main" id="{C876B663-1A7F-A3E2-163C-8A0AF99918AF}"/>
              </a:ext>
            </a:extLst>
          </p:cNvPr>
          <p:cNvSpPr>
            <a:spLocks noChangeArrowheads="1"/>
          </p:cNvSpPr>
          <p:nvPr/>
        </p:nvSpPr>
        <p:spPr bwMode="auto">
          <a:xfrm>
            <a:off x="2474914" y="4797425"/>
            <a:ext cx="650819"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87425">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defTabSz="9874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defTabSz="987425">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defTabSz="987425">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defTabSz="987425">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0"/>
              </a:spcBef>
              <a:spcAft>
                <a:spcPct val="0"/>
              </a:spcAft>
              <a:buClrTx/>
              <a:buSzTx/>
              <a:buNone/>
            </a:pPr>
            <a:r>
              <a:rPr lang="en-US" altLang="en-US" sz="1900" b="1">
                <a:solidFill>
                  <a:prstClr val="black"/>
                </a:solidFill>
                <a:latin typeface="Times New Roman" panose="02020603050405020304" pitchFamily="18" charset="0"/>
              </a:rPr>
              <a:t>($200)</a:t>
            </a:r>
            <a:endParaRPr lang="en-US" altLang="en-US" sz="2600">
              <a:solidFill>
                <a:prstClr val="black"/>
              </a:solidFill>
              <a:latin typeface="Times New Roman" panose="02020603050405020304" pitchFamily="18" charset="0"/>
            </a:endParaRPr>
          </a:p>
        </p:txBody>
      </p:sp>
      <p:sp>
        <p:nvSpPr>
          <p:cNvPr id="267299" name="Rectangle 41">
            <a:extLst>
              <a:ext uri="{FF2B5EF4-FFF2-40B4-BE49-F238E27FC236}">
                <a16:creationId xmlns:a16="http://schemas.microsoft.com/office/drawing/2014/main" id="{75842C37-265C-BA65-6362-7EF766CC05C0}"/>
              </a:ext>
            </a:extLst>
          </p:cNvPr>
          <p:cNvSpPr>
            <a:spLocks noChangeArrowheads="1"/>
          </p:cNvSpPr>
          <p:nvPr/>
        </p:nvSpPr>
        <p:spPr bwMode="auto">
          <a:xfrm>
            <a:off x="2474914" y="4194175"/>
            <a:ext cx="650819"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87425">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defTabSz="9874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defTabSz="987425">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defTabSz="987425">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defTabSz="987425">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0"/>
              </a:spcBef>
              <a:spcAft>
                <a:spcPct val="0"/>
              </a:spcAft>
              <a:buClrTx/>
              <a:buSzTx/>
              <a:buNone/>
            </a:pPr>
            <a:r>
              <a:rPr lang="en-US" altLang="en-US" sz="1900" b="1">
                <a:solidFill>
                  <a:prstClr val="black"/>
                </a:solidFill>
                <a:latin typeface="Times New Roman" panose="02020603050405020304" pitchFamily="18" charset="0"/>
              </a:rPr>
              <a:t>($100)</a:t>
            </a:r>
            <a:endParaRPr lang="en-US" altLang="en-US" sz="2600">
              <a:solidFill>
                <a:prstClr val="black"/>
              </a:solidFill>
              <a:latin typeface="Times New Roman" panose="02020603050405020304" pitchFamily="18" charset="0"/>
            </a:endParaRPr>
          </a:p>
        </p:txBody>
      </p:sp>
      <p:sp>
        <p:nvSpPr>
          <p:cNvPr id="267300" name="Rectangle 42">
            <a:extLst>
              <a:ext uri="{FF2B5EF4-FFF2-40B4-BE49-F238E27FC236}">
                <a16:creationId xmlns:a16="http://schemas.microsoft.com/office/drawing/2014/main" id="{0421AAD7-781D-51FE-4AE8-A7F6E24BCAAD}"/>
              </a:ext>
            </a:extLst>
          </p:cNvPr>
          <p:cNvSpPr>
            <a:spLocks noChangeArrowheads="1"/>
          </p:cNvSpPr>
          <p:nvPr/>
        </p:nvSpPr>
        <p:spPr bwMode="auto">
          <a:xfrm>
            <a:off x="2832100" y="3575050"/>
            <a:ext cx="243656"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87425">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defTabSz="9874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defTabSz="987425">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defTabSz="987425">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defTabSz="987425">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0"/>
              </a:spcBef>
              <a:spcAft>
                <a:spcPct val="0"/>
              </a:spcAft>
              <a:buClrTx/>
              <a:buSzTx/>
              <a:buNone/>
            </a:pPr>
            <a:r>
              <a:rPr lang="en-US" altLang="en-US" sz="1900" b="1">
                <a:solidFill>
                  <a:prstClr val="black"/>
                </a:solidFill>
                <a:latin typeface="Times New Roman" panose="02020603050405020304" pitchFamily="18" charset="0"/>
              </a:rPr>
              <a:t>$0</a:t>
            </a:r>
            <a:endParaRPr lang="en-US" altLang="en-US" sz="2600">
              <a:solidFill>
                <a:prstClr val="black"/>
              </a:solidFill>
              <a:latin typeface="Times New Roman" panose="02020603050405020304" pitchFamily="18" charset="0"/>
            </a:endParaRPr>
          </a:p>
        </p:txBody>
      </p:sp>
      <p:sp>
        <p:nvSpPr>
          <p:cNvPr id="267301" name="Rectangle 43">
            <a:extLst>
              <a:ext uri="{FF2B5EF4-FFF2-40B4-BE49-F238E27FC236}">
                <a16:creationId xmlns:a16="http://schemas.microsoft.com/office/drawing/2014/main" id="{FD24274A-3726-9970-C52B-4F0147629D2C}"/>
              </a:ext>
            </a:extLst>
          </p:cNvPr>
          <p:cNvSpPr>
            <a:spLocks noChangeArrowheads="1"/>
          </p:cNvSpPr>
          <p:nvPr/>
        </p:nvSpPr>
        <p:spPr bwMode="auto">
          <a:xfrm>
            <a:off x="2559051" y="2968625"/>
            <a:ext cx="487313"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87425">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defTabSz="9874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defTabSz="987425">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defTabSz="987425">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defTabSz="987425">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0"/>
              </a:spcBef>
              <a:spcAft>
                <a:spcPct val="0"/>
              </a:spcAft>
              <a:buClrTx/>
              <a:buSzTx/>
              <a:buNone/>
            </a:pPr>
            <a:r>
              <a:rPr lang="en-US" altLang="en-US" sz="1900" b="1">
                <a:solidFill>
                  <a:prstClr val="black"/>
                </a:solidFill>
                <a:latin typeface="Times New Roman" panose="02020603050405020304" pitchFamily="18" charset="0"/>
              </a:rPr>
              <a:t>$100</a:t>
            </a:r>
            <a:endParaRPr lang="en-US" altLang="en-US" sz="2600">
              <a:solidFill>
                <a:prstClr val="black"/>
              </a:solidFill>
              <a:latin typeface="Times New Roman" panose="02020603050405020304" pitchFamily="18" charset="0"/>
            </a:endParaRPr>
          </a:p>
        </p:txBody>
      </p:sp>
      <p:sp>
        <p:nvSpPr>
          <p:cNvPr id="267302" name="Rectangle 44">
            <a:extLst>
              <a:ext uri="{FF2B5EF4-FFF2-40B4-BE49-F238E27FC236}">
                <a16:creationId xmlns:a16="http://schemas.microsoft.com/office/drawing/2014/main" id="{559500CA-4FF1-A4AD-C8FB-7870C3ECDADA}"/>
              </a:ext>
            </a:extLst>
          </p:cNvPr>
          <p:cNvSpPr>
            <a:spLocks noChangeArrowheads="1"/>
          </p:cNvSpPr>
          <p:nvPr/>
        </p:nvSpPr>
        <p:spPr bwMode="auto">
          <a:xfrm>
            <a:off x="2559051" y="2363788"/>
            <a:ext cx="487313"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87425">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defTabSz="9874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defTabSz="987425">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defTabSz="987425">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defTabSz="987425">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0"/>
              </a:spcBef>
              <a:spcAft>
                <a:spcPct val="0"/>
              </a:spcAft>
              <a:buClrTx/>
              <a:buSzTx/>
              <a:buNone/>
            </a:pPr>
            <a:r>
              <a:rPr lang="en-US" altLang="en-US" sz="1900" b="1">
                <a:solidFill>
                  <a:prstClr val="black"/>
                </a:solidFill>
                <a:latin typeface="Times New Roman" panose="02020603050405020304" pitchFamily="18" charset="0"/>
              </a:rPr>
              <a:t>$200</a:t>
            </a:r>
            <a:endParaRPr lang="en-US" altLang="en-US" sz="2600">
              <a:solidFill>
                <a:prstClr val="black"/>
              </a:solidFill>
              <a:latin typeface="Times New Roman" panose="02020603050405020304" pitchFamily="18" charset="0"/>
            </a:endParaRPr>
          </a:p>
        </p:txBody>
      </p:sp>
      <p:sp>
        <p:nvSpPr>
          <p:cNvPr id="267303" name="Rectangle 45">
            <a:extLst>
              <a:ext uri="{FF2B5EF4-FFF2-40B4-BE49-F238E27FC236}">
                <a16:creationId xmlns:a16="http://schemas.microsoft.com/office/drawing/2014/main" id="{EF0C8E7A-6CDD-4658-6CAA-EF6DC0FE5FD5}"/>
              </a:ext>
            </a:extLst>
          </p:cNvPr>
          <p:cNvSpPr>
            <a:spLocks noChangeArrowheads="1"/>
          </p:cNvSpPr>
          <p:nvPr/>
        </p:nvSpPr>
        <p:spPr bwMode="auto">
          <a:xfrm>
            <a:off x="2559051" y="1747838"/>
            <a:ext cx="487313"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87425">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defTabSz="9874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defTabSz="987425">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defTabSz="987425">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defTabSz="987425">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0"/>
              </a:spcBef>
              <a:spcAft>
                <a:spcPct val="0"/>
              </a:spcAft>
              <a:buClrTx/>
              <a:buSzTx/>
              <a:buNone/>
            </a:pPr>
            <a:r>
              <a:rPr lang="en-US" altLang="en-US" sz="1900" b="1">
                <a:solidFill>
                  <a:prstClr val="black"/>
                </a:solidFill>
                <a:latin typeface="Times New Roman" panose="02020603050405020304" pitchFamily="18" charset="0"/>
              </a:rPr>
              <a:t>$300</a:t>
            </a:r>
            <a:endParaRPr lang="en-US" altLang="en-US" sz="2600">
              <a:solidFill>
                <a:prstClr val="black"/>
              </a:solidFill>
              <a:latin typeface="Times New Roman" panose="02020603050405020304" pitchFamily="18" charset="0"/>
            </a:endParaRPr>
          </a:p>
        </p:txBody>
      </p:sp>
      <p:sp>
        <p:nvSpPr>
          <p:cNvPr id="267304" name="Rectangle 46">
            <a:extLst>
              <a:ext uri="{FF2B5EF4-FFF2-40B4-BE49-F238E27FC236}">
                <a16:creationId xmlns:a16="http://schemas.microsoft.com/office/drawing/2014/main" id="{F835F25E-BC65-A499-3031-3B64041956D1}"/>
              </a:ext>
            </a:extLst>
          </p:cNvPr>
          <p:cNvSpPr>
            <a:spLocks noChangeArrowheads="1"/>
          </p:cNvSpPr>
          <p:nvPr/>
        </p:nvSpPr>
        <p:spPr bwMode="auto">
          <a:xfrm>
            <a:off x="2559051" y="1249363"/>
            <a:ext cx="487313"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87425">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defTabSz="9874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defTabSz="987425">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defTabSz="987425">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defTabSz="987425">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0"/>
              </a:spcBef>
              <a:spcAft>
                <a:spcPct val="0"/>
              </a:spcAft>
              <a:buClrTx/>
              <a:buSzTx/>
              <a:buNone/>
            </a:pPr>
            <a:r>
              <a:rPr lang="en-US" altLang="en-US" sz="1900" b="1">
                <a:solidFill>
                  <a:prstClr val="black"/>
                </a:solidFill>
                <a:latin typeface="Times New Roman" panose="02020603050405020304" pitchFamily="18" charset="0"/>
              </a:rPr>
              <a:t>$400</a:t>
            </a:r>
            <a:endParaRPr lang="en-US" altLang="en-US" sz="2600">
              <a:solidFill>
                <a:prstClr val="black"/>
              </a:solidFill>
              <a:latin typeface="Times New Roman" panose="02020603050405020304" pitchFamily="18" charset="0"/>
            </a:endParaRPr>
          </a:p>
        </p:txBody>
      </p:sp>
      <p:sp>
        <p:nvSpPr>
          <p:cNvPr id="267305" name="Rectangle 47">
            <a:extLst>
              <a:ext uri="{FF2B5EF4-FFF2-40B4-BE49-F238E27FC236}">
                <a16:creationId xmlns:a16="http://schemas.microsoft.com/office/drawing/2014/main" id="{B3BCB6A8-5B54-2D11-8065-37BADBDAE5DE}"/>
              </a:ext>
            </a:extLst>
          </p:cNvPr>
          <p:cNvSpPr>
            <a:spLocks noChangeArrowheads="1"/>
          </p:cNvSpPr>
          <p:nvPr/>
        </p:nvSpPr>
        <p:spPr bwMode="auto">
          <a:xfrm>
            <a:off x="2941638" y="3976688"/>
            <a:ext cx="444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87425">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defTabSz="9874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defTabSz="987425">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defTabSz="987425">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defTabSz="987425">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0"/>
              </a:spcBef>
              <a:spcAft>
                <a:spcPct val="0"/>
              </a:spcAft>
              <a:buClrTx/>
              <a:buSzTx/>
              <a:buNone/>
            </a:pPr>
            <a:r>
              <a:rPr lang="en-US" altLang="en-US" sz="1500" b="1">
                <a:solidFill>
                  <a:prstClr val="black"/>
                </a:solidFill>
                <a:latin typeface="Times New Roman" panose="02020603050405020304" pitchFamily="18" charset="0"/>
              </a:rPr>
              <a:t>-15%</a:t>
            </a:r>
            <a:endParaRPr lang="en-US" altLang="en-US" sz="2600">
              <a:solidFill>
                <a:prstClr val="black"/>
              </a:solidFill>
              <a:latin typeface="Times New Roman" panose="02020603050405020304" pitchFamily="18" charset="0"/>
            </a:endParaRPr>
          </a:p>
        </p:txBody>
      </p:sp>
      <p:sp>
        <p:nvSpPr>
          <p:cNvPr id="267306" name="Rectangle 48">
            <a:extLst>
              <a:ext uri="{FF2B5EF4-FFF2-40B4-BE49-F238E27FC236}">
                <a16:creationId xmlns:a16="http://schemas.microsoft.com/office/drawing/2014/main" id="{C3BE2BD7-90D0-68E4-07BC-479513F4CC5D}"/>
              </a:ext>
            </a:extLst>
          </p:cNvPr>
          <p:cNvSpPr>
            <a:spLocks noChangeArrowheads="1"/>
          </p:cNvSpPr>
          <p:nvPr/>
        </p:nvSpPr>
        <p:spPr bwMode="auto">
          <a:xfrm>
            <a:off x="3895725" y="3976688"/>
            <a:ext cx="2857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87425">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defTabSz="9874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defTabSz="987425">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defTabSz="987425">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defTabSz="987425">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0"/>
              </a:spcBef>
              <a:spcAft>
                <a:spcPct val="0"/>
              </a:spcAft>
              <a:buClrTx/>
              <a:buSzTx/>
              <a:buNone/>
            </a:pPr>
            <a:r>
              <a:rPr lang="en-US" altLang="en-US" sz="1500" b="1">
                <a:solidFill>
                  <a:prstClr val="black"/>
                </a:solidFill>
                <a:latin typeface="Times New Roman" panose="02020603050405020304" pitchFamily="18" charset="0"/>
              </a:rPr>
              <a:t>0%</a:t>
            </a:r>
            <a:endParaRPr lang="en-US" altLang="en-US" sz="2600">
              <a:solidFill>
                <a:prstClr val="black"/>
              </a:solidFill>
              <a:latin typeface="Times New Roman" panose="02020603050405020304" pitchFamily="18" charset="0"/>
            </a:endParaRPr>
          </a:p>
        </p:txBody>
      </p:sp>
      <p:sp>
        <p:nvSpPr>
          <p:cNvPr id="267307" name="Rectangle 49">
            <a:extLst>
              <a:ext uri="{FF2B5EF4-FFF2-40B4-BE49-F238E27FC236}">
                <a16:creationId xmlns:a16="http://schemas.microsoft.com/office/drawing/2014/main" id="{FDEEE59D-021D-5B8B-5077-50C0624EE1A5}"/>
              </a:ext>
            </a:extLst>
          </p:cNvPr>
          <p:cNvSpPr>
            <a:spLocks noChangeArrowheads="1"/>
          </p:cNvSpPr>
          <p:nvPr/>
        </p:nvSpPr>
        <p:spPr bwMode="auto">
          <a:xfrm>
            <a:off x="4498975" y="3976688"/>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87425">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defTabSz="9874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defTabSz="987425">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defTabSz="987425">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defTabSz="987425">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0"/>
              </a:spcBef>
              <a:spcAft>
                <a:spcPct val="0"/>
              </a:spcAft>
              <a:buClrTx/>
              <a:buSzTx/>
              <a:buNone/>
            </a:pPr>
            <a:r>
              <a:rPr lang="en-US" altLang="en-US" sz="1500" b="1">
                <a:solidFill>
                  <a:prstClr val="black"/>
                </a:solidFill>
                <a:latin typeface="Times New Roman" panose="02020603050405020304" pitchFamily="18" charset="0"/>
              </a:rPr>
              <a:t>15%</a:t>
            </a:r>
            <a:endParaRPr lang="en-US" altLang="en-US" sz="2600">
              <a:solidFill>
                <a:prstClr val="black"/>
              </a:solidFill>
              <a:latin typeface="Times New Roman" panose="02020603050405020304" pitchFamily="18" charset="0"/>
            </a:endParaRPr>
          </a:p>
        </p:txBody>
      </p:sp>
      <p:sp>
        <p:nvSpPr>
          <p:cNvPr id="267308" name="Rectangle 50">
            <a:extLst>
              <a:ext uri="{FF2B5EF4-FFF2-40B4-BE49-F238E27FC236}">
                <a16:creationId xmlns:a16="http://schemas.microsoft.com/office/drawing/2014/main" id="{E468DD6E-0BD6-F1BF-9411-0B8E3679FAB7}"/>
              </a:ext>
            </a:extLst>
          </p:cNvPr>
          <p:cNvSpPr>
            <a:spLocks noChangeArrowheads="1"/>
          </p:cNvSpPr>
          <p:nvPr/>
        </p:nvSpPr>
        <p:spPr bwMode="auto">
          <a:xfrm>
            <a:off x="5140325" y="3976688"/>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87425">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defTabSz="9874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defTabSz="987425">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defTabSz="987425">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defTabSz="987425">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0"/>
              </a:spcBef>
              <a:spcAft>
                <a:spcPct val="0"/>
              </a:spcAft>
              <a:buClrTx/>
              <a:buSzTx/>
              <a:buNone/>
            </a:pPr>
            <a:r>
              <a:rPr lang="en-US" altLang="en-US" sz="1500" b="1">
                <a:solidFill>
                  <a:prstClr val="black"/>
                </a:solidFill>
                <a:latin typeface="Times New Roman" panose="02020603050405020304" pitchFamily="18" charset="0"/>
              </a:rPr>
              <a:t>30%</a:t>
            </a:r>
            <a:endParaRPr lang="en-US" altLang="en-US" sz="2600">
              <a:solidFill>
                <a:prstClr val="black"/>
              </a:solidFill>
              <a:latin typeface="Times New Roman" panose="02020603050405020304" pitchFamily="18" charset="0"/>
            </a:endParaRPr>
          </a:p>
        </p:txBody>
      </p:sp>
      <p:sp>
        <p:nvSpPr>
          <p:cNvPr id="267309" name="Rectangle 51">
            <a:extLst>
              <a:ext uri="{FF2B5EF4-FFF2-40B4-BE49-F238E27FC236}">
                <a16:creationId xmlns:a16="http://schemas.microsoft.com/office/drawing/2014/main" id="{B7A7D6F1-B2A5-0883-510F-ADC09B7BF9B7}"/>
              </a:ext>
            </a:extLst>
          </p:cNvPr>
          <p:cNvSpPr>
            <a:spLocks noChangeArrowheads="1"/>
          </p:cNvSpPr>
          <p:nvPr/>
        </p:nvSpPr>
        <p:spPr bwMode="auto">
          <a:xfrm>
            <a:off x="5780088" y="3976688"/>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87425">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defTabSz="9874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defTabSz="987425">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defTabSz="987425">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defTabSz="987425">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0"/>
              </a:spcBef>
              <a:spcAft>
                <a:spcPct val="0"/>
              </a:spcAft>
              <a:buClrTx/>
              <a:buSzTx/>
              <a:buNone/>
            </a:pPr>
            <a:r>
              <a:rPr lang="en-US" altLang="en-US" sz="1500" b="1">
                <a:solidFill>
                  <a:prstClr val="black"/>
                </a:solidFill>
                <a:latin typeface="Times New Roman" panose="02020603050405020304" pitchFamily="18" charset="0"/>
              </a:rPr>
              <a:t>45%</a:t>
            </a:r>
            <a:endParaRPr lang="en-US" altLang="en-US" sz="2600">
              <a:solidFill>
                <a:prstClr val="black"/>
              </a:solidFill>
              <a:latin typeface="Times New Roman" panose="02020603050405020304" pitchFamily="18" charset="0"/>
            </a:endParaRPr>
          </a:p>
        </p:txBody>
      </p:sp>
      <p:sp>
        <p:nvSpPr>
          <p:cNvPr id="267310" name="Rectangle 52">
            <a:extLst>
              <a:ext uri="{FF2B5EF4-FFF2-40B4-BE49-F238E27FC236}">
                <a16:creationId xmlns:a16="http://schemas.microsoft.com/office/drawing/2014/main" id="{3B75239F-27F4-297C-5C70-A49B24E4A1BB}"/>
              </a:ext>
            </a:extLst>
          </p:cNvPr>
          <p:cNvSpPr>
            <a:spLocks noChangeArrowheads="1"/>
          </p:cNvSpPr>
          <p:nvPr/>
        </p:nvSpPr>
        <p:spPr bwMode="auto">
          <a:xfrm>
            <a:off x="6427788" y="3978275"/>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87425">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defTabSz="9874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defTabSz="987425">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defTabSz="987425">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defTabSz="987425">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0"/>
              </a:spcBef>
              <a:spcAft>
                <a:spcPct val="0"/>
              </a:spcAft>
              <a:buClrTx/>
              <a:buSzTx/>
              <a:buNone/>
            </a:pPr>
            <a:r>
              <a:rPr lang="en-US" altLang="en-US" sz="1500" b="1">
                <a:solidFill>
                  <a:prstClr val="black"/>
                </a:solidFill>
                <a:latin typeface="Times New Roman" panose="02020603050405020304" pitchFamily="18" charset="0"/>
              </a:rPr>
              <a:t>70%</a:t>
            </a:r>
            <a:endParaRPr lang="en-US" altLang="en-US" sz="2600">
              <a:solidFill>
                <a:prstClr val="black"/>
              </a:solidFill>
              <a:latin typeface="Times New Roman" panose="02020603050405020304" pitchFamily="18" charset="0"/>
            </a:endParaRPr>
          </a:p>
        </p:txBody>
      </p:sp>
      <p:sp>
        <p:nvSpPr>
          <p:cNvPr id="267311" name="Rectangle 53">
            <a:extLst>
              <a:ext uri="{FF2B5EF4-FFF2-40B4-BE49-F238E27FC236}">
                <a16:creationId xmlns:a16="http://schemas.microsoft.com/office/drawing/2014/main" id="{F80224EE-5924-FA40-DB9B-81EEF7DB5E45}"/>
              </a:ext>
            </a:extLst>
          </p:cNvPr>
          <p:cNvSpPr>
            <a:spLocks noChangeArrowheads="1"/>
          </p:cNvSpPr>
          <p:nvPr/>
        </p:nvSpPr>
        <p:spPr bwMode="auto">
          <a:xfrm>
            <a:off x="7027863" y="3978275"/>
            <a:ext cx="4762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87425">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defTabSz="9874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defTabSz="987425">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defTabSz="987425">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defTabSz="987425">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0"/>
              </a:spcBef>
              <a:spcAft>
                <a:spcPct val="0"/>
              </a:spcAft>
              <a:buClrTx/>
              <a:buSzTx/>
              <a:buNone/>
            </a:pPr>
            <a:r>
              <a:rPr lang="en-US" altLang="en-US" sz="1500" b="1">
                <a:solidFill>
                  <a:prstClr val="black"/>
                </a:solidFill>
                <a:latin typeface="Times New Roman" panose="02020603050405020304" pitchFamily="18" charset="0"/>
              </a:rPr>
              <a:t>100%</a:t>
            </a:r>
            <a:endParaRPr lang="en-US" altLang="en-US" sz="2600">
              <a:solidFill>
                <a:prstClr val="black"/>
              </a:solidFill>
              <a:latin typeface="Times New Roman" panose="02020603050405020304" pitchFamily="18" charset="0"/>
            </a:endParaRPr>
          </a:p>
        </p:txBody>
      </p:sp>
      <p:sp>
        <p:nvSpPr>
          <p:cNvPr id="267312" name="Rectangle 54">
            <a:extLst>
              <a:ext uri="{FF2B5EF4-FFF2-40B4-BE49-F238E27FC236}">
                <a16:creationId xmlns:a16="http://schemas.microsoft.com/office/drawing/2014/main" id="{D6811345-5AAF-E552-0EE2-BF1AE3D08A51}"/>
              </a:ext>
            </a:extLst>
          </p:cNvPr>
          <p:cNvSpPr>
            <a:spLocks noChangeArrowheads="1"/>
          </p:cNvSpPr>
          <p:nvPr/>
        </p:nvSpPr>
        <p:spPr bwMode="auto">
          <a:xfrm>
            <a:off x="7670800" y="3976688"/>
            <a:ext cx="4762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87425">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defTabSz="9874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defTabSz="987425">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defTabSz="987425">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defTabSz="987425">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0"/>
              </a:spcBef>
              <a:spcAft>
                <a:spcPct val="0"/>
              </a:spcAft>
              <a:buClrTx/>
              <a:buSzTx/>
              <a:buNone/>
            </a:pPr>
            <a:r>
              <a:rPr lang="en-US" altLang="en-US" sz="1500" b="1">
                <a:solidFill>
                  <a:prstClr val="black"/>
                </a:solidFill>
                <a:latin typeface="Times New Roman" panose="02020603050405020304" pitchFamily="18" charset="0"/>
              </a:rPr>
              <a:t>130%</a:t>
            </a:r>
            <a:endParaRPr lang="en-US" altLang="en-US" sz="2600">
              <a:solidFill>
                <a:prstClr val="black"/>
              </a:solidFill>
              <a:latin typeface="Times New Roman" panose="02020603050405020304" pitchFamily="18" charset="0"/>
            </a:endParaRPr>
          </a:p>
        </p:txBody>
      </p:sp>
      <p:sp>
        <p:nvSpPr>
          <p:cNvPr id="267313" name="Rectangle 55">
            <a:extLst>
              <a:ext uri="{FF2B5EF4-FFF2-40B4-BE49-F238E27FC236}">
                <a16:creationId xmlns:a16="http://schemas.microsoft.com/office/drawing/2014/main" id="{2390E14F-2BCC-E0DB-2B74-8D06BAFFAEE4}"/>
              </a:ext>
            </a:extLst>
          </p:cNvPr>
          <p:cNvSpPr>
            <a:spLocks noChangeArrowheads="1"/>
          </p:cNvSpPr>
          <p:nvPr/>
        </p:nvSpPr>
        <p:spPr bwMode="auto">
          <a:xfrm>
            <a:off x="8313738" y="3975100"/>
            <a:ext cx="4762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87425">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defTabSz="9874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defTabSz="987425">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defTabSz="987425">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defTabSz="987425">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0"/>
              </a:spcBef>
              <a:spcAft>
                <a:spcPct val="0"/>
              </a:spcAft>
              <a:buClrTx/>
              <a:buSzTx/>
              <a:buNone/>
            </a:pPr>
            <a:r>
              <a:rPr lang="en-US" altLang="en-US" sz="1500" b="1">
                <a:solidFill>
                  <a:prstClr val="black"/>
                </a:solidFill>
                <a:latin typeface="Times New Roman" panose="02020603050405020304" pitchFamily="18" charset="0"/>
              </a:rPr>
              <a:t>160%</a:t>
            </a:r>
            <a:endParaRPr lang="en-US" altLang="en-US" sz="2600">
              <a:solidFill>
                <a:prstClr val="black"/>
              </a:solidFill>
              <a:latin typeface="Times New Roman" panose="02020603050405020304" pitchFamily="18" charset="0"/>
            </a:endParaRPr>
          </a:p>
        </p:txBody>
      </p:sp>
      <p:sp>
        <p:nvSpPr>
          <p:cNvPr id="267314" name="Rectangle 56">
            <a:extLst>
              <a:ext uri="{FF2B5EF4-FFF2-40B4-BE49-F238E27FC236}">
                <a16:creationId xmlns:a16="http://schemas.microsoft.com/office/drawing/2014/main" id="{EACB76D2-C53F-F9F5-64E9-3556206664D7}"/>
              </a:ext>
            </a:extLst>
          </p:cNvPr>
          <p:cNvSpPr>
            <a:spLocks noChangeArrowheads="1"/>
          </p:cNvSpPr>
          <p:nvPr/>
        </p:nvSpPr>
        <p:spPr bwMode="auto">
          <a:xfrm>
            <a:off x="8964613" y="3975100"/>
            <a:ext cx="4762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87425">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defTabSz="9874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defTabSz="987425">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defTabSz="987425">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defTabSz="987425">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0"/>
              </a:spcBef>
              <a:spcAft>
                <a:spcPct val="0"/>
              </a:spcAft>
              <a:buClrTx/>
              <a:buSzTx/>
              <a:buNone/>
            </a:pPr>
            <a:r>
              <a:rPr lang="en-US" altLang="en-US" sz="1500" b="1">
                <a:solidFill>
                  <a:prstClr val="black"/>
                </a:solidFill>
                <a:latin typeface="Times New Roman" panose="02020603050405020304" pitchFamily="18" charset="0"/>
              </a:rPr>
              <a:t>190%</a:t>
            </a:r>
            <a:endParaRPr lang="en-US" altLang="en-US" sz="2600">
              <a:solidFill>
                <a:prstClr val="black"/>
              </a:solidFill>
              <a:latin typeface="Times New Roman" panose="02020603050405020304" pitchFamily="18" charset="0"/>
            </a:endParaRPr>
          </a:p>
        </p:txBody>
      </p:sp>
      <p:sp>
        <p:nvSpPr>
          <p:cNvPr id="267315" name="Rectangle 57">
            <a:extLst>
              <a:ext uri="{FF2B5EF4-FFF2-40B4-BE49-F238E27FC236}">
                <a16:creationId xmlns:a16="http://schemas.microsoft.com/office/drawing/2014/main" id="{A2406CE3-326C-C036-90CE-7642771B4D67}"/>
              </a:ext>
            </a:extLst>
          </p:cNvPr>
          <p:cNvSpPr>
            <a:spLocks noChangeArrowheads="1"/>
          </p:cNvSpPr>
          <p:nvPr/>
        </p:nvSpPr>
        <p:spPr bwMode="auto">
          <a:xfrm>
            <a:off x="5538789" y="5324475"/>
            <a:ext cx="173124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87425">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defTabSz="9874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defTabSz="987425">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defTabSz="987425">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defTabSz="987425">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0"/>
              </a:spcBef>
              <a:spcAft>
                <a:spcPct val="0"/>
              </a:spcAft>
              <a:buClrTx/>
              <a:buSzTx/>
              <a:buNone/>
            </a:pPr>
            <a:r>
              <a:rPr lang="en-US" altLang="en-US" sz="2200" b="1">
                <a:solidFill>
                  <a:prstClr val="black"/>
                </a:solidFill>
                <a:latin typeface="Times New Roman" panose="02020603050405020304" pitchFamily="18" charset="0"/>
              </a:rPr>
              <a:t>Discount rates</a:t>
            </a:r>
            <a:endParaRPr lang="en-US" altLang="en-US" sz="2200">
              <a:solidFill>
                <a:prstClr val="black"/>
              </a:solidFill>
              <a:latin typeface="Times New Roman" panose="02020603050405020304" pitchFamily="18" charset="0"/>
            </a:endParaRPr>
          </a:p>
        </p:txBody>
      </p:sp>
      <p:sp>
        <p:nvSpPr>
          <p:cNvPr id="267316" name="Rectangle 58">
            <a:extLst>
              <a:ext uri="{FF2B5EF4-FFF2-40B4-BE49-F238E27FC236}">
                <a16:creationId xmlns:a16="http://schemas.microsoft.com/office/drawing/2014/main" id="{A67DBFD9-0B34-38E4-6DBE-DD966E72F09E}"/>
              </a:ext>
            </a:extLst>
          </p:cNvPr>
          <p:cNvSpPr>
            <a:spLocks noChangeArrowheads="1"/>
          </p:cNvSpPr>
          <p:nvPr/>
        </p:nvSpPr>
        <p:spPr bwMode="auto">
          <a:xfrm rot="16200000" flipH="1">
            <a:off x="1977232" y="1389649"/>
            <a:ext cx="5746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87425">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defTabSz="9874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defTabSz="987425">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defTabSz="987425">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defTabSz="987425">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0"/>
              </a:spcBef>
              <a:spcAft>
                <a:spcPct val="0"/>
              </a:spcAft>
              <a:buClrTx/>
              <a:buSzTx/>
              <a:buNone/>
            </a:pPr>
            <a:r>
              <a:rPr lang="en-US" altLang="en-US" sz="2200" b="1">
                <a:solidFill>
                  <a:prstClr val="black"/>
                </a:solidFill>
                <a:latin typeface="Times New Roman" panose="02020603050405020304" pitchFamily="18" charset="0"/>
              </a:rPr>
              <a:t>NPV</a:t>
            </a:r>
            <a:endParaRPr lang="en-US" altLang="en-US" sz="2200">
              <a:solidFill>
                <a:prstClr val="black"/>
              </a:solidFill>
              <a:latin typeface="Times New Roman" panose="02020603050405020304" pitchFamily="18" charset="0"/>
            </a:endParaRPr>
          </a:p>
        </p:txBody>
      </p:sp>
      <p:grpSp>
        <p:nvGrpSpPr>
          <p:cNvPr id="4" name="Group 59">
            <a:extLst>
              <a:ext uri="{FF2B5EF4-FFF2-40B4-BE49-F238E27FC236}">
                <a16:creationId xmlns:a16="http://schemas.microsoft.com/office/drawing/2014/main" id="{AEA12193-A81A-FC06-1847-E2E589E9AAFD}"/>
              </a:ext>
            </a:extLst>
          </p:cNvPr>
          <p:cNvGrpSpPr>
            <a:grpSpLocks/>
          </p:cNvGrpSpPr>
          <p:nvPr/>
        </p:nvGrpSpPr>
        <p:grpSpPr bwMode="auto">
          <a:xfrm>
            <a:off x="3675064" y="1457326"/>
            <a:ext cx="1119187" cy="2117725"/>
            <a:chOff x="1762" y="1125"/>
            <a:chExt cx="705" cy="1334"/>
          </a:xfrm>
        </p:grpSpPr>
        <p:sp>
          <p:nvSpPr>
            <p:cNvPr id="267444" name="Line 60">
              <a:extLst>
                <a:ext uri="{FF2B5EF4-FFF2-40B4-BE49-F238E27FC236}">
                  <a16:creationId xmlns:a16="http://schemas.microsoft.com/office/drawing/2014/main" id="{CCD532D6-6922-589E-227C-9CF3D8A0072A}"/>
                </a:ext>
              </a:extLst>
            </p:cNvPr>
            <p:cNvSpPr>
              <a:spLocks noChangeShapeType="1"/>
            </p:cNvSpPr>
            <p:nvPr/>
          </p:nvSpPr>
          <p:spPr bwMode="auto">
            <a:xfrm>
              <a:off x="2008" y="1617"/>
              <a:ext cx="1" cy="84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445" name="Rectangle 61">
              <a:extLst>
                <a:ext uri="{FF2B5EF4-FFF2-40B4-BE49-F238E27FC236}">
                  <a16:creationId xmlns:a16="http://schemas.microsoft.com/office/drawing/2014/main" id="{D87A7CB6-FABA-CF62-66F5-E11BBC084FEA}"/>
                </a:ext>
              </a:extLst>
            </p:cNvPr>
            <p:cNvSpPr>
              <a:spLocks noChangeArrowheads="1"/>
            </p:cNvSpPr>
            <p:nvPr/>
          </p:nvSpPr>
          <p:spPr bwMode="auto">
            <a:xfrm>
              <a:off x="1762" y="1125"/>
              <a:ext cx="665"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0"/>
                </a:spcBef>
                <a:spcAft>
                  <a:spcPct val="0"/>
                </a:spcAft>
                <a:buClrTx/>
                <a:buSzTx/>
                <a:buNone/>
              </a:pPr>
              <a:endParaRPr lang="en-US" altLang="en-US" sz="1800">
                <a:solidFill>
                  <a:prstClr val="black"/>
                </a:solidFill>
                <a:latin typeface="Times New Roman" panose="02020603050405020304" pitchFamily="18" charset="0"/>
              </a:endParaRPr>
            </a:p>
          </p:txBody>
        </p:sp>
        <p:sp>
          <p:nvSpPr>
            <p:cNvPr id="267446" name="Rectangle 62">
              <a:extLst>
                <a:ext uri="{FF2B5EF4-FFF2-40B4-BE49-F238E27FC236}">
                  <a16:creationId xmlns:a16="http://schemas.microsoft.com/office/drawing/2014/main" id="{E08A369E-5AB5-5008-9B1A-32ADA67854B4}"/>
                </a:ext>
              </a:extLst>
            </p:cNvPr>
            <p:cNvSpPr>
              <a:spLocks noChangeArrowheads="1"/>
            </p:cNvSpPr>
            <p:nvPr/>
          </p:nvSpPr>
          <p:spPr bwMode="auto">
            <a:xfrm>
              <a:off x="1796" y="1394"/>
              <a:ext cx="671"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87425">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defTabSz="9874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defTabSz="987425">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defTabSz="987425">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defTabSz="987425">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0"/>
                </a:spcBef>
                <a:spcAft>
                  <a:spcPct val="0"/>
                </a:spcAft>
                <a:buClrTx/>
                <a:buSzTx/>
                <a:buNone/>
              </a:pPr>
              <a:r>
                <a:rPr lang="en-US" altLang="en-US" sz="2200" b="1">
                  <a:solidFill>
                    <a:prstClr val="black"/>
                  </a:solidFill>
                  <a:latin typeface="Times New Roman" panose="02020603050405020304" pitchFamily="18" charset="0"/>
                </a:rPr>
                <a:t>IRR </a:t>
              </a:r>
              <a:r>
                <a:rPr lang="en-US" altLang="en-US" sz="2200" b="1" baseline="-25000">
                  <a:solidFill>
                    <a:prstClr val="black"/>
                  </a:solidFill>
                  <a:latin typeface="Times New Roman" panose="02020603050405020304" pitchFamily="18" charset="0"/>
                </a:rPr>
                <a:t>1</a:t>
              </a:r>
              <a:r>
                <a:rPr lang="en-US" altLang="en-US" sz="2200" b="1">
                  <a:solidFill>
                    <a:prstClr val="black"/>
                  </a:solidFill>
                  <a:latin typeface="Times New Roman" panose="02020603050405020304" pitchFamily="18" charset="0"/>
                </a:rPr>
                <a:t>(A)</a:t>
              </a:r>
              <a:endParaRPr lang="en-US" altLang="en-US" sz="2200">
                <a:solidFill>
                  <a:prstClr val="black"/>
                </a:solidFill>
                <a:latin typeface="Times New Roman" panose="02020603050405020304" pitchFamily="18" charset="0"/>
              </a:endParaRPr>
            </a:p>
          </p:txBody>
        </p:sp>
      </p:grpSp>
      <p:grpSp>
        <p:nvGrpSpPr>
          <p:cNvPr id="5" name="Group 63">
            <a:extLst>
              <a:ext uri="{FF2B5EF4-FFF2-40B4-BE49-F238E27FC236}">
                <a16:creationId xmlns:a16="http://schemas.microsoft.com/office/drawing/2014/main" id="{A40DF205-7984-9417-ACDC-7345DB0AF930}"/>
              </a:ext>
            </a:extLst>
          </p:cNvPr>
          <p:cNvGrpSpPr>
            <a:grpSpLocks/>
          </p:cNvGrpSpPr>
          <p:nvPr/>
        </p:nvGrpSpPr>
        <p:grpSpPr bwMode="auto">
          <a:xfrm>
            <a:off x="5067300" y="1785938"/>
            <a:ext cx="1106488" cy="1789112"/>
            <a:chOff x="2639" y="1332"/>
            <a:chExt cx="697" cy="1127"/>
          </a:xfrm>
        </p:grpSpPr>
        <p:sp>
          <p:nvSpPr>
            <p:cNvPr id="267441" name="Line 64">
              <a:extLst>
                <a:ext uri="{FF2B5EF4-FFF2-40B4-BE49-F238E27FC236}">
                  <a16:creationId xmlns:a16="http://schemas.microsoft.com/office/drawing/2014/main" id="{8D640F38-B06F-B83A-BB30-5D718B213760}"/>
                </a:ext>
              </a:extLst>
            </p:cNvPr>
            <p:cNvSpPr>
              <a:spLocks noChangeShapeType="1"/>
            </p:cNvSpPr>
            <p:nvPr/>
          </p:nvSpPr>
          <p:spPr bwMode="auto">
            <a:xfrm>
              <a:off x="2944" y="1617"/>
              <a:ext cx="1" cy="84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442" name="Rectangle 65">
              <a:extLst>
                <a:ext uri="{FF2B5EF4-FFF2-40B4-BE49-F238E27FC236}">
                  <a16:creationId xmlns:a16="http://schemas.microsoft.com/office/drawing/2014/main" id="{3CD1A478-0BEA-F6F1-D5A8-88688B713762}"/>
                </a:ext>
              </a:extLst>
            </p:cNvPr>
            <p:cNvSpPr>
              <a:spLocks noChangeArrowheads="1"/>
            </p:cNvSpPr>
            <p:nvPr/>
          </p:nvSpPr>
          <p:spPr bwMode="auto">
            <a:xfrm>
              <a:off x="2639" y="1332"/>
              <a:ext cx="697"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0"/>
                </a:spcBef>
                <a:spcAft>
                  <a:spcPct val="0"/>
                </a:spcAft>
                <a:buClrTx/>
                <a:buSzTx/>
                <a:buNone/>
              </a:pPr>
              <a:endParaRPr lang="en-US" altLang="en-US" sz="1800">
                <a:solidFill>
                  <a:prstClr val="black"/>
                </a:solidFill>
                <a:latin typeface="Times New Roman" panose="02020603050405020304" pitchFamily="18" charset="0"/>
              </a:endParaRPr>
            </a:p>
          </p:txBody>
        </p:sp>
        <p:sp>
          <p:nvSpPr>
            <p:cNvPr id="267443" name="Rectangle 66">
              <a:extLst>
                <a:ext uri="{FF2B5EF4-FFF2-40B4-BE49-F238E27FC236}">
                  <a16:creationId xmlns:a16="http://schemas.microsoft.com/office/drawing/2014/main" id="{11600362-7531-7552-E28F-852BD834D8F8}"/>
                </a:ext>
              </a:extLst>
            </p:cNvPr>
            <p:cNvSpPr>
              <a:spLocks noChangeArrowheads="1"/>
            </p:cNvSpPr>
            <p:nvPr/>
          </p:nvSpPr>
          <p:spPr bwMode="auto">
            <a:xfrm>
              <a:off x="2672" y="1395"/>
              <a:ext cx="60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87425">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defTabSz="9874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defTabSz="987425">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defTabSz="987425">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defTabSz="987425">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0"/>
                </a:spcBef>
                <a:spcAft>
                  <a:spcPct val="0"/>
                </a:spcAft>
                <a:buClrTx/>
                <a:buSzTx/>
                <a:buNone/>
              </a:pPr>
              <a:r>
                <a:rPr lang="en-US" altLang="en-US" sz="2200" b="1">
                  <a:solidFill>
                    <a:prstClr val="black"/>
                  </a:solidFill>
                  <a:latin typeface="Times New Roman" panose="02020603050405020304" pitchFamily="18" charset="0"/>
                </a:rPr>
                <a:t>IRR (B)</a:t>
              </a:r>
              <a:endParaRPr lang="en-US" altLang="en-US" sz="2200">
                <a:solidFill>
                  <a:prstClr val="black"/>
                </a:solidFill>
                <a:latin typeface="Times New Roman" panose="02020603050405020304" pitchFamily="18" charset="0"/>
              </a:endParaRPr>
            </a:p>
          </p:txBody>
        </p:sp>
      </p:grpSp>
      <p:sp>
        <p:nvSpPr>
          <p:cNvPr id="346179" name="Rectangle 67">
            <a:extLst>
              <a:ext uri="{FF2B5EF4-FFF2-40B4-BE49-F238E27FC236}">
                <a16:creationId xmlns:a16="http://schemas.microsoft.com/office/drawing/2014/main" id="{BB1717EA-18FA-B7C5-A6F9-8F5484281989}"/>
              </a:ext>
            </a:extLst>
          </p:cNvPr>
          <p:cNvSpPr>
            <a:spLocks noChangeArrowheads="1"/>
          </p:cNvSpPr>
          <p:nvPr/>
        </p:nvSpPr>
        <p:spPr bwMode="auto">
          <a:xfrm>
            <a:off x="6637339" y="1431926"/>
            <a:ext cx="1023937"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0"/>
              </a:spcBef>
              <a:spcAft>
                <a:spcPct val="0"/>
              </a:spcAft>
              <a:buClrTx/>
              <a:buSzTx/>
              <a:buNone/>
            </a:pPr>
            <a:endParaRPr lang="en-US" altLang="en-US" sz="1800">
              <a:solidFill>
                <a:prstClr val="black"/>
              </a:solidFill>
              <a:latin typeface="Times New Roman" panose="02020603050405020304" pitchFamily="18" charset="0"/>
            </a:endParaRPr>
          </a:p>
        </p:txBody>
      </p:sp>
      <p:sp>
        <p:nvSpPr>
          <p:cNvPr id="66616" name="Rectangle 68">
            <a:extLst>
              <a:ext uri="{FF2B5EF4-FFF2-40B4-BE49-F238E27FC236}">
                <a16:creationId xmlns:a16="http://schemas.microsoft.com/office/drawing/2014/main" id="{B8130906-9887-AAC7-FEC3-F22521131EBF}"/>
              </a:ext>
            </a:extLst>
          </p:cNvPr>
          <p:cNvSpPr>
            <a:spLocks noGrp="1" noChangeArrowheads="1"/>
          </p:cNvSpPr>
          <p:nvPr>
            <p:ph type="title"/>
          </p:nvPr>
        </p:nvSpPr>
        <p:spPr>
          <a:xfrm>
            <a:off x="1981200" y="228600"/>
            <a:ext cx="8229600" cy="1143000"/>
          </a:xfrm>
        </p:spPr>
        <p:txBody>
          <a:bodyPr/>
          <a:lstStyle/>
          <a:p>
            <a:pPr eaLnBrk="1" fontAlgn="auto" hangingPunct="1">
              <a:spcAft>
                <a:spcPts val="0"/>
              </a:spcAft>
              <a:defRPr/>
            </a:pPr>
            <a:r>
              <a:rPr lang="en-US" altLang="en-US" sz="3400" dirty="0">
                <a:ea typeface="+mj-ea"/>
                <a:cs typeface="+mj-cs"/>
              </a:rPr>
              <a:t>NPV Profiles</a:t>
            </a:r>
          </a:p>
        </p:txBody>
      </p:sp>
      <p:sp>
        <p:nvSpPr>
          <p:cNvPr id="346181" name="Rectangle 69">
            <a:extLst>
              <a:ext uri="{FF2B5EF4-FFF2-40B4-BE49-F238E27FC236}">
                <a16:creationId xmlns:a16="http://schemas.microsoft.com/office/drawing/2014/main" id="{4477356D-058C-39AB-BE5B-5A86D0C1E718}"/>
              </a:ext>
            </a:extLst>
          </p:cNvPr>
          <p:cNvSpPr>
            <a:spLocks noChangeArrowheads="1"/>
          </p:cNvSpPr>
          <p:nvPr/>
        </p:nvSpPr>
        <p:spPr bwMode="auto">
          <a:xfrm>
            <a:off x="6670675" y="1881188"/>
            <a:ext cx="1074012"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87425">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defTabSz="9874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defTabSz="987425">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defTabSz="987425">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defTabSz="987425">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0"/>
              </a:spcBef>
              <a:spcAft>
                <a:spcPct val="0"/>
              </a:spcAft>
              <a:buClrTx/>
              <a:buSzTx/>
              <a:buNone/>
            </a:pPr>
            <a:r>
              <a:rPr lang="en-US" altLang="en-US" sz="2200" b="1">
                <a:solidFill>
                  <a:prstClr val="black"/>
                </a:solidFill>
                <a:latin typeface="Times New Roman" panose="02020603050405020304" pitchFamily="18" charset="0"/>
              </a:rPr>
              <a:t>IRR </a:t>
            </a:r>
            <a:r>
              <a:rPr lang="en-US" altLang="en-US" sz="2200" b="1" baseline="-25000">
                <a:solidFill>
                  <a:prstClr val="black"/>
                </a:solidFill>
                <a:latin typeface="Times New Roman" panose="02020603050405020304" pitchFamily="18" charset="0"/>
              </a:rPr>
              <a:t>2</a:t>
            </a:r>
            <a:r>
              <a:rPr lang="en-US" altLang="en-US" sz="2200" b="1">
                <a:solidFill>
                  <a:prstClr val="black"/>
                </a:solidFill>
                <a:latin typeface="Times New Roman" panose="02020603050405020304" pitchFamily="18" charset="0"/>
              </a:rPr>
              <a:t>(A)</a:t>
            </a:r>
          </a:p>
          <a:p>
            <a:pPr fontAlgn="base">
              <a:spcBef>
                <a:spcPct val="0"/>
              </a:spcBef>
              <a:spcAft>
                <a:spcPct val="0"/>
              </a:spcAft>
              <a:buClrTx/>
              <a:buSzTx/>
              <a:buNone/>
            </a:pPr>
            <a:endParaRPr lang="en-US" altLang="en-US" sz="2200">
              <a:solidFill>
                <a:prstClr val="black"/>
              </a:solidFill>
              <a:latin typeface="Times New Roman" panose="02020603050405020304" pitchFamily="18" charset="0"/>
            </a:endParaRPr>
          </a:p>
        </p:txBody>
      </p:sp>
      <p:grpSp>
        <p:nvGrpSpPr>
          <p:cNvPr id="6" name="Group 70">
            <a:extLst>
              <a:ext uri="{FF2B5EF4-FFF2-40B4-BE49-F238E27FC236}">
                <a16:creationId xmlns:a16="http://schemas.microsoft.com/office/drawing/2014/main" id="{A35A12BD-E1D8-036C-8BB7-73FCD5B70B6A}"/>
              </a:ext>
            </a:extLst>
          </p:cNvPr>
          <p:cNvGrpSpPr>
            <a:grpSpLocks/>
          </p:cNvGrpSpPr>
          <p:nvPr/>
        </p:nvGrpSpPr>
        <p:grpSpPr bwMode="auto">
          <a:xfrm>
            <a:off x="3371851" y="1916114"/>
            <a:ext cx="6080125" cy="2555875"/>
            <a:chOff x="1571" y="1427"/>
            <a:chExt cx="3830" cy="1610"/>
          </a:xfrm>
        </p:grpSpPr>
        <p:sp>
          <p:nvSpPr>
            <p:cNvPr id="267383" name="Line 71">
              <a:extLst>
                <a:ext uri="{FF2B5EF4-FFF2-40B4-BE49-F238E27FC236}">
                  <a16:creationId xmlns:a16="http://schemas.microsoft.com/office/drawing/2014/main" id="{80D97336-9771-7E1B-7551-0B6D4AEF65BD}"/>
                </a:ext>
              </a:extLst>
            </p:cNvPr>
            <p:cNvSpPr>
              <a:spLocks noChangeShapeType="1"/>
            </p:cNvSpPr>
            <p:nvPr/>
          </p:nvSpPr>
          <p:spPr bwMode="auto">
            <a:xfrm flipV="1">
              <a:off x="3083" y="2570"/>
              <a:ext cx="1" cy="47"/>
            </a:xfrm>
            <a:prstGeom prst="line">
              <a:avLst/>
            </a:prstGeom>
            <a:noFill/>
            <a:ln w="28575">
              <a:solidFill>
                <a:srgbClr val="A819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84" name="Line 72">
              <a:extLst>
                <a:ext uri="{FF2B5EF4-FFF2-40B4-BE49-F238E27FC236}">
                  <a16:creationId xmlns:a16="http://schemas.microsoft.com/office/drawing/2014/main" id="{083E8E22-8D9A-53BA-FEFA-A67EB50A9531}"/>
                </a:ext>
              </a:extLst>
            </p:cNvPr>
            <p:cNvSpPr>
              <a:spLocks noChangeShapeType="1"/>
            </p:cNvSpPr>
            <p:nvPr/>
          </p:nvSpPr>
          <p:spPr bwMode="auto">
            <a:xfrm>
              <a:off x="1591" y="1451"/>
              <a:ext cx="132" cy="222"/>
            </a:xfrm>
            <a:prstGeom prst="line">
              <a:avLst/>
            </a:prstGeom>
            <a:noFill/>
            <a:ln w="9525">
              <a:solidFill>
                <a:srgbClr val="A819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85" name="Line 73">
              <a:extLst>
                <a:ext uri="{FF2B5EF4-FFF2-40B4-BE49-F238E27FC236}">
                  <a16:creationId xmlns:a16="http://schemas.microsoft.com/office/drawing/2014/main" id="{EBFA0E05-3B98-8087-A836-55043D8B557A}"/>
                </a:ext>
              </a:extLst>
            </p:cNvPr>
            <p:cNvSpPr>
              <a:spLocks noChangeShapeType="1"/>
            </p:cNvSpPr>
            <p:nvPr/>
          </p:nvSpPr>
          <p:spPr bwMode="auto">
            <a:xfrm>
              <a:off x="1723" y="1673"/>
              <a:ext cx="139" cy="173"/>
            </a:xfrm>
            <a:prstGeom prst="line">
              <a:avLst/>
            </a:prstGeom>
            <a:noFill/>
            <a:ln w="9525">
              <a:solidFill>
                <a:srgbClr val="A819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86" name="Line 74">
              <a:extLst>
                <a:ext uri="{FF2B5EF4-FFF2-40B4-BE49-F238E27FC236}">
                  <a16:creationId xmlns:a16="http://schemas.microsoft.com/office/drawing/2014/main" id="{9793CD3C-8AF3-54F5-959F-11A902017505}"/>
                </a:ext>
              </a:extLst>
            </p:cNvPr>
            <p:cNvSpPr>
              <a:spLocks noChangeShapeType="1"/>
            </p:cNvSpPr>
            <p:nvPr/>
          </p:nvSpPr>
          <p:spPr bwMode="auto">
            <a:xfrm>
              <a:off x="1862" y="1846"/>
              <a:ext cx="133" cy="152"/>
            </a:xfrm>
            <a:prstGeom prst="line">
              <a:avLst/>
            </a:prstGeom>
            <a:noFill/>
            <a:ln w="9525">
              <a:solidFill>
                <a:srgbClr val="A819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87" name="Line 75">
              <a:extLst>
                <a:ext uri="{FF2B5EF4-FFF2-40B4-BE49-F238E27FC236}">
                  <a16:creationId xmlns:a16="http://schemas.microsoft.com/office/drawing/2014/main" id="{CCE561C9-3662-155B-33F1-AFCE2F32F54C}"/>
                </a:ext>
              </a:extLst>
            </p:cNvPr>
            <p:cNvSpPr>
              <a:spLocks noChangeShapeType="1"/>
            </p:cNvSpPr>
            <p:nvPr/>
          </p:nvSpPr>
          <p:spPr bwMode="auto">
            <a:xfrm>
              <a:off x="1995" y="1998"/>
              <a:ext cx="139" cy="120"/>
            </a:xfrm>
            <a:prstGeom prst="line">
              <a:avLst/>
            </a:prstGeom>
            <a:noFill/>
            <a:ln w="9525">
              <a:solidFill>
                <a:srgbClr val="A819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88" name="Line 76">
              <a:extLst>
                <a:ext uri="{FF2B5EF4-FFF2-40B4-BE49-F238E27FC236}">
                  <a16:creationId xmlns:a16="http://schemas.microsoft.com/office/drawing/2014/main" id="{1E093C2B-0A17-3BA3-3C9A-CF6191989701}"/>
                </a:ext>
              </a:extLst>
            </p:cNvPr>
            <p:cNvSpPr>
              <a:spLocks noChangeShapeType="1"/>
            </p:cNvSpPr>
            <p:nvPr/>
          </p:nvSpPr>
          <p:spPr bwMode="auto">
            <a:xfrm>
              <a:off x="2134" y="2118"/>
              <a:ext cx="134" cy="103"/>
            </a:xfrm>
            <a:prstGeom prst="line">
              <a:avLst/>
            </a:prstGeom>
            <a:noFill/>
            <a:ln w="9525">
              <a:solidFill>
                <a:srgbClr val="A819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89" name="Line 77">
              <a:extLst>
                <a:ext uri="{FF2B5EF4-FFF2-40B4-BE49-F238E27FC236}">
                  <a16:creationId xmlns:a16="http://schemas.microsoft.com/office/drawing/2014/main" id="{7BE1DE2A-6C4C-33CC-BA64-6A6152F0AB6B}"/>
                </a:ext>
              </a:extLst>
            </p:cNvPr>
            <p:cNvSpPr>
              <a:spLocks noChangeShapeType="1"/>
            </p:cNvSpPr>
            <p:nvPr/>
          </p:nvSpPr>
          <p:spPr bwMode="auto">
            <a:xfrm>
              <a:off x="2268" y="2221"/>
              <a:ext cx="139" cy="95"/>
            </a:xfrm>
            <a:prstGeom prst="line">
              <a:avLst/>
            </a:prstGeom>
            <a:noFill/>
            <a:ln w="9525">
              <a:solidFill>
                <a:srgbClr val="A819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90" name="Line 78">
              <a:extLst>
                <a:ext uri="{FF2B5EF4-FFF2-40B4-BE49-F238E27FC236}">
                  <a16:creationId xmlns:a16="http://schemas.microsoft.com/office/drawing/2014/main" id="{F03CDED1-5233-8F04-0724-D91A64844E3C}"/>
                </a:ext>
              </a:extLst>
            </p:cNvPr>
            <p:cNvSpPr>
              <a:spLocks noChangeShapeType="1"/>
            </p:cNvSpPr>
            <p:nvPr/>
          </p:nvSpPr>
          <p:spPr bwMode="auto">
            <a:xfrm>
              <a:off x="2407" y="2316"/>
              <a:ext cx="132" cy="71"/>
            </a:xfrm>
            <a:prstGeom prst="line">
              <a:avLst/>
            </a:prstGeom>
            <a:noFill/>
            <a:ln w="9525">
              <a:solidFill>
                <a:srgbClr val="A819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91" name="Line 79">
              <a:extLst>
                <a:ext uri="{FF2B5EF4-FFF2-40B4-BE49-F238E27FC236}">
                  <a16:creationId xmlns:a16="http://schemas.microsoft.com/office/drawing/2014/main" id="{269D1E03-5816-E966-145C-EBF79B1439FB}"/>
                </a:ext>
              </a:extLst>
            </p:cNvPr>
            <p:cNvSpPr>
              <a:spLocks noChangeShapeType="1"/>
            </p:cNvSpPr>
            <p:nvPr/>
          </p:nvSpPr>
          <p:spPr bwMode="auto">
            <a:xfrm>
              <a:off x="2539" y="2387"/>
              <a:ext cx="133" cy="64"/>
            </a:xfrm>
            <a:prstGeom prst="line">
              <a:avLst/>
            </a:prstGeom>
            <a:noFill/>
            <a:ln w="9525">
              <a:solidFill>
                <a:srgbClr val="A819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92" name="Line 80">
              <a:extLst>
                <a:ext uri="{FF2B5EF4-FFF2-40B4-BE49-F238E27FC236}">
                  <a16:creationId xmlns:a16="http://schemas.microsoft.com/office/drawing/2014/main" id="{0ACEC44F-33F4-335B-91AF-9409E3444E26}"/>
                </a:ext>
              </a:extLst>
            </p:cNvPr>
            <p:cNvSpPr>
              <a:spLocks noChangeShapeType="1"/>
            </p:cNvSpPr>
            <p:nvPr/>
          </p:nvSpPr>
          <p:spPr bwMode="auto">
            <a:xfrm>
              <a:off x="2672" y="2451"/>
              <a:ext cx="139" cy="64"/>
            </a:xfrm>
            <a:prstGeom prst="line">
              <a:avLst/>
            </a:prstGeom>
            <a:noFill/>
            <a:ln w="9525">
              <a:solidFill>
                <a:srgbClr val="A819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93" name="Line 81">
              <a:extLst>
                <a:ext uri="{FF2B5EF4-FFF2-40B4-BE49-F238E27FC236}">
                  <a16:creationId xmlns:a16="http://schemas.microsoft.com/office/drawing/2014/main" id="{EFE49738-5757-A84D-7974-B7BE9C4AEE87}"/>
                </a:ext>
              </a:extLst>
            </p:cNvPr>
            <p:cNvSpPr>
              <a:spLocks noChangeShapeType="1"/>
            </p:cNvSpPr>
            <p:nvPr/>
          </p:nvSpPr>
          <p:spPr bwMode="auto">
            <a:xfrm>
              <a:off x="2811" y="2515"/>
              <a:ext cx="133" cy="47"/>
            </a:xfrm>
            <a:prstGeom prst="line">
              <a:avLst/>
            </a:prstGeom>
            <a:noFill/>
            <a:ln w="9525">
              <a:solidFill>
                <a:srgbClr val="A819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94" name="Line 82">
              <a:extLst>
                <a:ext uri="{FF2B5EF4-FFF2-40B4-BE49-F238E27FC236}">
                  <a16:creationId xmlns:a16="http://schemas.microsoft.com/office/drawing/2014/main" id="{78325CF3-A53D-BE7C-9B19-0ECB4591B7B5}"/>
                </a:ext>
              </a:extLst>
            </p:cNvPr>
            <p:cNvSpPr>
              <a:spLocks noChangeShapeType="1"/>
            </p:cNvSpPr>
            <p:nvPr/>
          </p:nvSpPr>
          <p:spPr bwMode="auto">
            <a:xfrm>
              <a:off x="2944" y="2562"/>
              <a:ext cx="139" cy="39"/>
            </a:xfrm>
            <a:prstGeom prst="line">
              <a:avLst/>
            </a:prstGeom>
            <a:noFill/>
            <a:ln w="9525">
              <a:solidFill>
                <a:srgbClr val="A819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95" name="Line 83">
              <a:extLst>
                <a:ext uri="{FF2B5EF4-FFF2-40B4-BE49-F238E27FC236}">
                  <a16:creationId xmlns:a16="http://schemas.microsoft.com/office/drawing/2014/main" id="{6019BC79-07A0-157B-63A6-074DA6967447}"/>
                </a:ext>
              </a:extLst>
            </p:cNvPr>
            <p:cNvSpPr>
              <a:spLocks noChangeShapeType="1"/>
            </p:cNvSpPr>
            <p:nvPr/>
          </p:nvSpPr>
          <p:spPr bwMode="auto">
            <a:xfrm>
              <a:off x="3083" y="2601"/>
              <a:ext cx="133" cy="40"/>
            </a:xfrm>
            <a:prstGeom prst="line">
              <a:avLst/>
            </a:prstGeom>
            <a:noFill/>
            <a:ln w="9525">
              <a:solidFill>
                <a:srgbClr val="A819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96" name="Line 84">
              <a:extLst>
                <a:ext uri="{FF2B5EF4-FFF2-40B4-BE49-F238E27FC236}">
                  <a16:creationId xmlns:a16="http://schemas.microsoft.com/office/drawing/2014/main" id="{CA56FCF8-C8A8-F548-9BFC-0F1940016A21}"/>
                </a:ext>
              </a:extLst>
            </p:cNvPr>
            <p:cNvSpPr>
              <a:spLocks noChangeShapeType="1"/>
            </p:cNvSpPr>
            <p:nvPr/>
          </p:nvSpPr>
          <p:spPr bwMode="auto">
            <a:xfrm>
              <a:off x="3216" y="2641"/>
              <a:ext cx="140" cy="39"/>
            </a:xfrm>
            <a:prstGeom prst="line">
              <a:avLst/>
            </a:prstGeom>
            <a:noFill/>
            <a:ln w="9525">
              <a:solidFill>
                <a:srgbClr val="A819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97" name="Line 85">
              <a:extLst>
                <a:ext uri="{FF2B5EF4-FFF2-40B4-BE49-F238E27FC236}">
                  <a16:creationId xmlns:a16="http://schemas.microsoft.com/office/drawing/2014/main" id="{42F04391-38E8-B429-AE40-CFF537200E05}"/>
                </a:ext>
              </a:extLst>
            </p:cNvPr>
            <p:cNvSpPr>
              <a:spLocks noChangeShapeType="1"/>
            </p:cNvSpPr>
            <p:nvPr/>
          </p:nvSpPr>
          <p:spPr bwMode="auto">
            <a:xfrm>
              <a:off x="3356" y="2680"/>
              <a:ext cx="132" cy="56"/>
            </a:xfrm>
            <a:prstGeom prst="line">
              <a:avLst/>
            </a:prstGeom>
            <a:noFill/>
            <a:ln w="9525">
              <a:solidFill>
                <a:srgbClr val="A819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98" name="Line 86">
              <a:extLst>
                <a:ext uri="{FF2B5EF4-FFF2-40B4-BE49-F238E27FC236}">
                  <a16:creationId xmlns:a16="http://schemas.microsoft.com/office/drawing/2014/main" id="{5716588A-2819-3EEF-D7FA-A4D24F7E299D}"/>
                </a:ext>
              </a:extLst>
            </p:cNvPr>
            <p:cNvSpPr>
              <a:spLocks noChangeShapeType="1"/>
            </p:cNvSpPr>
            <p:nvPr/>
          </p:nvSpPr>
          <p:spPr bwMode="auto">
            <a:xfrm>
              <a:off x="3488" y="2736"/>
              <a:ext cx="134" cy="48"/>
            </a:xfrm>
            <a:prstGeom prst="line">
              <a:avLst/>
            </a:prstGeom>
            <a:noFill/>
            <a:ln w="9525">
              <a:solidFill>
                <a:srgbClr val="A819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99" name="Line 87">
              <a:extLst>
                <a:ext uri="{FF2B5EF4-FFF2-40B4-BE49-F238E27FC236}">
                  <a16:creationId xmlns:a16="http://schemas.microsoft.com/office/drawing/2014/main" id="{9B0E2CFB-71DD-FD3D-4FC4-0F90453BC9FD}"/>
                </a:ext>
              </a:extLst>
            </p:cNvPr>
            <p:cNvSpPr>
              <a:spLocks noChangeShapeType="1"/>
            </p:cNvSpPr>
            <p:nvPr/>
          </p:nvSpPr>
          <p:spPr bwMode="auto">
            <a:xfrm>
              <a:off x="3622" y="2784"/>
              <a:ext cx="138" cy="40"/>
            </a:xfrm>
            <a:prstGeom prst="line">
              <a:avLst/>
            </a:prstGeom>
            <a:noFill/>
            <a:ln w="9525">
              <a:solidFill>
                <a:srgbClr val="A819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400" name="Line 88">
              <a:extLst>
                <a:ext uri="{FF2B5EF4-FFF2-40B4-BE49-F238E27FC236}">
                  <a16:creationId xmlns:a16="http://schemas.microsoft.com/office/drawing/2014/main" id="{82BA0F0E-47C8-4933-757F-F4EB6BFEE34B}"/>
                </a:ext>
              </a:extLst>
            </p:cNvPr>
            <p:cNvSpPr>
              <a:spLocks noChangeShapeType="1"/>
            </p:cNvSpPr>
            <p:nvPr/>
          </p:nvSpPr>
          <p:spPr bwMode="auto">
            <a:xfrm>
              <a:off x="3760" y="2824"/>
              <a:ext cx="133" cy="31"/>
            </a:xfrm>
            <a:prstGeom prst="line">
              <a:avLst/>
            </a:prstGeom>
            <a:noFill/>
            <a:ln w="9525">
              <a:solidFill>
                <a:srgbClr val="A819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401" name="Line 89">
              <a:extLst>
                <a:ext uri="{FF2B5EF4-FFF2-40B4-BE49-F238E27FC236}">
                  <a16:creationId xmlns:a16="http://schemas.microsoft.com/office/drawing/2014/main" id="{48125FCB-ABC2-08E9-38A5-12561DD208C0}"/>
                </a:ext>
              </a:extLst>
            </p:cNvPr>
            <p:cNvSpPr>
              <a:spLocks noChangeShapeType="1"/>
            </p:cNvSpPr>
            <p:nvPr/>
          </p:nvSpPr>
          <p:spPr bwMode="auto">
            <a:xfrm>
              <a:off x="3893" y="2855"/>
              <a:ext cx="139" cy="32"/>
            </a:xfrm>
            <a:prstGeom prst="line">
              <a:avLst/>
            </a:prstGeom>
            <a:noFill/>
            <a:ln w="9525">
              <a:solidFill>
                <a:srgbClr val="A819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402" name="Line 90">
              <a:extLst>
                <a:ext uri="{FF2B5EF4-FFF2-40B4-BE49-F238E27FC236}">
                  <a16:creationId xmlns:a16="http://schemas.microsoft.com/office/drawing/2014/main" id="{52F0C4C4-F525-85C8-C461-BFEF52C94E51}"/>
                </a:ext>
              </a:extLst>
            </p:cNvPr>
            <p:cNvSpPr>
              <a:spLocks noChangeShapeType="1"/>
            </p:cNvSpPr>
            <p:nvPr/>
          </p:nvSpPr>
          <p:spPr bwMode="auto">
            <a:xfrm>
              <a:off x="4032" y="2887"/>
              <a:ext cx="133" cy="24"/>
            </a:xfrm>
            <a:prstGeom prst="line">
              <a:avLst/>
            </a:prstGeom>
            <a:noFill/>
            <a:ln w="9525">
              <a:solidFill>
                <a:srgbClr val="A819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403" name="Line 91">
              <a:extLst>
                <a:ext uri="{FF2B5EF4-FFF2-40B4-BE49-F238E27FC236}">
                  <a16:creationId xmlns:a16="http://schemas.microsoft.com/office/drawing/2014/main" id="{CC126E8C-F243-6079-5A8D-5397D059C1F9}"/>
                </a:ext>
              </a:extLst>
            </p:cNvPr>
            <p:cNvSpPr>
              <a:spLocks noChangeShapeType="1"/>
            </p:cNvSpPr>
            <p:nvPr/>
          </p:nvSpPr>
          <p:spPr bwMode="auto">
            <a:xfrm>
              <a:off x="4165" y="2911"/>
              <a:ext cx="140" cy="16"/>
            </a:xfrm>
            <a:prstGeom prst="line">
              <a:avLst/>
            </a:prstGeom>
            <a:noFill/>
            <a:ln w="9525">
              <a:solidFill>
                <a:srgbClr val="A819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404" name="Line 92">
              <a:extLst>
                <a:ext uri="{FF2B5EF4-FFF2-40B4-BE49-F238E27FC236}">
                  <a16:creationId xmlns:a16="http://schemas.microsoft.com/office/drawing/2014/main" id="{06788B19-2134-9C61-F0B8-9F065C4F476C}"/>
                </a:ext>
              </a:extLst>
            </p:cNvPr>
            <p:cNvSpPr>
              <a:spLocks noChangeShapeType="1"/>
            </p:cNvSpPr>
            <p:nvPr/>
          </p:nvSpPr>
          <p:spPr bwMode="auto">
            <a:xfrm>
              <a:off x="4300" y="2927"/>
              <a:ext cx="100" cy="10"/>
            </a:xfrm>
            <a:prstGeom prst="line">
              <a:avLst/>
            </a:prstGeom>
            <a:noFill/>
            <a:ln w="9525">
              <a:solidFill>
                <a:srgbClr val="A819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405" name="Line 93">
              <a:extLst>
                <a:ext uri="{FF2B5EF4-FFF2-40B4-BE49-F238E27FC236}">
                  <a16:creationId xmlns:a16="http://schemas.microsoft.com/office/drawing/2014/main" id="{11E52CF7-9D05-CA14-2E34-3F04B71352EC}"/>
                </a:ext>
              </a:extLst>
            </p:cNvPr>
            <p:cNvSpPr>
              <a:spLocks noChangeShapeType="1"/>
            </p:cNvSpPr>
            <p:nvPr/>
          </p:nvSpPr>
          <p:spPr bwMode="auto">
            <a:xfrm>
              <a:off x="4438" y="2942"/>
              <a:ext cx="133" cy="16"/>
            </a:xfrm>
            <a:prstGeom prst="line">
              <a:avLst/>
            </a:prstGeom>
            <a:noFill/>
            <a:ln w="9525">
              <a:solidFill>
                <a:srgbClr val="A819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406" name="Line 94">
              <a:extLst>
                <a:ext uri="{FF2B5EF4-FFF2-40B4-BE49-F238E27FC236}">
                  <a16:creationId xmlns:a16="http://schemas.microsoft.com/office/drawing/2014/main" id="{62077985-71B4-0A33-0375-E7E2858D8CB6}"/>
                </a:ext>
              </a:extLst>
            </p:cNvPr>
            <p:cNvSpPr>
              <a:spLocks noChangeShapeType="1"/>
            </p:cNvSpPr>
            <p:nvPr/>
          </p:nvSpPr>
          <p:spPr bwMode="auto">
            <a:xfrm>
              <a:off x="4571" y="2958"/>
              <a:ext cx="139" cy="16"/>
            </a:xfrm>
            <a:prstGeom prst="line">
              <a:avLst/>
            </a:prstGeom>
            <a:noFill/>
            <a:ln w="9525">
              <a:solidFill>
                <a:srgbClr val="A819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407" name="Line 95">
              <a:extLst>
                <a:ext uri="{FF2B5EF4-FFF2-40B4-BE49-F238E27FC236}">
                  <a16:creationId xmlns:a16="http://schemas.microsoft.com/office/drawing/2014/main" id="{BA4D5F43-B173-1A50-D8F1-E9D633EB862F}"/>
                </a:ext>
              </a:extLst>
            </p:cNvPr>
            <p:cNvSpPr>
              <a:spLocks noChangeShapeType="1"/>
            </p:cNvSpPr>
            <p:nvPr/>
          </p:nvSpPr>
          <p:spPr bwMode="auto">
            <a:xfrm>
              <a:off x="4710" y="2974"/>
              <a:ext cx="132" cy="8"/>
            </a:xfrm>
            <a:prstGeom prst="line">
              <a:avLst/>
            </a:prstGeom>
            <a:noFill/>
            <a:ln w="9525">
              <a:solidFill>
                <a:srgbClr val="A819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408" name="Line 96">
              <a:extLst>
                <a:ext uri="{FF2B5EF4-FFF2-40B4-BE49-F238E27FC236}">
                  <a16:creationId xmlns:a16="http://schemas.microsoft.com/office/drawing/2014/main" id="{054EBE96-9638-8347-514B-79CC447062C3}"/>
                </a:ext>
              </a:extLst>
            </p:cNvPr>
            <p:cNvSpPr>
              <a:spLocks noChangeShapeType="1"/>
            </p:cNvSpPr>
            <p:nvPr/>
          </p:nvSpPr>
          <p:spPr bwMode="auto">
            <a:xfrm>
              <a:off x="4842" y="2982"/>
              <a:ext cx="140" cy="15"/>
            </a:xfrm>
            <a:prstGeom prst="line">
              <a:avLst/>
            </a:prstGeom>
            <a:noFill/>
            <a:ln w="9525">
              <a:solidFill>
                <a:srgbClr val="A819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409" name="Line 97">
              <a:extLst>
                <a:ext uri="{FF2B5EF4-FFF2-40B4-BE49-F238E27FC236}">
                  <a16:creationId xmlns:a16="http://schemas.microsoft.com/office/drawing/2014/main" id="{90986CF0-C143-DB75-5CBD-D841ED19A12E}"/>
                </a:ext>
              </a:extLst>
            </p:cNvPr>
            <p:cNvSpPr>
              <a:spLocks noChangeShapeType="1"/>
            </p:cNvSpPr>
            <p:nvPr/>
          </p:nvSpPr>
          <p:spPr bwMode="auto">
            <a:xfrm>
              <a:off x="4982" y="2997"/>
              <a:ext cx="132" cy="8"/>
            </a:xfrm>
            <a:prstGeom prst="line">
              <a:avLst/>
            </a:prstGeom>
            <a:noFill/>
            <a:ln w="9525">
              <a:solidFill>
                <a:srgbClr val="A819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410" name="Line 98">
              <a:extLst>
                <a:ext uri="{FF2B5EF4-FFF2-40B4-BE49-F238E27FC236}">
                  <a16:creationId xmlns:a16="http://schemas.microsoft.com/office/drawing/2014/main" id="{971E7479-2895-EF42-E3BF-B853C4C9E4BD}"/>
                </a:ext>
              </a:extLst>
            </p:cNvPr>
            <p:cNvSpPr>
              <a:spLocks noChangeShapeType="1"/>
            </p:cNvSpPr>
            <p:nvPr/>
          </p:nvSpPr>
          <p:spPr bwMode="auto">
            <a:xfrm>
              <a:off x="5114" y="3005"/>
              <a:ext cx="141" cy="8"/>
            </a:xfrm>
            <a:prstGeom prst="line">
              <a:avLst/>
            </a:prstGeom>
            <a:noFill/>
            <a:ln w="9525">
              <a:solidFill>
                <a:srgbClr val="A819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411" name="Line 99">
              <a:extLst>
                <a:ext uri="{FF2B5EF4-FFF2-40B4-BE49-F238E27FC236}">
                  <a16:creationId xmlns:a16="http://schemas.microsoft.com/office/drawing/2014/main" id="{072FC8AF-49B5-3B1C-2578-AC86B50D1CCD}"/>
                </a:ext>
              </a:extLst>
            </p:cNvPr>
            <p:cNvSpPr>
              <a:spLocks noChangeShapeType="1"/>
            </p:cNvSpPr>
            <p:nvPr/>
          </p:nvSpPr>
          <p:spPr bwMode="auto">
            <a:xfrm>
              <a:off x="5255" y="3013"/>
              <a:ext cx="132" cy="8"/>
            </a:xfrm>
            <a:prstGeom prst="line">
              <a:avLst/>
            </a:prstGeom>
            <a:noFill/>
            <a:ln w="9525">
              <a:solidFill>
                <a:srgbClr val="A819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412" name="Rectangle 100">
              <a:extLst>
                <a:ext uri="{FF2B5EF4-FFF2-40B4-BE49-F238E27FC236}">
                  <a16:creationId xmlns:a16="http://schemas.microsoft.com/office/drawing/2014/main" id="{99D0F491-00C4-9C26-AA0C-0923A6D64B7B}"/>
                </a:ext>
              </a:extLst>
            </p:cNvPr>
            <p:cNvSpPr>
              <a:spLocks noChangeArrowheads="1"/>
            </p:cNvSpPr>
            <p:nvPr/>
          </p:nvSpPr>
          <p:spPr bwMode="auto">
            <a:xfrm>
              <a:off x="1571" y="1427"/>
              <a:ext cx="33" cy="39"/>
            </a:xfrm>
            <a:prstGeom prst="rect">
              <a:avLst/>
            </a:prstGeom>
            <a:solidFill>
              <a:srgbClr val="A81900"/>
            </a:solidFill>
            <a:ln w="9525">
              <a:solidFill>
                <a:srgbClr val="A81900"/>
              </a:solidFill>
              <a:miter lim="800000"/>
              <a:headEnd/>
              <a:tailEnd/>
            </a:ln>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0"/>
                </a:spcBef>
                <a:spcAft>
                  <a:spcPct val="0"/>
                </a:spcAft>
                <a:buClrTx/>
                <a:buSzTx/>
                <a:buNone/>
              </a:pPr>
              <a:endParaRPr lang="en-US" altLang="en-US" sz="1800">
                <a:solidFill>
                  <a:prstClr val="black"/>
                </a:solidFill>
                <a:latin typeface="Times New Roman" panose="02020603050405020304" pitchFamily="18" charset="0"/>
              </a:endParaRPr>
            </a:p>
          </p:txBody>
        </p:sp>
        <p:sp>
          <p:nvSpPr>
            <p:cNvPr id="267413" name="Rectangle 101">
              <a:extLst>
                <a:ext uri="{FF2B5EF4-FFF2-40B4-BE49-F238E27FC236}">
                  <a16:creationId xmlns:a16="http://schemas.microsoft.com/office/drawing/2014/main" id="{DE781CC5-DCCF-AAB4-D315-D5127A5784A9}"/>
                </a:ext>
              </a:extLst>
            </p:cNvPr>
            <p:cNvSpPr>
              <a:spLocks noChangeArrowheads="1"/>
            </p:cNvSpPr>
            <p:nvPr/>
          </p:nvSpPr>
          <p:spPr bwMode="auto">
            <a:xfrm>
              <a:off x="1703" y="1649"/>
              <a:ext cx="33" cy="39"/>
            </a:xfrm>
            <a:prstGeom prst="rect">
              <a:avLst/>
            </a:prstGeom>
            <a:solidFill>
              <a:srgbClr val="A81900"/>
            </a:solidFill>
            <a:ln w="9525">
              <a:solidFill>
                <a:srgbClr val="A81900"/>
              </a:solidFill>
              <a:miter lim="800000"/>
              <a:headEnd/>
              <a:tailEnd/>
            </a:ln>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0"/>
                </a:spcBef>
                <a:spcAft>
                  <a:spcPct val="0"/>
                </a:spcAft>
                <a:buClrTx/>
                <a:buSzTx/>
                <a:buNone/>
              </a:pPr>
              <a:endParaRPr lang="en-US" altLang="en-US" sz="1800">
                <a:solidFill>
                  <a:prstClr val="black"/>
                </a:solidFill>
                <a:latin typeface="Times New Roman" panose="02020603050405020304" pitchFamily="18" charset="0"/>
              </a:endParaRPr>
            </a:p>
          </p:txBody>
        </p:sp>
        <p:sp>
          <p:nvSpPr>
            <p:cNvPr id="267414" name="Rectangle 102">
              <a:extLst>
                <a:ext uri="{FF2B5EF4-FFF2-40B4-BE49-F238E27FC236}">
                  <a16:creationId xmlns:a16="http://schemas.microsoft.com/office/drawing/2014/main" id="{55E9B345-EE2E-774D-F5F5-CA9BC0468CB0}"/>
                </a:ext>
              </a:extLst>
            </p:cNvPr>
            <p:cNvSpPr>
              <a:spLocks noChangeArrowheads="1"/>
            </p:cNvSpPr>
            <p:nvPr/>
          </p:nvSpPr>
          <p:spPr bwMode="auto">
            <a:xfrm>
              <a:off x="1843" y="1823"/>
              <a:ext cx="33" cy="39"/>
            </a:xfrm>
            <a:prstGeom prst="rect">
              <a:avLst/>
            </a:prstGeom>
            <a:solidFill>
              <a:srgbClr val="A81900"/>
            </a:solidFill>
            <a:ln w="9525">
              <a:solidFill>
                <a:srgbClr val="A81900"/>
              </a:solidFill>
              <a:miter lim="800000"/>
              <a:headEnd/>
              <a:tailEnd/>
            </a:ln>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0"/>
                </a:spcBef>
                <a:spcAft>
                  <a:spcPct val="0"/>
                </a:spcAft>
                <a:buClrTx/>
                <a:buSzTx/>
                <a:buNone/>
              </a:pPr>
              <a:endParaRPr lang="en-US" altLang="en-US" sz="1800">
                <a:solidFill>
                  <a:prstClr val="black"/>
                </a:solidFill>
                <a:latin typeface="Times New Roman" panose="02020603050405020304" pitchFamily="18" charset="0"/>
              </a:endParaRPr>
            </a:p>
          </p:txBody>
        </p:sp>
        <p:sp>
          <p:nvSpPr>
            <p:cNvPr id="267415" name="Rectangle 103">
              <a:extLst>
                <a:ext uri="{FF2B5EF4-FFF2-40B4-BE49-F238E27FC236}">
                  <a16:creationId xmlns:a16="http://schemas.microsoft.com/office/drawing/2014/main" id="{0A4091DD-FE35-DF46-E471-92181E9B5C68}"/>
                </a:ext>
              </a:extLst>
            </p:cNvPr>
            <p:cNvSpPr>
              <a:spLocks noChangeArrowheads="1"/>
            </p:cNvSpPr>
            <p:nvPr/>
          </p:nvSpPr>
          <p:spPr bwMode="auto">
            <a:xfrm>
              <a:off x="1975" y="1974"/>
              <a:ext cx="33" cy="39"/>
            </a:xfrm>
            <a:prstGeom prst="rect">
              <a:avLst/>
            </a:prstGeom>
            <a:solidFill>
              <a:srgbClr val="A81900"/>
            </a:solidFill>
            <a:ln w="9525">
              <a:solidFill>
                <a:srgbClr val="A81900"/>
              </a:solidFill>
              <a:miter lim="800000"/>
              <a:headEnd/>
              <a:tailEnd/>
            </a:ln>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0"/>
                </a:spcBef>
                <a:spcAft>
                  <a:spcPct val="0"/>
                </a:spcAft>
                <a:buClrTx/>
                <a:buSzTx/>
                <a:buNone/>
              </a:pPr>
              <a:endParaRPr lang="en-US" altLang="en-US" sz="1800">
                <a:solidFill>
                  <a:prstClr val="black"/>
                </a:solidFill>
                <a:latin typeface="Times New Roman" panose="02020603050405020304" pitchFamily="18" charset="0"/>
              </a:endParaRPr>
            </a:p>
          </p:txBody>
        </p:sp>
        <p:sp>
          <p:nvSpPr>
            <p:cNvPr id="267416" name="Rectangle 104">
              <a:extLst>
                <a:ext uri="{FF2B5EF4-FFF2-40B4-BE49-F238E27FC236}">
                  <a16:creationId xmlns:a16="http://schemas.microsoft.com/office/drawing/2014/main" id="{909128B7-FF99-126F-B9CF-AA7D5FDB048A}"/>
                </a:ext>
              </a:extLst>
            </p:cNvPr>
            <p:cNvSpPr>
              <a:spLocks noChangeArrowheads="1"/>
            </p:cNvSpPr>
            <p:nvPr/>
          </p:nvSpPr>
          <p:spPr bwMode="auto">
            <a:xfrm>
              <a:off x="2114" y="2094"/>
              <a:ext cx="34" cy="40"/>
            </a:xfrm>
            <a:prstGeom prst="rect">
              <a:avLst/>
            </a:prstGeom>
            <a:solidFill>
              <a:srgbClr val="A81900"/>
            </a:solidFill>
            <a:ln w="9525">
              <a:solidFill>
                <a:srgbClr val="A81900"/>
              </a:solidFill>
              <a:miter lim="800000"/>
              <a:headEnd/>
              <a:tailEnd/>
            </a:ln>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0"/>
                </a:spcBef>
                <a:spcAft>
                  <a:spcPct val="0"/>
                </a:spcAft>
                <a:buClrTx/>
                <a:buSzTx/>
                <a:buNone/>
              </a:pPr>
              <a:endParaRPr lang="en-US" altLang="en-US" sz="1800">
                <a:solidFill>
                  <a:prstClr val="black"/>
                </a:solidFill>
                <a:latin typeface="Times New Roman" panose="02020603050405020304" pitchFamily="18" charset="0"/>
              </a:endParaRPr>
            </a:p>
          </p:txBody>
        </p:sp>
        <p:sp>
          <p:nvSpPr>
            <p:cNvPr id="267417" name="Rectangle 105">
              <a:extLst>
                <a:ext uri="{FF2B5EF4-FFF2-40B4-BE49-F238E27FC236}">
                  <a16:creationId xmlns:a16="http://schemas.microsoft.com/office/drawing/2014/main" id="{6C9196BF-EC12-5C61-1996-83587338658B}"/>
                </a:ext>
              </a:extLst>
            </p:cNvPr>
            <p:cNvSpPr>
              <a:spLocks noChangeArrowheads="1"/>
            </p:cNvSpPr>
            <p:nvPr/>
          </p:nvSpPr>
          <p:spPr bwMode="auto">
            <a:xfrm>
              <a:off x="2248" y="2197"/>
              <a:ext cx="33" cy="39"/>
            </a:xfrm>
            <a:prstGeom prst="rect">
              <a:avLst/>
            </a:prstGeom>
            <a:solidFill>
              <a:srgbClr val="A81900"/>
            </a:solidFill>
            <a:ln w="9525">
              <a:solidFill>
                <a:srgbClr val="A81900"/>
              </a:solidFill>
              <a:miter lim="800000"/>
              <a:headEnd/>
              <a:tailEnd/>
            </a:ln>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0"/>
                </a:spcBef>
                <a:spcAft>
                  <a:spcPct val="0"/>
                </a:spcAft>
                <a:buClrTx/>
                <a:buSzTx/>
                <a:buNone/>
              </a:pPr>
              <a:endParaRPr lang="en-US" altLang="en-US" sz="1800">
                <a:solidFill>
                  <a:prstClr val="black"/>
                </a:solidFill>
                <a:latin typeface="Times New Roman" panose="02020603050405020304" pitchFamily="18" charset="0"/>
              </a:endParaRPr>
            </a:p>
          </p:txBody>
        </p:sp>
        <p:sp>
          <p:nvSpPr>
            <p:cNvPr id="267418" name="Rectangle 106">
              <a:extLst>
                <a:ext uri="{FF2B5EF4-FFF2-40B4-BE49-F238E27FC236}">
                  <a16:creationId xmlns:a16="http://schemas.microsoft.com/office/drawing/2014/main" id="{BB1F9247-5D1B-5F05-3882-95F62043AC16}"/>
                </a:ext>
              </a:extLst>
            </p:cNvPr>
            <p:cNvSpPr>
              <a:spLocks noChangeArrowheads="1"/>
            </p:cNvSpPr>
            <p:nvPr/>
          </p:nvSpPr>
          <p:spPr bwMode="auto">
            <a:xfrm>
              <a:off x="2387" y="2292"/>
              <a:ext cx="34" cy="40"/>
            </a:xfrm>
            <a:prstGeom prst="rect">
              <a:avLst/>
            </a:prstGeom>
            <a:solidFill>
              <a:srgbClr val="A81900"/>
            </a:solidFill>
            <a:ln w="9525">
              <a:solidFill>
                <a:srgbClr val="A81900"/>
              </a:solidFill>
              <a:miter lim="800000"/>
              <a:headEnd/>
              <a:tailEnd/>
            </a:ln>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0"/>
                </a:spcBef>
                <a:spcAft>
                  <a:spcPct val="0"/>
                </a:spcAft>
                <a:buClrTx/>
                <a:buSzTx/>
                <a:buNone/>
              </a:pPr>
              <a:endParaRPr lang="en-US" altLang="en-US" sz="1800">
                <a:solidFill>
                  <a:prstClr val="black"/>
                </a:solidFill>
                <a:latin typeface="Times New Roman" panose="02020603050405020304" pitchFamily="18" charset="0"/>
              </a:endParaRPr>
            </a:p>
          </p:txBody>
        </p:sp>
        <p:sp>
          <p:nvSpPr>
            <p:cNvPr id="267419" name="Rectangle 107">
              <a:extLst>
                <a:ext uri="{FF2B5EF4-FFF2-40B4-BE49-F238E27FC236}">
                  <a16:creationId xmlns:a16="http://schemas.microsoft.com/office/drawing/2014/main" id="{425E4284-6C17-C757-71C3-B88D209F5294}"/>
                </a:ext>
              </a:extLst>
            </p:cNvPr>
            <p:cNvSpPr>
              <a:spLocks noChangeArrowheads="1"/>
            </p:cNvSpPr>
            <p:nvPr/>
          </p:nvSpPr>
          <p:spPr bwMode="auto">
            <a:xfrm>
              <a:off x="2520" y="2363"/>
              <a:ext cx="33" cy="40"/>
            </a:xfrm>
            <a:prstGeom prst="rect">
              <a:avLst/>
            </a:prstGeom>
            <a:solidFill>
              <a:srgbClr val="A81900"/>
            </a:solidFill>
            <a:ln w="9525">
              <a:solidFill>
                <a:srgbClr val="A81900"/>
              </a:solidFill>
              <a:miter lim="800000"/>
              <a:headEnd/>
              <a:tailEnd/>
            </a:ln>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0"/>
                </a:spcBef>
                <a:spcAft>
                  <a:spcPct val="0"/>
                </a:spcAft>
                <a:buClrTx/>
                <a:buSzTx/>
                <a:buNone/>
              </a:pPr>
              <a:endParaRPr lang="en-US" altLang="en-US" sz="1800">
                <a:solidFill>
                  <a:prstClr val="black"/>
                </a:solidFill>
                <a:latin typeface="Times New Roman" panose="02020603050405020304" pitchFamily="18" charset="0"/>
              </a:endParaRPr>
            </a:p>
          </p:txBody>
        </p:sp>
        <p:sp>
          <p:nvSpPr>
            <p:cNvPr id="267420" name="Rectangle 108">
              <a:extLst>
                <a:ext uri="{FF2B5EF4-FFF2-40B4-BE49-F238E27FC236}">
                  <a16:creationId xmlns:a16="http://schemas.microsoft.com/office/drawing/2014/main" id="{87FFC76E-4DA1-BFFF-EA31-95A07C12939E}"/>
                </a:ext>
              </a:extLst>
            </p:cNvPr>
            <p:cNvSpPr>
              <a:spLocks noChangeArrowheads="1"/>
            </p:cNvSpPr>
            <p:nvPr/>
          </p:nvSpPr>
          <p:spPr bwMode="auto">
            <a:xfrm>
              <a:off x="2652" y="2427"/>
              <a:ext cx="33" cy="40"/>
            </a:xfrm>
            <a:prstGeom prst="rect">
              <a:avLst/>
            </a:prstGeom>
            <a:solidFill>
              <a:srgbClr val="A81900"/>
            </a:solidFill>
            <a:ln w="9525">
              <a:solidFill>
                <a:srgbClr val="A81900"/>
              </a:solidFill>
              <a:miter lim="800000"/>
              <a:headEnd/>
              <a:tailEnd/>
            </a:ln>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0"/>
                </a:spcBef>
                <a:spcAft>
                  <a:spcPct val="0"/>
                </a:spcAft>
                <a:buClrTx/>
                <a:buSzTx/>
                <a:buNone/>
              </a:pPr>
              <a:endParaRPr lang="en-US" altLang="en-US" sz="1800">
                <a:solidFill>
                  <a:prstClr val="black"/>
                </a:solidFill>
                <a:latin typeface="Times New Roman" panose="02020603050405020304" pitchFamily="18" charset="0"/>
              </a:endParaRPr>
            </a:p>
          </p:txBody>
        </p:sp>
        <p:sp>
          <p:nvSpPr>
            <p:cNvPr id="267421" name="Rectangle 109">
              <a:extLst>
                <a:ext uri="{FF2B5EF4-FFF2-40B4-BE49-F238E27FC236}">
                  <a16:creationId xmlns:a16="http://schemas.microsoft.com/office/drawing/2014/main" id="{AD6187A0-2D1D-4EDD-052D-12791F76FF2A}"/>
                </a:ext>
              </a:extLst>
            </p:cNvPr>
            <p:cNvSpPr>
              <a:spLocks noChangeArrowheads="1"/>
            </p:cNvSpPr>
            <p:nvPr/>
          </p:nvSpPr>
          <p:spPr bwMode="auto">
            <a:xfrm>
              <a:off x="2791" y="2491"/>
              <a:ext cx="34" cy="39"/>
            </a:xfrm>
            <a:prstGeom prst="rect">
              <a:avLst/>
            </a:prstGeom>
            <a:solidFill>
              <a:srgbClr val="A81900"/>
            </a:solidFill>
            <a:ln w="9525">
              <a:solidFill>
                <a:srgbClr val="A81900"/>
              </a:solidFill>
              <a:miter lim="800000"/>
              <a:headEnd/>
              <a:tailEnd/>
            </a:ln>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0"/>
                </a:spcBef>
                <a:spcAft>
                  <a:spcPct val="0"/>
                </a:spcAft>
                <a:buClrTx/>
                <a:buSzTx/>
                <a:buNone/>
              </a:pPr>
              <a:endParaRPr lang="en-US" altLang="en-US" sz="1800">
                <a:solidFill>
                  <a:prstClr val="black"/>
                </a:solidFill>
                <a:latin typeface="Times New Roman" panose="02020603050405020304" pitchFamily="18" charset="0"/>
              </a:endParaRPr>
            </a:p>
          </p:txBody>
        </p:sp>
        <p:sp>
          <p:nvSpPr>
            <p:cNvPr id="267422" name="Rectangle 110">
              <a:extLst>
                <a:ext uri="{FF2B5EF4-FFF2-40B4-BE49-F238E27FC236}">
                  <a16:creationId xmlns:a16="http://schemas.microsoft.com/office/drawing/2014/main" id="{F9C587F6-3E27-6D30-5E29-1D70E223148D}"/>
                </a:ext>
              </a:extLst>
            </p:cNvPr>
            <p:cNvSpPr>
              <a:spLocks noChangeArrowheads="1"/>
            </p:cNvSpPr>
            <p:nvPr/>
          </p:nvSpPr>
          <p:spPr bwMode="auto">
            <a:xfrm>
              <a:off x="2924" y="2538"/>
              <a:ext cx="33" cy="40"/>
            </a:xfrm>
            <a:prstGeom prst="rect">
              <a:avLst/>
            </a:prstGeom>
            <a:solidFill>
              <a:srgbClr val="A81900"/>
            </a:solidFill>
            <a:ln w="9525">
              <a:solidFill>
                <a:srgbClr val="A81900"/>
              </a:solidFill>
              <a:miter lim="800000"/>
              <a:headEnd/>
              <a:tailEnd/>
            </a:ln>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0"/>
                </a:spcBef>
                <a:spcAft>
                  <a:spcPct val="0"/>
                </a:spcAft>
                <a:buClrTx/>
                <a:buSzTx/>
                <a:buNone/>
              </a:pPr>
              <a:endParaRPr lang="en-US" altLang="en-US" sz="1800">
                <a:solidFill>
                  <a:prstClr val="black"/>
                </a:solidFill>
                <a:latin typeface="Times New Roman" panose="02020603050405020304" pitchFamily="18" charset="0"/>
              </a:endParaRPr>
            </a:p>
          </p:txBody>
        </p:sp>
        <p:sp>
          <p:nvSpPr>
            <p:cNvPr id="267423" name="Rectangle 111">
              <a:extLst>
                <a:ext uri="{FF2B5EF4-FFF2-40B4-BE49-F238E27FC236}">
                  <a16:creationId xmlns:a16="http://schemas.microsoft.com/office/drawing/2014/main" id="{C1F5C24C-CE1B-A9AE-0818-62DCE45B63B3}"/>
                </a:ext>
              </a:extLst>
            </p:cNvPr>
            <p:cNvSpPr>
              <a:spLocks noChangeArrowheads="1"/>
            </p:cNvSpPr>
            <p:nvPr/>
          </p:nvSpPr>
          <p:spPr bwMode="auto">
            <a:xfrm>
              <a:off x="3063" y="2578"/>
              <a:ext cx="34" cy="39"/>
            </a:xfrm>
            <a:prstGeom prst="rect">
              <a:avLst/>
            </a:prstGeom>
            <a:solidFill>
              <a:srgbClr val="A81900"/>
            </a:solidFill>
            <a:ln w="9525">
              <a:solidFill>
                <a:srgbClr val="A81900"/>
              </a:solidFill>
              <a:miter lim="800000"/>
              <a:headEnd/>
              <a:tailEnd/>
            </a:ln>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0"/>
                </a:spcBef>
                <a:spcAft>
                  <a:spcPct val="0"/>
                </a:spcAft>
                <a:buClrTx/>
                <a:buSzTx/>
                <a:buNone/>
              </a:pPr>
              <a:endParaRPr lang="en-US" altLang="en-US" sz="1800">
                <a:solidFill>
                  <a:prstClr val="black"/>
                </a:solidFill>
                <a:latin typeface="Times New Roman" panose="02020603050405020304" pitchFamily="18" charset="0"/>
              </a:endParaRPr>
            </a:p>
          </p:txBody>
        </p:sp>
        <p:sp>
          <p:nvSpPr>
            <p:cNvPr id="267424" name="Rectangle 112">
              <a:extLst>
                <a:ext uri="{FF2B5EF4-FFF2-40B4-BE49-F238E27FC236}">
                  <a16:creationId xmlns:a16="http://schemas.microsoft.com/office/drawing/2014/main" id="{1970B200-77D3-411B-AC47-CD96B114351E}"/>
                </a:ext>
              </a:extLst>
            </p:cNvPr>
            <p:cNvSpPr>
              <a:spLocks noChangeArrowheads="1"/>
            </p:cNvSpPr>
            <p:nvPr/>
          </p:nvSpPr>
          <p:spPr bwMode="auto">
            <a:xfrm>
              <a:off x="3197" y="2617"/>
              <a:ext cx="33" cy="40"/>
            </a:xfrm>
            <a:prstGeom prst="rect">
              <a:avLst/>
            </a:prstGeom>
            <a:solidFill>
              <a:srgbClr val="A81900"/>
            </a:solidFill>
            <a:ln w="9525">
              <a:solidFill>
                <a:srgbClr val="A81900"/>
              </a:solidFill>
              <a:miter lim="800000"/>
              <a:headEnd/>
              <a:tailEnd/>
            </a:ln>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0"/>
                </a:spcBef>
                <a:spcAft>
                  <a:spcPct val="0"/>
                </a:spcAft>
                <a:buClrTx/>
                <a:buSzTx/>
                <a:buNone/>
              </a:pPr>
              <a:endParaRPr lang="en-US" altLang="en-US" sz="1800">
                <a:solidFill>
                  <a:prstClr val="black"/>
                </a:solidFill>
                <a:latin typeface="Times New Roman" panose="02020603050405020304" pitchFamily="18" charset="0"/>
              </a:endParaRPr>
            </a:p>
          </p:txBody>
        </p:sp>
        <p:sp>
          <p:nvSpPr>
            <p:cNvPr id="267425" name="Rectangle 113">
              <a:extLst>
                <a:ext uri="{FF2B5EF4-FFF2-40B4-BE49-F238E27FC236}">
                  <a16:creationId xmlns:a16="http://schemas.microsoft.com/office/drawing/2014/main" id="{031A9CF8-A10E-2AC0-E072-7E96535D9493}"/>
                </a:ext>
              </a:extLst>
            </p:cNvPr>
            <p:cNvSpPr>
              <a:spLocks noChangeArrowheads="1"/>
            </p:cNvSpPr>
            <p:nvPr/>
          </p:nvSpPr>
          <p:spPr bwMode="auto">
            <a:xfrm>
              <a:off x="3336" y="2657"/>
              <a:ext cx="34" cy="39"/>
            </a:xfrm>
            <a:prstGeom prst="rect">
              <a:avLst/>
            </a:prstGeom>
            <a:solidFill>
              <a:srgbClr val="A81900"/>
            </a:solidFill>
            <a:ln w="9525">
              <a:solidFill>
                <a:srgbClr val="A81900"/>
              </a:solidFill>
              <a:miter lim="800000"/>
              <a:headEnd/>
              <a:tailEnd/>
            </a:ln>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0"/>
                </a:spcBef>
                <a:spcAft>
                  <a:spcPct val="0"/>
                </a:spcAft>
                <a:buClrTx/>
                <a:buSzTx/>
                <a:buNone/>
              </a:pPr>
              <a:endParaRPr lang="en-US" altLang="en-US" sz="1800">
                <a:solidFill>
                  <a:prstClr val="black"/>
                </a:solidFill>
                <a:latin typeface="Times New Roman" panose="02020603050405020304" pitchFamily="18" charset="0"/>
              </a:endParaRPr>
            </a:p>
          </p:txBody>
        </p:sp>
        <p:sp>
          <p:nvSpPr>
            <p:cNvPr id="267426" name="Rectangle 114">
              <a:extLst>
                <a:ext uri="{FF2B5EF4-FFF2-40B4-BE49-F238E27FC236}">
                  <a16:creationId xmlns:a16="http://schemas.microsoft.com/office/drawing/2014/main" id="{A946B24B-EF8A-E79B-57BE-D055FB5133D7}"/>
                </a:ext>
              </a:extLst>
            </p:cNvPr>
            <p:cNvSpPr>
              <a:spLocks noChangeArrowheads="1"/>
            </p:cNvSpPr>
            <p:nvPr/>
          </p:nvSpPr>
          <p:spPr bwMode="auto">
            <a:xfrm>
              <a:off x="3468" y="2712"/>
              <a:ext cx="34" cy="40"/>
            </a:xfrm>
            <a:prstGeom prst="rect">
              <a:avLst/>
            </a:prstGeom>
            <a:solidFill>
              <a:srgbClr val="A81900"/>
            </a:solidFill>
            <a:ln w="9525">
              <a:solidFill>
                <a:srgbClr val="A81900"/>
              </a:solidFill>
              <a:miter lim="800000"/>
              <a:headEnd/>
              <a:tailEnd/>
            </a:ln>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0"/>
                </a:spcBef>
                <a:spcAft>
                  <a:spcPct val="0"/>
                </a:spcAft>
                <a:buClrTx/>
                <a:buSzTx/>
                <a:buNone/>
              </a:pPr>
              <a:endParaRPr lang="en-US" altLang="en-US" sz="1800">
                <a:solidFill>
                  <a:prstClr val="black"/>
                </a:solidFill>
                <a:latin typeface="Times New Roman" panose="02020603050405020304" pitchFamily="18" charset="0"/>
              </a:endParaRPr>
            </a:p>
          </p:txBody>
        </p:sp>
        <p:sp>
          <p:nvSpPr>
            <p:cNvPr id="267427" name="Rectangle 115">
              <a:extLst>
                <a:ext uri="{FF2B5EF4-FFF2-40B4-BE49-F238E27FC236}">
                  <a16:creationId xmlns:a16="http://schemas.microsoft.com/office/drawing/2014/main" id="{A388A160-ED28-EEB7-2108-02A2A1640834}"/>
                </a:ext>
              </a:extLst>
            </p:cNvPr>
            <p:cNvSpPr>
              <a:spLocks noChangeArrowheads="1"/>
            </p:cNvSpPr>
            <p:nvPr/>
          </p:nvSpPr>
          <p:spPr bwMode="auto">
            <a:xfrm>
              <a:off x="3602" y="2760"/>
              <a:ext cx="32" cy="40"/>
            </a:xfrm>
            <a:prstGeom prst="rect">
              <a:avLst/>
            </a:prstGeom>
            <a:solidFill>
              <a:srgbClr val="A81900"/>
            </a:solidFill>
            <a:ln w="9525">
              <a:solidFill>
                <a:srgbClr val="A81900"/>
              </a:solidFill>
              <a:miter lim="800000"/>
              <a:headEnd/>
              <a:tailEnd/>
            </a:ln>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0"/>
                </a:spcBef>
                <a:spcAft>
                  <a:spcPct val="0"/>
                </a:spcAft>
                <a:buClrTx/>
                <a:buSzTx/>
                <a:buNone/>
              </a:pPr>
              <a:endParaRPr lang="en-US" altLang="en-US" sz="1800">
                <a:solidFill>
                  <a:prstClr val="black"/>
                </a:solidFill>
                <a:latin typeface="Times New Roman" panose="02020603050405020304" pitchFamily="18" charset="0"/>
              </a:endParaRPr>
            </a:p>
          </p:txBody>
        </p:sp>
        <p:sp>
          <p:nvSpPr>
            <p:cNvPr id="267428" name="Rectangle 116">
              <a:extLst>
                <a:ext uri="{FF2B5EF4-FFF2-40B4-BE49-F238E27FC236}">
                  <a16:creationId xmlns:a16="http://schemas.microsoft.com/office/drawing/2014/main" id="{6D18835A-82A6-9068-A960-F9997067FC1C}"/>
                </a:ext>
              </a:extLst>
            </p:cNvPr>
            <p:cNvSpPr>
              <a:spLocks noChangeArrowheads="1"/>
            </p:cNvSpPr>
            <p:nvPr/>
          </p:nvSpPr>
          <p:spPr bwMode="auto">
            <a:xfrm>
              <a:off x="3740" y="2800"/>
              <a:ext cx="34" cy="39"/>
            </a:xfrm>
            <a:prstGeom prst="rect">
              <a:avLst/>
            </a:prstGeom>
            <a:solidFill>
              <a:srgbClr val="A81900"/>
            </a:solidFill>
            <a:ln w="9525">
              <a:solidFill>
                <a:srgbClr val="A81900"/>
              </a:solidFill>
              <a:miter lim="800000"/>
              <a:headEnd/>
              <a:tailEnd/>
            </a:ln>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0"/>
                </a:spcBef>
                <a:spcAft>
                  <a:spcPct val="0"/>
                </a:spcAft>
                <a:buClrTx/>
                <a:buSzTx/>
                <a:buNone/>
              </a:pPr>
              <a:endParaRPr lang="en-US" altLang="en-US" sz="1800">
                <a:solidFill>
                  <a:prstClr val="black"/>
                </a:solidFill>
                <a:latin typeface="Times New Roman" panose="02020603050405020304" pitchFamily="18" charset="0"/>
              </a:endParaRPr>
            </a:p>
          </p:txBody>
        </p:sp>
        <p:sp>
          <p:nvSpPr>
            <p:cNvPr id="267429" name="Rectangle 117">
              <a:extLst>
                <a:ext uri="{FF2B5EF4-FFF2-40B4-BE49-F238E27FC236}">
                  <a16:creationId xmlns:a16="http://schemas.microsoft.com/office/drawing/2014/main" id="{16E9A3FB-0CC0-8D35-F1AE-51B7485B5341}"/>
                </a:ext>
              </a:extLst>
            </p:cNvPr>
            <p:cNvSpPr>
              <a:spLocks noChangeArrowheads="1"/>
            </p:cNvSpPr>
            <p:nvPr/>
          </p:nvSpPr>
          <p:spPr bwMode="auto">
            <a:xfrm>
              <a:off x="3874" y="2832"/>
              <a:ext cx="32" cy="39"/>
            </a:xfrm>
            <a:prstGeom prst="rect">
              <a:avLst/>
            </a:prstGeom>
            <a:solidFill>
              <a:srgbClr val="A81900"/>
            </a:solidFill>
            <a:ln w="9525">
              <a:solidFill>
                <a:srgbClr val="A81900"/>
              </a:solidFill>
              <a:miter lim="800000"/>
              <a:headEnd/>
              <a:tailEnd/>
            </a:ln>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0"/>
                </a:spcBef>
                <a:spcAft>
                  <a:spcPct val="0"/>
                </a:spcAft>
                <a:buClrTx/>
                <a:buSzTx/>
                <a:buNone/>
              </a:pPr>
              <a:endParaRPr lang="en-US" altLang="en-US" sz="1800">
                <a:solidFill>
                  <a:prstClr val="black"/>
                </a:solidFill>
                <a:latin typeface="Times New Roman" panose="02020603050405020304" pitchFamily="18" charset="0"/>
              </a:endParaRPr>
            </a:p>
          </p:txBody>
        </p:sp>
        <p:sp>
          <p:nvSpPr>
            <p:cNvPr id="267430" name="Rectangle 118">
              <a:extLst>
                <a:ext uri="{FF2B5EF4-FFF2-40B4-BE49-F238E27FC236}">
                  <a16:creationId xmlns:a16="http://schemas.microsoft.com/office/drawing/2014/main" id="{077AE978-E391-C34E-5AA7-6AA47E1BB241}"/>
                </a:ext>
              </a:extLst>
            </p:cNvPr>
            <p:cNvSpPr>
              <a:spLocks noChangeArrowheads="1"/>
            </p:cNvSpPr>
            <p:nvPr/>
          </p:nvSpPr>
          <p:spPr bwMode="auto">
            <a:xfrm>
              <a:off x="4012" y="2863"/>
              <a:ext cx="34" cy="40"/>
            </a:xfrm>
            <a:prstGeom prst="rect">
              <a:avLst/>
            </a:prstGeom>
            <a:solidFill>
              <a:srgbClr val="A81900"/>
            </a:solidFill>
            <a:ln w="9525">
              <a:solidFill>
                <a:srgbClr val="A81900"/>
              </a:solidFill>
              <a:miter lim="800000"/>
              <a:headEnd/>
              <a:tailEnd/>
            </a:ln>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0"/>
                </a:spcBef>
                <a:spcAft>
                  <a:spcPct val="0"/>
                </a:spcAft>
                <a:buClrTx/>
                <a:buSzTx/>
                <a:buNone/>
              </a:pPr>
              <a:endParaRPr lang="en-US" altLang="en-US" sz="1800">
                <a:solidFill>
                  <a:prstClr val="black"/>
                </a:solidFill>
                <a:latin typeface="Times New Roman" panose="02020603050405020304" pitchFamily="18" charset="0"/>
              </a:endParaRPr>
            </a:p>
          </p:txBody>
        </p:sp>
        <p:sp>
          <p:nvSpPr>
            <p:cNvPr id="267431" name="Rectangle 119">
              <a:extLst>
                <a:ext uri="{FF2B5EF4-FFF2-40B4-BE49-F238E27FC236}">
                  <a16:creationId xmlns:a16="http://schemas.microsoft.com/office/drawing/2014/main" id="{03C19E5B-57D7-6EAE-9062-4CD52C126566}"/>
                </a:ext>
              </a:extLst>
            </p:cNvPr>
            <p:cNvSpPr>
              <a:spLocks noChangeArrowheads="1"/>
            </p:cNvSpPr>
            <p:nvPr/>
          </p:nvSpPr>
          <p:spPr bwMode="auto">
            <a:xfrm>
              <a:off x="4146" y="2887"/>
              <a:ext cx="32" cy="40"/>
            </a:xfrm>
            <a:prstGeom prst="rect">
              <a:avLst/>
            </a:prstGeom>
            <a:solidFill>
              <a:srgbClr val="A81900"/>
            </a:solidFill>
            <a:ln w="9525">
              <a:solidFill>
                <a:srgbClr val="A81900"/>
              </a:solidFill>
              <a:miter lim="800000"/>
              <a:headEnd/>
              <a:tailEnd/>
            </a:ln>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0"/>
                </a:spcBef>
                <a:spcAft>
                  <a:spcPct val="0"/>
                </a:spcAft>
                <a:buClrTx/>
                <a:buSzTx/>
                <a:buNone/>
              </a:pPr>
              <a:endParaRPr lang="en-US" altLang="en-US" sz="1800">
                <a:solidFill>
                  <a:prstClr val="black"/>
                </a:solidFill>
                <a:latin typeface="Times New Roman" panose="02020603050405020304" pitchFamily="18" charset="0"/>
              </a:endParaRPr>
            </a:p>
          </p:txBody>
        </p:sp>
        <p:sp>
          <p:nvSpPr>
            <p:cNvPr id="267432" name="Rectangle 120">
              <a:extLst>
                <a:ext uri="{FF2B5EF4-FFF2-40B4-BE49-F238E27FC236}">
                  <a16:creationId xmlns:a16="http://schemas.microsoft.com/office/drawing/2014/main" id="{6E63A6AB-077F-E2C0-6A9C-C351585BC06A}"/>
                </a:ext>
              </a:extLst>
            </p:cNvPr>
            <p:cNvSpPr>
              <a:spLocks noChangeArrowheads="1"/>
            </p:cNvSpPr>
            <p:nvPr/>
          </p:nvSpPr>
          <p:spPr bwMode="auto">
            <a:xfrm>
              <a:off x="4285" y="2903"/>
              <a:ext cx="33" cy="39"/>
            </a:xfrm>
            <a:prstGeom prst="rect">
              <a:avLst/>
            </a:prstGeom>
            <a:solidFill>
              <a:srgbClr val="A81900"/>
            </a:solidFill>
            <a:ln w="9525">
              <a:solidFill>
                <a:srgbClr val="A81900"/>
              </a:solidFill>
              <a:miter lim="800000"/>
              <a:headEnd/>
              <a:tailEnd/>
            </a:ln>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0"/>
                </a:spcBef>
                <a:spcAft>
                  <a:spcPct val="0"/>
                </a:spcAft>
                <a:buClrTx/>
                <a:buSzTx/>
                <a:buNone/>
              </a:pPr>
              <a:endParaRPr lang="en-US" altLang="en-US" sz="1800">
                <a:solidFill>
                  <a:prstClr val="black"/>
                </a:solidFill>
                <a:latin typeface="Times New Roman" panose="02020603050405020304" pitchFamily="18" charset="0"/>
              </a:endParaRPr>
            </a:p>
          </p:txBody>
        </p:sp>
        <p:sp>
          <p:nvSpPr>
            <p:cNvPr id="267433" name="Rectangle 121">
              <a:extLst>
                <a:ext uri="{FF2B5EF4-FFF2-40B4-BE49-F238E27FC236}">
                  <a16:creationId xmlns:a16="http://schemas.microsoft.com/office/drawing/2014/main" id="{ABBC6E40-898C-EDDC-7B99-07A2FB5AF77C}"/>
                </a:ext>
              </a:extLst>
            </p:cNvPr>
            <p:cNvSpPr>
              <a:spLocks noChangeArrowheads="1"/>
            </p:cNvSpPr>
            <p:nvPr/>
          </p:nvSpPr>
          <p:spPr bwMode="auto">
            <a:xfrm>
              <a:off x="4418" y="2919"/>
              <a:ext cx="33" cy="39"/>
            </a:xfrm>
            <a:prstGeom prst="rect">
              <a:avLst/>
            </a:prstGeom>
            <a:solidFill>
              <a:srgbClr val="A81900"/>
            </a:solidFill>
            <a:ln w="9525">
              <a:solidFill>
                <a:srgbClr val="A81900"/>
              </a:solidFill>
              <a:miter lim="800000"/>
              <a:headEnd/>
              <a:tailEnd/>
            </a:ln>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0"/>
                </a:spcBef>
                <a:spcAft>
                  <a:spcPct val="0"/>
                </a:spcAft>
                <a:buClrTx/>
                <a:buSzTx/>
                <a:buNone/>
              </a:pPr>
              <a:endParaRPr lang="en-US" altLang="en-US" sz="1800">
                <a:solidFill>
                  <a:prstClr val="black"/>
                </a:solidFill>
                <a:latin typeface="Times New Roman" panose="02020603050405020304" pitchFamily="18" charset="0"/>
              </a:endParaRPr>
            </a:p>
          </p:txBody>
        </p:sp>
        <p:sp>
          <p:nvSpPr>
            <p:cNvPr id="267434" name="Rectangle 122">
              <a:extLst>
                <a:ext uri="{FF2B5EF4-FFF2-40B4-BE49-F238E27FC236}">
                  <a16:creationId xmlns:a16="http://schemas.microsoft.com/office/drawing/2014/main" id="{015ABE44-AC08-67CA-B703-DC13A8D36AA7}"/>
                </a:ext>
              </a:extLst>
            </p:cNvPr>
            <p:cNvSpPr>
              <a:spLocks noChangeArrowheads="1"/>
            </p:cNvSpPr>
            <p:nvPr/>
          </p:nvSpPr>
          <p:spPr bwMode="auto">
            <a:xfrm>
              <a:off x="4551" y="2934"/>
              <a:ext cx="33" cy="40"/>
            </a:xfrm>
            <a:prstGeom prst="rect">
              <a:avLst/>
            </a:prstGeom>
            <a:solidFill>
              <a:srgbClr val="A81900"/>
            </a:solidFill>
            <a:ln w="9525">
              <a:solidFill>
                <a:srgbClr val="A81900"/>
              </a:solidFill>
              <a:miter lim="800000"/>
              <a:headEnd/>
              <a:tailEnd/>
            </a:ln>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0"/>
                </a:spcBef>
                <a:spcAft>
                  <a:spcPct val="0"/>
                </a:spcAft>
                <a:buClrTx/>
                <a:buSzTx/>
                <a:buNone/>
              </a:pPr>
              <a:endParaRPr lang="en-US" altLang="en-US" sz="1800">
                <a:solidFill>
                  <a:prstClr val="black"/>
                </a:solidFill>
                <a:latin typeface="Times New Roman" panose="02020603050405020304" pitchFamily="18" charset="0"/>
              </a:endParaRPr>
            </a:p>
          </p:txBody>
        </p:sp>
        <p:sp>
          <p:nvSpPr>
            <p:cNvPr id="267435" name="Rectangle 123">
              <a:extLst>
                <a:ext uri="{FF2B5EF4-FFF2-40B4-BE49-F238E27FC236}">
                  <a16:creationId xmlns:a16="http://schemas.microsoft.com/office/drawing/2014/main" id="{528AE46A-42DF-CF2E-9986-2A2261C5F783}"/>
                </a:ext>
              </a:extLst>
            </p:cNvPr>
            <p:cNvSpPr>
              <a:spLocks noChangeArrowheads="1"/>
            </p:cNvSpPr>
            <p:nvPr/>
          </p:nvSpPr>
          <p:spPr bwMode="auto">
            <a:xfrm>
              <a:off x="4690" y="2950"/>
              <a:ext cx="33" cy="39"/>
            </a:xfrm>
            <a:prstGeom prst="rect">
              <a:avLst/>
            </a:prstGeom>
            <a:solidFill>
              <a:srgbClr val="A81900"/>
            </a:solidFill>
            <a:ln w="9525">
              <a:solidFill>
                <a:srgbClr val="A81900"/>
              </a:solidFill>
              <a:miter lim="800000"/>
              <a:headEnd/>
              <a:tailEnd/>
            </a:ln>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0"/>
                </a:spcBef>
                <a:spcAft>
                  <a:spcPct val="0"/>
                </a:spcAft>
                <a:buClrTx/>
                <a:buSzTx/>
                <a:buNone/>
              </a:pPr>
              <a:endParaRPr lang="en-US" altLang="en-US" sz="1800">
                <a:solidFill>
                  <a:prstClr val="black"/>
                </a:solidFill>
                <a:latin typeface="Times New Roman" panose="02020603050405020304" pitchFamily="18" charset="0"/>
              </a:endParaRPr>
            </a:p>
          </p:txBody>
        </p:sp>
        <p:sp>
          <p:nvSpPr>
            <p:cNvPr id="267436" name="Rectangle 124">
              <a:extLst>
                <a:ext uri="{FF2B5EF4-FFF2-40B4-BE49-F238E27FC236}">
                  <a16:creationId xmlns:a16="http://schemas.microsoft.com/office/drawing/2014/main" id="{6E1392FE-8119-E151-8F80-51AFDBF1FA86}"/>
                </a:ext>
              </a:extLst>
            </p:cNvPr>
            <p:cNvSpPr>
              <a:spLocks noChangeArrowheads="1"/>
            </p:cNvSpPr>
            <p:nvPr/>
          </p:nvSpPr>
          <p:spPr bwMode="auto">
            <a:xfrm>
              <a:off x="4823" y="2958"/>
              <a:ext cx="33" cy="39"/>
            </a:xfrm>
            <a:prstGeom prst="rect">
              <a:avLst/>
            </a:prstGeom>
            <a:solidFill>
              <a:srgbClr val="A81900"/>
            </a:solidFill>
            <a:ln w="9525">
              <a:solidFill>
                <a:srgbClr val="A81900"/>
              </a:solidFill>
              <a:miter lim="800000"/>
              <a:headEnd/>
              <a:tailEnd/>
            </a:ln>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0"/>
                </a:spcBef>
                <a:spcAft>
                  <a:spcPct val="0"/>
                </a:spcAft>
                <a:buClrTx/>
                <a:buSzTx/>
                <a:buNone/>
              </a:pPr>
              <a:endParaRPr lang="en-US" altLang="en-US" sz="1800">
                <a:solidFill>
                  <a:prstClr val="black"/>
                </a:solidFill>
                <a:latin typeface="Times New Roman" panose="02020603050405020304" pitchFamily="18" charset="0"/>
              </a:endParaRPr>
            </a:p>
          </p:txBody>
        </p:sp>
        <p:sp>
          <p:nvSpPr>
            <p:cNvPr id="267437" name="Rectangle 125">
              <a:extLst>
                <a:ext uri="{FF2B5EF4-FFF2-40B4-BE49-F238E27FC236}">
                  <a16:creationId xmlns:a16="http://schemas.microsoft.com/office/drawing/2014/main" id="{54F4516E-EDE3-C14E-C619-08F53F11B107}"/>
                </a:ext>
              </a:extLst>
            </p:cNvPr>
            <p:cNvSpPr>
              <a:spLocks noChangeArrowheads="1"/>
            </p:cNvSpPr>
            <p:nvPr/>
          </p:nvSpPr>
          <p:spPr bwMode="auto">
            <a:xfrm>
              <a:off x="4961" y="2974"/>
              <a:ext cx="33" cy="39"/>
            </a:xfrm>
            <a:prstGeom prst="rect">
              <a:avLst/>
            </a:prstGeom>
            <a:solidFill>
              <a:srgbClr val="A81900"/>
            </a:solidFill>
            <a:ln w="9525">
              <a:solidFill>
                <a:srgbClr val="A81900"/>
              </a:solidFill>
              <a:miter lim="800000"/>
              <a:headEnd/>
              <a:tailEnd/>
            </a:ln>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0"/>
                </a:spcBef>
                <a:spcAft>
                  <a:spcPct val="0"/>
                </a:spcAft>
                <a:buClrTx/>
                <a:buSzTx/>
                <a:buNone/>
              </a:pPr>
              <a:endParaRPr lang="en-US" altLang="en-US" sz="1800">
                <a:solidFill>
                  <a:prstClr val="black"/>
                </a:solidFill>
                <a:latin typeface="Times New Roman" panose="02020603050405020304" pitchFamily="18" charset="0"/>
              </a:endParaRPr>
            </a:p>
          </p:txBody>
        </p:sp>
        <p:sp>
          <p:nvSpPr>
            <p:cNvPr id="267438" name="Rectangle 126">
              <a:extLst>
                <a:ext uri="{FF2B5EF4-FFF2-40B4-BE49-F238E27FC236}">
                  <a16:creationId xmlns:a16="http://schemas.microsoft.com/office/drawing/2014/main" id="{BFE26EFF-6924-C279-D83E-2DB5DCBAF1F1}"/>
                </a:ext>
              </a:extLst>
            </p:cNvPr>
            <p:cNvSpPr>
              <a:spLocks noChangeArrowheads="1"/>
            </p:cNvSpPr>
            <p:nvPr/>
          </p:nvSpPr>
          <p:spPr bwMode="auto">
            <a:xfrm>
              <a:off x="5094" y="2982"/>
              <a:ext cx="34" cy="39"/>
            </a:xfrm>
            <a:prstGeom prst="rect">
              <a:avLst/>
            </a:prstGeom>
            <a:solidFill>
              <a:srgbClr val="A81900"/>
            </a:solidFill>
            <a:ln w="9525">
              <a:solidFill>
                <a:srgbClr val="A81900"/>
              </a:solidFill>
              <a:miter lim="800000"/>
              <a:headEnd/>
              <a:tailEnd/>
            </a:ln>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0"/>
                </a:spcBef>
                <a:spcAft>
                  <a:spcPct val="0"/>
                </a:spcAft>
                <a:buClrTx/>
                <a:buSzTx/>
                <a:buNone/>
              </a:pPr>
              <a:endParaRPr lang="en-US" altLang="en-US" sz="1800">
                <a:solidFill>
                  <a:prstClr val="black"/>
                </a:solidFill>
                <a:latin typeface="Times New Roman" panose="02020603050405020304" pitchFamily="18" charset="0"/>
              </a:endParaRPr>
            </a:p>
          </p:txBody>
        </p:sp>
        <p:sp>
          <p:nvSpPr>
            <p:cNvPr id="267439" name="Rectangle 127">
              <a:extLst>
                <a:ext uri="{FF2B5EF4-FFF2-40B4-BE49-F238E27FC236}">
                  <a16:creationId xmlns:a16="http://schemas.microsoft.com/office/drawing/2014/main" id="{905F810E-3640-513F-B5C2-2F5F97EEF0D0}"/>
                </a:ext>
              </a:extLst>
            </p:cNvPr>
            <p:cNvSpPr>
              <a:spLocks noChangeArrowheads="1"/>
            </p:cNvSpPr>
            <p:nvPr/>
          </p:nvSpPr>
          <p:spPr bwMode="auto">
            <a:xfrm>
              <a:off x="5235" y="2989"/>
              <a:ext cx="32" cy="40"/>
            </a:xfrm>
            <a:prstGeom prst="rect">
              <a:avLst/>
            </a:prstGeom>
            <a:solidFill>
              <a:srgbClr val="A81900"/>
            </a:solidFill>
            <a:ln w="9525">
              <a:solidFill>
                <a:srgbClr val="A81900"/>
              </a:solidFill>
              <a:miter lim="800000"/>
              <a:headEnd/>
              <a:tailEnd/>
            </a:ln>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0"/>
                </a:spcBef>
                <a:spcAft>
                  <a:spcPct val="0"/>
                </a:spcAft>
                <a:buClrTx/>
                <a:buSzTx/>
                <a:buNone/>
              </a:pPr>
              <a:endParaRPr lang="en-US" altLang="en-US" sz="1800">
                <a:solidFill>
                  <a:prstClr val="black"/>
                </a:solidFill>
                <a:latin typeface="Times New Roman" panose="02020603050405020304" pitchFamily="18" charset="0"/>
              </a:endParaRPr>
            </a:p>
          </p:txBody>
        </p:sp>
        <p:sp>
          <p:nvSpPr>
            <p:cNvPr id="267440" name="Rectangle 128">
              <a:extLst>
                <a:ext uri="{FF2B5EF4-FFF2-40B4-BE49-F238E27FC236}">
                  <a16:creationId xmlns:a16="http://schemas.microsoft.com/office/drawing/2014/main" id="{CEA32CB1-3E39-4105-DB26-9F5414A8DB0F}"/>
                </a:ext>
              </a:extLst>
            </p:cNvPr>
            <p:cNvSpPr>
              <a:spLocks noChangeArrowheads="1"/>
            </p:cNvSpPr>
            <p:nvPr/>
          </p:nvSpPr>
          <p:spPr bwMode="auto">
            <a:xfrm>
              <a:off x="5367" y="2997"/>
              <a:ext cx="34" cy="40"/>
            </a:xfrm>
            <a:prstGeom prst="rect">
              <a:avLst/>
            </a:prstGeom>
            <a:solidFill>
              <a:srgbClr val="A81900"/>
            </a:solidFill>
            <a:ln w="9525">
              <a:solidFill>
                <a:srgbClr val="A81900"/>
              </a:solidFill>
              <a:miter lim="800000"/>
              <a:headEnd/>
              <a:tailEnd/>
            </a:ln>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eaLnBrk="0" fontAlgn="base" hangingPunct="0">
                <a:spcBef>
                  <a:spcPct val="0"/>
                </a:spcBef>
                <a:spcAft>
                  <a:spcPct val="0"/>
                </a:spcAft>
                <a:buClrTx/>
                <a:buSzTx/>
                <a:buNone/>
              </a:pPr>
              <a:endParaRPr lang="en-US" altLang="en-US" sz="1800">
                <a:solidFill>
                  <a:prstClr val="black"/>
                </a:solidFill>
                <a:latin typeface="Times New Roman" panose="02020603050405020304" pitchFamily="18" charset="0"/>
              </a:endParaRPr>
            </a:p>
          </p:txBody>
        </p:sp>
      </p:grpSp>
      <p:grpSp>
        <p:nvGrpSpPr>
          <p:cNvPr id="7" name="Group 129">
            <a:extLst>
              <a:ext uri="{FF2B5EF4-FFF2-40B4-BE49-F238E27FC236}">
                <a16:creationId xmlns:a16="http://schemas.microsoft.com/office/drawing/2014/main" id="{F98D3D78-EC5F-C572-D15B-92AAC8909450}"/>
              </a:ext>
            </a:extLst>
          </p:cNvPr>
          <p:cNvGrpSpPr>
            <a:grpSpLocks/>
          </p:cNvGrpSpPr>
          <p:nvPr/>
        </p:nvGrpSpPr>
        <p:grpSpPr bwMode="auto">
          <a:xfrm>
            <a:off x="3403600" y="3328988"/>
            <a:ext cx="6057900" cy="1397000"/>
            <a:chOff x="1591" y="2308"/>
            <a:chExt cx="3816" cy="880"/>
          </a:xfrm>
        </p:grpSpPr>
        <p:sp>
          <p:nvSpPr>
            <p:cNvPr id="267327" name="Line 130">
              <a:extLst>
                <a:ext uri="{FF2B5EF4-FFF2-40B4-BE49-F238E27FC236}">
                  <a16:creationId xmlns:a16="http://schemas.microsoft.com/office/drawing/2014/main" id="{640AD1D9-726E-E346-3577-F5488442281E}"/>
                </a:ext>
              </a:extLst>
            </p:cNvPr>
            <p:cNvSpPr>
              <a:spLocks noChangeShapeType="1"/>
            </p:cNvSpPr>
            <p:nvPr/>
          </p:nvSpPr>
          <p:spPr bwMode="auto">
            <a:xfrm flipV="1">
              <a:off x="4165" y="2570"/>
              <a:ext cx="1" cy="47"/>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28" name="Line 131">
              <a:extLst>
                <a:ext uri="{FF2B5EF4-FFF2-40B4-BE49-F238E27FC236}">
                  <a16:creationId xmlns:a16="http://schemas.microsoft.com/office/drawing/2014/main" id="{A77B51CF-F59C-9620-2AFA-AE7C6EDDC747}"/>
                </a:ext>
              </a:extLst>
            </p:cNvPr>
            <p:cNvSpPr>
              <a:spLocks noChangeShapeType="1"/>
            </p:cNvSpPr>
            <p:nvPr/>
          </p:nvSpPr>
          <p:spPr bwMode="auto">
            <a:xfrm flipV="1">
              <a:off x="1591" y="2911"/>
              <a:ext cx="132" cy="277"/>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29" name="Line 132">
              <a:extLst>
                <a:ext uri="{FF2B5EF4-FFF2-40B4-BE49-F238E27FC236}">
                  <a16:creationId xmlns:a16="http://schemas.microsoft.com/office/drawing/2014/main" id="{8504D251-9FBA-4B9F-33D7-A0787BE91A2F}"/>
                </a:ext>
              </a:extLst>
            </p:cNvPr>
            <p:cNvSpPr>
              <a:spLocks noChangeShapeType="1"/>
            </p:cNvSpPr>
            <p:nvPr/>
          </p:nvSpPr>
          <p:spPr bwMode="auto">
            <a:xfrm flipV="1">
              <a:off x="1723" y="2712"/>
              <a:ext cx="139" cy="199"/>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30" name="Line 133">
              <a:extLst>
                <a:ext uri="{FF2B5EF4-FFF2-40B4-BE49-F238E27FC236}">
                  <a16:creationId xmlns:a16="http://schemas.microsoft.com/office/drawing/2014/main" id="{43C90118-99E0-ECF4-CEE6-0D48473D779C}"/>
                </a:ext>
              </a:extLst>
            </p:cNvPr>
            <p:cNvSpPr>
              <a:spLocks noChangeShapeType="1"/>
            </p:cNvSpPr>
            <p:nvPr/>
          </p:nvSpPr>
          <p:spPr bwMode="auto">
            <a:xfrm flipV="1">
              <a:off x="1862" y="2570"/>
              <a:ext cx="133" cy="142"/>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31" name="Line 134">
              <a:extLst>
                <a:ext uri="{FF2B5EF4-FFF2-40B4-BE49-F238E27FC236}">
                  <a16:creationId xmlns:a16="http://schemas.microsoft.com/office/drawing/2014/main" id="{DCFDD6A2-24CD-5CEC-4EBC-76E13AE51DB3}"/>
                </a:ext>
              </a:extLst>
            </p:cNvPr>
            <p:cNvSpPr>
              <a:spLocks noChangeShapeType="1"/>
            </p:cNvSpPr>
            <p:nvPr/>
          </p:nvSpPr>
          <p:spPr bwMode="auto">
            <a:xfrm flipV="1">
              <a:off x="1995" y="2475"/>
              <a:ext cx="139" cy="95"/>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32" name="Line 135">
              <a:extLst>
                <a:ext uri="{FF2B5EF4-FFF2-40B4-BE49-F238E27FC236}">
                  <a16:creationId xmlns:a16="http://schemas.microsoft.com/office/drawing/2014/main" id="{0A56CFC1-8123-8436-EB70-0F038FE97091}"/>
                </a:ext>
              </a:extLst>
            </p:cNvPr>
            <p:cNvSpPr>
              <a:spLocks noChangeShapeType="1"/>
            </p:cNvSpPr>
            <p:nvPr/>
          </p:nvSpPr>
          <p:spPr bwMode="auto">
            <a:xfrm flipV="1">
              <a:off x="2134" y="2411"/>
              <a:ext cx="134" cy="64"/>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33" name="Line 136">
              <a:extLst>
                <a:ext uri="{FF2B5EF4-FFF2-40B4-BE49-F238E27FC236}">
                  <a16:creationId xmlns:a16="http://schemas.microsoft.com/office/drawing/2014/main" id="{5D9060C2-FCC0-A120-1490-7C0B4FD9223F}"/>
                </a:ext>
              </a:extLst>
            </p:cNvPr>
            <p:cNvSpPr>
              <a:spLocks noChangeShapeType="1"/>
            </p:cNvSpPr>
            <p:nvPr/>
          </p:nvSpPr>
          <p:spPr bwMode="auto">
            <a:xfrm flipV="1">
              <a:off x="2268" y="2371"/>
              <a:ext cx="139" cy="40"/>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34" name="Line 137">
              <a:extLst>
                <a:ext uri="{FF2B5EF4-FFF2-40B4-BE49-F238E27FC236}">
                  <a16:creationId xmlns:a16="http://schemas.microsoft.com/office/drawing/2014/main" id="{BC4D4C1D-D0AA-58E0-4A68-B253593E75BA}"/>
                </a:ext>
              </a:extLst>
            </p:cNvPr>
            <p:cNvSpPr>
              <a:spLocks noChangeShapeType="1"/>
            </p:cNvSpPr>
            <p:nvPr/>
          </p:nvSpPr>
          <p:spPr bwMode="auto">
            <a:xfrm flipV="1">
              <a:off x="2407" y="2347"/>
              <a:ext cx="132" cy="24"/>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35" name="Line 138">
              <a:extLst>
                <a:ext uri="{FF2B5EF4-FFF2-40B4-BE49-F238E27FC236}">
                  <a16:creationId xmlns:a16="http://schemas.microsoft.com/office/drawing/2014/main" id="{0ABEA9C7-4191-5B99-0A5B-D74758446C53}"/>
                </a:ext>
              </a:extLst>
            </p:cNvPr>
            <p:cNvSpPr>
              <a:spLocks noChangeShapeType="1"/>
            </p:cNvSpPr>
            <p:nvPr/>
          </p:nvSpPr>
          <p:spPr bwMode="auto">
            <a:xfrm flipV="1">
              <a:off x="2539" y="2332"/>
              <a:ext cx="133" cy="15"/>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36" name="Line 139">
              <a:extLst>
                <a:ext uri="{FF2B5EF4-FFF2-40B4-BE49-F238E27FC236}">
                  <a16:creationId xmlns:a16="http://schemas.microsoft.com/office/drawing/2014/main" id="{42BC64AE-F3D1-F1E1-CFED-C8B5AEC1D953}"/>
                </a:ext>
              </a:extLst>
            </p:cNvPr>
            <p:cNvSpPr>
              <a:spLocks noChangeShapeType="1"/>
            </p:cNvSpPr>
            <p:nvPr/>
          </p:nvSpPr>
          <p:spPr bwMode="auto">
            <a:xfrm>
              <a:off x="2672" y="2332"/>
              <a:ext cx="139" cy="1"/>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37" name="Line 140">
              <a:extLst>
                <a:ext uri="{FF2B5EF4-FFF2-40B4-BE49-F238E27FC236}">
                  <a16:creationId xmlns:a16="http://schemas.microsoft.com/office/drawing/2014/main" id="{5DEBCFFA-A791-15C4-2397-FA2B84C80F92}"/>
                </a:ext>
              </a:extLst>
            </p:cNvPr>
            <p:cNvSpPr>
              <a:spLocks noChangeShapeType="1"/>
            </p:cNvSpPr>
            <p:nvPr/>
          </p:nvSpPr>
          <p:spPr bwMode="auto">
            <a:xfrm>
              <a:off x="2811" y="2332"/>
              <a:ext cx="133" cy="1"/>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38" name="Line 141">
              <a:extLst>
                <a:ext uri="{FF2B5EF4-FFF2-40B4-BE49-F238E27FC236}">
                  <a16:creationId xmlns:a16="http://schemas.microsoft.com/office/drawing/2014/main" id="{D1D64968-D4A4-D638-0E73-18B17ED915DE}"/>
                </a:ext>
              </a:extLst>
            </p:cNvPr>
            <p:cNvSpPr>
              <a:spLocks noChangeShapeType="1"/>
            </p:cNvSpPr>
            <p:nvPr/>
          </p:nvSpPr>
          <p:spPr bwMode="auto">
            <a:xfrm>
              <a:off x="2944" y="2332"/>
              <a:ext cx="139" cy="15"/>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39" name="Line 142">
              <a:extLst>
                <a:ext uri="{FF2B5EF4-FFF2-40B4-BE49-F238E27FC236}">
                  <a16:creationId xmlns:a16="http://schemas.microsoft.com/office/drawing/2014/main" id="{E8F5C29F-C14A-043A-3C20-FEA73057FED4}"/>
                </a:ext>
              </a:extLst>
            </p:cNvPr>
            <p:cNvSpPr>
              <a:spLocks noChangeShapeType="1"/>
            </p:cNvSpPr>
            <p:nvPr/>
          </p:nvSpPr>
          <p:spPr bwMode="auto">
            <a:xfrm>
              <a:off x="3083" y="2347"/>
              <a:ext cx="133" cy="8"/>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40" name="Line 143">
              <a:extLst>
                <a:ext uri="{FF2B5EF4-FFF2-40B4-BE49-F238E27FC236}">
                  <a16:creationId xmlns:a16="http://schemas.microsoft.com/office/drawing/2014/main" id="{45D06AEE-9B1D-4F3F-D3BA-662730447F55}"/>
                </a:ext>
              </a:extLst>
            </p:cNvPr>
            <p:cNvSpPr>
              <a:spLocks noChangeShapeType="1"/>
            </p:cNvSpPr>
            <p:nvPr/>
          </p:nvSpPr>
          <p:spPr bwMode="auto">
            <a:xfrm>
              <a:off x="3216" y="2355"/>
              <a:ext cx="140" cy="16"/>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41" name="Line 144">
              <a:extLst>
                <a:ext uri="{FF2B5EF4-FFF2-40B4-BE49-F238E27FC236}">
                  <a16:creationId xmlns:a16="http://schemas.microsoft.com/office/drawing/2014/main" id="{ACF64F96-8E74-4F8F-3B60-11BEBF80C000}"/>
                </a:ext>
              </a:extLst>
            </p:cNvPr>
            <p:cNvSpPr>
              <a:spLocks noChangeShapeType="1"/>
            </p:cNvSpPr>
            <p:nvPr/>
          </p:nvSpPr>
          <p:spPr bwMode="auto">
            <a:xfrm>
              <a:off x="3356" y="2371"/>
              <a:ext cx="132" cy="40"/>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42" name="Line 145">
              <a:extLst>
                <a:ext uri="{FF2B5EF4-FFF2-40B4-BE49-F238E27FC236}">
                  <a16:creationId xmlns:a16="http://schemas.microsoft.com/office/drawing/2014/main" id="{1B570CC2-5580-2BE5-1138-E91D23A54F27}"/>
                </a:ext>
              </a:extLst>
            </p:cNvPr>
            <p:cNvSpPr>
              <a:spLocks noChangeShapeType="1"/>
            </p:cNvSpPr>
            <p:nvPr/>
          </p:nvSpPr>
          <p:spPr bwMode="auto">
            <a:xfrm>
              <a:off x="3488" y="2411"/>
              <a:ext cx="134" cy="40"/>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43" name="Line 146">
              <a:extLst>
                <a:ext uri="{FF2B5EF4-FFF2-40B4-BE49-F238E27FC236}">
                  <a16:creationId xmlns:a16="http://schemas.microsoft.com/office/drawing/2014/main" id="{2EE00F7A-D64F-0046-F384-72E2D9590B9B}"/>
                </a:ext>
              </a:extLst>
            </p:cNvPr>
            <p:cNvSpPr>
              <a:spLocks noChangeShapeType="1"/>
            </p:cNvSpPr>
            <p:nvPr/>
          </p:nvSpPr>
          <p:spPr bwMode="auto">
            <a:xfrm>
              <a:off x="3622" y="2451"/>
              <a:ext cx="138" cy="40"/>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44" name="Line 147">
              <a:extLst>
                <a:ext uri="{FF2B5EF4-FFF2-40B4-BE49-F238E27FC236}">
                  <a16:creationId xmlns:a16="http://schemas.microsoft.com/office/drawing/2014/main" id="{45C9A1CE-2DFA-4D39-A490-086495992E80}"/>
                </a:ext>
              </a:extLst>
            </p:cNvPr>
            <p:cNvSpPr>
              <a:spLocks noChangeShapeType="1"/>
            </p:cNvSpPr>
            <p:nvPr/>
          </p:nvSpPr>
          <p:spPr bwMode="auto">
            <a:xfrm>
              <a:off x="3760" y="2491"/>
              <a:ext cx="133" cy="39"/>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45" name="Line 148">
              <a:extLst>
                <a:ext uri="{FF2B5EF4-FFF2-40B4-BE49-F238E27FC236}">
                  <a16:creationId xmlns:a16="http://schemas.microsoft.com/office/drawing/2014/main" id="{9B89387E-C668-56E9-77FF-56F1C606F45D}"/>
                </a:ext>
              </a:extLst>
            </p:cNvPr>
            <p:cNvSpPr>
              <a:spLocks noChangeShapeType="1"/>
            </p:cNvSpPr>
            <p:nvPr/>
          </p:nvSpPr>
          <p:spPr bwMode="auto">
            <a:xfrm>
              <a:off x="3893" y="2530"/>
              <a:ext cx="139" cy="40"/>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46" name="Line 149">
              <a:extLst>
                <a:ext uri="{FF2B5EF4-FFF2-40B4-BE49-F238E27FC236}">
                  <a16:creationId xmlns:a16="http://schemas.microsoft.com/office/drawing/2014/main" id="{7A2BA8CF-D837-F5FC-D41E-D7BD442D957B}"/>
                </a:ext>
              </a:extLst>
            </p:cNvPr>
            <p:cNvSpPr>
              <a:spLocks noChangeShapeType="1"/>
            </p:cNvSpPr>
            <p:nvPr/>
          </p:nvSpPr>
          <p:spPr bwMode="auto">
            <a:xfrm>
              <a:off x="4032" y="2570"/>
              <a:ext cx="133" cy="39"/>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47" name="Line 150">
              <a:extLst>
                <a:ext uri="{FF2B5EF4-FFF2-40B4-BE49-F238E27FC236}">
                  <a16:creationId xmlns:a16="http://schemas.microsoft.com/office/drawing/2014/main" id="{A88D6042-B551-0446-E1F6-15AF97D8583C}"/>
                </a:ext>
              </a:extLst>
            </p:cNvPr>
            <p:cNvSpPr>
              <a:spLocks noChangeShapeType="1"/>
            </p:cNvSpPr>
            <p:nvPr/>
          </p:nvSpPr>
          <p:spPr bwMode="auto">
            <a:xfrm>
              <a:off x="4165" y="2609"/>
              <a:ext cx="140" cy="32"/>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48" name="Line 151">
              <a:extLst>
                <a:ext uri="{FF2B5EF4-FFF2-40B4-BE49-F238E27FC236}">
                  <a16:creationId xmlns:a16="http://schemas.microsoft.com/office/drawing/2014/main" id="{AF3C7CFE-D7B0-6159-166F-02EBE22E336A}"/>
                </a:ext>
              </a:extLst>
            </p:cNvPr>
            <p:cNvSpPr>
              <a:spLocks noChangeShapeType="1"/>
            </p:cNvSpPr>
            <p:nvPr/>
          </p:nvSpPr>
          <p:spPr bwMode="auto">
            <a:xfrm>
              <a:off x="4305" y="2641"/>
              <a:ext cx="133" cy="39"/>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49" name="Line 152">
              <a:extLst>
                <a:ext uri="{FF2B5EF4-FFF2-40B4-BE49-F238E27FC236}">
                  <a16:creationId xmlns:a16="http://schemas.microsoft.com/office/drawing/2014/main" id="{BADE0FD4-4AAB-6ED3-9DBB-7E01178EE2FF}"/>
                </a:ext>
              </a:extLst>
            </p:cNvPr>
            <p:cNvSpPr>
              <a:spLocks noChangeShapeType="1"/>
            </p:cNvSpPr>
            <p:nvPr/>
          </p:nvSpPr>
          <p:spPr bwMode="auto">
            <a:xfrm>
              <a:off x="4438" y="2680"/>
              <a:ext cx="133" cy="32"/>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50" name="Line 153">
              <a:extLst>
                <a:ext uri="{FF2B5EF4-FFF2-40B4-BE49-F238E27FC236}">
                  <a16:creationId xmlns:a16="http://schemas.microsoft.com/office/drawing/2014/main" id="{BE417A7E-8A35-8AD0-98D5-6D2ECAC2463C}"/>
                </a:ext>
              </a:extLst>
            </p:cNvPr>
            <p:cNvSpPr>
              <a:spLocks noChangeShapeType="1"/>
            </p:cNvSpPr>
            <p:nvPr/>
          </p:nvSpPr>
          <p:spPr bwMode="auto">
            <a:xfrm>
              <a:off x="4571" y="2712"/>
              <a:ext cx="139" cy="24"/>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51" name="Line 154">
              <a:extLst>
                <a:ext uri="{FF2B5EF4-FFF2-40B4-BE49-F238E27FC236}">
                  <a16:creationId xmlns:a16="http://schemas.microsoft.com/office/drawing/2014/main" id="{2916DF39-24A1-7E81-9246-09FD4145E10B}"/>
                </a:ext>
              </a:extLst>
            </p:cNvPr>
            <p:cNvSpPr>
              <a:spLocks noChangeShapeType="1"/>
            </p:cNvSpPr>
            <p:nvPr/>
          </p:nvSpPr>
          <p:spPr bwMode="auto">
            <a:xfrm>
              <a:off x="4710" y="2736"/>
              <a:ext cx="132" cy="32"/>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52" name="Line 155">
              <a:extLst>
                <a:ext uri="{FF2B5EF4-FFF2-40B4-BE49-F238E27FC236}">
                  <a16:creationId xmlns:a16="http://schemas.microsoft.com/office/drawing/2014/main" id="{1304F057-054B-D054-27FE-CCEC6826BBB8}"/>
                </a:ext>
              </a:extLst>
            </p:cNvPr>
            <p:cNvSpPr>
              <a:spLocks noChangeShapeType="1"/>
            </p:cNvSpPr>
            <p:nvPr/>
          </p:nvSpPr>
          <p:spPr bwMode="auto">
            <a:xfrm>
              <a:off x="4842" y="2768"/>
              <a:ext cx="140" cy="24"/>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53" name="Line 156">
              <a:extLst>
                <a:ext uri="{FF2B5EF4-FFF2-40B4-BE49-F238E27FC236}">
                  <a16:creationId xmlns:a16="http://schemas.microsoft.com/office/drawing/2014/main" id="{61EFE356-A761-7A62-DB82-B0C08DBF0912}"/>
                </a:ext>
              </a:extLst>
            </p:cNvPr>
            <p:cNvSpPr>
              <a:spLocks noChangeShapeType="1"/>
            </p:cNvSpPr>
            <p:nvPr/>
          </p:nvSpPr>
          <p:spPr bwMode="auto">
            <a:xfrm>
              <a:off x="4982" y="2792"/>
              <a:ext cx="132" cy="24"/>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54" name="Line 157">
              <a:extLst>
                <a:ext uri="{FF2B5EF4-FFF2-40B4-BE49-F238E27FC236}">
                  <a16:creationId xmlns:a16="http://schemas.microsoft.com/office/drawing/2014/main" id="{C0BD220B-7C7E-AC7F-890D-227824670D45}"/>
                </a:ext>
              </a:extLst>
            </p:cNvPr>
            <p:cNvSpPr>
              <a:spLocks noChangeShapeType="1"/>
            </p:cNvSpPr>
            <p:nvPr/>
          </p:nvSpPr>
          <p:spPr bwMode="auto">
            <a:xfrm>
              <a:off x="5114" y="2816"/>
              <a:ext cx="141" cy="23"/>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55" name="Line 158">
              <a:extLst>
                <a:ext uri="{FF2B5EF4-FFF2-40B4-BE49-F238E27FC236}">
                  <a16:creationId xmlns:a16="http://schemas.microsoft.com/office/drawing/2014/main" id="{69CF0C05-F712-4328-C675-4947E0A44545}"/>
                </a:ext>
              </a:extLst>
            </p:cNvPr>
            <p:cNvSpPr>
              <a:spLocks noChangeShapeType="1"/>
            </p:cNvSpPr>
            <p:nvPr/>
          </p:nvSpPr>
          <p:spPr bwMode="auto">
            <a:xfrm>
              <a:off x="5255" y="2839"/>
              <a:ext cx="132" cy="16"/>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56" name="Freeform 159">
              <a:extLst>
                <a:ext uri="{FF2B5EF4-FFF2-40B4-BE49-F238E27FC236}">
                  <a16:creationId xmlns:a16="http://schemas.microsoft.com/office/drawing/2014/main" id="{EB34BEA8-C304-BDBD-F4CA-A1440A3CF0C0}"/>
                </a:ext>
              </a:extLst>
            </p:cNvPr>
            <p:cNvSpPr>
              <a:spLocks/>
            </p:cNvSpPr>
            <p:nvPr/>
          </p:nvSpPr>
          <p:spPr bwMode="auto">
            <a:xfrm>
              <a:off x="1703" y="2887"/>
              <a:ext cx="40" cy="47"/>
            </a:xfrm>
            <a:custGeom>
              <a:avLst/>
              <a:gdLst>
                <a:gd name="T0" fmla="*/ 78 w 36"/>
                <a:gd name="T1" fmla="*/ 0 h 36"/>
                <a:gd name="T2" fmla="*/ 153 w 36"/>
                <a:gd name="T3" fmla="*/ 748 h 36"/>
                <a:gd name="T4" fmla="*/ 78 w 36"/>
                <a:gd name="T5" fmla="*/ 1501 h 36"/>
                <a:gd name="T6" fmla="*/ 0 w 36"/>
                <a:gd name="T7" fmla="*/ 748 h 36"/>
                <a:gd name="T8" fmla="*/ 78 w 36"/>
                <a:gd name="T9" fmla="*/ 0 h 36"/>
                <a:gd name="T10" fmla="*/ 0 60000 65536"/>
                <a:gd name="T11" fmla="*/ 0 60000 65536"/>
                <a:gd name="T12" fmla="*/ 0 60000 65536"/>
                <a:gd name="T13" fmla="*/ 0 60000 65536"/>
                <a:gd name="T14" fmla="*/ 0 60000 65536"/>
                <a:gd name="T15" fmla="*/ 0 w 36"/>
                <a:gd name="T16" fmla="*/ 0 h 36"/>
                <a:gd name="T17" fmla="*/ 36 w 36"/>
                <a:gd name="T18" fmla="*/ 36 h 36"/>
              </a:gdLst>
              <a:ahLst/>
              <a:cxnLst>
                <a:cxn ang="T10">
                  <a:pos x="T0" y="T1"/>
                </a:cxn>
                <a:cxn ang="T11">
                  <a:pos x="T2" y="T3"/>
                </a:cxn>
                <a:cxn ang="T12">
                  <a:pos x="T4" y="T5"/>
                </a:cxn>
                <a:cxn ang="T13">
                  <a:pos x="T6" y="T7"/>
                </a:cxn>
                <a:cxn ang="T14">
                  <a:pos x="T8" y="T9"/>
                </a:cxn>
              </a:cxnLst>
              <a:rect l="T15" t="T16" r="T17" b="T18"/>
              <a:pathLst>
                <a:path w="36" h="36">
                  <a:moveTo>
                    <a:pt x="18" y="0"/>
                  </a:moveTo>
                  <a:lnTo>
                    <a:pt x="36" y="18"/>
                  </a:lnTo>
                  <a:lnTo>
                    <a:pt x="18" y="36"/>
                  </a:lnTo>
                  <a:lnTo>
                    <a:pt x="0" y="18"/>
                  </a:lnTo>
                  <a:lnTo>
                    <a:pt x="18" y="0"/>
                  </a:lnTo>
                  <a:close/>
                </a:path>
              </a:pathLst>
            </a:custGeom>
            <a:solidFill>
              <a:srgbClr val="000099"/>
            </a:solidFill>
            <a:ln w="9525">
              <a:solidFill>
                <a:srgbClr val="000099"/>
              </a:solidFill>
              <a:round/>
              <a:headEnd/>
              <a:tailEnd/>
            </a:ln>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57" name="Freeform 160">
              <a:extLst>
                <a:ext uri="{FF2B5EF4-FFF2-40B4-BE49-F238E27FC236}">
                  <a16:creationId xmlns:a16="http://schemas.microsoft.com/office/drawing/2014/main" id="{AE722D4B-46D9-BF38-9D96-3275217DFF6E}"/>
                </a:ext>
              </a:extLst>
            </p:cNvPr>
            <p:cNvSpPr>
              <a:spLocks/>
            </p:cNvSpPr>
            <p:nvPr/>
          </p:nvSpPr>
          <p:spPr bwMode="auto">
            <a:xfrm>
              <a:off x="1843" y="2688"/>
              <a:ext cx="39" cy="48"/>
            </a:xfrm>
            <a:custGeom>
              <a:avLst/>
              <a:gdLst>
                <a:gd name="T0" fmla="*/ 58 w 36"/>
                <a:gd name="T1" fmla="*/ 0 h 36"/>
                <a:gd name="T2" fmla="*/ 110 w 36"/>
                <a:gd name="T3" fmla="*/ 1012 h 36"/>
                <a:gd name="T4" fmla="*/ 58 w 36"/>
                <a:gd name="T5" fmla="*/ 2007 h 36"/>
                <a:gd name="T6" fmla="*/ 0 w 36"/>
                <a:gd name="T7" fmla="*/ 1012 h 36"/>
                <a:gd name="T8" fmla="*/ 58 w 36"/>
                <a:gd name="T9" fmla="*/ 0 h 36"/>
                <a:gd name="T10" fmla="*/ 0 60000 65536"/>
                <a:gd name="T11" fmla="*/ 0 60000 65536"/>
                <a:gd name="T12" fmla="*/ 0 60000 65536"/>
                <a:gd name="T13" fmla="*/ 0 60000 65536"/>
                <a:gd name="T14" fmla="*/ 0 60000 65536"/>
                <a:gd name="T15" fmla="*/ 0 w 36"/>
                <a:gd name="T16" fmla="*/ 0 h 36"/>
                <a:gd name="T17" fmla="*/ 36 w 36"/>
                <a:gd name="T18" fmla="*/ 36 h 36"/>
              </a:gdLst>
              <a:ahLst/>
              <a:cxnLst>
                <a:cxn ang="T10">
                  <a:pos x="T0" y="T1"/>
                </a:cxn>
                <a:cxn ang="T11">
                  <a:pos x="T2" y="T3"/>
                </a:cxn>
                <a:cxn ang="T12">
                  <a:pos x="T4" y="T5"/>
                </a:cxn>
                <a:cxn ang="T13">
                  <a:pos x="T6" y="T7"/>
                </a:cxn>
                <a:cxn ang="T14">
                  <a:pos x="T8" y="T9"/>
                </a:cxn>
              </a:cxnLst>
              <a:rect l="T15" t="T16" r="T17" b="T18"/>
              <a:pathLst>
                <a:path w="36" h="36">
                  <a:moveTo>
                    <a:pt x="18" y="0"/>
                  </a:moveTo>
                  <a:lnTo>
                    <a:pt x="36" y="18"/>
                  </a:lnTo>
                  <a:lnTo>
                    <a:pt x="18" y="36"/>
                  </a:lnTo>
                  <a:lnTo>
                    <a:pt x="0" y="18"/>
                  </a:lnTo>
                  <a:lnTo>
                    <a:pt x="18" y="0"/>
                  </a:lnTo>
                  <a:close/>
                </a:path>
              </a:pathLst>
            </a:custGeom>
            <a:solidFill>
              <a:srgbClr val="000099"/>
            </a:solidFill>
            <a:ln w="9525">
              <a:solidFill>
                <a:srgbClr val="000099"/>
              </a:solidFill>
              <a:round/>
              <a:headEnd/>
              <a:tailEnd/>
            </a:ln>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58" name="Freeform 161">
              <a:extLst>
                <a:ext uri="{FF2B5EF4-FFF2-40B4-BE49-F238E27FC236}">
                  <a16:creationId xmlns:a16="http://schemas.microsoft.com/office/drawing/2014/main" id="{422C0454-7B1F-DEDA-7E65-A5DDDE4D0006}"/>
                </a:ext>
              </a:extLst>
            </p:cNvPr>
            <p:cNvSpPr>
              <a:spLocks/>
            </p:cNvSpPr>
            <p:nvPr/>
          </p:nvSpPr>
          <p:spPr bwMode="auto">
            <a:xfrm>
              <a:off x="2114" y="2451"/>
              <a:ext cx="40" cy="48"/>
            </a:xfrm>
            <a:custGeom>
              <a:avLst/>
              <a:gdLst>
                <a:gd name="T0" fmla="*/ 78 w 36"/>
                <a:gd name="T1" fmla="*/ 0 h 36"/>
                <a:gd name="T2" fmla="*/ 153 w 36"/>
                <a:gd name="T3" fmla="*/ 1012 h 36"/>
                <a:gd name="T4" fmla="*/ 78 w 36"/>
                <a:gd name="T5" fmla="*/ 2007 h 36"/>
                <a:gd name="T6" fmla="*/ 0 w 36"/>
                <a:gd name="T7" fmla="*/ 1012 h 36"/>
                <a:gd name="T8" fmla="*/ 78 w 36"/>
                <a:gd name="T9" fmla="*/ 0 h 36"/>
                <a:gd name="T10" fmla="*/ 0 60000 65536"/>
                <a:gd name="T11" fmla="*/ 0 60000 65536"/>
                <a:gd name="T12" fmla="*/ 0 60000 65536"/>
                <a:gd name="T13" fmla="*/ 0 60000 65536"/>
                <a:gd name="T14" fmla="*/ 0 60000 65536"/>
                <a:gd name="T15" fmla="*/ 0 w 36"/>
                <a:gd name="T16" fmla="*/ 0 h 36"/>
                <a:gd name="T17" fmla="*/ 36 w 36"/>
                <a:gd name="T18" fmla="*/ 36 h 36"/>
              </a:gdLst>
              <a:ahLst/>
              <a:cxnLst>
                <a:cxn ang="T10">
                  <a:pos x="T0" y="T1"/>
                </a:cxn>
                <a:cxn ang="T11">
                  <a:pos x="T2" y="T3"/>
                </a:cxn>
                <a:cxn ang="T12">
                  <a:pos x="T4" y="T5"/>
                </a:cxn>
                <a:cxn ang="T13">
                  <a:pos x="T6" y="T7"/>
                </a:cxn>
                <a:cxn ang="T14">
                  <a:pos x="T8" y="T9"/>
                </a:cxn>
              </a:cxnLst>
              <a:rect l="T15" t="T16" r="T17" b="T18"/>
              <a:pathLst>
                <a:path w="36" h="36">
                  <a:moveTo>
                    <a:pt x="18" y="0"/>
                  </a:moveTo>
                  <a:lnTo>
                    <a:pt x="36" y="18"/>
                  </a:lnTo>
                  <a:lnTo>
                    <a:pt x="18" y="36"/>
                  </a:lnTo>
                  <a:lnTo>
                    <a:pt x="0" y="18"/>
                  </a:lnTo>
                  <a:lnTo>
                    <a:pt x="18" y="0"/>
                  </a:lnTo>
                  <a:close/>
                </a:path>
              </a:pathLst>
            </a:custGeom>
            <a:solidFill>
              <a:srgbClr val="000099"/>
            </a:solidFill>
            <a:ln w="9525">
              <a:solidFill>
                <a:srgbClr val="000099"/>
              </a:solidFill>
              <a:round/>
              <a:headEnd/>
              <a:tailEnd/>
            </a:ln>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59" name="Freeform 162">
              <a:extLst>
                <a:ext uri="{FF2B5EF4-FFF2-40B4-BE49-F238E27FC236}">
                  <a16:creationId xmlns:a16="http://schemas.microsoft.com/office/drawing/2014/main" id="{EC7B9495-F378-5D01-1961-31A769C41FC2}"/>
                </a:ext>
              </a:extLst>
            </p:cNvPr>
            <p:cNvSpPr>
              <a:spLocks/>
            </p:cNvSpPr>
            <p:nvPr/>
          </p:nvSpPr>
          <p:spPr bwMode="auto">
            <a:xfrm>
              <a:off x="2248" y="2387"/>
              <a:ext cx="39" cy="48"/>
            </a:xfrm>
            <a:custGeom>
              <a:avLst/>
              <a:gdLst>
                <a:gd name="T0" fmla="*/ 58 w 36"/>
                <a:gd name="T1" fmla="*/ 0 h 36"/>
                <a:gd name="T2" fmla="*/ 110 w 36"/>
                <a:gd name="T3" fmla="*/ 1012 h 36"/>
                <a:gd name="T4" fmla="*/ 58 w 36"/>
                <a:gd name="T5" fmla="*/ 2007 h 36"/>
                <a:gd name="T6" fmla="*/ 0 w 36"/>
                <a:gd name="T7" fmla="*/ 1012 h 36"/>
                <a:gd name="T8" fmla="*/ 58 w 36"/>
                <a:gd name="T9" fmla="*/ 0 h 36"/>
                <a:gd name="T10" fmla="*/ 0 60000 65536"/>
                <a:gd name="T11" fmla="*/ 0 60000 65536"/>
                <a:gd name="T12" fmla="*/ 0 60000 65536"/>
                <a:gd name="T13" fmla="*/ 0 60000 65536"/>
                <a:gd name="T14" fmla="*/ 0 60000 65536"/>
                <a:gd name="T15" fmla="*/ 0 w 36"/>
                <a:gd name="T16" fmla="*/ 0 h 36"/>
                <a:gd name="T17" fmla="*/ 36 w 36"/>
                <a:gd name="T18" fmla="*/ 36 h 36"/>
              </a:gdLst>
              <a:ahLst/>
              <a:cxnLst>
                <a:cxn ang="T10">
                  <a:pos x="T0" y="T1"/>
                </a:cxn>
                <a:cxn ang="T11">
                  <a:pos x="T2" y="T3"/>
                </a:cxn>
                <a:cxn ang="T12">
                  <a:pos x="T4" y="T5"/>
                </a:cxn>
                <a:cxn ang="T13">
                  <a:pos x="T6" y="T7"/>
                </a:cxn>
                <a:cxn ang="T14">
                  <a:pos x="T8" y="T9"/>
                </a:cxn>
              </a:cxnLst>
              <a:rect l="T15" t="T16" r="T17" b="T18"/>
              <a:pathLst>
                <a:path w="36" h="36">
                  <a:moveTo>
                    <a:pt x="18" y="0"/>
                  </a:moveTo>
                  <a:lnTo>
                    <a:pt x="36" y="18"/>
                  </a:lnTo>
                  <a:lnTo>
                    <a:pt x="18" y="36"/>
                  </a:lnTo>
                  <a:lnTo>
                    <a:pt x="0" y="18"/>
                  </a:lnTo>
                  <a:lnTo>
                    <a:pt x="18" y="0"/>
                  </a:lnTo>
                  <a:close/>
                </a:path>
              </a:pathLst>
            </a:custGeom>
            <a:solidFill>
              <a:srgbClr val="000099"/>
            </a:solidFill>
            <a:ln w="9525">
              <a:solidFill>
                <a:srgbClr val="000099"/>
              </a:solidFill>
              <a:round/>
              <a:headEnd/>
              <a:tailEnd/>
            </a:ln>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60" name="Freeform 163">
              <a:extLst>
                <a:ext uri="{FF2B5EF4-FFF2-40B4-BE49-F238E27FC236}">
                  <a16:creationId xmlns:a16="http://schemas.microsoft.com/office/drawing/2014/main" id="{65DBC977-87C1-9754-8E70-DEA7BA2E0B2F}"/>
                </a:ext>
              </a:extLst>
            </p:cNvPr>
            <p:cNvSpPr>
              <a:spLocks/>
            </p:cNvSpPr>
            <p:nvPr/>
          </p:nvSpPr>
          <p:spPr bwMode="auto">
            <a:xfrm>
              <a:off x="2387" y="2347"/>
              <a:ext cx="40" cy="48"/>
            </a:xfrm>
            <a:custGeom>
              <a:avLst/>
              <a:gdLst>
                <a:gd name="T0" fmla="*/ 78 w 36"/>
                <a:gd name="T1" fmla="*/ 0 h 36"/>
                <a:gd name="T2" fmla="*/ 153 w 36"/>
                <a:gd name="T3" fmla="*/ 1012 h 36"/>
                <a:gd name="T4" fmla="*/ 78 w 36"/>
                <a:gd name="T5" fmla="*/ 2007 h 36"/>
                <a:gd name="T6" fmla="*/ 0 w 36"/>
                <a:gd name="T7" fmla="*/ 1012 h 36"/>
                <a:gd name="T8" fmla="*/ 78 w 36"/>
                <a:gd name="T9" fmla="*/ 0 h 36"/>
                <a:gd name="T10" fmla="*/ 0 60000 65536"/>
                <a:gd name="T11" fmla="*/ 0 60000 65536"/>
                <a:gd name="T12" fmla="*/ 0 60000 65536"/>
                <a:gd name="T13" fmla="*/ 0 60000 65536"/>
                <a:gd name="T14" fmla="*/ 0 60000 65536"/>
                <a:gd name="T15" fmla="*/ 0 w 36"/>
                <a:gd name="T16" fmla="*/ 0 h 36"/>
                <a:gd name="T17" fmla="*/ 36 w 36"/>
                <a:gd name="T18" fmla="*/ 36 h 36"/>
              </a:gdLst>
              <a:ahLst/>
              <a:cxnLst>
                <a:cxn ang="T10">
                  <a:pos x="T0" y="T1"/>
                </a:cxn>
                <a:cxn ang="T11">
                  <a:pos x="T2" y="T3"/>
                </a:cxn>
                <a:cxn ang="T12">
                  <a:pos x="T4" y="T5"/>
                </a:cxn>
                <a:cxn ang="T13">
                  <a:pos x="T6" y="T7"/>
                </a:cxn>
                <a:cxn ang="T14">
                  <a:pos x="T8" y="T9"/>
                </a:cxn>
              </a:cxnLst>
              <a:rect l="T15" t="T16" r="T17" b="T18"/>
              <a:pathLst>
                <a:path w="36" h="36">
                  <a:moveTo>
                    <a:pt x="18" y="0"/>
                  </a:moveTo>
                  <a:lnTo>
                    <a:pt x="36" y="18"/>
                  </a:lnTo>
                  <a:lnTo>
                    <a:pt x="18" y="36"/>
                  </a:lnTo>
                  <a:lnTo>
                    <a:pt x="0" y="18"/>
                  </a:lnTo>
                  <a:lnTo>
                    <a:pt x="18" y="0"/>
                  </a:lnTo>
                  <a:close/>
                </a:path>
              </a:pathLst>
            </a:custGeom>
            <a:solidFill>
              <a:srgbClr val="000099"/>
            </a:solidFill>
            <a:ln w="9525">
              <a:solidFill>
                <a:srgbClr val="000099"/>
              </a:solidFill>
              <a:round/>
              <a:headEnd/>
              <a:tailEnd/>
            </a:ln>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61" name="Freeform 164">
              <a:extLst>
                <a:ext uri="{FF2B5EF4-FFF2-40B4-BE49-F238E27FC236}">
                  <a16:creationId xmlns:a16="http://schemas.microsoft.com/office/drawing/2014/main" id="{5C84D34E-6A1E-3396-4E6B-8EBB07CB3A2B}"/>
                </a:ext>
              </a:extLst>
            </p:cNvPr>
            <p:cNvSpPr>
              <a:spLocks/>
            </p:cNvSpPr>
            <p:nvPr/>
          </p:nvSpPr>
          <p:spPr bwMode="auto">
            <a:xfrm>
              <a:off x="2520" y="2324"/>
              <a:ext cx="39" cy="47"/>
            </a:xfrm>
            <a:custGeom>
              <a:avLst/>
              <a:gdLst>
                <a:gd name="T0" fmla="*/ 58 w 36"/>
                <a:gd name="T1" fmla="*/ 0 h 36"/>
                <a:gd name="T2" fmla="*/ 110 w 36"/>
                <a:gd name="T3" fmla="*/ 748 h 36"/>
                <a:gd name="T4" fmla="*/ 58 w 36"/>
                <a:gd name="T5" fmla="*/ 1501 h 36"/>
                <a:gd name="T6" fmla="*/ 0 w 36"/>
                <a:gd name="T7" fmla="*/ 748 h 36"/>
                <a:gd name="T8" fmla="*/ 58 w 36"/>
                <a:gd name="T9" fmla="*/ 0 h 36"/>
                <a:gd name="T10" fmla="*/ 0 60000 65536"/>
                <a:gd name="T11" fmla="*/ 0 60000 65536"/>
                <a:gd name="T12" fmla="*/ 0 60000 65536"/>
                <a:gd name="T13" fmla="*/ 0 60000 65536"/>
                <a:gd name="T14" fmla="*/ 0 60000 65536"/>
                <a:gd name="T15" fmla="*/ 0 w 36"/>
                <a:gd name="T16" fmla="*/ 0 h 36"/>
                <a:gd name="T17" fmla="*/ 36 w 36"/>
                <a:gd name="T18" fmla="*/ 36 h 36"/>
              </a:gdLst>
              <a:ahLst/>
              <a:cxnLst>
                <a:cxn ang="T10">
                  <a:pos x="T0" y="T1"/>
                </a:cxn>
                <a:cxn ang="T11">
                  <a:pos x="T2" y="T3"/>
                </a:cxn>
                <a:cxn ang="T12">
                  <a:pos x="T4" y="T5"/>
                </a:cxn>
                <a:cxn ang="T13">
                  <a:pos x="T6" y="T7"/>
                </a:cxn>
                <a:cxn ang="T14">
                  <a:pos x="T8" y="T9"/>
                </a:cxn>
              </a:cxnLst>
              <a:rect l="T15" t="T16" r="T17" b="T18"/>
              <a:pathLst>
                <a:path w="36" h="36">
                  <a:moveTo>
                    <a:pt x="18" y="0"/>
                  </a:moveTo>
                  <a:lnTo>
                    <a:pt x="36" y="18"/>
                  </a:lnTo>
                  <a:lnTo>
                    <a:pt x="18" y="36"/>
                  </a:lnTo>
                  <a:lnTo>
                    <a:pt x="0" y="18"/>
                  </a:lnTo>
                  <a:lnTo>
                    <a:pt x="18" y="0"/>
                  </a:lnTo>
                  <a:close/>
                </a:path>
              </a:pathLst>
            </a:custGeom>
            <a:solidFill>
              <a:srgbClr val="000099"/>
            </a:solidFill>
            <a:ln w="9525">
              <a:solidFill>
                <a:srgbClr val="000099"/>
              </a:solidFill>
              <a:round/>
              <a:headEnd/>
              <a:tailEnd/>
            </a:ln>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62" name="Freeform 165">
              <a:extLst>
                <a:ext uri="{FF2B5EF4-FFF2-40B4-BE49-F238E27FC236}">
                  <a16:creationId xmlns:a16="http://schemas.microsoft.com/office/drawing/2014/main" id="{919CEC17-599C-69A9-A148-E6FFB90DB7D8}"/>
                </a:ext>
              </a:extLst>
            </p:cNvPr>
            <p:cNvSpPr>
              <a:spLocks/>
            </p:cNvSpPr>
            <p:nvPr/>
          </p:nvSpPr>
          <p:spPr bwMode="auto">
            <a:xfrm>
              <a:off x="2652" y="2308"/>
              <a:ext cx="41" cy="47"/>
            </a:xfrm>
            <a:custGeom>
              <a:avLst/>
              <a:gdLst>
                <a:gd name="T0" fmla="*/ 113 w 36"/>
                <a:gd name="T1" fmla="*/ 0 h 36"/>
                <a:gd name="T2" fmla="*/ 231 w 36"/>
                <a:gd name="T3" fmla="*/ 748 h 36"/>
                <a:gd name="T4" fmla="*/ 113 w 36"/>
                <a:gd name="T5" fmla="*/ 1501 h 36"/>
                <a:gd name="T6" fmla="*/ 0 w 36"/>
                <a:gd name="T7" fmla="*/ 748 h 36"/>
                <a:gd name="T8" fmla="*/ 113 w 36"/>
                <a:gd name="T9" fmla="*/ 0 h 36"/>
                <a:gd name="T10" fmla="*/ 0 60000 65536"/>
                <a:gd name="T11" fmla="*/ 0 60000 65536"/>
                <a:gd name="T12" fmla="*/ 0 60000 65536"/>
                <a:gd name="T13" fmla="*/ 0 60000 65536"/>
                <a:gd name="T14" fmla="*/ 0 60000 65536"/>
                <a:gd name="T15" fmla="*/ 0 w 36"/>
                <a:gd name="T16" fmla="*/ 0 h 36"/>
                <a:gd name="T17" fmla="*/ 36 w 36"/>
                <a:gd name="T18" fmla="*/ 36 h 36"/>
              </a:gdLst>
              <a:ahLst/>
              <a:cxnLst>
                <a:cxn ang="T10">
                  <a:pos x="T0" y="T1"/>
                </a:cxn>
                <a:cxn ang="T11">
                  <a:pos x="T2" y="T3"/>
                </a:cxn>
                <a:cxn ang="T12">
                  <a:pos x="T4" y="T5"/>
                </a:cxn>
                <a:cxn ang="T13">
                  <a:pos x="T6" y="T7"/>
                </a:cxn>
                <a:cxn ang="T14">
                  <a:pos x="T8" y="T9"/>
                </a:cxn>
              </a:cxnLst>
              <a:rect l="T15" t="T16" r="T17" b="T18"/>
              <a:pathLst>
                <a:path w="36" h="36">
                  <a:moveTo>
                    <a:pt x="18" y="0"/>
                  </a:moveTo>
                  <a:lnTo>
                    <a:pt x="36" y="18"/>
                  </a:lnTo>
                  <a:lnTo>
                    <a:pt x="18" y="36"/>
                  </a:lnTo>
                  <a:lnTo>
                    <a:pt x="0" y="18"/>
                  </a:lnTo>
                  <a:lnTo>
                    <a:pt x="18" y="0"/>
                  </a:lnTo>
                  <a:close/>
                </a:path>
              </a:pathLst>
            </a:custGeom>
            <a:solidFill>
              <a:srgbClr val="000099"/>
            </a:solidFill>
            <a:ln w="9525">
              <a:solidFill>
                <a:srgbClr val="000099"/>
              </a:solidFill>
              <a:round/>
              <a:headEnd/>
              <a:tailEnd/>
            </a:ln>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63" name="Freeform 166">
              <a:extLst>
                <a:ext uri="{FF2B5EF4-FFF2-40B4-BE49-F238E27FC236}">
                  <a16:creationId xmlns:a16="http://schemas.microsoft.com/office/drawing/2014/main" id="{6B9FEAD8-6E95-4CDE-08D6-6C7E4CE6DF8E}"/>
                </a:ext>
              </a:extLst>
            </p:cNvPr>
            <p:cNvSpPr>
              <a:spLocks/>
            </p:cNvSpPr>
            <p:nvPr/>
          </p:nvSpPr>
          <p:spPr bwMode="auto">
            <a:xfrm>
              <a:off x="2791" y="2308"/>
              <a:ext cx="40" cy="47"/>
            </a:xfrm>
            <a:custGeom>
              <a:avLst/>
              <a:gdLst>
                <a:gd name="T0" fmla="*/ 78 w 36"/>
                <a:gd name="T1" fmla="*/ 0 h 36"/>
                <a:gd name="T2" fmla="*/ 153 w 36"/>
                <a:gd name="T3" fmla="*/ 748 h 36"/>
                <a:gd name="T4" fmla="*/ 78 w 36"/>
                <a:gd name="T5" fmla="*/ 1501 h 36"/>
                <a:gd name="T6" fmla="*/ 0 w 36"/>
                <a:gd name="T7" fmla="*/ 748 h 36"/>
                <a:gd name="T8" fmla="*/ 78 w 36"/>
                <a:gd name="T9" fmla="*/ 0 h 36"/>
                <a:gd name="T10" fmla="*/ 0 60000 65536"/>
                <a:gd name="T11" fmla="*/ 0 60000 65536"/>
                <a:gd name="T12" fmla="*/ 0 60000 65536"/>
                <a:gd name="T13" fmla="*/ 0 60000 65536"/>
                <a:gd name="T14" fmla="*/ 0 60000 65536"/>
                <a:gd name="T15" fmla="*/ 0 w 36"/>
                <a:gd name="T16" fmla="*/ 0 h 36"/>
                <a:gd name="T17" fmla="*/ 36 w 36"/>
                <a:gd name="T18" fmla="*/ 36 h 36"/>
              </a:gdLst>
              <a:ahLst/>
              <a:cxnLst>
                <a:cxn ang="T10">
                  <a:pos x="T0" y="T1"/>
                </a:cxn>
                <a:cxn ang="T11">
                  <a:pos x="T2" y="T3"/>
                </a:cxn>
                <a:cxn ang="T12">
                  <a:pos x="T4" y="T5"/>
                </a:cxn>
                <a:cxn ang="T13">
                  <a:pos x="T6" y="T7"/>
                </a:cxn>
                <a:cxn ang="T14">
                  <a:pos x="T8" y="T9"/>
                </a:cxn>
              </a:cxnLst>
              <a:rect l="T15" t="T16" r="T17" b="T18"/>
              <a:pathLst>
                <a:path w="36" h="36">
                  <a:moveTo>
                    <a:pt x="18" y="0"/>
                  </a:moveTo>
                  <a:lnTo>
                    <a:pt x="36" y="18"/>
                  </a:lnTo>
                  <a:lnTo>
                    <a:pt x="18" y="36"/>
                  </a:lnTo>
                  <a:lnTo>
                    <a:pt x="0" y="18"/>
                  </a:lnTo>
                  <a:lnTo>
                    <a:pt x="18" y="0"/>
                  </a:lnTo>
                  <a:close/>
                </a:path>
              </a:pathLst>
            </a:custGeom>
            <a:solidFill>
              <a:srgbClr val="000099"/>
            </a:solidFill>
            <a:ln w="9525">
              <a:solidFill>
                <a:srgbClr val="000099"/>
              </a:solidFill>
              <a:round/>
              <a:headEnd/>
              <a:tailEnd/>
            </a:ln>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64" name="Freeform 167">
              <a:extLst>
                <a:ext uri="{FF2B5EF4-FFF2-40B4-BE49-F238E27FC236}">
                  <a16:creationId xmlns:a16="http://schemas.microsoft.com/office/drawing/2014/main" id="{D12351B1-093F-A887-166D-210ED72BD662}"/>
                </a:ext>
              </a:extLst>
            </p:cNvPr>
            <p:cNvSpPr>
              <a:spLocks/>
            </p:cNvSpPr>
            <p:nvPr/>
          </p:nvSpPr>
          <p:spPr bwMode="auto">
            <a:xfrm>
              <a:off x="2924" y="2308"/>
              <a:ext cx="39" cy="47"/>
            </a:xfrm>
            <a:custGeom>
              <a:avLst/>
              <a:gdLst>
                <a:gd name="T0" fmla="*/ 58 w 36"/>
                <a:gd name="T1" fmla="*/ 0 h 36"/>
                <a:gd name="T2" fmla="*/ 110 w 36"/>
                <a:gd name="T3" fmla="*/ 748 h 36"/>
                <a:gd name="T4" fmla="*/ 58 w 36"/>
                <a:gd name="T5" fmla="*/ 1501 h 36"/>
                <a:gd name="T6" fmla="*/ 0 w 36"/>
                <a:gd name="T7" fmla="*/ 748 h 36"/>
                <a:gd name="T8" fmla="*/ 58 w 36"/>
                <a:gd name="T9" fmla="*/ 0 h 36"/>
                <a:gd name="T10" fmla="*/ 0 60000 65536"/>
                <a:gd name="T11" fmla="*/ 0 60000 65536"/>
                <a:gd name="T12" fmla="*/ 0 60000 65536"/>
                <a:gd name="T13" fmla="*/ 0 60000 65536"/>
                <a:gd name="T14" fmla="*/ 0 60000 65536"/>
                <a:gd name="T15" fmla="*/ 0 w 36"/>
                <a:gd name="T16" fmla="*/ 0 h 36"/>
                <a:gd name="T17" fmla="*/ 36 w 36"/>
                <a:gd name="T18" fmla="*/ 36 h 36"/>
              </a:gdLst>
              <a:ahLst/>
              <a:cxnLst>
                <a:cxn ang="T10">
                  <a:pos x="T0" y="T1"/>
                </a:cxn>
                <a:cxn ang="T11">
                  <a:pos x="T2" y="T3"/>
                </a:cxn>
                <a:cxn ang="T12">
                  <a:pos x="T4" y="T5"/>
                </a:cxn>
                <a:cxn ang="T13">
                  <a:pos x="T6" y="T7"/>
                </a:cxn>
                <a:cxn ang="T14">
                  <a:pos x="T8" y="T9"/>
                </a:cxn>
              </a:cxnLst>
              <a:rect l="T15" t="T16" r="T17" b="T18"/>
              <a:pathLst>
                <a:path w="36" h="36">
                  <a:moveTo>
                    <a:pt x="18" y="0"/>
                  </a:moveTo>
                  <a:lnTo>
                    <a:pt x="36" y="18"/>
                  </a:lnTo>
                  <a:lnTo>
                    <a:pt x="18" y="36"/>
                  </a:lnTo>
                  <a:lnTo>
                    <a:pt x="0" y="18"/>
                  </a:lnTo>
                  <a:lnTo>
                    <a:pt x="18" y="0"/>
                  </a:lnTo>
                  <a:close/>
                </a:path>
              </a:pathLst>
            </a:custGeom>
            <a:solidFill>
              <a:srgbClr val="000099"/>
            </a:solidFill>
            <a:ln w="9525">
              <a:solidFill>
                <a:srgbClr val="000099"/>
              </a:solidFill>
              <a:round/>
              <a:headEnd/>
              <a:tailEnd/>
            </a:ln>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65" name="Freeform 168">
              <a:extLst>
                <a:ext uri="{FF2B5EF4-FFF2-40B4-BE49-F238E27FC236}">
                  <a16:creationId xmlns:a16="http://schemas.microsoft.com/office/drawing/2014/main" id="{C06851CC-3A92-8815-685B-33BF124B9979}"/>
                </a:ext>
              </a:extLst>
            </p:cNvPr>
            <p:cNvSpPr>
              <a:spLocks/>
            </p:cNvSpPr>
            <p:nvPr/>
          </p:nvSpPr>
          <p:spPr bwMode="auto">
            <a:xfrm>
              <a:off x="3063" y="2324"/>
              <a:ext cx="40" cy="47"/>
            </a:xfrm>
            <a:custGeom>
              <a:avLst/>
              <a:gdLst>
                <a:gd name="T0" fmla="*/ 78 w 36"/>
                <a:gd name="T1" fmla="*/ 0 h 36"/>
                <a:gd name="T2" fmla="*/ 153 w 36"/>
                <a:gd name="T3" fmla="*/ 748 h 36"/>
                <a:gd name="T4" fmla="*/ 78 w 36"/>
                <a:gd name="T5" fmla="*/ 1501 h 36"/>
                <a:gd name="T6" fmla="*/ 0 w 36"/>
                <a:gd name="T7" fmla="*/ 748 h 36"/>
                <a:gd name="T8" fmla="*/ 78 w 36"/>
                <a:gd name="T9" fmla="*/ 0 h 36"/>
                <a:gd name="T10" fmla="*/ 0 60000 65536"/>
                <a:gd name="T11" fmla="*/ 0 60000 65536"/>
                <a:gd name="T12" fmla="*/ 0 60000 65536"/>
                <a:gd name="T13" fmla="*/ 0 60000 65536"/>
                <a:gd name="T14" fmla="*/ 0 60000 65536"/>
                <a:gd name="T15" fmla="*/ 0 w 36"/>
                <a:gd name="T16" fmla="*/ 0 h 36"/>
                <a:gd name="T17" fmla="*/ 36 w 36"/>
                <a:gd name="T18" fmla="*/ 36 h 36"/>
              </a:gdLst>
              <a:ahLst/>
              <a:cxnLst>
                <a:cxn ang="T10">
                  <a:pos x="T0" y="T1"/>
                </a:cxn>
                <a:cxn ang="T11">
                  <a:pos x="T2" y="T3"/>
                </a:cxn>
                <a:cxn ang="T12">
                  <a:pos x="T4" y="T5"/>
                </a:cxn>
                <a:cxn ang="T13">
                  <a:pos x="T6" y="T7"/>
                </a:cxn>
                <a:cxn ang="T14">
                  <a:pos x="T8" y="T9"/>
                </a:cxn>
              </a:cxnLst>
              <a:rect l="T15" t="T16" r="T17" b="T18"/>
              <a:pathLst>
                <a:path w="36" h="36">
                  <a:moveTo>
                    <a:pt x="18" y="0"/>
                  </a:moveTo>
                  <a:lnTo>
                    <a:pt x="36" y="18"/>
                  </a:lnTo>
                  <a:lnTo>
                    <a:pt x="18" y="36"/>
                  </a:lnTo>
                  <a:lnTo>
                    <a:pt x="0" y="18"/>
                  </a:lnTo>
                  <a:lnTo>
                    <a:pt x="18" y="0"/>
                  </a:lnTo>
                  <a:close/>
                </a:path>
              </a:pathLst>
            </a:custGeom>
            <a:solidFill>
              <a:srgbClr val="000099"/>
            </a:solidFill>
            <a:ln w="9525">
              <a:solidFill>
                <a:srgbClr val="000099"/>
              </a:solidFill>
              <a:round/>
              <a:headEnd/>
              <a:tailEnd/>
            </a:ln>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66" name="Freeform 169">
              <a:extLst>
                <a:ext uri="{FF2B5EF4-FFF2-40B4-BE49-F238E27FC236}">
                  <a16:creationId xmlns:a16="http://schemas.microsoft.com/office/drawing/2014/main" id="{2BE864A0-04F6-2DA6-E045-C2A25EBB9E07}"/>
                </a:ext>
              </a:extLst>
            </p:cNvPr>
            <p:cNvSpPr>
              <a:spLocks/>
            </p:cNvSpPr>
            <p:nvPr/>
          </p:nvSpPr>
          <p:spPr bwMode="auto">
            <a:xfrm>
              <a:off x="3197" y="2332"/>
              <a:ext cx="40" cy="47"/>
            </a:xfrm>
            <a:custGeom>
              <a:avLst/>
              <a:gdLst>
                <a:gd name="T0" fmla="*/ 78 w 36"/>
                <a:gd name="T1" fmla="*/ 0 h 36"/>
                <a:gd name="T2" fmla="*/ 153 w 36"/>
                <a:gd name="T3" fmla="*/ 748 h 36"/>
                <a:gd name="T4" fmla="*/ 78 w 36"/>
                <a:gd name="T5" fmla="*/ 1501 h 36"/>
                <a:gd name="T6" fmla="*/ 0 w 36"/>
                <a:gd name="T7" fmla="*/ 748 h 36"/>
                <a:gd name="T8" fmla="*/ 78 w 36"/>
                <a:gd name="T9" fmla="*/ 0 h 36"/>
                <a:gd name="T10" fmla="*/ 0 60000 65536"/>
                <a:gd name="T11" fmla="*/ 0 60000 65536"/>
                <a:gd name="T12" fmla="*/ 0 60000 65536"/>
                <a:gd name="T13" fmla="*/ 0 60000 65536"/>
                <a:gd name="T14" fmla="*/ 0 60000 65536"/>
                <a:gd name="T15" fmla="*/ 0 w 36"/>
                <a:gd name="T16" fmla="*/ 0 h 36"/>
                <a:gd name="T17" fmla="*/ 36 w 36"/>
                <a:gd name="T18" fmla="*/ 36 h 36"/>
              </a:gdLst>
              <a:ahLst/>
              <a:cxnLst>
                <a:cxn ang="T10">
                  <a:pos x="T0" y="T1"/>
                </a:cxn>
                <a:cxn ang="T11">
                  <a:pos x="T2" y="T3"/>
                </a:cxn>
                <a:cxn ang="T12">
                  <a:pos x="T4" y="T5"/>
                </a:cxn>
                <a:cxn ang="T13">
                  <a:pos x="T6" y="T7"/>
                </a:cxn>
                <a:cxn ang="T14">
                  <a:pos x="T8" y="T9"/>
                </a:cxn>
              </a:cxnLst>
              <a:rect l="T15" t="T16" r="T17" b="T18"/>
              <a:pathLst>
                <a:path w="36" h="36">
                  <a:moveTo>
                    <a:pt x="18" y="0"/>
                  </a:moveTo>
                  <a:lnTo>
                    <a:pt x="36" y="18"/>
                  </a:lnTo>
                  <a:lnTo>
                    <a:pt x="18" y="36"/>
                  </a:lnTo>
                  <a:lnTo>
                    <a:pt x="0" y="18"/>
                  </a:lnTo>
                  <a:lnTo>
                    <a:pt x="18" y="0"/>
                  </a:lnTo>
                  <a:close/>
                </a:path>
              </a:pathLst>
            </a:custGeom>
            <a:solidFill>
              <a:srgbClr val="000099"/>
            </a:solidFill>
            <a:ln w="9525">
              <a:solidFill>
                <a:srgbClr val="000099"/>
              </a:solidFill>
              <a:round/>
              <a:headEnd/>
              <a:tailEnd/>
            </a:ln>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67" name="Freeform 170">
              <a:extLst>
                <a:ext uri="{FF2B5EF4-FFF2-40B4-BE49-F238E27FC236}">
                  <a16:creationId xmlns:a16="http://schemas.microsoft.com/office/drawing/2014/main" id="{B4FE9247-833A-74F3-607C-C48DDBFF818B}"/>
                </a:ext>
              </a:extLst>
            </p:cNvPr>
            <p:cNvSpPr>
              <a:spLocks/>
            </p:cNvSpPr>
            <p:nvPr/>
          </p:nvSpPr>
          <p:spPr bwMode="auto">
            <a:xfrm>
              <a:off x="3336" y="2347"/>
              <a:ext cx="40" cy="48"/>
            </a:xfrm>
            <a:custGeom>
              <a:avLst/>
              <a:gdLst>
                <a:gd name="T0" fmla="*/ 78 w 36"/>
                <a:gd name="T1" fmla="*/ 0 h 36"/>
                <a:gd name="T2" fmla="*/ 153 w 36"/>
                <a:gd name="T3" fmla="*/ 1012 h 36"/>
                <a:gd name="T4" fmla="*/ 78 w 36"/>
                <a:gd name="T5" fmla="*/ 2007 h 36"/>
                <a:gd name="T6" fmla="*/ 0 w 36"/>
                <a:gd name="T7" fmla="*/ 1012 h 36"/>
                <a:gd name="T8" fmla="*/ 78 w 36"/>
                <a:gd name="T9" fmla="*/ 0 h 36"/>
                <a:gd name="T10" fmla="*/ 0 60000 65536"/>
                <a:gd name="T11" fmla="*/ 0 60000 65536"/>
                <a:gd name="T12" fmla="*/ 0 60000 65536"/>
                <a:gd name="T13" fmla="*/ 0 60000 65536"/>
                <a:gd name="T14" fmla="*/ 0 60000 65536"/>
                <a:gd name="T15" fmla="*/ 0 w 36"/>
                <a:gd name="T16" fmla="*/ 0 h 36"/>
                <a:gd name="T17" fmla="*/ 36 w 36"/>
                <a:gd name="T18" fmla="*/ 36 h 36"/>
              </a:gdLst>
              <a:ahLst/>
              <a:cxnLst>
                <a:cxn ang="T10">
                  <a:pos x="T0" y="T1"/>
                </a:cxn>
                <a:cxn ang="T11">
                  <a:pos x="T2" y="T3"/>
                </a:cxn>
                <a:cxn ang="T12">
                  <a:pos x="T4" y="T5"/>
                </a:cxn>
                <a:cxn ang="T13">
                  <a:pos x="T6" y="T7"/>
                </a:cxn>
                <a:cxn ang="T14">
                  <a:pos x="T8" y="T9"/>
                </a:cxn>
              </a:cxnLst>
              <a:rect l="T15" t="T16" r="T17" b="T18"/>
              <a:pathLst>
                <a:path w="36" h="36">
                  <a:moveTo>
                    <a:pt x="18" y="0"/>
                  </a:moveTo>
                  <a:lnTo>
                    <a:pt x="36" y="18"/>
                  </a:lnTo>
                  <a:lnTo>
                    <a:pt x="18" y="36"/>
                  </a:lnTo>
                  <a:lnTo>
                    <a:pt x="0" y="18"/>
                  </a:lnTo>
                  <a:lnTo>
                    <a:pt x="18" y="0"/>
                  </a:lnTo>
                  <a:close/>
                </a:path>
              </a:pathLst>
            </a:custGeom>
            <a:solidFill>
              <a:srgbClr val="000099"/>
            </a:solidFill>
            <a:ln w="9525">
              <a:solidFill>
                <a:srgbClr val="000099"/>
              </a:solidFill>
              <a:round/>
              <a:headEnd/>
              <a:tailEnd/>
            </a:ln>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68" name="Freeform 171">
              <a:extLst>
                <a:ext uri="{FF2B5EF4-FFF2-40B4-BE49-F238E27FC236}">
                  <a16:creationId xmlns:a16="http://schemas.microsoft.com/office/drawing/2014/main" id="{963157A0-20B2-DE10-6CCF-603344EE4909}"/>
                </a:ext>
              </a:extLst>
            </p:cNvPr>
            <p:cNvSpPr>
              <a:spLocks/>
            </p:cNvSpPr>
            <p:nvPr/>
          </p:nvSpPr>
          <p:spPr bwMode="auto">
            <a:xfrm>
              <a:off x="3468" y="2387"/>
              <a:ext cx="40" cy="48"/>
            </a:xfrm>
            <a:custGeom>
              <a:avLst/>
              <a:gdLst>
                <a:gd name="T0" fmla="*/ 78 w 36"/>
                <a:gd name="T1" fmla="*/ 0 h 36"/>
                <a:gd name="T2" fmla="*/ 153 w 36"/>
                <a:gd name="T3" fmla="*/ 1012 h 36"/>
                <a:gd name="T4" fmla="*/ 78 w 36"/>
                <a:gd name="T5" fmla="*/ 2007 h 36"/>
                <a:gd name="T6" fmla="*/ 0 w 36"/>
                <a:gd name="T7" fmla="*/ 1012 h 36"/>
                <a:gd name="T8" fmla="*/ 78 w 36"/>
                <a:gd name="T9" fmla="*/ 0 h 36"/>
                <a:gd name="T10" fmla="*/ 0 60000 65536"/>
                <a:gd name="T11" fmla="*/ 0 60000 65536"/>
                <a:gd name="T12" fmla="*/ 0 60000 65536"/>
                <a:gd name="T13" fmla="*/ 0 60000 65536"/>
                <a:gd name="T14" fmla="*/ 0 60000 65536"/>
                <a:gd name="T15" fmla="*/ 0 w 36"/>
                <a:gd name="T16" fmla="*/ 0 h 36"/>
                <a:gd name="T17" fmla="*/ 36 w 36"/>
                <a:gd name="T18" fmla="*/ 36 h 36"/>
              </a:gdLst>
              <a:ahLst/>
              <a:cxnLst>
                <a:cxn ang="T10">
                  <a:pos x="T0" y="T1"/>
                </a:cxn>
                <a:cxn ang="T11">
                  <a:pos x="T2" y="T3"/>
                </a:cxn>
                <a:cxn ang="T12">
                  <a:pos x="T4" y="T5"/>
                </a:cxn>
                <a:cxn ang="T13">
                  <a:pos x="T6" y="T7"/>
                </a:cxn>
                <a:cxn ang="T14">
                  <a:pos x="T8" y="T9"/>
                </a:cxn>
              </a:cxnLst>
              <a:rect l="T15" t="T16" r="T17" b="T18"/>
              <a:pathLst>
                <a:path w="36" h="36">
                  <a:moveTo>
                    <a:pt x="18" y="0"/>
                  </a:moveTo>
                  <a:lnTo>
                    <a:pt x="36" y="18"/>
                  </a:lnTo>
                  <a:lnTo>
                    <a:pt x="18" y="36"/>
                  </a:lnTo>
                  <a:lnTo>
                    <a:pt x="0" y="18"/>
                  </a:lnTo>
                  <a:lnTo>
                    <a:pt x="18" y="0"/>
                  </a:lnTo>
                  <a:close/>
                </a:path>
              </a:pathLst>
            </a:custGeom>
            <a:solidFill>
              <a:srgbClr val="000099"/>
            </a:solidFill>
            <a:ln w="9525">
              <a:solidFill>
                <a:srgbClr val="000099"/>
              </a:solidFill>
              <a:round/>
              <a:headEnd/>
              <a:tailEnd/>
            </a:ln>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69" name="Freeform 172">
              <a:extLst>
                <a:ext uri="{FF2B5EF4-FFF2-40B4-BE49-F238E27FC236}">
                  <a16:creationId xmlns:a16="http://schemas.microsoft.com/office/drawing/2014/main" id="{6E0ED4D0-5518-82A6-8E1A-997BB985C421}"/>
                </a:ext>
              </a:extLst>
            </p:cNvPr>
            <p:cNvSpPr>
              <a:spLocks/>
            </p:cNvSpPr>
            <p:nvPr/>
          </p:nvSpPr>
          <p:spPr bwMode="auto">
            <a:xfrm>
              <a:off x="3602" y="2427"/>
              <a:ext cx="39" cy="48"/>
            </a:xfrm>
            <a:custGeom>
              <a:avLst/>
              <a:gdLst>
                <a:gd name="T0" fmla="*/ 58 w 36"/>
                <a:gd name="T1" fmla="*/ 0 h 36"/>
                <a:gd name="T2" fmla="*/ 110 w 36"/>
                <a:gd name="T3" fmla="*/ 1012 h 36"/>
                <a:gd name="T4" fmla="*/ 58 w 36"/>
                <a:gd name="T5" fmla="*/ 2007 h 36"/>
                <a:gd name="T6" fmla="*/ 0 w 36"/>
                <a:gd name="T7" fmla="*/ 1012 h 36"/>
                <a:gd name="T8" fmla="*/ 58 w 36"/>
                <a:gd name="T9" fmla="*/ 0 h 36"/>
                <a:gd name="T10" fmla="*/ 0 60000 65536"/>
                <a:gd name="T11" fmla="*/ 0 60000 65536"/>
                <a:gd name="T12" fmla="*/ 0 60000 65536"/>
                <a:gd name="T13" fmla="*/ 0 60000 65536"/>
                <a:gd name="T14" fmla="*/ 0 60000 65536"/>
                <a:gd name="T15" fmla="*/ 0 w 36"/>
                <a:gd name="T16" fmla="*/ 0 h 36"/>
                <a:gd name="T17" fmla="*/ 36 w 36"/>
                <a:gd name="T18" fmla="*/ 36 h 36"/>
              </a:gdLst>
              <a:ahLst/>
              <a:cxnLst>
                <a:cxn ang="T10">
                  <a:pos x="T0" y="T1"/>
                </a:cxn>
                <a:cxn ang="T11">
                  <a:pos x="T2" y="T3"/>
                </a:cxn>
                <a:cxn ang="T12">
                  <a:pos x="T4" y="T5"/>
                </a:cxn>
                <a:cxn ang="T13">
                  <a:pos x="T6" y="T7"/>
                </a:cxn>
                <a:cxn ang="T14">
                  <a:pos x="T8" y="T9"/>
                </a:cxn>
              </a:cxnLst>
              <a:rect l="T15" t="T16" r="T17" b="T18"/>
              <a:pathLst>
                <a:path w="36" h="36">
                  <a:moveTo>
                    <a:pt x="18" y="0"/>
                  </a:moveTo>
                  <a:lnTo>
                    <a:pt x="36" y="18"/>
                  </a:lnTo>
                  <a:lnTo>
                    <a:pt x="18" y="36"/>
                  </a:lnTo>
                  <a:lnTo>
                    <a:pt x="0" y="18"/>
                  </a:lnTo>
                  <a:lnTo>
                    <a:pt x="18" y="0"/>
                  </a:lnTo>
                  <a:close/>
                </a:path>
              </a:pathLst>
            </a:custGeom>
            <a:solidFill>
              <a:srgbClr val="000099"/>
            </a:solidFill>
            <a:ln w="9525">
              <a:solidFill>
                <a:srgbClr val="000099"/>
              </a:solidFill>
              <a:round/>
              <a:headEnd/>
              <a:tailEnd/>
            </a:ln>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70" name="Freeform 173">
              <a:extLst>
                <a:ext uri="{FF2B5EF4-FFF2-40B4-BE49-F238E27FC236}">
                  <a16:creationId xmlns:a16="http://schemas.microsoft.com/office/drawing/2014/main" id="{AA84FCF0-36A5-540F-8907-9E556CB3FAD2}"/>
                </a:ext>
              </a:extLst>
            </p:cNvPr>
            <p:cNvSpPr>
              <a:spLocks/>
            </p:cNvSpPr>
            <p:nvPr/>
          </p:nvSpPr>
          <p:spPr bwMode="auto">
            <a:xfrm>
              <a:off x="3740" y="2467"/>
              <a:ext cx="40" cy="48"/>
            </a:xfrm>
            <a:custGeom>
              <a:avLst/>
              <a:gdLst>
                <a:gd name="T0" fmla="*/ 78 w 36"/>
                <a:gd name="T1" fmla="*/ 0 h 36"/>
                <a:gd name="T2" fmla="*/ 153 w 36"/>
                <a:gd name="T3" fmla="*/ 1012 h 36"/>
                <a:gd name="T4" fmla="*/ 78 w 36"/>
                <a:gd name="T5" fmla="*/ 2007 h 36"/>
                <a:gd name="T6" fmla="*/ 0 w 36"/>
                <a:gd name="T7" fmla="*/ 1012 h 36"/>
                <a:gd name="T8" fmla="*/ 78 w 36"/>
                <a:gd name="T9" fmla="*/ 0 h 36"/>
                <a:gd name="T10" fmla="*/ 0 60000 65536"/>
                <a:gd name="T11" fmla="*/ 0 60000 65536"/>
                <a:gd name="T12" fmla="*/ 0 60000 65536"/>
                <a:gd name="T13" fmla="*/ 0 60000 65536"/>
                <a:gd name="T14" fmla="*/ 0 60000 65536"/>
                <a:gd name="T15" fmla="*/ 0 w 36"/>
                <a:gd name="T16" fmla="*/ 0 h 36"/>
                <a:gd name="T17" fmla="*/ 36 w 36"/>
                <a:gd name="T18" fmla="*/ 36 h 36"/>
              </a:gdLst>
              <a:ahLst/>
              <a:cxnLst>
                <a:cxn ang="T10">
                  <a:pos x="T0" y="T1"/>
                </a:cxn>
                <a:cxn ang="T11">
                  <a:pos x="T2" y="T3"/>
                </a:cxn>
                <a:cxn ang="T12">
                  <a:pos x="T4" y="T5"/>
                </a:cxn>
                <a:cxn ang="T13">
                  <a:pos x="T6" y="T7"/>
                </a:cxn>
                <a:cxn ang="T14">
                  <a:pos x="T8" y="T9"/>
                </a:cxn>
              </a:cxnLst>
              <a:rect l="T15" t="T16" r="T17" b="T18"/>
              <a:pathLst>
                <a:path w="36" h="36">
                  <a:moveTo>
                    <a:pt x="18" y="0"/>
                  </a:moveTo>
                  <a:lnTo>
                    <a:pt x="36" y="18"/>
                  </a:lnTo>
                  <a:lnTo>
                    <a:pt x="18" y="36"/>
                  </a:lnTo>
                  <a:lnTo>
                    <a:pt x="0" y="18"/>
                  </a:lnTo>
                  <a:lnTo>
                    <a:pt x="18" y="0"/>
                  </a:lnTo>
                  <a:close/>
                </a:path>
              </a:pathLst>
            </a:custGeom>
            <a:solidFill>
              <a:srgbClr val="000099"/>
            </a:solidFill>
            <a:ln w="9525">
              <a:solidFill>
                <a:srgbClr val="000099"/>
              </a:solidFill>
              <a:round/>
              <a:headEnd/>
              <a:tailEnd/>
            </a:ln>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71" name="Freeform 174">
              <a:extLst>
                <a:ext uri="{FF2B5EF4-FFF2-40B4-BE49-F238E27FC236}">
                  <a16:creationId xmlns:a16="http://schemas.microsoft.com/office/drawing/2014/main" id="{5BB73A0C-E612-CB03-0F39-23F1010E8099}"/>
                </a:ext>
              </a:extLst>
            </p:cNvPr>
            <p:cNvSpPr>
              <a:spLocks/>
            </p:cNvSpPr>
            <p:nvPr/>
          </p:nvSpPr>
          <p:spPr bwMode="auto">
            <a:xfrm>
              <a:off x="3874" y="2507"/>
              <a:ext cx="39" cy="47"/>
            </a:xfrm>
            <a:custGeom>
              <a:avLst/>
              <a:gdLst>
                <a:gd name="T0" fmla="*/ 58 w 36"/>
                <a:gd name="T1" fmla="*/ 0 h 36"/>
                <a:gd name="T2" fmla="*/ 110 w 36"/>
                <a:gd name="T3" fmla="*/ 748 h 36"/>
                <a:gd name="T4" fmla="*/ 58 w 36"/>
                <a:gd name="T5" fmla="*/ 1501 h 36"/>
                <a:gd name="T6" fmla="*/ 0 w 36"/>
                <a:gd name="T7" fmla="*/ 748 h 36"/>
                <a:gd name="T8" fmla="*/ 58 w 36"/>
                <a:gd name="T9" fmla="*/ 0 h 36"/>
                <a:gd name="T10" fmla="*/ 0 60000 65536"/>
                <a:gd name="T11" fmla="*/ 0 60000 65536"/>
                <a:gd name="T12" fmla="*/ 0 60000 65536"/>
                <a:gd name="T13" fmla="*/ 0 60000 65536"/>
                <a:gd name="T14" fmla="*/ 0 60000 65536"/>
                <a:gd name="T15" fmla="*/ 0 w 36"/>
                <a:gd name="T16" fmla="*/ 0 h 36"/>
                <a:gd name="T17" fmla="*/ 36 w 36"/>
                <a:gd name="T18" fmla="*/ 36 h 36"/>
              </a:gdLst>
              <a:ahLst/>
              <a:cxnLst>
                <a:cxn ang="T10">
                  <a:pos x="T0" y="T1"/>
                </a:cxn>
                <a:cxn ang="T11">
                  <a:pos x="T2" y="T3"/>
                </a:cxn>
                <a:cxn ang="T12">
                  <a:pos x="T4" y="T5"/>
                </a:cxn>
                <a:cxn ang="T13">
                  <a:pos x="T6" y="T7"/>
                </a:cxn>
                <a:cxn ang="T14">
                  <a:pos x="T8" y="T9"/>
                </a:cxn>
              </a:cxnLst>
              <a:rect l="T15" t="T16" r="T17" b="T18"/>
              <a:pathLst>
                <a:path w="36" h="36">
                  <a:moveTo>
                    <a:pt x="18" y="0"/>
                  </a:moveTo>
                  <a:lnTo>
                    <a:pt x="36" y="18"/>
                  </a:lnTo>
                  <a:lnTo>
                    <a:pt x="18" y="36"/>
                  </a:lnTo>
                  <a:lnTo>
                    <a:pt x="0" y="18"/>
                  </a:lnTo>
                  <a:lnTo>
                    <a:pt x="18" y="0"/>
                  </a:lnTo>
                  <a:close/>
                </a:path>
              </a:pathLst>
            </a:custGeom>
            <a:solidFill>
              <a:srgbClr val="000099"/>
            </a:solidFill>
            <a:ln w="9525">
              <a:solidFill>
                <a:srgbClr val="000099"/>
              </a:solidFill>
              <a:round/>
              <a:headEnd/>
              <a:tailEnd/>
            </a:ln>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72" name="Freeform 175">
              <a:extLst>
                <a:ext uri="{FF2B5EF4-FFF2-40B4-BE49-F238E27FC236}">
                  <a16:creationId xmlns:a16="http://schemas.microsoft.com/office/drawing/2014/main" id="{0985E536-5879-7C05-AC5F-7025DDC19C5E}"/>
                </a:ext>
              </a:extLst>
            </p:cNvPr>
            <p:cNvSpPr>
              <a:spLocks/>
            </p:cNvSpPr>
            <p:nvPr/>
          </p:nvSpPr>
          <p:spPr bwMode="auto">
            <a:xfrm>
              <a:off x="4012" y="2546"/>
              <a:ext cx="40" cy="47"/>
            </a:xfrm>
            <a:custGeom>
              <a:avLst/>
              <a:gdLst>
                <a:gd name="T0" fmla="*/ 78 w 36"/>
                <a:gd name="T1" fmla="*/ 0 h 36"/>
                <a:gd name="T2" fmla="*/ 153 w 36"/>
                <a:gd name="T3" fmla="*/ 748 h 36"/>
                <a:gd name="T4" fmla="*/ 78 w 36"/>
                <a:gd name="T5" fmla="*/ 1501 h 36"/>
                <a:gd name="T6" fmla="*/ 0 w 36"/>
                <a:gd name="T7" fmla="*/ 748 h 36"/>
                <a:gd name="T8" fmla="*/ 78 w 36"/>
                <a:gd name="T9" fmla="*/ 0 h 36"/>
                <a:gd name="T10" fmla="*/ 0 60000 65536"/>
                <a:gd name="T11" fmla="*/ 0 60000 65536"/>
                <a:gd name="T12" fmla="*/ 0 60000 65536"/>
                <a:gd name="T13" fmla="*/ 0 60000 65536"/>
                <a:gd name="T14" fmla="*/ 0 60000 65536"/>
                <a:gd name="T15" fmla="*/ 0 w 36"/>
                <a:gd name="T16" fmla="*/ 0 h 36"/>
                <a:gd name="T17" fmla="*/ 36 w 36"/>
                <a:gd name="T18" fmla="*/ 36 h 36"/>
              </a:gdLst>
              <a:ahLst/>
              <a:cxnLst>
                <a:cxn ang="T10">
                  <a:pos x="T0" y="T1"/>
                </a:cxn>
                <a:cxn ang="T11">
                  <a:pos x="T2" y="T3"/>
                </a:cxn>
                <a:cxn ang="T12">
                  <a:pos x="T4" y="T5"/>
                </a:cxn>
                <a:cxn ang="T13">
                  <a:pos x="T6" y="T7"/>
                </a:cxn>
                <a:cxn ang="T14">
                  <a:pos x="T8" y="T9"/>
                </a:cxn>
              </a:cxnLst>
              <a:rect l="T15" t="T16" r="T17" b="T18"/>
              <a:pathLst>
                <a:path w="36" h="36">
                  <a:moveTo>
                    <a:pt x="18" y="0"/>
                  </a:moveTo>
                  <a:lnTo>
                    <a:pt x="36" y="18"/>
                  </a:lnTo>
                  <a:lnTo>
                    <a:pt x="18" y="36"/>
                  </a:lnTo>
                  <a:lnTo>
                    <a:pt x="0" y="18"/>
                  </a:lnTo>
                  <a:lnTo>
                    <a:pt x="18" y="0"/>
                  </a:lnTo>
                  <a:close/>
                </a:path>
              </a:pathLst>
            </a:custGeom>
            <a:solidFill>
              <a:srgbClr val="000099"/>
            </a:solidFill>
            <a:ln w="9525">
              <a:solidFill>
                <a:srgbClr val="000099"/>
              </a:solidFill>
              <a:round/>
              <a:headEnd/>
              <a:tailEnd/>
            </a:ln>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73" name="Freeform 176">
              <a:extLst>
                <a:ext uri="{FF2B5EF4-FFF2-40B4-BE49-F238E27FC236}">
                  <a16:creationId xmlns:a16="http://schemas.microsoft.com/office/drawing/2014/main" id="{3513ADAB-B2A0-E4FA-A8C9-B19936ED9638}"/>
                </a:ext>
              </a:extLst>
            </p:cNvPr>
            <p:cNvSpPr>
              <a:spLocks/>
            </p:cNvSpPr>
            <p:nvPr/>
          </p:nvSpPr>
          <p:spPr bwMode="auto">
            <a:xfrm>
              <a:off x="4146" y="2585"/>
              <a:ext cx="40" cy="48"/>
            </a:xfrm>
            <a:custGeom>
              <a:avLst/>
              <a:gdLst>
                <a:gd name="T0" fmla="*/ 54 w 37"/>
                <a:gd name="T1" fmla="*/ 0 h 36"/>
                <a:gd name="T2" fmla="*/ 109 w 37"/>
                <a:gd name="T3" fmla="*/ 1012 h 36"/>
                <a:gd name="T4" fmla="*/ 54 w 37"/>
                <a:gd name="T5" fmla="*/ 2007 h 36"/>
                <a:gd name="T6" fmla="*/ 0 w 37"/>
                <a:gd name="T7" fmla="*/ 1012 h 36"/>
                <a:gd name="T8" fmla="*/ 54 w 37"/>
                <a:gd name="T9" fmla="*/ 0 h 36"/>
                <a:gd name="T10" fmla="*/ 0 60000 65536"/>
                <a:gd name="T11" fmla="*/ 0 60000 65536"/>
                <a:gd name="T12" fmla="*/ 0 60000 65536"/>
                <a:gd name="T13" fmla="*/ 0 60000 65536"/>
                <a:gd name="T14" fmla="*/ 0 60000 65536"/>
                <a:gd name="T15" fmla="*/ 0 w 37"/>
                <a:gd name="T16" fmla="*/ 0 h 36"/>
                <a:gd name="T17" fmla="*/ 37 w 37"/>
                <a:gd name="T18" fmla="*/ 36 h 36"/>
              </a:gdLst>
              <a:ahLst/>
              <a:cxnLst>
                <a:cxn ang="T10">
                  <a:pos x="T0" y="T1"/>
                </a:cxn>
                <a:cxn ang="T11">
                  <a:pos x="T2" y="T3"/>
                </a:cxn>
                <a:cxn ang="T12">
                  <a:pos x="T4" y="T5"/>
                </a:cxn>
                <a:cxn ang="T13">
                  <a:pos x="T6" y="T7"/>
                </a:cxn>
                <a:cxn ang="T14">
                  <a:pos x="T8" y="T9"/>
                </a:cxn>
              </a:cxnLst>
              <a:rect l="T15" t="T16" r="T17" b="T18"/>
              <a:pathLst>
                <a:path w="37" h="36">
                  <a:moveTo>
                    <a:pt x="18" y="0"/>
                  </a:moveTo>
                  <a:lnTo>
                    <a:pt x="37" y="18"/>
                  </a:lnTo>
                  <a:lnTo>
                    <a:pt x="18" y="36"/>
                  </a:lnTo>
                  <a:lnTo>
                    <a:pt x="0" y="18"/>
                  </a:lnTo>
                  <a:lnTo>
                    <a:pt x="18" y="0"/>
                  </a:lnTo>
                  <a:close/>
                </a:path>
              </a:pathLst>
            </a:custGeom>
            <a:solidFill>
              <a:srgbClr val="000099"/>
            </a:solidFill>
            <a:ln w="9525">
              <a:solidFill>
                <a:srgbClr val="000099"/>
              </a:solidFill>
              <a:round/>
              <a:headEnd/>
              <a:tailEnd/>
            </a:ln>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74" name="Freeform 177">
              <a:extLst>
                <a:ext uri="{FF2B5EF4-FFF2-40B4-BE49-F238E27FC236}">
                  <a16:creationId xmlns:a16="http://schemas.microsoft.com/office/drawing/2014/main" id="{6C5543BD-142A-AEBD-6E43-A8ACF5E55CFD}"/>
                </a:ext>
              </a:extLst>
            </p:cNvPr>
            <p:cNvSpPr>
              <a:spLocks/>
            </p:cNvSpPr>
            <p:nvPr/>
          </p:nvSpPr>
          <p:spPr bwMode="auto">
            <a:xfrm>
              <a:off x="4285" y="2617"/>
              <a:ext cx="40" cy="47"/>
            </a:xfrm>
            <a:custGeom>
              <a:avLst/>
              <a:gdLst>
                <a:gd name="T0" fmla="*/ 78 w 36"/>
                <a:gd name="T1" fmla="*/ 0 h 36"/>
                <a:gd name="T2" fmla="*/ 153 w 36"/>
                <a:gd name="T3" fmla="*/ 748 h 36"/>
                <a:gd name="T4" fmla="*/ 78 w 36"/>
                <a:gd name="T5" fmla="*/ 1501 h 36"/>
                <a:gd name="T6" fmla="*/ 0 w 36"/>
                <a:gd name="T7" fmla="*/ 748 h 36"/>
                <a:gd name="T8" fmla="*/ 78 w 36"/>
                <a:gd name="T9" fmla="*/ 0 h 36"/>
                <a:gd name="T10" fmla="*/ 0 60000 65536"/>
                <a:gd name="T11" fmla="*/ 0 60000 65536"/>
                <a:gd name="T12" fmla="*/ 0 60000 65536"/>
                <a:gd name="T13" fmla="*/ 0 60000 65536"/>
                <a:gd name="T14" fmla="*/ 0 60000 65536"/>
                <a:gd name="T15" fmla="*/ 0 w 36"/>
                <a:gd name="T16" fmla="*/ 0 h 36"/>
                <a:gd name="T17" fmla="*/ 36 w 36"/>
                <a:gd name="T18" fmla="*/ 36 h 36"/>
              </a:gdLst>
              <a:ahLst/>
              <a:cxnLst>
                <a:cxn ang="T10">
                  <a:pos x="T0" y="T1"/>
                </a:cxn>
                <a:cxn ang="T11">
                  <a:pos x="T2" y="T3"/>
                </a:cxn>
                <a:cxn ang="T12">
                  <a:pos x="T4" y="T5"/>
                </a:cxn>
                <a:cxn ang="T13">
                  <a:pos x="T6" y="T7"/>
                </a:cxn>
                <a:cxn ang="T14">
                  <a:pos x="T8" y="T9"/>
                </a:cxn>
              </a:cxnLst>
              <a:rect l="T15" t="T16" r="T17" b="T18"/>
              <a:pathLst>
                <a:path w="36" h="36">
                  <a:moveTo>
                    <a:pt x="18" y="0"/>
                  </a:moveTo>
                  <a:lnTo>
                    <a:pt x="36" y="18"/>
                  </a:lnTo>
                  <a:lnTo>
                    <a:pt x="18" y="36"/>
                  </a:lnTo>
                  <a:lnTo>
                    <a:pt x="0" y="18"/>
                  </a:lnTo>
                  <a:lnTo>
                    <a:pt x="18" y="0"/>
                  </a:lnTo>
                  <a:close/>
                </a:path>
              </a:pathLst>
            </a:custGeom>
            <a:solidFill>
              <a:srgbClr val="000099"/>
            </a:solidFill>
            <a:ln w="9525">
              <a:solidFill>
                <a:srgbClr val="000099"/>
              </a:solidFill>
              <a:round/>
              <a:headEnd/>
              <a:tailEnd/>
            </a:ln>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75" name="Freeform 178">
              <a:extLst>
                <a:ext uri="{FF2B5EF4-FFF2-40B4-BE49-F238E27FC236}">
                  <a16:creationId xmlns:a16="http://schemas.microsoft.com/office/drawing/2014/main" id="{2D6BC6FB-1B99-D889-097E-5CB36077DA52}"/>
                </a:ext>
              </a:extLst>
            </p:cNvPr>
            <p:cNvSpPr>
              <a:spLocks/>
            </p:cNvSpPr>
            <p:nvPr/>
          </p:nvSpPr>
          <p:spPr bwMode="auto">
            <a:xfrm>
              <a:off x="4418" y="2657"/>
              <a:ext cx="40" cy="47"/>
            </a:xfrm>
            <a:custGeom>
              <a:avLst/>
              <a:gdLst>
                <a:gd name="T0" fmla="*/ 78 w 36"/>
                <a:gd name="T1" fmla="*/ 0 h 36"/>
                <a:gd name="T2" fmla="*/ 153 w 36"/>
                <a:gd name="T3" fmla="*/ 748 h 36"/>
                <a:gd name="T4" fmla="*/ 78 w 36"/>
                <a:gd name="T5" fmla="*/ 1501 h 36"/>
                <a:gd name="T6" fmla="*/ 0 w 36"/>
                <a:gd name="T7" fmla="*/ 748 h 36"/>
                <a:gd name="T8" fmla="*/ 78 w 36"/>
                <a:gd name="T9" fmla="*/ 0 h 36"/>
                <a:gd name="T10" fmla="*/ 0 60000 65536"/>
                <a:gd name="T11" fmla="*/ 0 60000 65536"/>
                <a:gd name="T12" fmla="*/ 0 60000 65536"/>
                <a:gd name="T13" fmla="*/ 0 60000 65536"/>
                <a:gd name="T14" fmla="*/ 0 60000 65536"/>
                <a:gd name="T15" fmla="*/ 0 w 36"/>
                <a:gd name="T16" fmla="*/ 0 h 36"/>
                <a:gd name="T17" fmla="*/ 36 w 36"/>
                <a:gd name="T18" fmla="*/ 36 h 36"/>
              </a:gdLst>
              <a:ahLst/>
              <a:cxnLst>
                <a:cxn ang="T10">
                  <a:pos x="T0" y="T1"/>
                </a:cxn>
                <a:cxn ang="T11">
                  <a:pos x="T2" y="T3"/>
                </a:cxn>
                <a:cxn ang="T12">
                  <a:pos x="T4" y="T5"/>
                </a:cxn>
                <a:cxn ang="T13">
                  <a:pos x="T6" y="T7"/>
                </a:cxn>
                <a:cxn ang="T14">
                  <a:pos x="T8" y="T9"/>
                </a:cxn>
              </a:cxnLst>
              <a:rect l="T15" t="T16" r="T17" b="T18"/>
              <a:pathLst>
                <a:path w="36" h="36">
                  <a:moveTo>
                    <a:pt x="18" y="0"/>
                  </a:moveTo>
                  <a:lnTo>
                    <a:pt x="36" y="18"/>
                  </a:lnTo>
                  <a:lnTo>
                    <a:pt x="18" y="36"/>
                  </a:lnTo>
                  <a:lnTo>
                    <a:pt x="0" y="18"/>
                  </a:lnTo>
                  <a:lnTo>
                    <a:pt x="18" y="0"/>
                  </a:lnTo>
                  <a:close/>
                </a:path>
              </a:pathLst>
            </a:custGeom>
            <a:solidFill>
              <a:srgbClr val="000099"/>
            </a:solidFill>
            <a:ln w="9525">
              <a:solidFill>
                <a:srgbClr val="000099"/>
              </a:solidFill>
              <a:round/>
              <a:headEnd/>
              <a:tailEnd/>
            </a:ln>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76" name="Freeform 179">
              <a:extLst>
                <a:ext uri="{FF2B5EF4-FFF2-40B4-BE49-F238E27FC236}">
                  <a16:creationId xmlns:a16="http://schemas.microsoft.com/office/drawing/2014/main" id="{F660F9C3-F44E-91DF-FB4D-0132D3303754}"/>
                </a:ext>
              </a:extLst>
            </p:cNvPr>
            <p:cNvSpPr>
              <a:spLocks/>
            </p:cNvSpPr>
            <p:nvPr/>
          </p:nvSpPr>
          <p:spPr bwMode="auto">
            <a:xfrm>
              <a:off x="4551" y="2688"/>
              <a:ext cx="39" cy="48"/>
            </a:xfrm>
            <a:custGeom>
              <a:avLst/>
              <a:gdLst>
                <a:gd name="T0" fmla="*/ 58 w 36"/>
                <a:gd name="T1" fmla="*/ 0 h 36"/>
                <a:gd name="T2" fmla="*/ 110 w 36"/>
                <a:gd name="T3" fmla="*/ 1012 h 36"/>
                <a:gd name="T4" fmla="*/ 58 w 36"/>
                <a:gd name="T5" fmla="*/ 2007 h 36"/>
                <a:gd name="T6" fmla="*/ 0 w 36"/>
                <a:gd name="T7" fmla="*/ 1012 h 36"/>
                <a:gd name="T8" fmla="*/ 58 w 36"/>
                <a:gd name="T9" fmla="*/ 0 h 36"/>
                <a:gd name="T10" fmla="*/ 0 60000 65536"/>
                <a:gd name="T11" fmla="*/ 0 60000 65536"/>
                <a:gd name="T12" fmla="*/ 0 60000 65536"/>
                <a:gd name="T13" fmla="*/ 0 60000 65536"/>
                <a:gd name="T14" fmla="*/ 0 60000 65536"/>
                <a:gd name="T15" fmla="*/ 0 w 36"/>
                <a:gd name="T16" fmla="*/ 0 h 36"/>
                <a:gd name="T17" fmla="*/ 36 w 36"/>
                <a:gd name="T18" fmla="*/ 36 h 36"/>
              </a:gdLst>
              <a:ahLst/>
              <a:cxnLst>
                <a:cxn ang="T10">
                  <a:pos x="T0" y="T1"/>
                </a:cxn>
                <a:cxn ang="T11">
                  <a:pos x="T2" y="T3"/>
                </a:cxn>
                <a:cxn ang="T12">
                  <a:pos x="T4" y="T5"/>
                </a:cxn>
                <a:cxn ang="T13">
                  <a:pos x="T6" y="T7"/>
                </a:cxn>
                <a:cxn ang="T14">
                  <a:pos x="T8" y="T9"/>
                </a:cxn>
              </a:cxnLst>
              <a:rect l="T15" t="T16" r="T17" b="T18"/>
              <a:pathLst>
                <a:path w="36" h="36">
                  <a:moveTo>
                    <a:pt x="18" y="0"/>
                  </a:moveTo>
                  <a:lnTo>
                    <a:pt x="36" y="18"/>
                  </a:lnTo>
                  <a:lnTo>
                    <a:pt x="18" y="36"/>
                  </a:lnTo>
                  <a:lnTo>
                    <a:pt x="0" y="18"/>
                  </a:lnTo>
                  <a:lnTo>
                    <a:pt x="18" y="0"/>
                  </a:lnTo>
                  <a:close/>
                </a:path>
              </a:pathLst>
            </a:custGeom>
            <a:solidFill>
              <a:srgbClr val="000099"/>
            </a:solidFill>
            <a:ln w="9525">
              <a:solidFill>
                <a:srgbClr val="000099"/>
              </a:solidFill>
              <a:round/>
              <a:headEnd/>
              <a:tailEnd/>
            </a:ln>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77" name="Freeform 180">
              <a:extLst>
                <a:ext uri="{FF2B5EF4-FFF2-40B4-BE49-F238E27FC236}">
                  <a16:creationId xmlns:a16="http://schemas.microsoft.com/office/drawing/2014/main" id="{4EE824B1-7695-DAA6-A76C-1D80B6C8BE75}"/>
                </a:ext>
              </a:extLst>
            </p:cNvPr>
            <p:cNvSpPr>
              <a:spLocks/>
            </p:cNvSpPr>
            <p:nvPr/>
          </p:nvSpPr>
          <p:spPr bwMode="auto">
            <a:xfrm>
              <a:off x="4690" y="2712"/>
              <a:ext cx="40" cy="48"/>
            </a:xfrm>
            <a:custGeom>
              <a:avLst/>
              <a:gdLst>
                <a:gd name="T0" fmla="*/ 78 w 36"/>
                <a:gd name="T1" fmla="*/ 0 h 36"/>
                <a:gd name="T2" fmla="*/ 153 w 36"/>
                <a:gd name="T3" fmla="*/ 1012 h 36"/>
                <a:gd name="T4" fmla="*/ 78 w 36"/>
                <a:gd name="T5" fmla="*/ 2007 h 36"/>
                <a:gd name="T6" fmla="*/ 0 w 36"/>
                <a:gd name="T7" fmla="*/ 1012 h 36"/>
                <a:gd name="T8" fmla="*/ 78 w 36"/>
                <a:gd name="T9" fmla="*/ 0 h 36"/>
                <a:gd name="T10" fmla="*/ 0 60000 65536"/>
                <a:gd name="T11" fmla="*/ 0 60000 65536"/>
                <a:gd name="T12" fmla="*/ 0 60000 65536"/>
                <a:gd name="T13" fmla="*/ 0 60000 65536"/>
                <a:gd name="T14" fmla="*/ 0 60000 65536"/>
                <a:gd name="T15" fmla="*/ 0 w 36"/>
                <a:gd name="T16" fmla="*/ 0 h 36"/>
                <a:gd name="T17" fmla="*/ 36 w 36"/>
                <a:gd name="T18" fmla="*/ 36 h 36"/>
              </a:gdLst>
              <a:ahLst/>
              <a:cxnLst>
                <a:cxn ang="T10">
                  <a:pos x="T0" y="T1"/>
                </a:cxn>
                <a:cxn ang="T11">
                  <a:pos x="T2" y="T3"/>
                </a:cxn>
                <a:cxn ang="T12">
                  <a:pos x="T4" y="T5"/>
                </a:cxn>
                <a:cxn ang="T13">
                  <a:pos x="T6" y="T7"/>
                </a:cxn>
                <a:cxn ang="T14">
                  <a:pos x="T8" y="T9"/>
                </a:cxn>
              </a:cxnLst>
              <a:rect l="T15" t="T16" r="T17" b="T18"/>
              <a:pathLst>
                <a:path w="36" h="36">
                  <a:moveTo>
                    <a:pt x="18" y="0"/>
                  </a:moveTo>
                  <a:lnTo>
                    <a:pt x="36" y="18"/>
                  </a:lnTo>
                  <a:lnTo>
                    <a:pt x="18" y="36"/>
                  </a:lnTo>
                  <a:lnTo>
                    <a:pt x="0" y="18"/>
                  </a:lnTo>
                  <a:lnTo>
                    <a:pt x="18" y="0"/>
                  </a:lnTo>
                  <a:close/>
                </a:path>
              </a:pathLst>
            </a:custGeom>
            <a:solidFill>
              <a:srgbClr val="000099"/>
            </a:solidFill>
            <a:ln w="9525">
              <a:solidFill>
                <a:srgbClr val="000099"/>
              </a:solidFill>
              <a:round/>
              <a:headEnd/>
              <a:tailEnd/>
            </a:ln>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78" name="Freeform 181">
              <a:extLst>
                <a:ext uri="{FF2B5EF4-FFF2-40B4-BE49-F238E27FC236}">
                  <a16:creationId xmlns:a16="http://schemas.microsoft.com/office/drawing/2014/main" id="{AB540EAF-8595-3D63-E0D2-4DD83BEAC507}"/>
                </a:ext>
              </a:extLst>
            </p:cNvPr>
            <p:cNvSpPr>
              <a:spLocks/>
            </p:cNvSpPr>
            <p:nvPr/>
          </p:nvSpPr>
          <p:spPr bwMode="auto">
            <a:xfrm>
              <a:off x="4823" y="2744"/>
              <a:ext cx="39" cy="48"/>
            </a:xfrm>
            <a:custGeom>
              <a:avLst/>
              <a:gdLst>
                <a:gd name="T0" fmla="*/ 58 w 36"/>
                <a:gd name="T1" fmla="*/ 0 h 36"/>
                <a:gd name="T2" fmla="*/ 110 w 36"/>
                <a:gd name="T3" fmla="*/ 1012 h 36"/>
                <a:gd name="T4" fmla="*/ 58 w 36"/>
                <a:gd name="T5" fmla="*/ 2007 h 36"/>
                <a:gd name="T6" fmla="*/ 0 w 36"/>
                <a:gd name="T7" fmla="*/ 1012 h 36"/>
                <a:gd name="T8" fmla="*/ 58 w 36"/>
                <a:gd name="T9" fmla="*/ 0 h 36"/>
                <a:gd name="T10" fmla="*/ 0 60000 65536"/>
                <a:gd name="T11" fmla="*/ 0 60000 65536"/>
                <a:gd name="T12" fmla="*/ 0 60000 65536"/>
                <a:gd name="T13" fmla="*/ 0 60000 65536"/>
                <a:gd name="T14" fmla="*/ 0 60000 65536"/>
                <a:gd name="T15" fmla="*/ 0 w 36"/>
                <a:gd name="T16" fmla="*/ 0 h 36"/>
                <a:gd name="T17" fmla="*/ 36 w 36"/>
                <a:gd name="T18" fmla="*/ 36 h 36"/>
              </a:gdLst>
              <a:ahLst/>
              <a:cxnLst>
                <a:cxn ang="T10">
                  <a:pos x="T0" y="T1"/>
                </a:cxn>
                <a:cxn ang="T11">
                  <a:pos x="T2" y="T3"/>
                </a:cxn>
                <a:cxn ang="T12">
                  <a:pos x="T4" y="T5"/>
                </a:cxn>
                <a:cxn ang="T13">
                  <a:pos x="T6" y="T7"/>
                </a:cxn>
                <a:cxn ang="T14">
                  <a:pos x="T8" y="T9"/>
                </a:cxn>
              </a:cxnLst>
              <a:rect l="T15" t="T16" r="T17" b="T18"/>
              <a:pathLst>
                <a:path w="36" h="36">
                  <a:moveTo>
                    <a:pt x="18" y="0"/>
                  </a:moveTo>
                  <a:lnTo>
                    <a:pt x="36" y="18"/>
                  </a:lnTo>
                  <a:lnTo>
                    <a:pt x="18" y="36"/>
                  </a:lnTo>
                  <a:lnTo>
                    <a:pt x="0" y="18"/>
                  </a:lnTo>
                  <a:lnTo>
                    <a:pt x="18" y="0"/>
                  </a:lnTo>
                  <a:close/>
                </a:path>
              </a:pathLst>
            </a:custGeom>
            <a:solidFill>
              <a:srgbClr val="000099"/>
            </a:solidFill>
            <a:ln w="9525">
              <a:solidFill>
                <a:srgbClr val="000099"/>
              </a:solidFill>
              <a:round/>
              <a:headEnd/>
              <a:tailEnd/>
            </a:ln>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79" name="Freeform 182">
              <a:extLst>
                <a:ext uri="{FF2B5EF4-FFF2-40B4-BE49-F238E27FC236}">
                  <a16:creationId xmlns:a16="http://schemas.microsoft.com/office/drawing/2014/main" id="{9CAD0BC4-30BD-4B5A-A093-1D5479ECEAD5}"/>
                </a:ext>
              </a:extLst>
            </p:cNvPr>
            <p:cNvSpPr>
              <a:spLocks/>
            </p:cNvSpPr>
            <p:nvPr/>
          </p:nvSpPr>
          <p:spPr bwMode="auto">
            <a:xfrm>
              <a:off x="4961" y="2768"/>
              <a:ext cx="41" cy="48"/>
            </a:xfrm>
            <a:custGeom>
              <a:avLst/>
              <a:gdLst>
                <a:gd name="T0" fmla="*/ 113 w 36"/>
                <a:gd name="T1" fmla="*/ 0 h 36"/>
                <a:gd name="T2" fmla="*/ 231 w 36"/>
                <a:gd name="T3" fmla="*/ 1012 h 36"/>
                <a:gd name="T4" fmla="*/ 113 w 36"/>
                <a:gd name="T5" fmla="*/ 2007 h 36"/>
                <a:gd name="T6" fmla="*/ 0 w 36"/>
                <a:gd name="T7" fmla="*/ 1012 h 36"/>
                <a:gd name="T8" fmla="*/ 113 w 36"/>
                <a:gd name="T9" fmla="*/ 0 h 36"/>
                <a:gd name="T10" fmla="*/ 0 60000 65536"/>
                <a:gd name="T11" fmla="*/ 0 60000 65536"/>
                <a:gd name="T12" fmla="*/ 0 60000 65536"/>
                <a:gd name="T13" fmla="*/ 0 60000 65536"/>
                <a:gd name="T14" fmla="*/ 0 60000 65536"/>
                <a:gd name="T15" fmla="*/ 0 w 36"/>
                <a:gd name="T16" fmla="*/ 0 h 36"/>
                <a:gd name="T17" fmla="*/ 36 w 36"/>
                <a:gd name="T18" fmla="*/ 36 h 36"/>
              </a:gdLst>
              <a:ahLst/>
              <a:cxnLst>
                <a:cxn ang="T10">
                  <a:pos x="T0" y="T1"/>
                </a:cxn>
                <a:cxn ang="T11">
                  <a:pos x="T2" y="T3"/>
                </a:cxn>
                <a:cxn ang="T12">
                  <a:pos x="T4" y="T5"/>
                </a:cxn>
                <a:cxn ang="T13">
                  <a:pos x="T6" y="T7"/>
                </a:cxn>
                <a:cxn ang="T14">
                  <a:pos x="T8" y="T9"/>
                </a:cxn>
              </a:cxnLst>
              <a:rect l="T15" t="T16" r="T17" b="T18"/>
              <a:pathLst>
                <a:path w="36" h="36">
                  <a:moveTo>
                    <a:pt x="18" y="0"/>
                  </a:moveTo>
                  <a:lnTo>
                    <a:pt x="36" y="18"/>
                  </a:lnTo>
                  <a:lnTo>
                    <a:pt x="18" y="36"/>
                  </a:lnTo>
                  <a:lnTo>
                    <a:pt x="0" y="18"/>
                  </a:lnTo>
                  <a:lnTo>
                    <a:pt x="18" y="0"/>
                  </a:lnTo>
                  <a:close/>
                </a:path>
              </a:pathLst>
            </a:custGeom>
            <a:solidFill>
              <a:srgbClr val="000099"/>
            </a:solidFill>
            <a:ln w="9525">
              <a:solidFill>
                <a:srgbClr val="000099"/>
              </a:solidFill>
              <a:round/>
              <a:headEnd/>
              <a:tailEnd/>
            </a:ln>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80" name="Freeform 183">
              <a:extLst>
                <a:ext uri="{FF2B5EF4-FFF2-40B4-BE49-F238E27FC236}">
                  <a16:creationId xmlns:a16="http://schemas.microsoft.com/office/drawing/2014/main" id="{A9BE04A5-BDF6-A67E-C2AB-FF94BD08100C}"/>
                </a:ext>
              </a:extLst>
            </p:cNvPr>
            <p:cNvSpPr>
              <a:spLocks/>
            </p:cNvSpPr>
            <p:nvPr/>
          </p:nvSpPr>
          <p:spPr bwMode="auto">
            <a:xfrm>
              <a:off x="5094" y="2792"/>
              <a:ext cx="40" cy="47"/>
            </a:xfrm>
            <a:custGeom>
              <a:avLst/>
              <a:gdLst>
                <a:gd name="T0" fmla="*/ 78 w 36"/>
                <a:gd name="T1" fmla="*/ 0 h 36"/>
                <a:gd name="T2" fmla="*/ 153 w 36"/>
                <a:gd name="T3" fmla="*/ 748 h 36"/>
                <a:gd name="T4" fmla="*/ 78 w 36"/>
                <a:gd name="T5" fmla="*/ 1501 h 36"/>
                <a:gd name="T6" fmla="*/ 0 w 36"/>
                <a:gd name="T7" fmla="*/ 748 h 36"/>
                <a:gd name="T8" fmla="*/ 78 w 36"/>
                <a:gd name="T9" fmla="*/ 0 h 36"/>
                <a:gd name="T10" fmla="*/ 0 60000 65536"/>
                <a:gd name="T11" fmla="*/ 0 60000 65536"/>
                <a:gd name="T12" fmla="*/ 0 60000 65536"/>
                <a:gd name="T13" fmla="*/ 0 60000 65536"/>
                <a:gd name="T14" fmla="*/ 0 60000 65536"/>
                <a:gd name="T15" fmla="*/ 0 w 36"/>
                <a:gd name="T16" fmla="*/ 0 h 36"/>
                <a:gd name="T17" fmla="*/ 36 w 36"/>
                <a:gd name="T18" fmla="*/ 36 h 36"/>
              </a:gdLst>
              <a:ahLst/>
              <a:cxnLst>
                <a:cxn ang="T10">
                  <a:pos x="T0" y="T1"/>
                </a:cxn>
                <a:cxn ang="T11">
                  <a:pos x="T2" y="T3"/>
                </a:cxn>
                <a:cxn ang="T12">
                  <a:pos x="T4" y="T5"/>
                </a:cxn>
                <a:cxn ang="T13">
                  <a:pos x="T6" y="T7"/>
                </a:cxn>
                <a:cxn ang="T14">
                  <a:pos x="T8" y="T9"/>
                </a:cxn>
              </a:cxnLst>
              <a:rect l="T15" t="T16" r="T17" b="T18"/>
              <a:pathLst>
                <a:path w="36" h="36">
                  <a:moveTo>
                    <a:pt x="18" y="0"/>
                  </a:moveTo>
                  <a:lnTo>
                    <a:pt x="36" y="18"/>
                  </a:lnTo>
                  <a:lnTo>
                    <a:pt x="18" y="36"/>
                  </a:lnTo>
                  <a:lnTo>
                    <a:pt x="0" y="18"/>
                  </a:lnTo>
                  <a:lnTo>
                    <a:pt x="18" y="0"/>
                  </a:lnTo>
                  <a:close/>
                </a:path>
              </a:pathLst>
            </a:custGeom>
            <a:solidFill>
              <a:srgbClr val="000099"/>
            </a:solidFill>
            <a:ln w="9525">
              <a:solidFill>
                <a:srgbClr val="000099"/>
              </a:solidFill>
              <a:round/>
              <a:headEnd/>
              <a:tailEnd/>
            </a:ln>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81" name="Freeform 184">
              <a:extLst>
                <a:ext uri="{FF2B5EF4-FFF2-40B4-BE49-F238E27FC236}">
                  <a16:creationId xmlns:a16="http://schemas.microsoft.com/office/drawing/2014/main" id="{426823DB-B810-1A8B-F199-1268BBB788CF}"/>
                </a:ext>
              </a:extLst>
            </p:cNvPr>
            <p:cNvSpPr>
              <a:spLocks/>
            </p:cNvSpPr>
            <p:nvPr/>
          </p:nvSpPr>
          <p:spPr bwMode="auto">
            <a:xfrm>
              <a:off x="5235" y="2816"/>
              <a:ext cx="40" cy="47"/>
            </a:xfrm>
            <a:custGeom>
              <a:avLst/>
              <a:gdLst>
                <a:gd name="T0" fmla="*/ 78 w 36"/>
                <a:gd name="T1" fmla="*/ 0 h 36"/>
                <a:gd name="T2" fmla="*/ 153 w 36"/>
                <a:gd name="T3" fmla="*/ 748 h 36"/>
                <a:gd name="T4" fmla="*/ 78 w 36"/>
                <a:gd name="T5" fmla="*/ 1501 h 36"/>
                <a:gd name="T6" fmla="*/ 0 w 36"/>
                <a:gd name="T7" fmla="*/ 748 h 36"/>
                <a:gd name="T8" fmla="*/ 78 w 36"/>
                <a:gd name="T9" fmla="*/ 0 h 36"/>
                <a:gd name="T10" fmla="*/ 0 60000 65536"/>
                <a:gd name="T11" fmla="*/ 0 60000 65536"/>
                <a:gd name="T12" fmla="*/ 0 60000 65536"/>
                <a:gd name="T13" fmla="*/ 0 60000 65536"/>
                <a:gd name="T14" fmla="*/ 0 60000 65536"/>
                <a:gd name="T15" fmla="*/ 0 w 36"/>
                <a:gd name="T16" fmla="*/ 0 h 36"/>
                <a:gd name="T17" fmla="*/ 36 w 36"/>
                <a:gd name="T18" fmla="*/ 36 h 36"/>
              </a:gdLst>
              <a:ahLst/>
              <a:cxnLst>
                <a:cxn ang="T10">
                  <a:pos x="T0" y="T1"/>
                </a:cxn>
                <a:cxn ang="T11">
                  <a:pos x="T2" y="T3"/>
                </a:cxn>
                <a:cxn ang="T12">
                  <a:pos x="T4" y="T5"/>
                </a:cxn>
                <a:cxn ang="T13">
                  <a:pos x="T6" y="T7"/>
                </a:cxn>
                <a:cxn ang="T14">
                  <a:pos x="T8" y="T9"/>
                </a:cxn>
              </a:cxnLst>
              <a:rect l="T15" t="T16" r="T17" b="T18"/>
              <a:pathLst>
                <a:path w="36" h="36">
                  <a:moveTo>
                    <a:pt x="18" y="0"/>
                  </a:moveTo>
                  <a:lnTo>
                    <a:pt x="36" y="18"/>
                  </a:lnTo>
                  <a:lnTo>
                    <a:pt x="18" y="36"/>
                  </a:lnTo>
                  <a:lnTo>
                    <a:pt x="0" y="18"/>
                  </a:lnTo>
                  <a:lnTo>
                    <a:pt x="18" y="0"/>
                  </a:lnTo>
                  <a:close/>
                </a:path>
              </a:pathLst>
            </a:custGeom>
            <a:solidFill>
              <a:srgbClr val="000099"/>
            </a:solidFill>
            <a:ln w="9525">
              <a:solidFill>
                <a:srgbClr val="000099"/>
              </a:solidFill>
              <a:round/>
              <a:headEnd/>
              <a:tailEnd/>
            </a:ln>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267382" name="Freeform 185">
              <a:extLst>
                <a:ext uri="{FF2B5EF4-FFF2-40B4-BE49-F238E27FC236}">
                  <a16:creationId xmlns:a16="http://schemas.microsoft.com/office/drawing/2014/main" id="{1CC91D4A-9F12-A0DB-EDDD-E8644A134C72}"/>
                </a:ext>
              </a:extLst>
            </p:cNvPr>
            <p:cNvSpPr>
              <a:spLocks/>
            </p:cNvSpPr>
            <p:nvPr/>
          </p:nvSpPr>
          <p:spPr bwMode="auto">
            <a:xfrm>
              <a:off x="5367" y="2832"/>
              <a:ext cx="40" cy="47"/>
            </a:xfrm>
            <a:custGeom>
              <a:avLst/>
              <a:gdLst>
                <a:gd name="T0" fmla="*/ 78 w 36"/>
                <a:gd name="T1" fmla="*/ 0 h 36"/>
                <a:gd name="T2" fmla="*/ 153 w 36"/>
                <a:gd name="T3" fmla="*/ 748 h 36"/>
                <a:gd name="T4" fmla="*/ 78 w 36"/>
                <a:gd name="T5" fmla="*/ 1501 h 36"/>
                <a:gd name="T6" fmla="*/ 0 w 36"/>
                <a:gd name="T7" fmla="*/ 748 h 36"/>
                <a:gd name="T8" fmla="*/ 78 w 36"/>
                <a:gd name="T9" fmla="*/ 0 h 36"/>
                <a:gd name="T10" fmla="*/ 0 60000 65536"/>
                <a:gd name="T11" fmla="*/ 0 60000 65536"/>
                <a:gd name="T12" fmla="*/ 0 60000 65536"/>
                <a:gd name="T13" fmla="*/ 0 60000 65536"/>
                <a:gd name="T14" fmla="*/ 0 60000 65536"/>
                <a:gd name="T15" fmla="*/ 0 w 36"/>
                <a:gd name="T16" fmla="*/ 0 h 36"/>
                <a:gd name="T17" fmla="*/ 36 w 36"/>
                <a:gd name="T18" fmla="*/ 36 h 36"/>
              </a:gdLst>
              <a:ahLst/>
              <a:cxnLst>
                <a:cxn ang="T10">
                  <a:pos x="T0" y="T1"/>
                </a:cxn>
                <a:cxn ang="T11">
                  <a:pos x="T2" y="T3"/>
                </a:cxn>
                <a:cxn ang="T12">
                  <a:pos x="T4" y="T5"/>
                </a:cxn>
                <a:cxn ang="T13">
                  <a:pos x="T6" y="T7"/>
                </a:cxn>
                <a:cxn ang="T14">
                  <a:pos x="T8" y="T9"/>
                </a:cxn>
              </a:cxnLst>
              <a:rect l="T15" t="T16" r="T17" b="T18"/>
              <a:pathLst>
                <a:path w="36" h="36">
                  <a:moveTo>
                    <a:pt x="18" y="0"/>
                  </a:moveTo>
                  <a:lnTo>
                    <a:pt x="36" y="18"/>
                  </a:lnTo>
                  <a:lnTo>
                    <a:pt x="18" y="36"/>
                  </a:lnTo>
                  <a:lnTo>
                    <a:pt x="0" y="18"/>
                  </a:lnTo>
                  <a:lnTo>
                    <a:pt x="18" y="0"/>
                  </a:lnTo>
                  <a:close/>
                </a:path>
              </a:pathLst>
            </a:custGeom>
            <a:solidFill>
              <a:srgbClr val="000099"/>
            </a:solidFill>
            <a:ln w="9525">
              <a:solidFill>
                <a:srgbClr val="000099"/>
              </a:solidFill>
              <a:round/>
              <a:headEnd/>
              <a:tailEnd/>
            </a:ln>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grpSp>
      <p:sp>
        <p:nvSpPr>
          <p:cNvPr id="346298" name="Rectangle 186">
            <a:extLst>
              <a:ext uri="{FF2B5EF4-FFF2-40B4-BE49-F238E27FC236}">
                <a16:creationId xmlns:a16="http://schemas.microsoft.com/office/drawing/2014/main" id="{8EFC79B5-D057-C2AB-DAD1-C827D826DB71}"/>
              </a:ext>
            </a:extLst>
          </p:cNvPr>
          <p:cNvSpPr>
            <a:spLocks noChangeArrowheads="1"/>
          </p:cNvSpPr>
          <p:nvPr/>
        </p:nvSpPr>
        <p:spPr bwMode="auto">
          <a:xfrm>
            <a:off x="2020889" y="5508625"/>
            <a:ext cx="193912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87425">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ＭＳ Ｐゴシック" panose="020B0600070205080204" pitchFamily="34" charset="-128"/>
              </a:defRPr>
            </a:lvl1pPr>
            <a:lvl2pPr marL="37931725" indent="-37474525" defTabSz="98742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ＭＳ Ｐゴシック" panose="020B0600070205080204" pitchFamily="34" charset="-128"/>
              </a:defRPr>
            </a:lvl2pPr>
            <a:lvl3pPr marL="1143000" indent="-228600" defTabSz="987425">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ＭＳ Ｐゴシック" panose="020B0600070205080204" pitchFamily="34" charset="-128"/>
              </a:defRPr>
            </a:lvl3pPr>
            <a:lvl4pPr marL="1600200" indent="-228600" defTabSz="987425">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ＭＳ Ｐゴシック" panose="020B0600070205080204" pitchFamily="34" charset="-128"/>
              </a:defRPr>
            </a:lvl4pPr>
            <a:lvl5pPr marL="2057400" indent="-228600" defTabSz="987425">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5pPr>
            <a:lvl6pPr marL="25146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6pPr>
            <a:lvl7pPr marL="29718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7pPr>
            <a:lvl8pPr marL="34290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8pPr>
            <a:lvl9pPr marL="3886200" indent="-228600" defTabSz="987425"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ＭＳ Ｐゴシック" panose="020B0600070205080204" pitchFamily="34" charset="-128"/>
              </a:defRPr>
            </a:lvl9pPr>
          </a:lstStyle>
          <a:p>
            <a:pPr fontAlgn="base">
              <a:spcBef>
                <a:spcPct val="0"/>
              </a:spcBef>
              <a:spcAft>
                <a:spcPct val="0"/>
              </a:spcAft>
              <a:buClrTx/>
              <a:buSzTx/>
              <a:buNone/>
            </a:pPr>
            <a:r>
              <a:rPr lang="en-US" altLang="en-US" sz="2200" b="1">
                <a:solidFill>
                  <a:prstClr val="black"/>
                </a:solidFill>
                <a:latin typeface="Times New Roman" panose="02020603050405020304" pitchFamily="18" charset="0"/>
              </a:rPr>
              <a:t>Cross-over Rate</a:t>
            </a:r>
            <a:endParaRPr lang="en-US" altLang="en-US" sz="2200">
              <a:solidFill>
                <a:prstClr val="black"/>
              </a:solidFill>
              <a:latin typeface="Times New Roman" panose="02020603050405020304" pitchFamily="18" charset="0"/>
            </a:endParaRPr>
          </a:p>
        </p:txBody>
      </p:sp>
      <p:sp>
        <p:nvSpPr>
          <p:cNvPr id="346299" name="Arc 187">
            <a:extLst>
              <a:ext uri="{FF2B5EF4-FFF2-40B4-BE49-F238E27FC236}">
                <a16:creationId xmlns:a16="http://schemas.microsoft.com/office/drawing/2014/main" id="{291C7947-7E77-DA9E-77E5-2692F0D6C6E2}"/>
              </a:ext>
            </a:extLst>
          </p:cNvPr>
          <p:cNvSpPr>
            <a:spLocks/>
          </p:cNvSpPr>
          <p:nvPr/>
        </p:nvSpPr>
        <p:spPr bwMode="auto">
          <a:xfrm flipV="1">
            <a:off x="4078288" y="3451225"/>
            <a:ext cx="762000" cy="2171700"/>
          </a:xfrm>
          <a:custGeom>
            <a:avLst/>
            <a:gdLst>
              <a:gd name="T0" fmla="*/ 0 w 21600"/>
              <a:gd name="T1" fmla="*/ 0 h 24627"/>
              <a:gd name="T2" fmla="*/ 2147483646 w 21600"/>
              <a:gd name="T3" fmla="*/ 2147483646 h 24627"/>
              <a:gd name="T4" fmla="*/ 0 w 21600"/>
              <a:gd name="T5" fmla="*/ 2147483646 h 24627"/>
              <a:gd name="T6" fmla="*/ 0 60000 65536"/>
              <a:gd name="T7" fmla="*/ 0 60000 65536"/>
              <a:gd name="T8" fmla="*/ 0 60000 65536"/>
              <a:gd name="T9" fmla="*/ 0 w 21600"/>
              <a:gd name="T10" fmla="*/ 0 h 24627"/>
              <a:gd name="T11" fmla="*/ 21600 w 21600"/>
              <a:gd name="T12" fmla="*/ 24627 h 24627"/>
            </a:gdLst>
            <a:ahLst/>
            <a:cxnLst>
              <a:cxn ang="T6">
                <a:pos x="T0" y="T1"/>
              </a:cxn>
              <a:cxn ang="T7">
                <a:pos x="T2" y="T3"/>
              </a:cxn>
              <a:cxn ang="T8">
                <a:pos x="T4" y="T5"/>
              </a:cxn>
            </a:cxnLst>
            <a:rect l="T9" t="T10" r="T11" b="T12"/>
            <a:pathLst>
              <a:path w="21600" h="24627" fill="none" extrusionOk="0">
                <a:moveTo>
                  <a:pt x="-1" y="0"/>
                </a:moveTo>
                <a:cubicBezTo>
                  <a:pt x="11929" y="0"/>
                  <a:pt x="21600" y="9670"/>
                  <a:pt x="21600" y="21600"/>
                </a:cubicBezTo>
                <a:cubicBezTo>
                  <a:pt x="21600" y="22612"/>
                  <a:pt x="21528" y="23624"/>
                  <a:pt x="21386" y="24626"/>
                </a:cubicBezTo>
              </a:path>
              <a:path w="21600" h="24627" stroke="0" extrusionOk="0">
                <a:moveTo>
                  <a:pt x="-1" y="0"/>
                </a:moveTo>
                <a:cubicBezTo>
                  <a:pt x="11929" y="0"/>
                  <a:pt x="21600" y="9670"/>
                  <a:pt x="21600" y="21600"/>
                </a:cubicBezTo>
                <a:cubicBezTo>
                  <a:pt x="21600" y="22612"/>
                  <a:pt x="21528" y="23624"/>
                  <a:pt x="21386" y="24626"/>
                </a:cubicBezTo>
                <a:lnTo>
                  <a:pt x="0" y="21600"/>
                </a:lnTo>
                <a:lnTo>
                  <a:pt x="-1" y="0"/>
                </a:lnTo>
                <a:close/>
              </a:path>
            </a:pathLst>
          </a:custGeom>
          <a:noFill/>
          <a:ln w="38100">
            <a:solidFill>
              <a:srgbClr val="800000"/>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346300" name="Line 188">
            <a:extLst>
              <a:ext uri="{FF2B5EF4-FFF2-40B4-BE49-F238E27FC236}">
                <a16:creationId xmlns:a16="http://schemas.microsoft.com/office/drawing/2014/main" id="{B139B16A-8A0E-753A-E715-532DA5A297BA}"/>
              </a:ext>
            </a:extLst>
          </p:cNvPr>
          <p:cNvSpPr>
            <a:spLocks noChangeShapeType="1"/>
          </p:cNvSpPr>
          <p:nvPr/>
        </p:nvSpPr>
        <p:spPr bwMode="auto">
          <a:xfrm>
            <a:off x="7277100" y="2338389"/>
            <a:ext cx="1588" cy="133667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up)">
                                      <p:cBhvr>
                                        <p:cTn id="16" dur="500"/>
                                        <p:tgtEl>
                                          <p:spTgt spid="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grpId="0" nodeType="clickEffect" nodePh="1">
                                  <p:stCondLst>
                                    <p:cond delay="0"/>
                                  </p:stCondLst>
                                  <p:endCondLst>
                                    <p:cond evt="begin" delay="0">
                                      <p:tn val="19"/>
                                    </p:cond>
                                  </p:endCondLst>
                                  <p:childTnLst>
                                    <p:set>
                                      <p:cBhvr>
                                        <p:cTn id="20" dur="1" fill="hold">
                                          <p:stCondLst>
                                            <p:cond delay="0"/>
                                          </p:stCondLst>
                                        </p:cTn>
                                        <p:tgtEl>
                                          <p:spTgt spid="346179"/>
                                        </p:tgtEl>
                                        <p:attrNameLst>
                                          <p:attrName>style.visibility</p:attrName>
                                        </p:attrNameLst>
                                      </p:cBhvr>
                                      <p:to>
                                        <p:strVal val="visible"/>
                                      </p:to>
                                    </p:set>
                                    <p:animEffect transition="in" filter="wipe(up)">
                                      <p:cBhvr>
                                        <p:cTn id="21" dur="500"/>
                                        <p:tgtEl>
                                          <p:spTgt spid="346179"/>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346181"/>
                                        </p:tgtEl>
                                        <p:attrNameLst>
                                          <p:attrName>style.visibility</p:attrName>
                                        </p:attrNameLst>
                                      </p:cBhvr>
                                      <p:to>
                                        <p:strVal val="visible"/>
                                      </p:to>
                                    </p:set>
                                    <p:animEffect transition="in" filter="wipe(up)">
                                      <p:cBhvr>
                                        <p:cTn id="24" dur="500"/>
                                        <p:tgtEl>
                                          <p:spTgt spid="346181"/>
                                        </p:tgtEl>
                                      </p:cBhvr>
                                    </p:animEffect>
                                  </p:childTnLst>
                                </p:cTn>
                              </p:par>
                              <p:par>
                                <p:cTn id="25" presetID="22" presetClass="entr" presetSubtype="1" fill="hold" nodeType="withEffect">
                                  <p:stCondLst>
                                    <p:cond delay="0"/>
                                  </p:stCondLst>
                                  <p:childTnLst>
                                    <p:set>
                                      <p:cBhvr>
                                        <p:cTn id="26" dur="1" fill="hold">
                                          <p:stCondLst>
                                            <p:cond delay="0"/>
                                          </p:stCondLst>
                                        </p:cTn>
                                        <p:tgtEl>
                                          <p:spTgt spid="346300"/>
                                        </p:tgtEl>
                                        <p:attrNameLst>
                                          <p:attrName>style.visibility</p:attrName>
                                        </p:attrNameLst>
                                      </p:cBhvr>
                                      <p:to>
                                        <p:strVal val="visible"/>
                                      </p:to>
                                    </p:set>
                                    <p:animEffect transition="in" filter="wipe(up)">
                                      <p:cBhvr>
                                        <p:cTn id="27" dur="500"/>
                                        <p:tgtEl>
                                          <p:spTgt spid="34630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left)">
                                      <p:cBhvr>
                                        <p:cTn id="36" dur="500"/>
                                        <p:tgtEl>
                                          <p:spTgt spid="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wipe(up)">
                                      <p:cBhvr>
                                        <p:cTn id="41" dur="500"/>
                                        <p:tgtEl>
                                          <p:spTgt spid="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346298"/>
                                        </p:tgtEl>
                                        <p:attrNameLst>
                                          <p:attrName>style.visibility</p:attrName>
                                        </p:attrNameLst>
                                      </p:cBhvr>
                                      <p:to>
                                        <p:strVal val="visible"/>
                                      </p:to>
                                    </p:set>
                                  </p:childTnLst>
                                </p:cTn>
                              </p:par>
                              <p:par>
                                <p:cTn id="46" presetID="22" presetClass="entr" presetSubtype="4" fill="hold" nodeType="withEffect">
                                  <p:stCondLst>
                                    <p:cond delay="0"/>
                                  </p:stCondLst>
                                  <p:childTnLst>
                                    <p:set>
                                      <p:cBhvr>
                                        <p:cTn id="47" dur="1" fill="hold">
                                          <p:stCondLst>
                                            <p:cond delay="0"/>
                                          </p:stCondLst>
                                        </p:cTn>
                                        <p:tgtEl>
                                          <p:spTgt spid="346299"/>
                                        </p:tgtEl>
                                        <p:attrNameLst>
                                          <p:attrName>style.visibility</p:attrName>
                                        </p:attrNameLst>
                                      </p:cBhvr>
                                      <p:to>
                                        <p:strVal val="visible"/>
                                      </p:to>
                                    </p:set>
                                    <p:animEffect transition="in" filter="wipe(down)">
                                      <p:cBhvr>
                                        <p:cTn id="48" dur="500"/>
                                        <p:tgtEl>
                                          <p:spTgt spid="3462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6179" grpId="0" animBg="1"/>
      <p:bldP spid="346181" grpId="0"/>
      <p:bldP spid="346298"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9" name="Rectangle 3">
            <a:extLst>
              <a:ext uri="{FF2B5EF4-FFF2-40B4-BE49-F238E27FC236}">
                <a16:creationId xmlns:a16="http://schemas.microsoft.com/office/drawing/2014/main" id="{B1248AA8-C1CE-7234-018E-1933155FE7DD}"/>
              </a:ext>
            </a:extLst>
          </p:cNvPr>
          <p:cNvSpPr>
            <a:spLocks noGrp="1"/>
          </p:cNvSpPr>
          <p:nvPr>
            <p:ph idx="1"/>
          </p:nvPr>
        </p:nvSpPr>
        <p:spPr/>
        <p:txBody>
          <a:bodyPr/>
          <a:lstStyle/>
          <a:p>
            <a:pPr marL="342900" indent="-342900" eaLnBrk="1" hangingPunct="1">
              <a:lnSpc>
                <a:spcPct val="80000"/>
              </a:lnSpc>
            </a:pPr>
            <a:r>
              <a:rPr lang="en-US" altLang="en-US" sz="2000">
                <a:latin typeface="Times New Roman" panose="02020603050405020304" pitchFamily="18" charset="0"/>
                <a:ea typeface="ＭＳ Ｐゴシック" panose="020B0600070205080204" pitchFamily="34" charset="-128"/>
              </a:rPr>
              <a:t>Net present value</a:t>
            </a:r>
          </a:p>
          <a:p>
            <a:pPr marL="742950" lvl="1" indent="-285750" eaLnBrk="1" hangingPunct="1">
              <a:lnSpc>
                <a:spcPct val="80000"/>
              </a:lnSpc>
            </a:pPr>
            <a:r>
              <a:rPr lang="en-US" altLang="en-US" sz="1800">
                <a:latin typeface="Times New Roman" panose="02020603050405020304" pitchFamily="18" charset="0"/>
                <a:ea typeface="ＭＳ Ｐゴシック" panose="020B0600070205080204" pitchFamily="34" charset="-128"/>
              </a:rPr>
              <a:t>Difference between market value and cost</a:t>
            </a:r>
          </a:p>
          <a:p>
            <a:pPr marL="742950" lvl="1" indent="-285750" eaLnBrk="1" hangingPunct="1">
              <a:lnSpc>
                <a:spcPct val="80000"/>
              </a:lnSpc>
            </a:pPr>
            <a:r>
              <a:rPr lang="en-US" altLang="en-US" sz="1800">
                <a:latin typeface="Times New Roman" panose="02020603050405020304" pitchFamily="18" charset="0"/>
                <a:ea typeface="ＭＳ Ｐゴシック" panose="020B0600070205080204" pitchFamily="34" charset="-128"/>
              </a:rPr>
              <a:t>Accept the project if the NPV is positive</a:t>
            </a:r>
          </a:p>
          <a:p>
            <a:pPr marL="742950" lvl="1" indent="-285750" eaLnBrk="1" hangingPunct="1">
              <a:lnSpc>
                <a:spcPct val="80000"/>
              </a:lnSpc>
            </a:pPr>
            <a:r>
              <a:rPr lang="en-US" altLang="en-US" sz="1800">
                <a:latin typeface="Times New Roman" panose="02020603050405020304" pitchFamily="18" charset="0"/>
                <a:ea typeface="ＭＳ Ｐゴシック" panose="020B0600070205080204" pitchFamily="34" charset="-128"/>
              </a:rPr>
              <a:t>Has no serious problems</a:t>
            </a:r>
          </a:p>
          <a:p>
            <a:pPr marL="742950" lvl="1" indent="-285750" eaLnBrk="1" hangingPunct="1">
              <a:lnSpc>
                <a:spcPct val="80000"/>
              </a:lnSpc>
            </a:pPr>
            <a:r>
              <a:rPr lang="en-US" altLang="en-US" sz="1800">
                <a:latin typeface="Times New Roman" panose="02020603050405020304" pitchFamily="18" charset="0"/>
                <a:ea typeface="ＭＳ Ｐゴシック" panose="020B0600070205080204" pitchFamily="34" charset="-128"/>
              </a:rPr>
              <a:t>Preferred decision criterion</a:t>
            </a:r>
          </a:p>
          <a:p>
            <a:pPr marL="342900" indent="-342900" eaLnBrk="1" hangingPunct="1">
              <a:lnSpc>
                <a:spcPct val="80000"/>
              </a:lnSpc>
            </a:pPr>
            <a:r>
              <a:rPr lang="en-US" altLang="en-US" sz="2000">
                <a:latin typeface="Times New Roman" panose="02020603050405020304" pitchFamily="18" charset="0"/>
                <a:ea typeface="ＭＳ Ｐゴシック" panose="020B0600070205080204" pitchFamily="34" charset="-128"/>
              </a:rPr>
              <a:t>Internal rate of return</a:t>
            </a:r>
          </a:p>
          <a:p>
            <a:pPr marL="742950" lvl="1" indent="-285750" eaLnBrk="1" hangingPunct="1">
              <a:lnSpc>
                <a:spcPct val="80000"/>
              </a:lnSpc>
            </a:pPr>
            <a:r>
              <a:rPr lang="en-US" altLang="en-US" sz="1800">
                <a:latin typeface="Times New Roman" panose="02020603050405020304" pitchFamily="18" charset="0"/>
                <a:ea typeface="ＭＳ Ｐゴシック" panose="020B0600070205080204" pitchFamily="34" charset="-128"/>
              </a:rPr>
              <a:t>Discount rate that makes NPV = 0</a:t>
            </a:r>
          </a:p>
          <a:p>
            <a:pPr marL="742950" lvl="1" indent="-285750" eaLnBrk="1" hangingPunct="1">
              <a:lnSpc>
                <a:spcPct val="80000"/>
              </a:lnSpc>
            </a:pPr>
            <a:r>
              <a:rPr lang="en-US" altLang="en-US" sz="1800">
                <a:latin typeface="Times New Roman" panose="02020603050405020304" pitchFamily="18" charset="0"/>
                <a:ea typeface="ＭＳ Ｐゴシック" panose="020B0600070205080204" pitchFamily="34" charset="-128"/>
              </a:rPr>
              <a:t>Take the project if the IRR is greater than the required return</a:t>
            </a:r>
          </a:p>
          <a:p>
            <a:pPr marL="742950" lvl="1" indent="-285750" eaLnBrk="1" hangingPunct="1">
              <a:lnSpc>
                <a:spcPct val="80000"/>
              </a:lnSpc>
            </a:pPr>
            <a:r>
              <a:rPr lang="en-US" altLang="en-US" sz="1800">
                <a:latin typeface="Times New Roman" panose="02020603050405020304" pitchFamily="18" charset="0"/>
                <a:ea typeface="ＭＳ Ｐゴシック" panose="020B0600070205080204" pitchFamily="34" charset="-128"/>
              </a:rPr>
              <a:t>Same decision as NPV with conventional cash flows</a:t>
            </a:r>
          </a:p>
          <a:p>
            <a:pPr marL="742950" lvl="1" indent="-285750" eaLnBrk="1" hangingPunct="1">
              <a:lnSpc>
                <a:spcPct val="80000"/>
              </a:lnSpc>
            </a:pPr>
            <a:r>
              <a:rPr lang="en-US" altLang="en-US" sz="1800">
                <a:latin typeface="Times New Roman" panose="02020603050405020304" pitchFamily="18" charset="0"/>
                <a:ea typeface="ＭＳ Ｐゴシック" panose="020B0600070205080204" pitchFamily="34" charset="-128"/>
              </a:rPr>
              <a:t>IRR is unreliable with non-conventional cash flows or mutually exclusive projects</a:t>
            </a:r>
          </a:p>
          <a:p>
            <a:pPr marL="342900" indent="-342900" eaLnBrk="1" hangingPunct="1">
              <a:lnSpc>
                <a:spcPct val="80000"/>
              </a:lnSpc>
            </a:pPr>
            <a:r>
              <a:rPr lang="en-US" altLang="en-US" sz="2000">
                <a:latin typeface="Times New Roman" panose="02020603050405020304" pitchFamily="18" charset="0"/>
                <a:ea typeface="ＭＳ Ｐゴシック" panose="020B0600070205080204" pitchFamily="34" charset="-128"/>
              </a:rPr>
              <a:t>Profitability Index</a:t>
            </a:r>
          </a:p>
          <a:p>
            <a:pPr marL="742950" lvl="1" indent="-285750" eaLnBrk="1" hangingPunct="1">
              <a:lnSpc>
                <a:spcPct val="80000"/>
              </a:lnSpc>
            </a:pPr>
            <a:r>
              <a:rPr lang="en-US" altLang="en-US" sz="1800">
                <a:latin typeface="Times New Roman" panose="02020603050405020304" pitchFamily="18" charset="0"/>
                <a:ea typeface="ＭＳ Ｐゴシック" panose="020B0600070205080204" pitchFamily="34" charset="-128"/>
              </a:rPr>
              <a:t>Benefit-cost ratio</a:t>
            </a:r>
          </a:p>
          <a:p>
            <a:pPr marL="742950" lvl="1" indent="-285750" eaLnBrk="1" hangingPunct="1">
              <a:lnSpc>
                <a:spcPct val="80000"/>
              </a:lnSpc>
            </a:pPr>
            <a:r>
              <a:rPr lang="en-US" altLang="en-US" sz="1800">
                <a:latin typeface="Times New Roman" panose="02020603050405020304" pitchFamily="18" charset="0"/>
                <a:ea typeface="ＭＳ Ｐゴシック" panose="020B0600070205080204" pitchFamily="34" charset="-128"/>
              </a:rPr>
              <a:t>Take investment if PI &gt; 1</a:t>
            </a:r>
          </a:p>
          <a:p>
            <a:pPr marL="742950" lvl="1" indent="-285750" eaLnBrk="1" hangingPunct="1">
              <a:lnSpc>
                <a:spcPct val="80000"/>
              </a:lnSpc>
            </a:pPr>
            <a:r>
              <a:rPr lang="en-US" altLang="en-US" sz="1800">
                <a:latin typeface="Times New Roman" panose="02020603050405020304" pitchFamily="18" charset="0"/>
                <a:ea typeface="ＭＳ Ｐゴシック" panose="020B0600070205080204" pitchFamily="34" charset="-128"/>
              </a:rPr>
              <a:t>Cannot be used to rank mutually exclusive projects</a:t>
            </a:r>
          </a:p>
          <a:p>
            <a:pPr marL="742950" lvl="1" indent="-285750" eaLnBrk="1" hangingPunct="1">
              <a:lnSpc>
                <a:spcPct val="80000"/>
              </a:lnSpc>
            </a:pPr>
            <a:r>
              <a:rPr lang="en-US" altLang="en-US" sz="1800">
                <a:latin typeface="Times New Roman" panose="02020603050405020304" pitchFamily="18" charset="0"/>
                <a:ea typeface="ＭＳ Ｐゴシック" panose="020B0600070205080204" pitchFamily="34" charset="-128"/>
              </a:rPr>
              <a:t>May be used to rank projects in the presence of capital rationing</a:t>
            </a:r>
          </a:p>
        </p:txBody>
      </p:sp>
      <p:sp>
        <p:nvSpPr>
          <p:cNvPr id="68610" name="Rectangle 2">
            <a:extLst>
              <a:ext uri="{FF2B5EF4-FFF2-40B4-BE49-F238E27FC236}">
                <a16:creationId xmlns:a16="http://schemas.microsoft.com/office/drawing/2014/main" id="{86E438AE-BF6D-3897-4A8C-05357F0ABBA9}"/>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Summary – Discounted Cash Flow</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62499">
                                            <p:txEl>
                                              <p:pRg st="0" end="0"/>
                                            </p:txEl>
                                          </p:spTgt>
                                        </p:tgtEl>
                                        <p:attrNameLst>
                                          <p:attrName>style.visibility</p:attrName>
                                        </p:attrNameLst>
                                      </p:cBhvr>
                                      <p:to>
                                        <p:strVal val="visible"/>
                                      </p:to>
                                    </p:set>
                                    <p:animEffect transition="in" filter="fade">
                                      <p:cBhvr>
                                        <p:cTn id="7" dur="1000"/>
                                        <p:tgtEl>
                                          <p:spTgt spid="362499">
                                            <p:txEl>
                                              <p:pRg st="0" end="0"/>
                                            </p:txEl>
                                          </p:spTgt>
                                        </p:tgtEl>
                                      </p:cBhvr>
                                    </p:animEffect>
                                    <p:anim calcmode="lin" valueType="num">
                                      <p:cBhvr>
                                        <p:cTn id="8" dur="1000" fill="hold"/>
                                        <p:tgtEl>
                                          <p:spTgt spid="36249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62499">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62499">
                                            <p:txEl>
                                              <p:pRg st="1" end="1"/>
                                            </p:txEl>
                                          </p:spTgt>
                                        </p:tgtEl>
                                        <p:attrNameLst>
                                          <p:attrName>style.visibility</p:attrName>
                                        </p:attrNameLst>
                                      </p:cBhvr>
                                      <p:to>
                                        <p:strVal val="visible"/>
                                      </p:to>
                                    </p:set>
                                    <p:animEffect transition="in" filter="fade">
                                      <p:cBhvr>
                                        <p:cTn id="12" dur="1000"/>
                                        <p:tgtEl>
                                          <p:spTgt spid="362499">
                                            <p:txEl>
                                              <p:pRg st="1" end="1"/>
                                            </p:txEl>
                                          </p:spTgt>
                                        </p:tgtEl>
                                      </p:cBhvr>
                                    </p:animEffect>
                                    <p:anim calcmode="lin" valueType="num">
                                      <p:cBhvr>
                                        <p:cTn id="13" dur="1000" fill="hold"/>
                                        <p:tgtEl>
                                          <p:spTgt spid="362499">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62499">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62499">
                                            <p:txEl>
                                              <p:pRg st="2" end="2"/>
                                            </p:txEl>
                                          </p:spTgt>
                                        </p:tgtEl>
                                        <p:attrNameLst>
                                          <p:attrName>style.visibility</p:attrName>
                                        </p:attrNameLst>
                                      </p:cBhvr>
                                      <p:to>
                                        <p:strVal val="visible"/>
                                      </p:to>
                                    </p:set>
                                    <p:animEffect transition="in" filter="fade">
                                      <p:cBhvr>
                                        <p:cTn id="17" dur="1000"/>
                                        <p:tgtEl>
                                          <p:spTgt spid="362499">
                                            <p:txEl>
                                              <p:pRg st="2" end="2"/>
                                            </p:txEl>
                                          </p:spTgt>
                                        </p:tgtEl>
                                      </p:cBhvr>
                                    </p:animEffect>
                                    <p:anim calcmode="lin" valueType="num">
                                      <p:cBhvr>
                                        <p:cTn id="18" dur="1000" fill="hold"/>
                                        <p:tgtEl>
                                          <p:spTgt spid="362499">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62499">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62499">
                                            <p:txEl>
                                              <p:pRg st="3" end="3"/>
                                            </p:txEl>
                                          </p:spTgt>
                                        </p:tgtEl>
                                        <p:attrNameLst>
                                          <p:attrName>style.visibility</p:attrName>
                                        </p:attrNameLst>
                                      </p:cBhvr>
                                      <p:to>
                                        <p:strVal val="visible"/>
                                      </p:to>
                                    </p:set>
                                    <p:animEffect transition="in" filter="fade">
                                      <p:cBhvr>
                                        <p:cTn id="22" dur="1000"/>
                                        <p:tgtEl>
                                          <p:spTgt spid="362499">
                                            <p:txEl>
                                              <p:pRg st="3" end="3"/>
                                            </p:txEl>
                                          </p:spTgt>
                                        </p:tgtEl>
                                      </p:cBhvr>
                                    </p:animEffect>
                                    <p:anim calcmode="lin" valueType="num">
                                      <p:cBhvr>
                                        <p:cTn id="23" dur="1000" fill="hold"/>
                                        <p:tgtEl>
                                          <p:spTgt spid="362499">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62499">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62499">
                                            <p:txEl>
                                              <p:pRg st="4" end="4"/>
                                            </p:txEl>
                                          </p:spTgt>
                                        </p:tgtEl>
                                        <p:attrNameLst>
                                          <p:attrName>style.visibility</p:attrName>
                                        </p:attrNameLst>
                                      </p:cBhvr>
                                      <p:to>
                                        <p:strVal val="visible"/>
                                      </p:to>
                                    </p:set>
                                    <p:animEffect transition="in" filter="fade">
                                      <p:cBhvr>
                                        <p:cTn id="27" dur="1000"/>
                                        <p:tgtEl>
                                          <p:spTgt spid="362499">
                                            <p:txEl>
                                              <p:pRg st="4" end="4"/>
                                            </p:txEl>
                                          </p:spTgt>
                                        </p:tgtEl>
                                      </p:cBhvr>
                                    </p:animEffect>
                                    <p:anim calcmode="lin" valueType="num">
                                      <p:cBhvr>
                                        <p:cTn id="28" dur="1000" fill="hold"/>
                                        <p:tgtEl>
                                          <p:spTgt spid="362499">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6249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42" presetClass="entr" presetSubtype="0" fill="hold" nodeType="clickEffect">
                                  <p:stCondLst>
                                    <p:cond delay="0"/>
                                  </p:stCondLst>
                                  <p:childTnLst>
                                    <p:set>
                                      <p:cBhvr>
                                        <p:cTn id="33" dur="1" fill="hold">
                                          <p:stCondLst>
                                            <p:cond delay="0"/>
                                          </p:stCondLst>
                                        </p:cTn>
                                        <p:tgtEl>
                                          <p:spTgt spid="362499">
                                            <p:txEl>
                                              <p:pRg st="5" end="5"/>
                                            </p:txEl>
                                          </p:spTgt>
                                        </p:tgtEl>
                                        <p:attrNameLst>
                                          <p:attrName>style.visibility</p:attrName>
                                        </p:attrNameLst>
                                      </p:cBhvr>
                                      <p:to>
                                        <p:strVal val="visible"/>
                                      </p:to>
                                    </p:set>
                                    <p:animEffect transition="in" filter="fade">
                                      <p:cBhvr>
                                        <p:cTn id="34" dur="1000"/>
                                        <p:tgtEl>
                                          <p:spTgt spid="362499">
                                            <p:txEl>
                                              <p:pRg st="5" end="5"/>
                                            </p:txEl>
                                          </p:spTgt>
                                        </p:tgtEl>
                                      </p:cBhvr>
                                    </p:animEffect>
                                    <p:anim calcmode="lin" valueType="num">
                                      <p:cBhvr>
                                        <p:cTn id="35" dur="1000" fill="hold"/>
                                        <p:tgtEl>
                                          <p:spTgt spid="362499">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62499">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62499">
                                            <p:txEl>
                                              <p:pRg st="6" end="6"/>
                                            </p:txEl>
                                          </p:spTgt>
                                        </p:tgtEl>
                                        <p:attrNameLst>
                                          <p:attrName>style.visibility</p:attrName>
                                        </p:attrNameLst>
                                      </p:cBhvr>
                                      <p:to>
                                        <p:strVal val="visible"/>
                                      </p:to>
                                    </p:set>
                                    <p:animEffect transition="in" filter="fade">
                                      <p:cBhvr>
                                        <p:cTn id="39" dur="1000"/>
                                        <p:tgtEl>
                                          <p:spTgt spid="362499">
                                            <p:txEl>
                                              <p:pRg st="6" end="6"/>
                                            </p:txEl>
                                          </p:spTgt>
                                        </p:tgtEl>
                                      </p:cBhvr>
                                    </p:animEffect>
                                    <p:anim calcmode="lin" valueType="num">
                                      <p:cBhvr>
                                        <p:cTn id="40" dur="1000" fill="hold"/>
                                        <p:tgtEl>
                                          <p:spTgt spid="362499">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362499">
                                            <p:txEl>
                                              <p:pRg st="6" end="6"/>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362499">
                                            <p:txEl>
                                              <p:pRg st="7" end="7"/>
                                            </p:txEl>
                                          </p:spTgt>
                                        </p:tgtEl>
                                        <p:attrNameLst>
                                          <p:attrName>style.visibility</p:attrName>
                                        </p:attrNameLst>
                                      </p:cBhvr>
                                      <p:to>
                                        <p:strVal val="visible"/>
                                      </p:to>
                                    </p:set>
                                    <p:animEffect transition="in" filter="fade">
                                      <p:cBhvr>
                                        <p:cTn id="44" dur="1000"/>
                                        <p:tgtEl>
                                          <p:spTgt spid="362499">
                                            <p:txEl>
                                              <p:pRg st="7" end="7"/>
                                            </p:txEl>
                                          </p:spTgt>
                                        </p:tgtEl>
                                      </p:cBhvr>
                                    </p:animEffect>
                                    <p:anim calcmode="lin" valueType="num">
                                      <p:cBhvr>
                                        <p:cTn id="45" dur="1000" fill="hold"/>
                                        <p:tgtEl>
                                          <p:spTgt spid="362499">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362499">
                                            <p:txEl>
                                              <p:pRg st="7" end="7"/>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362499">
                                            <p:txEl>
                                              <p:pRg st="8" end="8"/>
                                            </p:txEl>
                                          </p:spTgt>
                                        </p:tgtEl>
                                        <p:attrNameLst>
                                          <p:attrName>style.visibility</p:attrName>
                                        </p:attrNameLst>
                                      </p:cBhvr>
                                      <p:to>
                                        <p:strVal val="visible"/>
                                      </p:to>
                                    </p:set>
                                    <p:animEffect transition="in" filter="fade">
                                      <p:cBhvr>
                                        <p:cTn id="49" dur="1000"/>
                                        <p:tgtEl>
                                          <p:spTgt spid="362499">
                                            <p:txEl>
                                              <p:pRg st="8" end="8"/>
                                            </p:txEl>
                                          </p:spTgt>
                                        </p:tgtEl>
                                      </p:cBhvr>
                                    </p:animEffect>
                                    <p:anim calcmode="lin" valueType="num">
                                      <p:cBhvr>
                                        <p:cTn id="50" dur="1000" fill="hold"/>
                                        <p:tgtEl>
                                          <p:spTgt spid="362499">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362499">
                                            <p:txEl>
                                              <p:pRg st="8" end="8"/>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362499">
                                            <p:txEl>
                                              <p:pRg st="9" end="9"/>
                                            </p:txEl>
                                          </p:spTgt>
                                        </p:tgtEl>
                                        <p:attrNameLst>
                                          <p:attrName>style.visibility</p:attrName>
                                        </p:attrNameLst>
                                      </p:cBhvr>
                                      <p:to>
                                        <p:strVal val="visible"/>
                                      </p:to>
                                    </p:set>
                                    <p:animEffect transition="in" filter="fade">
                                      <p:cBhvr>
                                        <p:cTn id="54" dur="1000"/>
                                        <p:tgtEl>
                                          <p:spTgt spid="362499">
                                            <p:txEl>
                                              <p:pRg st="9" end="9"/>
                                            </p:txEl>
                                          </p:spTgt>
                                        </p:tgtEl>
                                      </p:cBhvr>
                                    </p:animEffect>
                                    <p:anim calcmode="lin" valueType="num">
                                      <p:cBhvr>
                                        <p:cTn id="55" dur="1000" fill="hold"/>
                                        <p:tgtEl>
                                          <p:spTgt spid="362499">
                                            <p:txEl>
                                              <p:pRg st="9" end="9"/>
                                            </p:txEl>
                                          </p:spTgt>
                                        </p:tgtEl>
                                        <p:attrNameLst>
                                          <p:attrName>ppt_x</p:attrName>
                                        </p:attrNameLst>
                                      </p:cBhvr>
                                      <p:tavLst>
                                        <p:tav tm="0">
                                          <p:val>
                                            <p:strVal val="#ppt_x"/>
                                          </p:val>
                                        </p:tav>
                                        <p:tav tm="100000">
                                          <p:val>
                                            <p:strVal val="#ppt_x"/>
                                          </p:val>
                                        </p:tav>
                                      </p:tavLst>
                                    </p:anim>
                                    <p:anim calcmode="lin" valueType="num">
                                      <p:cBhvr>
                                        <p:cTn id="56" dur="1000" fill="hold"/>
                                        <p:tgtEl>
                                          <p:spTgt spid="362499">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42" presetClass="entr" presetSubtype="0" fill="hold" nodeType="clickEffect">
                                  <p:stCondLst>
                                    <p:cond delay="0"/>
                                  </p:stCondLst>
                                  <p:childTnLst>
                                    <p:set>
                                      <p:cBhvr>
                                        <p:cTn id="60" dur="1" fill="hold">
                                          <p:stCondLst>
                                            <p:cond delay="0"/>
                                          </p:stCondLst>
                                        </p:cTn>
                                        <p:tgtEl>
                                          <p:spTgt spid="362499">
                                            <p:txEl>
                                              <p:pRg st="10" end="10"/>
                                            </p:txEl>
                                          </p:spTgt>
                                        </p:tgtEl>
                                        <p:attrNameLst>
                                          <p:attrName>style.visibility</p:attrName>
                                        </p:attrNameLst>
                                      </p:cBhvr>
                                      <p:to>
                                        <p:strVal val="visible"/>
                                      </p:to>
                                    </p:set>
                                    <p:animEffect transition="in" filter="fade">
                                      <p:cBhvr>
                                        <p:cTn id="61" dur="1000"/>
                                        <p:tgtEl>
                                          <p:spTgt spid="362499">
                                            <p:txEl>
                                              <p:pRg st="10" end="10"/>
                                            </p:txEl>
                                          </p:spTgt>
                                        </p:tgtEl>
                                      </p:cBhvr>
                                    </p:animEffect>
                                    <p:anim calcmode="lin" valueType="num">
                                      <p:cBhvr>
                                        <p:cTn id="62" dur="1000" fill="hold"/>
                                        <p:tgtEl>
                                          <p:spTgt spid="362499">
                                            <p:txEl>
                                              <p:pRg st="10" end="10"/>
                                            </p:txEl>
                                          </p:spTgt>
                                        </p:tgtEl>
                                        <p:attrNameLst>
                                          <p:attrName>ppt_x</p:attrName>
                                        </p:attrNameLst>
                                      </p:cBhvr>
                                      <p:tavLst>
                                        <p:tav tm="0">
                                          <p:val>
                                            <p:strVal val="#ppt_x"/>
                                          </p:val>
                                        </p:tav>
                                        <p:tav tm="100000">
                                          <p:val>
                                            <p:strVal val="#ppt_x"/>
                                          </p:val>
                                        </p:tav>
                                      </p:tavLst>
                                    </p:anim>
                                    <p:anim calcmode="lin" valueType="num">
                                      <p:cBhvr>
                                        <p:cTn id="63" dur="1000" fill="hold"/>
                                        <p:tgtEl>
                                          <p:spTgt spid="362499">
                                            <p:txEl>
                                              <p:pRg st="10" end="10"/>
                                            </p:txEl>
                                          </p:spTgt>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362499">
                                            <p:txEl>
                                              <p:pRg st="11" end="11"/>
                                            </p:txEl>
                                          </p:spTgt>
                                        </p:tgtEl>
                                        <p:attrNameLst>
                                          <p:attrName>style.visibility</p:attrName>
                                        </p:attrNameLst>
                                      </p:cBhvr>
                                      <p:to>
                                        <p:strVal val="visible"/>
                                      </p:to>
                                    </p:set>
                                    <p:animEffect transition="in" filter="fade">
                                      <p:cBhvr>
                                        <p:cTn id="66" dur="1000"/>
                                        <p:tgtEl>
                                          <p:spTgt spid="362499">
                                            <p:txEl>
                                              <p:pRg st="11" end="11"/>
                                            </p:txEl>
                                          </p:spTgt>
                                        </p:tgtEl>
                                      </p:cBhvr>
                                    </p:animEffect>
                                    <p:anim calcmode="lin" valueType="num">
                                      <p:cBhvr>
                                        <p:cTn id="67" dur="1000" fill="hold"/>
                                        <p:tgtEl>
                                          <p:spTgt spid="362499">
                                            <p:txEl>
                                              <p:pRg st="11" end="11"/>
                                            </p:txEl>
                                          </p:spTgt>
                                        </p:tgtEl>
                                        <p:attrNameLst>
                                          <p:attrName>ppt_x</p:attrName>
                                        </p:attrNameLst>
                                      </p:cBhvr>
                                      <p:tavLst>
                                        <p:tav tm="0">
                                          <p:val>
                                            <p:strVal val="#ppt_x"/>
                                          </p:val>
                                        </p:tav>
                                        <p:tav tm="100000">
                                          <p:val>
                                            <p:strVal val="#ppt_x"/>
                                          </p:val>
                                        </p:tav>
                                      </p:tavLst>
                                    </p:anim>
                                    <p:anim calcmode="lin" valueType="num">
                                      <p:cBhvr>
                                        <p:cTn id="68" dur="1000" fill="hold"/>
                                        <p:tgtEl>
                                          <p:spTgt spid="362499">
                                            <p:txEl>
                                              <p:pRg st="11" end="11"/>
                                            </p:txEl>
                                          </p:spTgt>
                                        </p:tgtEl>
                                        <p:attrNameLst>
                                          <p:attrName>ppt_y</p:attrName>
                                        </p:attrNameLst>
                                      </p:cBhvr>
                                      <p:tavLst>
                                        <p:tav tm="0">
                                          <p:val>
                                            <p:strVal val="#ppt_y+.1"/>
                                          </p:val>
                                        </p:tav>
                                        <p:tav tm="100000">
                                          <p:val>
                                            <p:strVal val="#ppt_y"/>
                                          </p:val>
                                        </p:tav>
                                      </p:tavLst>
                                    </p:anim>
                                  </p:childTnLst>
                                </p:cTn>
                              </p:par>
                              <p:par>
                                <p:cTn id="69" presetID="42" presetClass="entr" presetSubtype="0" fill="hold" nodeType="withEffect">
                                  <p:stCondLst>
                                    <p:cond delay="0"/>
                                  </p:stCondLst>
                                  <p:childTnLst>
                                    <p:set>
                                      <p:cBhvr>
                                        <p:cTn id="70" dur="1" fill="hold">
                                          <p:stCondLst>
                                            <p:cond delay="0"/>
                                          </p:stCondLst>
                                        </p:cTn>
                                        <p:tgtEl>
                                          <p:spTgt spid="362499">
                                            <p:txEl>
                                              <p:pRg st="12" end="12"/>
                                            </p:txEl>
                                          </p:spTgt>
                                        </p:tgtEl>
                                        <p:attrNameLst>
                                          <p:attrName>style.visibility</p:attrName>
                                        </p:attrNameLst>
                                      </p:cBhvr>
                                      <p:to>
                                        <p:strVal val="visible"/>
                                      </p:to>
                                    </p:set>
                                    <p:animEffect transition="in" filter="fade">
                                      <p:cBhvr>
                                        <p:cTn id="71" dur="1000"/>
                                        <p:tgtEl>
                                          <p:spTgt spid="362499">
                                            <p:txEl>
                                              <p:pRg st="12" end="12"/>
                                            </p:txEl>
                                          </p:spTgt>
                                        </p:tgtEl>
                                      </p:cBhvr>
                                    </p:animEffect>
                                    <p:anim calcmode="lin" valueType="num">
                                      <p:cBhvr>
                                        <p:cTn id="72" dur="1000" fill="hold"/>
                                        <p:tgtEl>
                                          <p:spTgt spid="362499">
                                            <p:txEl>
                                              <p:pRg st="12" end="12"/>
                                            </p:txEl>
                                          </p:spTgt>
                                        </p:tgtEl>
                                        <p:attrNameLst>
                                          <p:attrName>ppt_x</p:attrName>
                                        </p:attrNameLst>
                                      </p:cBhvr>
                                      <p:tavLst>
                                        <p:tav tm="0">
                                          <p:val>
                                            <p:strVal val="#ppt_x"/>
                                          </p:val>
                                        </p:tav>
                                        <p:tav tm="100000">
                                          <p:val>
                                            <p:strVal val="#ppt_x"/>
                                          </p:val>
                                        </p:tav>
                                      </p:tavLst>
                                    </p:anim>
                                    <p:anim calcmode="lin" valueType="num">
                                      <p:cBhvr>
                                        <p:cTn id="73" dur="1000" fill="hold"/>
                                        <p:tgtEl>
                                          <p:spTgt spid="362499">
                                            <p:txEl>
                                              <p:pRg st="12" end="12"/>
                                            </p:txEl>
                                          </p:spTgt>
                                        </p:tgtEl>
                                        <p:attrNameLst>
                                          <p:attrName>ppt_y</p:attrName>
                                        </p:attrNameLst>
                                      </p:cBhvr>
                                      <p:tavLst>
                                        <p:tav tm="0">
                                          <p:val>
                                            <p:strVal val="#ppt_y+.1"/>
                                          </p:val>
                                        </p:tav>
                                        <p:tav tm="100000">
                                          <p:val>
                                            <p:strVal val="#ppt_y"/>
                                          </p:val>
                                        </p:tav>
                                      </p:tavLst>
                                    </p:anim>
                                  </p:childTnLst>
                                </p:cTn>
                              </p:par>
                              <p:par>
                                <p:cTn id="74" presetID="42" presetClass="entr" presetSubtype="0" fill="hold" nodeType="withEffect">
                                  <p:stCondLst>
                                    <p:cond delay="0"/>
                                  </p:stCondLst>
                                  <p:childTnLst>
                                    <p:set>
                                      <p:cBhvr>
                                        <p:cTn id="75" dur="1" fill="hold">
                                          <p:stCondLst>
                                            <p:cond delay="0"/>
                                          </p:stCondLst>
                                        </p:cTn>
                                        <p:tgtEl>
                                          <p:spTgt spid="362499">
                                            <p:txEl>
                                              <p:pRg st="13" end="13"/>
                                            </p:txEl>
                                          </p:spTgt>
                                        </p:tgtEl>
                                        <p:attrNameLst>
                                          <p:attrName>style.visibility</p:attrName>
                                        </p:attrNameLst>
                                      </p:cBhvr>
                                      <p:to>
                                        <p:strVal val="visible"/>
                                      </p:to>
                                    </p:set>
                                    <p:animEffect transition="in" filter="fade">
                                      <p:cBhvr>
                                        <p:cTn id="76" dur="1000"/>
                                        <p:tgtEl>
                                          <p:spTgt spid="362499">
                                            <p:txEl>
                                              <p:pRg st="13" end="13"/>
                                            </p:txEl>
                                          </p:spTgt>
                                        </p:tgtEl>
                                      </p:cBhvr>
                                    </p:animEffect>
                                    <p:anim calcmode="lin" valueType="num">
                                      <p:cBhvr>
                                        <p:cTn id="77" dur="1000" fill="hold"/>
                                        <p:tgtEl>
                                          <p:spTgt spid="362499">
                                            <p:txEl>
                                              <p:pRg st="13" end="13"/>
                                            </p:txEl>
                                          </p:spTgt>
                                        </p:tgtEl>
                                        <p:attrNameLst>
                                          <p:attrName>ppt_x</p:attrName>
                                        </p:attrNameLst>
                                      </p:cBhvr>
                                      <p:tavLst>
                                        <p:tav tm="0">
                                          <p:val>
                                            <p:strVal val="#ppt_x"/>
                                          </p:val>
                                        </p:tav>
                                        <p:tav tm="100000">
                                          <p:val>
                                            <p:strVal val="#ppt_x"/>
                                          </p:val>
                                        </p:tav>
                                      </p:tavLst>
                                    </p:anim>
                                    <p:anim calcmode="lin" valueType="num">
                                      <p:cBhvr>
                                        <p:cTn id="78" dur="1000" fill="hold"/>
                                        <p:tgtEl>
                                          <p:spTgt spid="362499">
                                            <p:txEl>
                                              <p:pRg st="13" end="13"/>
                                            </p:txEl>
                                          </p:spTgt>
                                        </p:tgtEl>
                                        <p:attrNameLst>
                                          <p:attrName>ppt_y</p:attrName>
                                        </p:attrNameLst>
                                      </p:cBhvr>
                                      <p:tavLst>
                                        <p:tav tm="0">
                                          <p:val>
                                            <p:strVal val="#ppt_y+.1"/>
                                          </p:val>
                                        </p:tav>
                                        <p:tav tm="100000">
                                          <p:val>
                                            <p:strVal val="#ppt_y"/>
                                          </p:val>
                                        </p:tav>
                                      </p:tavLst>
                                    </p:anim>
                                  </p:childTnLst>
                                </p:cTn>
                              </p:par>
                              <p:par>
                                <p:cTn id="79" presetID="42" presetClass="entr" presetSubtype="0" fill="hold" nodeType="withEffect">
                                  <p:stCondLst>
                                    <p:cond delay="0"/>
                                  </p:stCondLst>
                                  <p:childTnLst>
                                    <p:set>
                                      <p:cBhvr>
                                        <p:cTn id="80" dur="1" fill="hold">
                                          <p:stCondLst>
                                            <p:cond delay="0"/>
                                          </p:stCondLst>
                                        </p:cTn>
                                        <p:tgtEl>
                                          <p:spTgt spid="362499">
                                            <p:txEl>
                                              <p:pRg st="14" end="14"/>
                                            </p:txEl>
                                          </p:spTgt>
                                        </p:tgtEl>
                                        <p:attrNameLst>
                                          <p:attrName>style.visibility</p:attrName>
                                        </p:attrNameLst>
                                      </p:cBhvr>
                                      <p:to>
                                        <p:strVal val="visible"/>
                                      </p:to>
                                    </p:set>
                                    <p:animEffect transition="in" filter="fade">
                                      <p:cBhvr>
                                        <p:cTn id="81" dur="1000"/>
                                        <p:tgtEl>
                                          <p:spTgt spid="362499">
                                            <p:txEl>
                                              <p:pRg st="14" end="14"/>
                                            </p:txEl>
                                          </p:spTgt>
                                        </p:tgtEl>
                                      </p:cBhvr>
                                    </p:animEffect>
                                    <p:anim calcmode="lin" valueType="num">
                                      <p:cBhvr>
                                        <p:cTn id="82" dur="1000" fill="hold"/>
                                        <p:tgtEl>
                                          <p:spTgt spid="362499">
                                            <p:txEl>
                                              <p:pRg st="14" end="14"/>
                                            </p:txEl>
                                          </p:spTgt>
                                        </p:tgtEl>
                                        <p:attrNameLst>
                                          <p:attrName>ppt_x</p:attrName>
                                        </p:attrNameLst>
                                      </p:cBhvr>
                                      <p:tavLst>
                                        <p:tav tm="0">
                                          <p:val>
                                            <p:strVal val="#ppt_x"/>
                                          </p:val>
                                        </p:tav>
                                        <p:tav tm="100000">
                                          <p:val>
                                            <p:strVal val="#ppt_x"/>
                                          </p:val>
                                        </p:tav>
                                      </p:tavLst>
                                    </p:anim>
                                    <p:anim calcmode="lin" valueType="num">
                                      <p:cBhvr>
                                        <p:cTn id="83" dur="1000" fill="hold"/>
                                        <p:tgtEl>
                                          <p:spTgt spid="362499">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3" name="Rectangle 3">
            <a:extLst>
              <a:ext uri="{FF2B5EF4-FFF2-40B4-BE49-F238E27FC236}">
                <a16:creationId xmlns:a16="http://schemas.microsoft.com/office/drawing/2014/main" id="{D4B42012-33DF-1B90-443B-647D473C1F41}"/>
              </a:ext>
            </a:extLst>
          </p:cNvPr>
          <p:cNvSpPr>
            <a:spLocks noGrp="1"/>
          </p:cNvSpPr>
          <p:nvPr>
            <p:ph idx="1"/>
          </p:nvPr>
        </p:nvSpPr>
        <p:spPr>
          <a:xfrm>
            <a:off x="1981200" y="1066801"/>
            <a:ext cx="8229600" cy="4525963"/>
          </a:xfrm>
        </p:spPr>
        <p:txBody>
          <a:bodyPr/>
          <a:lstStyle/>
          <a:p>
            <a:pPr marL="342900" indent="-342900" eaLnBrk="1" hangingPunct="1"/>
            <a:r>
              <a:rPr lang="en-US" altLang="en-US" sz="2600">
                <a:latin typeface="Times New Roman" panose="02020603050405020304" pitchFamily="18" charset="0"/>
                <a:ea typeface="ＭＳ Ｐゴシック" panose="020B0600070205080204" pitchFamily="34" charset="-128"/>
              </a:rPr>
              <a:t>Payback period</a:t>
            </a:r>
          </a:p>
          <a:p>
            <a:pPr marL="742950" lvl="1" indent="-285750" eaLnBrk="1" hangingPunct="1"/>
            <a:r>
              <a:rPr lang="en-US" altLang="en-US">
                <a:latin typeface="Times New Roman" panose="02020603050405020304" pitchFamily="18" charset="0"/>
                <a:ea typeface="ＭＳ Ｐゴシック" panose="020B0600070205080204" pitchFamily="34" charset="-128"/>
              </a:rPr>
              <a:t>Length of time until initial investment is recovered</a:t>
            </a:r>
          </a:p>
          <a:p>
            <a:pPr marL="742950" lvl="1" indent="-285750" eaLnBrk="1" hangingPunct="1"/>
            <a:r>
              <a:rPr lang="en-US" altLang="en-US">
                <a:latin typeface="Times New Roman" panose="02020603050405020304" pitchFamily="18" charset="0"/>
                <a:ea typeface="ＭＳ Ｐゴシック" panose="020B0600070205080204" pitchFamily="34" charset="-128"/>
              </a:rPr>
              <a:t>Take the project if it pays back in some specified period</a:t>
            </a:r>
          </a:p>
          <a:p>
            <a:pPr marL="742950" lvl="1" indent="-285750" eaLnBrk="1" hangingPunct="1"/>
            <a:r>
              <a:rPr lang="en-US" altLang="en-US">
                <a:latin typeface="Times New Roman" panose="02020603050405020304" pitchFamily="18" charset="0"/>
                <a:ea typeface="ＭＳ Ｐゴシック" panose="020B0600070205080204" pitchFamily="34" charset="-128"/>
              </a:rPr>
              <a:t>Does not account for time value of money, and there is an arbitrary cutoff period</a:t>
            </a:r>
          </a:p>
          <a:p>
            <a:pPr marL="342900" indent="-342900" eaLnBrk="1" hangingPunct="1"/>
            <a:r>
              <a:rPr lang="en-US" altLang="en-US" sz="2600">
                <a:latin typeface="Times New Roman" panose="02020603050405020304" pitchFamily="18" charset="0"/>
                <a:ea typeface="ＭＳ Ｐゴシック" panose="020B0600070205080204" pitchFamily="34" charset="-128"/>
              </a:rPr>
              <a:t>Discounted payback period</a:t>
            </a:r>
          </a:p>
          <a:p>
            <a:pPr marL="742950" lvl="1" indent="-285750" eaLnBrk="1" hangingPunct="1"/>
            <a:r>
              <a:rPr lang="en-US" altLang="en-US">
                <a:latin typeface="Times New Roman" panose="02020603050405020304" pitchFamily="18" charset="0"/>
                <a:ea typeface="ＭＳ Ｐゴシック" panose="020B0600070205080204" pitchFamily="34" charset="-128"/>
              </a:rPr>
              <a:t>Length of time until initial investment is recovered on a discounted basis</a:t>
            </a:r>
          </a:p>
          <a:p>
            <a:pPr marL="742950" lvl="1" indent="-285750" eaLnBrk="1" hangingPunct="1"/>
            <a:r>
              <a:rPr lang="en-US" altLang="en-US">
                <a:latin typeface="Times New Roman" panose="02020603050405020304" pitchFamily="18" charset="0"/>
                <a:ea typeface="ＭＳ Ｐゴシック" panose="020B0600070205080204" pitchFamily="34" charset="-128"/>
              </a:rPr>
              <a:t>Take the project if it pays back in some specified period</a:t>
            </a:r>
          </a:p>
          <a:p>
            <a:pPr marL="742950" lvl="1" indent="-285750" eaLnBrk="1" hangingPunct="1"/>
            <a:r>
              <a:rPr lang="en-US" altLang="en-US">
                <a:latin typeface="Times New Roman" panose="02020603050405020304" pitchFamily="18" charset="0"/>
                <a:ea typeface="ＭＳ Ｐゴシック" panose="020B0600070205080204" pitchFamily="34" charset="-128"/>
              </a:rPr>
              <a:t>There is an arbitrary cutoff period</a:t>
            </a:r>
          </a:p>
        </p:txBody>
      </p:sp>
      <p:sp>
        <p:nvSpPr>
          <p:cNvPr id="70658" name="Rectangle 2">
            <a:extLst>
              <a:ext uri="{FF2B5EF4-FFF2-40B4-BE49-F238E27FC236}">
                <a16:creationId xmlns:a16="http://schemas.microsoft.com/office/drawing/2014/main" id="{8E0C0416-663E-1630-EB38-674E58F9143E}"/>
              </a:ext>
            </a:extLst>
          </p:cNvPr>
          <p:cNvSpPr>
            <a:spLocks noGrp="1" noChangeArrowheads="1"/>
          </p:cNvSpPr>
          <p:nvPr>
            <p:ph type="title"/>
          </p:nvPr>
        </p:nvSpPr>
        <p:spPr>
          <a:xfrm>
            <a:off x="1981200" y="274638"/>
            <a:ext cx="8229600" cy="792162"/>
          </a:xfrm>
        </p:spPr>
        <p:txBody>
          <a:bodyPr/>
          <a:lstStyle/>
          <a:p>
            <a:pPr eaLnBrk="1" fontAlgn="auto" hangingPunct="1">
              <a:spcAft>
                <a:spcPts val="0"/>
              </a:spcAft>
              <a:defRPr/>
            </a:pPr>
            <a:r>
              <a:rPr lang="en-US" altLang="en-US" sz="3400" dirty="0">
                <a:ea typeface="+mj-ea"/>
                <a:cs typeface="+mj-cs"/>
              </a:rPr>
              <a:t>Summary – Payback Criteria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63523">
                                            <p:txEl>
                                              <p:pRg st="0" end="0"/>
                                            </p:txEl>
                                          </p:spTgt>
                                        </p:tgtEl>
                                        <p:attrNameLst>
                                          <p:attrName>style.visibility</p:attrName>
                                        </p:attrNameLst>
                                      </p:cBhvr>
                                      <p:to>
                                        <p:strVal val="visible"/>
                                      </p:to>
                                    </p:set>
                                    <p:animEffect transition="in" filter="fade">
                                      <p:cBhvr>
                                        <p:cTn id="7" dur="1000"/>
                                        <p:tgtEl>
                                          <p:spTgt spid="363523">
                                            <p:txEl>
                                              <p:pRg st="0" end="0"/>
                                            </p:txEl>
                                          </p:spTgt>
                                        </p:tgtEl>
                                      </p:cBhvr>
                                    </p:animEffect>
                                    <p:anim calcmode="lin" valueType="num">
                                      <p:cBhvr>
                                        <p:cTn id="8" dur="1000" fill="hold"/>
                                        <p:tgtEl>
                                          <p:spTgt spid="36352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6352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63523">
                                            <p:txEl>
                                              <p:pRg st="1" end="1"/>
                                            </p:txEl>
                                          </p:spTgt>
                                        </p:tgtEl>
                                        <p:attrNameLst>
                                          <p:attrName>style.visibility</p:attrName>
                                        </p:attrNameLst>
                                      </p:cBhvr>
                                      <p:to>
                                        <p:strVal val="visible"/>
                                      </p:to>
                                    </p:set>
                                    <p:animEffect transition="in" filter="fade">
                                      <p:cBhvr>
                                        <p:cTn id="12" dur="1000"/>
                                        <p:tgtEl>
                                          <p:spTgt spid="363523">
                                            <p:txEl>
                                              <p:pRg st="1" end="1"/>
                                            </p:txEl>
                                          </p:spTgt>
                                        </p:tgtEl>
                                      </p:cBhvr>
                                    </p:animEffect>
                                    <p:anim calcmode="lin" valueType="num">
                                      <p:cBhvr>
                                        <p:cTn id="13" dur="1000" fill="hold"/>
                                        <p:tgtEl>
                                          <p:spTgt spid="36352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6352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63523">
                                            <p:txEl>
                                              <p:pRg st="2" end="2"/>
                                            </p:txEl>
                                          </p:spTgt>
                                        </p:tgtEl>
                                        <p:attrNameLst>
                                          <p:attrName>style.visibility</p:attrName>
                                        </p:attrNameLst>
                                      </p:cBhvr>
                                      <p:to>
                                        <p:strVal val="visible"/>
                                      </p:to>
                                    </p:set>
                                    <p:animEffect transition="in" filter="fade">
                                      <p:cBhvr>
                                        <p:cTn id="17" dur="1000"/>
                                        <p:tgtEl>
                                          <p:spTgt spid="363523">
                                            <p:txEl>
                                              <p:pRg st="2" end="2"/>
                                            </p:txEl>
                                          </p:spTgt>
                                        </p:tgtEl>
                                      </p:cBhvr>
                                    </p:animEffect>
                                    <p:anim calcmode="lin" valueType="num">
                                      <p:cBhvr>
                                        <p:cTn id="18" dur="1000" fill="hold"/>
                                        <p:tgtEl>
                                          <p:spTgt spid="36352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6352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63523">
                                            <p:txEl>
                                              <p:pRg st="3" end="3"/>
                                            </p:txEl>
                                          </p:spTgt>
                                        </p:tgtEl>
                                        <p:attrNameLst>
                                          <p:attrName>style.visibility</p:attrName>
                                        </p:attrNameLst>
                                      </p:cBhvr>
                                      <p:to>
                                        <p:strVal val="visible"/>
                                      </p:to>
                                    </p:set>
                                    <p:animEffect transition="in" filter="fade">
                                      <p:cBhvr>
                                        <p:cTn id="22" dur="1000"/>
                                        <p:tgtEl>
                                          <p:spTgt spid="363523">
                                            <p:txEl>
                                              <p:pRg st="3" end="3"/>
                                            </p:txEl>
                                          </p:spTgt>
                                        </p:tgtEl>
                                      </p:cBhvr>
                                    </p:animEffect>
                                    <p:anim calcmode="lin" valueType="num">
                                      <p:cBhvr>
                                        <p:cTn id="23" dur="1000" fill="hold"/>
                                        <p:tgtEl>
                                          <p:spTgt spid="36352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6352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42" presetClass="entr" presetSubtype="0" fill="hold" nodeType="clickEffect">
                                  <p:stCondLst>
                                    <p:cond delay="0"/>
                                  </p:stCondLst>
                                  <p:childTnLst>
                                    <p:set>
                                      <p:cBhvr>
                                        <p:cTn id="28" dur="1" fill="hold">
                                          <p:stCondLst>
                                            <p:cond delay="0"/>
                                          </p:stCondLst>
                                        </p:cTn>
                                        <p:tgtEl>
                                          <p:spTgt spid="363523">
                                            <p:txEl>
                                              <p:pRg st="4" end="4"/>
                                            </p:txEl>
                                          </p:spTgt>
                                        </p:tgtEl>
                                        <p:attrNameLst>
                                          <p:attrName>style.visibility</p:attrName>
                                        </p:attrNameLst>
                                      </p:cBhvr>
                                      <p:to>
                                        <p:strVal val="visible"/>
                                      </p:to>
                                    </p:set>
                                    <p:animEffect transition="in" filter="fade">
                                      <p:cBhvr>
                                        <p:cTn id="29" dur="1000"/>
                                        <p:tgtEl>
                                          <p:spTgt spid="363523">
                                            <p:txEl>
                                              <p:pRg st="4" end="4"/>
                                            </p:txEl>
                                          </p:spTgt>
                                        </p:tgtEl>
                                      </p:cBhvr>
                                    </p:animEffect>
                                    <p:anim calcmode="lin" valueType="num">
                                      <p:cBhvr>
                                        <p:cTn id="30" dur="1000" fill="hold"/>
                                        <p:tgtEl>
                                          <p:spTgt spid="36352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63523">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63523">
                                            <p:txEl>
                                              <p:pRg st="5" end="5"/>
                                            </p:txEl>
                                          </p:spTgt>
                                        </p:tgtEl>
                                        <p:attrNameLst>
                                          <p:attrName>style.visibility</p:attrName>
                                        </p:attrNameLst>
                                      </p:cBhvr>
                                      <p:to>
                                        <p:strVal val="visible"/>
                                      </p:to>
                                    </p:set>
                                    <p:animEffect transition="in" filter="fade">
                                      <p:cBhvr>
                                        <p:cTn id="34" dur="1000"/>
                                        <p:tgtEl>
                                          <p:spTgt spid="363523">
                                            <p:txEl>
                                              <p:pRg st="5" end="5"/>
                                            </p:txEl>
                                          </p:spTgt>
                                        </p:tgtEl>
                                      </p:cBhvr>
                                    </p:animEffect>
                                    <p:anim calcmode="lin" valueType="num">
                                      <p:cBhvr>
                                        <p:cTn id="35" dur="1000" fill="hold"/>
                                        <p:tgtEl>
                                          <p:spTgt spid="36352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63523">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63523">
                                            <p:txEl>
                                              <p:pRg st="6" end="6"/>
                                            </p:txEl>
                                          </p:spTgt>
                                        </p:tgtEl>
                                        <p:attrNameLst>
                                          <p:attrName>style.visibility</p:attrName>
                                        </p:attrNameLst>
                                      </p:cBhvr>
                                      <p:to>
                                        <p:strVal val="visible"/>
                                      </p:to>
                                    </p:set>
                                    <p:animEffect transition="in" filter="fade">
                                      <p:cBhvr>
                                        <p:cTn id="39" dur="1000"/>
                                        <p:tgtEl>
                                          <p:spTgt spid="363523">
                                            <p:txEl>
                                              <p:pRg st="6" end="6"/>
                                            </p:txEl>
                                          </p:spTgt>
                                        </p:tgtEl>
                                      </p:cBhvr>
                                    </p:animEffect>
                                    <p:anim calcmode="lin" valueType="num">
                                      <p:cBhvr>
                                        <p:cTn id="40" dur="1000" fill="hold"/>
                                        <p:tgtEl>
                                          <p:spTgt spid="363523">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363523">
                                            <p:txEl>
                                              <p:pRg st="6" end="6"/>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363523">
                                            <p:txEl>
                                              <p:pRg st="7" end="7"/>
                                            </p:txEl>
                                          </p:spTgt>
                                        </p:tgtEl>
                                        <p:attrNameLst>
                                          <p:attrName>style.visibility</p:attrName>
                                        </p:attrNameLst>
                                      </p:cBhvr>
                                      <p:to>
                                        <p:strVal val="visible"/>
                                      </p:to>
                                    </p:set>
                                    <p:animEffect transition="in" filter="fade">
                                      <p:cBhvr>
                                        <p:cTn id="44" dur="1000"/>
                                        <p:tgtEl>
                                          <p:spTgt spid="363523">
                                            <p:txEl>
                                              <p:pRg st="7" end="7"/>
                                            </p:txEl>
                                          </p:spTgt>
                                        </p:tgtEl>
                                      </p:cBhvr>
                                    </p:animEffect>
                                    <p:anim calcmode="lin" valueType="num">
                                      <p:cBhvr>
                                        <p:cTn id="45" dur="1000" fill="hold"/>
                                        <p:tgtEl>
                                          <p:spTgt spid="363523">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36352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69180FA6-5403-65F4-23DD-692D8D237780}"/>
              </a:ext>
            </a:extLst>
          </p:cNvPr>
          <p:cNvSpPr>
            <a:spLocks noGrp="1"/>
          </p:cNvSpPr>
          <p:nvPr>
            <p:ph type="subTitle" idx="1"/>
          </p:nvPr>
        </p:nvSpPr>
        <p:spPr>
          <a:xfrm>
            <a:off x="2209800" y="2514600"/>
            <a:ext cx="7772400" cy="1200150"/>
          </a:xfrm>
        </p:spPr>
        <p:txBody>
          <a:bodyPr/>
          <a:lstStyle/>
          <a:p>
            <a:pPr marR="0" algn="ctr" eaLnBrk="1" hangingPunct="1"/>
            <a:r>
              <a:rPr lang="en-US" altLang="en-US" dirty="0">
                <a:ea typeface="ＭＳ Ｐゴシック" panose="020B0600070205080204" pitchFamily="34" charset="-128"/>
              </a:rPr>
              <a:t>Chapter 6: Making Capital Investment Decisions</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3763" name="Rectangle 3">
            <a:extLst>
              <a:ext uri="{FF2B5EF4-FFF2-40B4-BE49-F238E27FC236}">
                <a16:creationId xmlns:a16="http://schemas.microsoft.com/office/drawing/2014/main" id="{6AA55A88-4D82-0708-C72A-9BA3E46FD818}"/>
              </a:ext>
            </a:extLst>
          </p:cNvPr>
          <p:cNvSpPr>
            <a:spLocks noGrp="1"/>
          </p:cNvSpPr>
          <p:nvPr>
            <p:ph idx="1"/>
          </p:nvPr>
        </p:nvSpPr>
        <p:spPr>
          <a:xfrm>
            <a:off x="1981200" y="1481138"/>
            <a:ext cx="8229600" cy="4310062"/>
          </a:xfrm>
        </p:spPr>
        <p:txBody>
          <a:bodyPr/>
          <a:lstStyle/>
          <a:p>
            <a:pPr marL="342900" indent="-342900" eaLnBrk="1" hangingPunct="1"/>
            <a:r>
              <a:rPr lang="en-US" altLang="en-US" sz="2800">
                <a:latin typeface="Times New Roman" panose="02020603050405020304" pitchFamily="18" charset="0"/>
                <a:ea typeface="ＭＳ Ｐゴシック" panose="020B0600070205080204" pitchFamily="34" charset="-128"/>
              </a:rPr>
              <a:t>Cash flows matter—not accounting earnings.</a:t>
            </a:r>
          </a:p>
          <a:p>
            <a:pPr marL="342900" indent="-342900" eaLnBrk="1" hangingPunct="1"/>
            <a:r>
              <a:rPr lang="en-US" altLang="en-US" sz="2800">
                <a:latin typeface="Times New Roman" panose="02020603050405020304" pitchFamily="18" charset="0"/>
                <a:ea typeface="ＭＳ Ｐゴシック" panose="020B0600070205080204" pitchFamily="34" charset="-128"/>
              </a:rPr>
              <a:t>Sunk costs do not matter.</a:t>
            </a:r>
          </a:p>
          <a:p>
            <a:pPr marL="342900" indent="-342900" eaLnBrk="1" hangingPunct="1"/>
            <a:r>
              <a:rPr lang="en-US" altLang="en-US" sz="2800" i="1">
                <a:latin typeface="Times New Roman" panose="02020603050405020304" pitchFamily="18" charset="0"/>
                <a:ea typeface="ＭＳ Ｐゴシック" panose="020B0600070205080204" pitchFamily="34" charset="-128"/>
              </a:rPr>
              <a:t>Incremental</a:t>
            </a:r>
            <a:r>
              <a:rPr lang="en-US" altLang="en-US" sz="2800">
                <a:latin typeface="Times New Roman" panose="02020603050405020304" pitchFamily="18" charset="0"/>
                <a:ea typeface="ＭＳ Ｐゴシック" panose="020B0600070205080204" pitchFamily="34" charset="-128"/>
              </a:rPr>
              <a:t> cash flows matter.</a:t>
            </a:r>
          </a:p>
          <a:p>
            <a:pPr marL="342900" indent="-342900" eaLnBrk="1" hangingPunct="1"/>
            <a:r>
              <a:rPr lang="en-US" altLang="en-US" sz="2800">
                <a:latin typeface="Times New Roman" panose="02020603050405020304" pitchFamily="18" charset="0"/>
                <a:ea typeface="ＭＳ Ｐゴシック" panose="020B0600070205080204" pitchFamily="34" charset="-128"/>
              </a:rPr>
              <a:t>Opportunity costs matter.</a:t>
            </a:r>
          </a:p>
          <a:p>
            <a:pPr marL="342900" indent="-342900" eaLnBrk="1" hangingPunct="1"/>
            <a:r>
              <a:rPr lang="en-US" altLang="en-US" sz="2800">
                <a:latin typeface="Times New Roman" panose="02020603050405020304" pitchFamily="18" charset="0"/>
                <a:ea typeface="ＭＳ Ｐゴシック" panose="020B0600070205080204" pitchFamily="34" charset="-128"/>
              </a:rPr>
              <a:t>Side effects like cannibalism and erosion matter.</a:t>
            </a:r>
          </a:p>
          <a:p>
            <a:pPr marL="342900" indent="-342900" eaLnBrk="1" hangingPunct="1"/>
            <a:r>
              <a:rPr lang="en-US" altLang="en-US" sz="2800">
                <a:latin typeface="Times New Roman" panose="02020603050405020304" pitchFamily="18" charset="0"/>
                <a:ea typeface="ＭＳ Ｐゴシック" panose="020B0600070205080204" pitchFamily="34" charset="-128"/>
              </a:rPr>
              <a:t>Taxes matter: we want incremental after-tax cash flows. </a:t>
            </a:r>
          </a:p>
          <a:p>
            <a:pPr marL="342900" indent="-342900" eaLnBrk="1" hangingPunct="1"/>
            <a:r>
              <a:rPr lang="en-US" altLang="en-US" sz="2800">
                <a:latin typeface="Times New Roman" panose="02020603050405020304" pitchFamily="18" charset="0"/>
                <a:ea typeface="ＭＳ Ｐゴシック" panose="020B0600070205080204" pitchFamily="34" charset="-128"/>
              </a:rPr>
              <a:t>Inflation matters.</a:t>
            </a:r>
          </a:p>
        </p:txBody>
      </p:sp>
      <p:sp>
        <p:nvSpPr>
          <p:cNvPr id="11266" name="Rectangle 2">
            <a:extLst>
              <a:ext uri="{FF2B5EF4-FFF2-40B4-BE49-F238E27FC236}">
                <a16:creationId xmlns:a16="http://schemas.microsoft.com/office/drawing/2014/main" id="{6A8C090F-4554-E568-5B77-78ED04519903}"/>
              </a:ext>
            </a:extLst>
          </p:cNvPr>
          <p:cNvSpPr>
            <a:spLocks noGrp="1" noChangeArrowheads="1"/>
          </p:cNvSpPr>
          <p:nvPr>
            <p:ph type="title"/>
          </p:nvPr>
        </p:nvSpPr>
        <p:spPr/>
        <p:txBody>
          <a:bodyPr/>
          <a:lstStyle/>
          <a:p>
            <a:pPr algn="just" eaLnBrk="1" fontAlgn="auto" hangingPunct="1">
              <a:spcAft>
                <a:spcPts val="650"/>
              </a:spcAft>
              <a:defRPr/>
            </a:pPr>
            <a:r>
              <a:rPr lang="en-US" altLang="en-US" sz="3400" dirty="0">
                <a:ea typeface="+mj-ea"/>
                <a:cs typeface="+mj-cs"/>
              </a:rPr>
              <a:t>Incremental Cash Flows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73763">
                                            <p:txEl>
                                              <p:pRg st="0" end="0"/>
                                            </p:txEl>
                                          </p:spTgt>
                                        </p:tgtEl>
                                        <p:attrNameLst>
                                          <p:attrName>style.visibility</p:attrName>
                                        </p:attrNameLst>
                                      </p:cBhvr>
                                      <p:to>
                                        <p:strVal val="visible"/>
                                      </p:to>
                                    </p:set>
                                    <p:animEffect transition="in" filter="fade">
                                      <p:cBhvr>
                                        <p:cTn id="7" dur="1000"/>
                                        <p:tgtEl>
                                          <p:spTgt spid="373763">
                                            <p:txEl>
                                              <p:pRg st="0" end="0"/>
                                            </p:txEl>
                                          </p:spTgt>
                                        </p:tgtEl>
                                      </p:cBhvr>
                                    </p:animEffect>
                                    <p:anim calcmode="lin" valueType="num">
                                      <p:cBhvr>
                                        <p:cTn id="8" dur="1000" fill="hold"/>
                                        <p:tgtEl>
                                          <p:spTgt spid="37376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7376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73763">
                                            <p:txEl>
                                              <p:pRg st="1" end="1"/>
                                            </p:txEl>
                                          </p:spTgt>
                                        </p:tgtEl>
                                        <p:attrNameLst>
                                          <p:attrName>style.visibility</p:attrName>
                                        </p:attrNameLst>
                                      </p:cBhvr>
                                      <p:to>
                                        <p:strVal val="visible"/>
                                      </p:to>
                                    </p:set>
                                    <p:animEffect transition="in" filter="fade">
                                      <p:cBhvr>
                                        <p:cTn id="14" dur="1000"/>
                                        <p:tgtEl>
                                          <p:spTgt spid="373763">
                                            <p:txEl>
                                              <p:pRg st="1" end="1"/>
                                            </p:txEl>
                                          </p:spTgt>
                                        </p:tgtEl>
                                      </p:cBhvr>
                                    </p:animEffect>
                                    <p:anim calcmode="lin" valueType="num">
                                      <p:cBhvr>
                                        <p:cTn id="15" dur="1000" fill="hold"/>
                                        <p:tgtEl>
                                          <p:spTgt spid="37376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7376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73763">
                                            <p:txEl>
                                              <p:pRg st="2" end="2"/>
                                            </p:txEl>
                                          </p:spTgt>
                                        </p:tgtEl>
                                        <p:attrNameLst>
                                          <p:attrName>style.visibility</p:attrName>
                                        </p:attrNameLst>
                                      </p:cBhvr>
                                      <p:to>
                                        <p:strVal val="visible"/>
                                      </p:to>
                                    </p:set>
                                    <p:animEffect transition="in" filter="fade">
                                      <p:cBhvr>
                                        <p:cTn id="21" dur="1000"/>
                                        <p:tgtEl>
                                          <p:spTgt spid="373763">
                                            <p:txEl>
                                              <p:pRg st="2" end="2"/>
                                            </p:txEl>
                                          </p:spTgt>
                                        </p:tgtEl>
                                      </p:cBhvr>
                                    </p:animEffect>
                                    <p:anim calcmode="lin" valueType="num">
                                      <p:cBhvr>
                                        <p:cTn id="22" dur="1000" fill="hold"/>
                                        <p:tgtEl>
                                          <p:spTgt spid="37376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7376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73763">
                                            <p:txEl>
                                              <p:pRg st="3" end="3"/>
                                            </p:txEl>
                                          </p:spTgt>
                                        </p:tgtEl>
                                        <p:attrNameLst>
                                          <p:attrName>style.visibility</p:attrName>
                                        </p:attrNameLst>
                                      </p:cBhvr>
                                      <p:to>
                                        <p:strVal val="visible"/>
                                      </p:to>
                                    </p:set>
                                    <p:animEffect transition="in" filter="fade">
                                      <p:cBhvr>
                                        <p:cTn id="28" dur="1000"/>
                                        <p:tgtEl>
                                          <p:spTgt spid="373763">
                                            <p:txEl>
                                              <p:pRg st="3" end="3"/>
                                            </p:txEl>
                                          </p:spTgt>
                                        </p:tgtEl>
                                      </p:cBhvr>
                                    </p:animEffect>
                                    <p:anim calcmode="lin" valueType="num">
                                      <p:cBhvr>
                                        <p:cTn id="29" dur="1000" fill="hold"/>
                                        <p:tgtEl>
                                          <p:spTgt spid="37376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7376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73763">
                                            <p:txEl>
                                              <p:pRg st="4" end="4"/>
                                            </p:txEl>
                                          </p:spTgt>
                                        </p:tgtEl>
                                        <p:attrNameLst>
                                          <p:attrName>style.visibility</p:attrName>
                                        </p:attrNameLst>
                                      </p:cBhvr>
                                      <p:to>
                                        <p:strVal val="visible"/>
                                      </p:to>
                                    </p:set>
                                    <p:animEffect transition="in" filter="fade">
                                      <p:cBhvr>
                                        <p:cTn id="35" dur="1000"/>
                                        <p:tgtEl>
                                          <p:spTgt spid="373763">
                                            <p:txEl>
                                              <p:pRg st="4" end="4"/>
                                            </p:txEl>
                                          </p:spTgt>
                                        </p:tgtEl>
                                      </p:cBhvr>
                                    </p:animEffect>
                                    <p:anim calcmode="lin" valueType="num">
                                      <p:cBhvr>
                                        <p:cTn id="36" dur="1000" fill="hold"/>
                                        <p:tgtEl>
                                          <p:spTgt spid="37376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7376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73763">
                                            <p:txEl>
                                              <p:pRg st="5" end="5"/>
                                            </p:txEl>
                                          </p:spTgt>
                                        </p:tgtEl>
                                        <p:attrNameLst>
                                          <p:attrName>style.visibility</p:attrName>
                                        </p:attrNameLst>
                                      </p:cBhvr>
                                      <p:to>
                                        <p:strVal val="visible"/>
                                      </p:to>
                                    </p:set>
                                    <p:animEffect transition="in" filter="fade">
                                      <p:cBhvr>
                                        <p:cTn id="42" dur="1000"/>
                                        <p:tgtEl>
                                          <p:spTgt spid="373763">
                                            <p:txEl>
                                              <p:pRg st="5" end="5"/>
                                            </p:txEl>
                                          </p:spTgt>
                                        </p:tgtEl>
                                      </p:cBhvr>
                                    </p:animEffect>
                                    <p:anim calcmode="lin" valueType="num">
                                      <p:cBhvr>
                                        <p:cTn id="43" dur="1000" fill="hold"/>
                                        <p:tgtEl>
                                          <p:spTgt spid="37376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7376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73763">
                                            <p:txEl>
                                              <p:pRg st="6" end="6"/>
                                            </p:txEl>
                                          </p:spTgt>
                                        </p:tgtEl>
                                        <p:attrNameLst>
                                          <p:attrName>style.visibility</p:attrName>
                                        </p:attrNameLst>
                                      </p:cBhvr>
                                      <p:to>
                                        <p:strVal val="visible"/>
                                      </p:to>
                                    </p:set>
                                    <p:animEffect transition="in" filter="fade">
                                      <p:cBhvr>
                                        <p:cTn id="49" dur="1000"/>
                                        <p:tgtEl>
                                          <p:spTgt spid="373763">
                                            <p:txEl>
                                              <p:pRg st="6" end="6"/>
                                            </p:txEl>
                                          </p:spTgt>
                                        </p:tgtEl>
                                      </p:cBhvr>
                                    </p:animEffect>
                                    <p:anim calcmode="lin" valueType="num">
                                      <p:cBhvr>
                                        <p:cTn id="50" dur="1000" fill="hold"/>
                                        <p:tgtEl>
                                          <p:spTgt spid="37376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7376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3" grpId="0" build="p"/>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4787" name="Rectangle 3">
            <a:extLst>
              <a:ext uri="{FF2B5EF4-FFF2-40B4-BE49-F238E27FC236}">
                <a16:creationId xmlns:a16="http://schemas.microsoft.com/office/drawing/2014/main" id="{0914FCEE-ECFB-6A50-18E9-CCF9DBA09F62}"/>
              </a:ext>
            </a:extLst>
          </p:cNvPr>
          <p:cNvSpPr>
            <a:spLocks noGrp="1"/>
          </p:cNvSpPr>
          <p:nvPr>
            <p:ph idx="1"/>
          </p:nvPr>
        </p:nvSpPr>
        <p:spPr>
          <a:xfrm>
            <a:off x="1981200" y="1481138"/>
            <a:ext cx="8229600" cy="3929062"/>
          </a:xfrm>
        </p:spPr>
        <p:txBody>
          <a:bodyPr/>
          <a:lstStyle/>
          <a:p>
            <a:pPr marL="342900" indent="-342900" eaLnBrk="1" hangingPunct="1"/>
            <a:r>
              <a:rPr lang="en-US" altLang="en-US" sz="2800">
                <a:latin typeface="Times New Roman" panose="02020603050405020304" pitchFamily="18" charset="0"/>
                <a:ea typeface="ＭＳ Ｐゴシック" panose="020B0600070205080204" pitchFamily="34" charset="-128"/>
              </a:rPr>
              <a:t>Consider depreciation expense. </a:t>
            </a:r>
          </a:p>
          <a:p>
            <a:pPr marL="742950" lvl="1" indent="-285750" eaLnBrk="1" hangingPunct="1"/>
            <a:r>
              <a:rPr lang="en-US" altLang="en-US" sz="2800">
                <a:latin typeface="Times New Roman" panose="02020603050405020304" pitchFamily="18" charset="0"/>
                <a:ea typeface="ＭＳ Ｐゴシック" panose="020B0600070205080204" pitchFamily="34" charset="-128"/>
              </a:rPr>
              <a:t>You never write a check made out to “depreciation.”</a:t>
            </a:r>
          </a:p>
          <a:p>
            <a:pPr marL="342900" indent="-342900" eaLnBrk="1" hangingPunct="1"/>
            <a:r>
              <a:rPr lang="en-US" altLang="en-US" sz="2800">
                <a:latin typeface="Times New Roman" panose="02020603050405020304" pitchFamily="18" charset="0"/>
                <a:ea typeface="ＭＳ Ｐゴシック" panose="020B0600070205080204" pitchFamily="34" charset="-128"/>
              </a:rPr>
              <a:t>Much of the work in evaluating a project lies in taking accounting numbers and generating cash flows.</a:t>
            </a:r>
          </a:p>
        </p:txBody>
      </p:sp>
      <p:sp>
        <p:nvSpPr>
          <p:cNvPr id="13314" name="Rectangle 2">
            <a:extLst>
              <a:ext uri="{FF2B5EF4-FFF2-40B4-BE49-F238E27FC236}">
                <a16:creationId xmlns:a16="http://schemas.microsoft.com/office/drawing/2014/main" id="{E7232CDF-E85D-306E-A6B2-4FBECE698C07}"/>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Cash Flows—Not Accounting Income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74787">
                                            <p:txEl>
                                              <p:pRg st="0" end="0"/>
                                            </p:txEl>
                                          </p:spTgt>
                                        </p:tgtEl>
                                        <p:attrNameLst>
                                          <p:attrName>style.visibility</p:attrName>
                                        </p:attrNameLst>
                                      </p:cBhvr>
                                      <p:to>
                                        <p:strVal val="visible"/>
                                      </p:to>
                                    </p:set>
                                    <p:animEffect transition="in" filter="fade">
                                      <p:cBhvr>
                                        <p:cTn id="7" dur="1000"/>
                                        <p:tgtEl>
                                          <p:spTgt spid="374787">
                                            <p:txEl>
                                              <p:pRg st="0" end="0"/>
                                            </p:txEl>
                                          </p:spTgt>
                                        </p:tgtEl>
                                      </p:cBhvr>
                                    </p:animEffect>
                                    <p:anim calcmode="lin" valueType="num">
                                      <p:cBhvr>
                                        <p:cTn id="8" dur="1000" fill="hold"/>
                                        <p:tgtEl>
                                          <p:spTgt spid="37478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7478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74787">
                                            <p:txEl>
                                              <p:pRg st="1" end="1"/>
                                            </p:txEl>
                                          </p:spTgt>
                                        </p:tgtEl>
                                        <p:attrNameLst>
                                          <p:attrName>style.visibility</p:attrName>
                                        </p:attrNameLst>
                                      </p:cBhvr>
                                      <p:to>
                                        <p:strVal val="visible"/>
                                      </p:to>
                                    </p:set>
                                    <p:animEffect transition="in" filter="fade">
                                      <p:cBhvr>
                                        <p:cTn id="12" dur="1000"/>
                                        <p:tgtEl>
                                          <p:spTgt spid="374787">
                                            <p:txEl>
                                              <p:pRg st="1" end="1"/>
                                            </p:txEl>
                                          </p:spTgt>
                                        </p:tgtEl>
                                      </p:cBhvr>
                                    </p:animEffect>
                                    <p:anim calcmode="lin" valueType="num">
                                      <p:cBhvr>
                                        <p:cTn id="13" dur="1000" fill="hold"/>
                                        <p:tgtEl>
                                          <p:spTgt spid="37478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7478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74787">
                                            <p:txEl>
                                              <p:pRg st="2" end="2"/>
                                            </p:txEl>
                                          </p:spTgt>
                                        </p:tgtEl>
                                        <p:attrNameLst>
                                          <p:attrName>style.visibility</p:attrName>
                                        </p:attrNameLst>
                                      </p:cBhvr>
                                      <p:to>
                                        <p:strVal val="visible"/>
                                      </p:to>
                                    </p:set>
                                    <p:animEffect transition="in" filter="fade">
                                      <p:cBhvr>
                                        <p:cTn id="19" dur="1000"/>
                                        <p:tgtEl>
                                          <p:spTgt spid="374787">
                                            <p:txEl>
                                              <p:pRg st="2" end="2"/>
                                            </p:txEl>
                                          </p:spTgt>
                                        </p:tgtEl>
                                      </p:cBhvr>
                                    </p:animEffect>
                                    <p:anim calcmode="lin" valueType="num">
                                      <p:cBhvr>
                                        <p:cTn id="20" dur="1000" fill="hold"/>
                                        <p:tgtEl>
                                          <p:spTgt spid="374787">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7478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4787" grpId="0" build="p"/>
    </p:bldLst>
  </p:timing>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5811" name="Rectangle 3">
            <a:extLst>
              <a:ext uri="{FF2B5EF4-FFF2-40B4-BE49-F238E27FC236}">
                <a16:creationId xmlns:a16="http://schemas.microsoft.com/office/drawing/2014/main" id="{9A1AECA9-5966-9DB2-4552-5D0FF0DF8896}"/>
              </a:ext>
            </a:extLst>
          </p:cNvPr>
          <p:cNvSpPr>
            <a:spLocks noGrp="1"/>
          </p:cNvSpPr>
          <p:nvPr>
            <p:ph idx="1"/>
          </p:nvPr>
        </p:nvSpPr>
        <p:spPr/>
        <p:txBody>
          <a:bodyPr/>
          <a:lstStyle/>
          <a:p>
            <a:pPr marL="342900" indent="-342900" eaLnBrk="1" hangingPunct="1"/>
            <a:r>
              <a:rPr lang="en-US" altLang="en-US" sz="2800">
                <a:latin typeface="Times New Roman" panose="02020603050405020304" pitchFamily="18" charset="0"/>
                <a:ea typeface="ＭＳ Ｐゴシック" panose="020B0600070205080204" pitchFamily="34" charset="-128"/>
              </a:rPr>
              <a:t>Sunk costs are not relevant</a:t>
            </a:r>
          </a:p>
          <a:p>
            <a:pPr marL="742950" lvl="1" indent="-285750" eaLnBrk="1" hangingPunct="1"/>
            <a:r>
              <a:rPr lang="en-US" altLang="en-US" sz="2800">
                <a:latin typeface="Times New Roman" panose="02020603050405020304" pitchFamily="18" charset="0"/>
                <a:ea typeface="ＭＳ Ｐゴシック" panose="020B0600070205080204" pitchFamily="34" charset="-128"/>
              </a:rPr>
              <a:t>Just because “we have come this far” does not mean that we should continue to throw good money after bad.</a:t>
            </a:r>
          </a:p>
          <a:p>
            <a:pPr marL="342900" indent="-342900" eaLnBrk="1" hangingPunct="1"/>
            <a:r>
              <a:rPr lang="en-US" altLang="en-US" sz="2800">
                <a:latin typeface="Times New Roman" panose="02020603050405020304" pitchFamily="18" charset="0"/>
                <a:ea typeface="ＭＳ Ｐゴシック" panose="020B0600070205080204" pitchFamily="34" charset="-128"/>
              </a:rPr>
              <a:t>Opportunity costs </a:t>
            </a:r>
            <a:r>
              <a:rPr lang="en-US" altLang="en-US" sz="2800" i="1">
                <a:latin typeface="Times New Roman" panose="02020603050405020304" pitchFamily="18" charset="0"/>
                <a:ea typeface="ＭＳ Ｐゴシック" panose="020B0600070205080204" pitchFamily="34" charset="-128"/>
              </a:rPr>
              <a:t>do</a:t>
            </a:r>
            <a:r>
              <a:rPr lang="en-US" altLang="en-US" sz="2800">
                <a:latin typeface="Times New Roman" panose="02020603050405020304" pitchFamily="18" charset="0"/>
                <a:ea typeface="ＭＳ Ｐゴシック" panose="020B0600070205080204" pitchFamily="34" charset="-128"/>
              </a:rPr>
              <a:t> matter. Just because a project has a positive NPV, that does not mean that it should also have automatic acceptance. Specifically, if another project with a higher NPV would have to be passed up, then we should not proceed.</a:t>
            </a:r>
          </a:p>
        </p:txBody>
      </p:sp>
      <p:sp>
        <p:nvSpPr>
          <p:cNvPr id="15362" name="Rectangle 2">
            <a:extLst>
              <a:ext uri="{FF2B5EF4-FFF2-40B4-BE49-F238E27FC236}">
                <a16:creationId xmlns:a16="http://schemas.microsoft.com/office/drawing/2014/main" id="{42ECED16-597A-E44E-34A5-7C7D3741A17B}"/>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Incremental Cash Flows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75811">
                                            <p:txEl>
                                              <p:pRg st="0" end="0"/>
                                            </p:txEl>
                                          </p:spTgt>
                                        </p:tgtEl>
                                        <p:attrNameLst>
                                          <p:attrName>style.visibility</p:attrName>
                                        </p:attrNameLst>
                                      </p:cBhvr>
                                      <p:to>
                                        <p:strVal val="visible"/>
                                      </p:to>
                                    </p:set>
                                    <p:animEffect transition="in" filter="fade">
                                      <p:cBhvr>
                                        <p:cTn id="7" dur="1000"/>
                                        <p:tgtEl>
                                          <p:spTgt spid="375811">
                                            <p:txEl>
                                              <p:pRg st="0" end="0"/>
                                            </p:txEl>
                                          </p:spTgt>
                                        </p:tgtEl>
                                      </p:cBhvr>
                                    </p:animEffect>
                                    <p:anim calcmode="lin" valueType="num">
                                      <p:cBhvr>
                                        <p:cTn id="8" dur="1000" fill="hold"/>
                                        <p:tgtEl>
                                          <p:spTgt spid="37581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75811">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75811">
                                            <p:txEl>
                                              <p:pRg st="1" end="1"/>
                                            </p:txEl>
                                          </p:spTgt>
                                        </p:tgtEl>
                                        <p:attrNameLst>
                                          <p:attrName>style.visibility</p:attrName>
                                        </p:attrNameLst>
                                      </p:cBhvr>
                                      <p:to>
                                        <p:strVal val="visible"/>
                                      </p:to>
                                    </p:set>
                                    <p:animEffect transition="in" filter="fade">
                                      <p:cBhvr>
                                        <p:cTn id="12" dur="1000"/>
                                        <p:tgtEl>
                                          <p:spTgt spid="375811">
                                            <p:txEl>
                                              <p:pRg st="1" end="1"/>
                                            </p:txEl>
                                          </p:spTgt>
                                        </p:tgtEl>
                                      </p:cBhvr>
                                    </p:animEffect>
                                    <p:anim calcmode="lin" valueType="num">
                                      <p:cBhvr>
                                        <p:cTn id="13" dur="1000" fill="hold"/>
                                        <p:tgtEl>
                                          <p:spTgt spid="375811">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7581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75811">
                                            <p:txEl>
                                              <p:pRg st="2" end="2"/>
                                            </p:txEl>
                                          </p:spTgt>
                                        </p:tgtEl>
                                        <p:attrNameLst>
                                          <p:attrName>style.visibility</p:attrName>
                                        </p:attrNameLst>
                                      </p:cBhvr>
                                      <p:to>
                                        <p:strVal val="visible"/>
                                      </p:to>
                                    </p:set>
                                    <p:animEffect transition="in" filter="fade">
                                      <p:cBhvr>
                                        <p:cTn id="19" dur="1000"/>
                                        <p:tgtEl>
                                          <p:spTgt spid="375811">
                                            <p:txEl>
                                              <p:pRg st="2" end="2"/>
                                            </p:txEl>
                                          </p:spTgt>
                                        </p:tgtEl>
                                      </p:cBhvr>
                                    </p:animEffect>
                                    <p:anim calcmode="lin" valueType="num">
                                      <p:cBhvr>
                                        <p:cTn id="20" dur="1000" fill="hold"/>
                                        <p:tgtEl>
                                          <p:spTgt spid="375811">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75811">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11" grpId="0" build="p"/>
    </p:bld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7859" name="Rectangle 3">
            <a:extLst>
              <a:ext uri="{FF2B5EF4-FFF2-40B4-BE49-F238E27FC236}">
                <a16:creationId xmlns:a16="http://schemas.microsoft.com/office/drawing/2014/main" id="{472D6193-D64C-CA14-5942-A8D3A2CC2C37}"/>
              </a:ext>
            </a:extLst>
          </p:cNvPr>
          <p:cNvSpPr>
            <a:spLocks noGrp="1"/>
          </p:cNvSpPr>
          <p:nvPr>
            <p:ph idx="1"/>
          </p:nvPr>
        </p:nvSpPr>
        <p:spPr>
          <a:xfrm>
            <a:off x="1981200" y="1481138"/>
            <a:ext cx="8229600" cy="4157662"/>
          </a:xfrm>
        </p:spPr>
        <p:txBody>
          <a:bodyPr/>
          <a:lstStyle/>
          <a:p>
            <a:pPr marL="342900" indent="-342900" eaLnBrk="1" hangingPunct="1">
              <a:lnSpc>
                <a:spcPct val="90000"/>
              </a:lnSpc>
            </a:pPr>
            <a:r>
              <a:rPr lang="en-US" altLang="en-US" sz="3600">
                <a:latin typeface="Times New Roman" panose="02020603050405020304" pitchFamily="18" charset="0"/>
                <a:ea typeface="ＭＳ Ｐゴシック" panose="020B0600070205080204" pitchFamily="34" charset="-128"/>
              </a:rPr>
              <a:t>Side effects matter.</a:t>
            </a:r>
          </a:p>
          <a:p>
            <a:pPr marL="742950" lvl="1" indent="-285750" eaLnBrk="1" hangingPunct="1">
              <a:lnSpc>
                <a:spcPct val="90000"/>
              </a:lnSpc>
            </a:pPr>
            <a:r>
              <a:rPr lang="en-US" altLang="en-US" sz="3200">
                <a:latin typeface="Times New Roman" panose="02020603050405020304" pitchFamily="18" charset="0"/>
                <a:ea typeface="ＭＳ Ｐゴシック" panose="020B0600070205080204" pitchFamily="34" charset="-128"/>
              </a:rPr>
              <a:t>Erosion is a “bad” thing. If our new product causes existing customers to demand less of our current products, we need to recognize that.</a:t>
            </a:r>
          </a:p>
          <a:p>
            <a:pPr marL="742950" lvl="1" indent="-285750" eaLnBrk="1" hangingPunct="1">
              <a:lnSpc>
                <a:spcPct val="90000"/>
              </a:lnSpc>
            </a:pPr>
            <a:r>
              <a:rPr lang="en-US" altLang="en-US" sz="3200">
                <a:latin typeface="Times New Roman" panose="02020603050405020304" pitchFamily="18" charset="0"/>
                <a:ea typeface="ＭＳ Ｐゴシック" panose="020B0600070205080204" pitchFamily="34" charset="-128"/>
              </a:rPr>
              <a:t>If, however, synergies result that create increased demand of existing products, we also need to recognize that.</a:t>
            </a:r>
          </a:p>
        </p:txBody>
      </p:sp>
      <p:sp>
        <p:nvSpPr>
          <p:cNvPr id="17410" name="Rectangle 2">
            <a:extLst>
              <a:ext uri="{FF2B5EF4-FFF2-40B4-BE49-F238E27FC236}">
                <a16:creationId xmlns:a16="http://schemas.microsoft.com/office/drawing/2014/main" id="{73360255-18B4-2FEC-CA97-C9B5C64E8742}"/>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Incremental Cash Flows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77859">
                                            <p:txEl>
                                              <p:pRg st="1" end="1"/>
                                            </p:txEl>
                                          </p:spTgt>
                                        </p:tgtEl>
                                        <p:attrNameLst>
                                          <p:attrName>style.visibility</p:attrName>
                                        </p:attrNameLst>
                                      </p:cBhvr>
                                      <p:to>
                                        <p:strVal val="visible"/>
                                      </p:to>
                                    </p:set>
                                    <p:animEffect transition="in" filter="fade">
                                      <p:cBhvr>
                                        <p:cTn id="7" dur="1000"/>
                                        <p:tgtEl>
                                          <p:spTgt spid="377859">
                                            <p:txEl>
                                              <p:pRg st="1" end="1"/>
                                            </p:txEl>
                                          </p:spTgt>
                                        </p:tgtEl>
                                      </p:cBhvr>
                                    </p:animEffect>
                                    <p:anim calcmode="lin" valueType="num">
                                      <p:cBhvr>
                                        <p:cTn id="8" dur="1000" fill="hold"/>
                                        <p:tgtEl>
                                          <p:spTgt spid="37785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7785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377859">
                                            <p:txEl>
                                              <p:pRg st="2" end="2"/>
                                            </p:txEl>
                                          </p:spTgt>
                                        </p:tgtEl>
                                        <p:attrNameLst>
                                          <p:attrName>style.visibility</p:attrName>
                                        </p:attrNameLst>
                                      </p:cBhvr>
                                      <p:to>
                                        <p:strVal val="visible"/>
                                      </p:to>
                                    </p:set>
                                    <p:animEffect transition="in" filter="fade">
                                      <p:cBhvr>
                                        <p:cTn id="14" dur="1000"/>
                                        <p:tgtEl>
                                          <p:spTgt spid="377859">
                                            <p:txEl>
                                              <p:pRg st="2" end="2"/>
                                            </p:txEl>
                                          </p:spTgt>
                                        </p:tgtEl>
                                      </p:cBhvr>
                                    </p:animEffect>
                                    <p:anim calcmode="lin" valueType="num">
                                      <p:cBhvr>
                                        <p:cTn id="15" dur="1000" fill="hold"/>
                                        <p:tgtEl>
                                          <p:spTgt spid="377859">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77859">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9907" name="Rectangle 3">
            <a:extLst>
              <a:ext uri="{FF2B5EF4-FFF2-40B4-BE49-F238E27FC236}">
                <a16:creationId xmlns:a16="http://schemas.microsoft.com/office/drawing/2014/main" id="{6CFC1230-1985-A4B8-FA76-F6866507F7A4}"/>
              </a:ext>
            </a:extLst>
          </p:cNvPr>
          <p:cNvSpPr>
            <a:spLocks noGrp="1"/>
          </p:cNvSpPr>
          <p:nvPr>
            <p:ph idx="1"/>
          </p:nvPr>
        </p:nvSpPr>
        <p:spPr>
          <a:xfrm>
            <a:off x="1981200" y="1481138"/>
            <a:ext cx="8229600" cy="3624262"/>
          </a:xfrm>
        </p:spPr>
        <p:txBody>
          <a:bodyPr/>
          <a:lstStyle/>
          <a:p>
            <a:pPr marL="342900" indent="-342900" eaLnBrk="1" hangingPunct="1"/>
            <a:r>
              <a:rPr lang="en-US" altLang="en-US">
                <a:latin typeface="Times New Roman" panose="02020603050405020304" pitchFamily="18" charset="0"/>
                <a:ea typeface="ＭＳ Ｐゴシック" panose="020B0600070205080204" pitchFamily="34" charset="-128"/>
              </a:rPr>
              <a:t>Cash Flow from Operations</a:t>
            </a:r>
          </a:p>
          <a:p>
            <a:pPr marL="742950" lvl="1" indent="-285750" eaLnBrk="1" hangingPunct="1"/>
            <a:r>
              <a:rPr lang="en-US" altLang="en-US">
                <a:latin typeface="Times New Roman" panose="02020603050405020304" pitchFamily="18" charset="0"/>
                <a:ea typeface="ＭＳ Ｐゴシック" panose="020B0600070205080204" pitchFamily="34" charset="-128"/>
              </a:rPr>
              <a:t>Recall that:</a:t>
            </a:r>
          </a:p>
          <a:p>
            <a:pPr marL="742950" lvl="1" indent="-285750" eaLnBrk="1" hangingPunct="1">
              <a:buNone/>
            </a:pPr>
            <a:r>
              <a:rPr lang="en-US" altLang="en-US">
                <a:latin typeface="Times New Roman" panose="02020603050405020304" pitchFamily="18" charset="0"/>
                <a:ea typeface="ＭＳ Ｐゴシック" panose="020B0600070205080204" pitchFamily="34" charset="-128"/>
              </a:rPr>
              <a:t>		OCF = EBIT – Taxes + Depreciation</a:t>
            </a:r>
          </a:p>
          <a:p>
            <a:pPr marL="342900" indent="-342900" eaLnBrk="1" hangingPunct="1"/>
            <a:r>
              <a:rPr lang="en-US" altLang="en-US">
                <a:latin typeface="Times New Roman" panose="02020603050405020304" pitchFamily="18" charset="0"/>
                <a:ea typeface="ＭＳ Ｐゴシック" panose="020B0600070205080204" pitchFamily="34" charset="-128"/>
              </a:rPr>
              <a:t>Net Capital Spending</a:t>
            </a:r>
          </a:p>
          <a:p>
            <a:pPr marL="742950" lvl="1" indent="-285750" eaLnBrk="1" hangingPunct="1"/>
            <a:r>
              <a:rPr lang="en-US" altLang="en-US">
                <a:latin typeface="Times New Roman" panose="02020603050405020304" pitchFamily="18" charset="0"/>
                <a:ea typeface="ＭＳ Ｐゴシック" panose="020B0600070205080204" pitchFamily="34" charset="-128"/>
              </a:rPr>
              <a:t>Do not forget salvage value (after tax, of course).</a:t>
            </a:r>
          </a:p>
          <a:p>
            <a:pPr marL="342900" indent="-342900" eaLnBrk="1" hangingPunct="1"/>
            <a:r>
              <a:rPr lang="en-US" altLang="en-US">
                <a:latin typeface="Times New Roman" panose="02020603050405020304" pitchFamily="18" charset="0"/>
                <a:ea typeface="ＭＳ Ｐゴシック" panose="020B0600070205080204" pitchFamily="34" charset="-128"/>
              </a:rPr>
              <a:t>Changes in Net Working Capital</a:t>
            </a:r>
          </a:p>
          <a:p>
            <a:pPr marL="742950" lvl="1" indent="-285750" eaLnBrk="1" hangingPunct="1"/>
            <a:r>
              <a:rPr lang="en-US" altLang="en-US">
                <a:latin typeface="Times New Roman" panose="02020603050405020304" pitchFamily="18" charset="0"/>
                <a:ea typeface="ＭＳ Ｐゴシック" panose="020B0600070205080204" pitchFamily="34" charset="-128"/>
              </a:rPr>
              <a:t>Recall that when the project winds down, we enjoy a return of net working capital.</a:t>
            </a:r>
          </a:p>
        </p:txBody>
      </p:sp>
      <p:sp>
        <p:nvSpPr>
          <p:cNvPr id="19458" name="Rectangle 2">
            <a:extLst>
              <a:ext uri="{FF2B5EF4-FFF2-40B4-BE49-F238E27FC236}">
                <a16:creationId xmlns:a16="http://schemas.microsoft.com/office/drawing/2014/main" id="{269268EA-C53C-7377-7F5F-E5B45076F603}"/>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Estimating Cash Flows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79907">
                                            <p:txEl>
                                              <p:pRg st="0" end="0"/>
                                            </p:txEl>
                                          </p:spTgt>
                                        </p:tgtEl>
                                        <p:attrNameLst>
                                          <p:attrName>style.visibility</p:attrName>
                                        </p:attrNameLst>
                                      </p:cBhvr>
                                      <p:to>
                                        <p:strVal val="visible"/>
                                      </p:to>
                                    </p:set>
                                    <p:animEffect transition="in" filter="fade">
                                      <p:cBhvr>
                                        <p:cTn id="7" dur="1000"/>
                                        <p:tgtEl>
                                          <p:spTgt spid="379907">
                                            <p:txEl>
                                              <p:pRg st="0" end="0"/>
                                            </p:txEl>
                                          </p:spTgt>
                                        </p:tgtEl>
                                      </p:cBhvr>
                                    </p:animEffect>
                                    <p:anim calcmode="lin" valueType="num">
                                      <p:cBhvr>
                                        <p:cTn id="8" dur="1000" fill="hold"/>
                                        <p:tgtEl>
                                          <p:spTgt spid="37990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7990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79907">
                                            <p:txEl>
                                              <p:pRg st="1" end="1"/>
                                            </p:txEl>
                                          </p:spTgt>
                                        </p:tgtEl>
                                        <p:attrNameLst>
                                          <p:attrName>style.visibility</p:attrName>
                                        </p:attrNameLst>
                                      </p:cBhvr>
                                      <p:to>
                                        <p:strVal val="visible"/>
                                      </p:to>
                                    </p:set>
                                    <p:animEffect transition="in" filter="fade">
                                      <p:cBhvr>
                                        <p:cTn id="12" dur="1000"/>
                                        <p:tgtEl>
                                          <p:spTgt spid="379907">
                                            <p:txEl>
                                              <p:pRg st="1" end="1"/>
                                            </p:txEl>
                                          </p:spTgt>
                                        </p:tgtEl>
                                      </p:cBhvr>
                                    </p:animEffect>
                                    <p:anim calcmode="lin" valueType="num">
                                      <p:cBhvr>
                                        <p:cTn id="13" dur="1000" fill="hold"/>
                                        <p:tgtEl>
                                          <p:spTgt spid="37990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79907">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79907">
                                            <p:txEl>
                                              <p:pRg st="2" end="2"/>
                                            </p:txEl>
                                          </p:spTgt>
                                        </p:tgtEl>
                                        <p:attrNameLst>
                                          <p:attrName>style.visibility</p:attrName>
                                        </p:attrNameLst>
                                      </p:cBhvr>
                                      <p:to>
                                        <p:strVal val="visible"/>
                                      </p:to>
                                    </p:set>
                                    <p:animEffect transition="in" filter="fade">
                                      <p:cBhvr>
                                        <p:cTn id="17" dur="1000"/>
                                        <p:tgtEl>
                                          <p:spTgt spid="379907">
                                            <p:txEl>
                                              <p:pRg st="2" end="2"/>
                                            </p:txEl>
                                          </p:spTgt>
                                        </p:tgtEl>
                                      </p:cBhvr>
                                    </p:animEffect>
                                    <p:anim calcmode="lin" valueType="num">
                                      <p:cBhvr>
                                        <p:cTn id="18" dur="1000" fill="hold"/>
                                        <p:tgtEl>
                                          <p:spTgt spid="379907">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7990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379907">
                                            <p:txEl>
                                              <p:pRg st="3" end="3"/>
                                            </p:txEl>
                                          </p:spTgt>
                                        </p:tgtEl>
                                        <p:attrNameLst>
                                          <p:attrName>style.visibility</p:attrName>
                                        </p:attrNameLst>
                                      </p:cBhvr>
                                      <p:to>
                                        <p:strVal val="visible"/>
                                      </p:to>
                                    </p:set>
                                    <p:animEffect transition="in" filter="fade">
                                      <p:cBhvr>
                                        <p:cTn id="24" dur="1000"/>
                                        <p:tgtEl>
                                          <p:spTgt spid="379907">
                                            <p:txEl>
                                              <p:pRg st="3" end="3"/>
                                            </p:txEl>
                                          </p:spTgt>
                                        </p:tgtEl>
                                      </p:cBhvr>
                                    </p:animEffect>
                                    <p:anim calcmode="lin" valueType="num">
                                      <p:cBhvr>
                                        <p:cTn id="25" dur="1000" fill="hold"/>
                                        <p:tgtEl>
                                          <p:spTgt spid="379907">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79907">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79907">
                                            <p:txEl>
                                              <p:pRg st="4" end="4"/>
                                            </p:txEl>
                                          </p:spTgt>
                                        </p:tgtEl>
                                        <p:attrNameLst>
                                          <p:attrName>style.visibility</p:attrName>
                                        </p:attrNameLst>
                                      </p:cBhvr>
                                      <p:to>
                                        <p:strVal val="visible"/>
                                      </p:to>
                                    </p:set>
                                    <p:animEffect transition="in" filter="fade">
                                      <p:cBhvr>
                                        <p:cTn id="29" dur="1000"/>
                                        <p:tgtEl>
                                          <p:spTgt spid="379907">
                                            <p:txEl>
                                              <p:pRg st="4" end="4"/>
                                            </p:txEl>
                                          </p:spTgt>
                                        </p:tgtEl>
                                      </p:cBhvr>
                                    </p:animEffect>
                                    <p:anim calcmode="lin" valueType="num">
                                      <p:cBhvr>
                                        <p:cTn id="30" dur="1000" fill="hold"/>
                                        <p:tgtEl>
                                          <p:spTgt spid="379907">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7990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379907">
                                            <p:txEl>
                                              <p:pRg st="5" end="5"/>
                                            </p:txEl>
                                          </p:spTgt>
                                        </p:tgtEl>
                                        <p:attrNameLst>
                                          <p:attrName>style.visibility</p:attrName>
                                        </p:attrNameLst>
                                      </p:cBhvr>
                                      <p:to>
                                        <p:strVal val="visible"/>
                                      </p:to>
                                    </p:set>
                                    <p:animEffect transition="in" filter="fade">
                                      <p:cBhvr>
                                        <p:cTn id="36" dur="1000"/>
                                        <p:tgtEl>
                                          <p:spTgt spid="379907">
                                            <p:txEl>
                                              <p:pRg st="5" end="5"/>
                                            </p:txEl>
                                          </p:spTgt>
                                        </p:tgtEl>
                                      </p:cBhvr>
                                    </p:animEffect>
                                    <p:anim calcmode="lin" valueType="num">
                                      <p:cBhvr>
                                        <p:cTn id="37" dur="1000" fill="hold"/>
                                        <p:tgtEl>
                                          <p:spTgt spid="379907">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379907">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379907">
                                            <p:txEl>
                                              <p:pRg st="6" end="6"/>
                                            </p:txEl>
                                          </p:spTgt>
                                        </p:tgtEl>
                                        <p:attrNameLst>
                                          <p:attrName>style.visibility</p:attrName>
                                        </p:attrNameLst>
                                      </p:cBhvr>
                                      <p:to>
                                        <p:strVal val="visible"/>
                                      </p:to>
                                    </p:set>
                                    <p:animEffect transition="in" filter="fade">
                                      <p:cBhvr>
                                        <p:cTn id="41" dur="1000"/>
                                        <p:tgtEl>
                                          <p:spTgt spid="379907">
                                            <p:txEl>
                                              <p:pRg st="6" end="6"/>
                                            </p:txEl>
                                          </p:spTgt>
                                        </p:tgtEl>
                                      </p:cBhvr>
                                    </p:animEffect>
                                    <p:anim calcmode="lin" valueType="num">
                                      <p:cBhvr>
                                        <p:cTn id="42" dur="1000" fill="hold"/>
                                        <p:tgtEl>
                                          <p:spTgt spid="379907">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37990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907" grpId="0" build="p"/>
    </p:bldLst>
  </p:timing>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0931" name="Rectangle 3">
            <a:extLst>
              <a:ext uri="{FF2B5EF4-FFF2-40B4-BE49-F238E27FC236}">
                <a16:creationId xmlns:a16="http://schemas.microsoft.com/office/drawing/2014/main" id="{40F28EA1-E449-C8B2-A5B9-834B5B6962DF}"/>
              </a:ext>
            </a:extLst>
          </p:cNvPr>
          <p:cNvSpPr>
            <a:spLocks noGrp="1"/>
          </p:cNvSpPr>
          <p:nvPr>
            <p:ph idx="1"/>
          </p:nvPr>
        </p:nvSpPr>
        <p:spPr/>
        <p:txBody>
          <a:bodyPr/>
          <a:lstStyle/>
          <a:p>
            <a:pPr marL="342900" indent="-342900" eaLnBrk="1" hangingPunct="1"/>
            <a:r>
              <a:rPr lang="en-US" altLang="en-US" sz="2800">
                <a:latin typeface="Times New Roman" panose="02020603050405020304" pitchFamily="18" charset="0"/>
                <a:ea typeface="ＭＳ Ｐゴシック" panose="020B0600070205080204" pitchFamily="34" charset="-128"/>
              </a:rPr>
              <a:t>For now, it is enough to assume that the firm’s level of debt (and, hence, interest expense) is independent of the project at hand. However, in reality, we need to consider interest expense if we use debt financing.</a:t>
            </a:r>
          </a:p>
          <a:p>
            <a:pPr marL="342900" indent="-342900" eaLnBrk="1" hangingPunct="1"/>
            <a:endParaRPr lang="en-US" altLang="en-US" sz="3300">
              <a:ea typeface="ＭＳ Ｐゴシック" panose="020B0600070205080204" pitchFamily="34" charset="-128"/>
            </a:endParaRPr>
          </a:p>
        </p:txBody>
      </p:sp>
      <p:sp>
        <p:nvSpPr>
          <p:cNvPr id="21506" name="Rectangle 2">
            <a:extLst>
              <a:ext uri="{FF2B5EF4-FFF2-40B4-BE49-F238E27FC236}">
                <a16:creationId xmlns:a16="http://schemas.microsoft.com/office/drawing/2014/main" id="{84F4A4D8-9A77-358D-5EB6-2952279E8889}"/>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Interest Expense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80931">
                                            <p:txEl>
                                              <p:pRg st="0" end="0"/>
                                            </p:txEl>
                                          </p:spTgt>
                                        </p:tgtEl>
                                        <p:attrNameLst>
                                          <p:attrName>style.visibility</p:attrName>
                                        </p:attrNameLst>
                                      </p:cBhvr>
                                      <p:to>
                                        <p:strVal val="visible"/>
                                      </p:to>
                                    </p:set>
                                    <p:animEffect transition="in" filter="fade">
                                      <p:cBhvr>
                                        <p:cTn id="7" dur="1000"/>
                                        <p:tgtEl>
                                          <p:spTgt spid="380931">
                                            <p:txEl>
                                              <p:pRg st="0" end="0"/>
                                            </p:txEl>
                                          </p:spTgt>
                                        </p:tgtEl>
                                      </p:cBhvr>
                                    </p:animEffect>
                                    <p:anim calcmode="lin" valueType="num">
                                      <p:cBhvr>
                                        <p:cTn id="8" dur="1000" fill="hold"/>
                                        <p:tgtEl>
                                          <p:spTgt spid="38093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80931">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0931" grpId="0" build="p"/>
    </p:bldLst>
  </p:timing>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1955" name="Rectangle 3">
            <a:extLst>
              <a:ext uri="{FF2B5EF4-FFF2-40B4-BE49-F238E27FC236}">
                <a16:creationId xmlns:a16="http://schemas.microsoft.com/office/drawing/2014/main" id="{B95304E3-7187-1E4D-8547-1CF4C4355223}"/>
              </a:ext>
            </a:extLst>
          </p:cNvPr>
          <p:cNvSpPr>
            <a:spLocks noGrp="1"/>
          </p:cNvSpPr>
          <p:nvPr>
            <p:ph idx="1"/>
          </p:nvPr>
        </p:nvSpPr>
        <p:spPr>
          <a:xfrm>
            <a:off x="2057400" y="1295400"/>
            <a:ext cx="8077200" cy="4495800"/>
          </a:xfrm>
        </p:spPr>
        <p:txBody>
          <a:bodyPr/>
          <a:lstStyle/>
          <a:p>
            <a:pPr marL="342900" indent="-342900" eaLnBrk="1" hangingPunct="1">
              <a:lnSpc>
                <a:spcPct val="70000"/>
              </a:lnSpc>
              <a:buClr>
                <a:schemeClr val="tx2"/>
              </a:buClr>
              <a:buSzPct val="70000"/>
              <a:buFont typeface="Wingdings" panose="05000000000000000000" pitchFamily="2" charset="2"/>
              <a:buChar char="q"/>
            </a:pPr>
            <a:r>
              <a:rPr lang="en-US" altLang="en-US" sz="2800">
                <a:latin typeface="Times New Roman" panose="02020603050405020304" pitchFamily="18" charset="0"/>
                <a:ea typeface="ＭＳ Ｐゴシック" panose="020B0600070205080204" pitchFamily="34" charset="-128"/>
              </a:rPr>
              <a:t>Costs of test marketing (already spent): $250,000</a:t>
            </a:r>
          </a:p>
          <a:p>
            <a:pPr marL="342900" indent="-342900" eaLnBrk="1" hangingPunct="1">
              <a:lnSpc>
                <a:spcPct val="70000"/>
              </a:lnSpc>
              <a:buClr>
                <a:schemeClr val="tx2"/>
              </a:buClr>
              <a:buSzPct val="70000"/>
              <a:buNone/>
            </a:pPr>
            <a:endParaRPr lang="en-US" altLang="en-US" sz="2800">
              <a:latin typeface="Times New Roman" panose="02020603050405020304" pitchFamily="18" charset="0"/>
              <a:ea typeface="ＭＳ Ｐゴシック" panose="020B0600070205080204" pitchFamily="34" charset="-128"/>
            </a:endParaRPr>
          </a:p>
          <a:p>
            <a:pPr marL="342900" indent="-342900" eaLnBrk="1" hangingPunct="1">
              <a:lnSpc>
                <a:spcPct val="70000"/>
              </a:lnSpc>
              <a:buClr>
                <a:schemeClr val="tx2"/>
              </a:buClr>
              <a:buSzPct val="70000"/>
              <a:buFont typeface="Wingdings" panose="05000000000000000000" pitchFamily="2" charset="2"/>
              <a:buChar char="q"/>
            </a:pPr>
            <a:r>
              <a:rPr lang="en-US" altLang="en-US" sz="2800">
                <a:latin typeface="Times New Roman" panose="02020603050405020304" pitchFamily="18" charset="0"/>
                <a:ea typeface="ＭＳ Ｐゴシック" panose="020B0600070205080204" pitchFamily="34" charset="-128"/>
              </a:rPr>
              <a:t>Current market value of proposed factory site (which we own): $150,000</a:t>
            </a:r>
          </a:p>
          <a:p>
            <a:pPr marL="342900" indent="-342900" eaLnBrk="1" hangingPunct="1">
              <a:lnSpc>
                <a:spcPct val="70000"/>
              </a:lnSpc>
              <a:buClr>
                <a:schemeClr val="tx2"/>
              </a:buClr>
              <a:buSzPct val="70000"/>
              <a:buNone/>
            </a:pPr>
            <a:endParaRPr lang="en-US" altLang="en-US" sz="2800">
              <a:latin typeface="Times New Roman" panose="02020603050405020304" pitchFamily="18" charset="0"/>
              <a:ea typeface="ＭＳ Ｐゴシック" panose="020B0600070205080204" pitchFamily="34" charset="-128"/>
            </a:endParaRPr>
          </a:p>
          <a:p>
            <a:pPr marL="342900" indent="-342900" eaLnBrk="1" hangingPunct="1">
              <a:lnSpc>
                <a:spcPct val="70000"/>
              </a:lnSpc>
              <a:buClr>
                <a:schemeClr val="tx2"/>
              </a:buClr>
              <a:buSzPct val="70000"/>
              <a:buFont typeface="Wingdings" panose="05000000000000000000" pitchFamily="2" charset="2"/>
              <a:buChar char="q"/>
            </a:pPr>
            <a:r>
              <a:rPr lang="en-US" altLang="en-US" sz="2800">
                <a:latin typeface="Times New Roman" panose="02020603050405020304" pitchFamily="18" charset="0"/>
                <a:ea typeface="ＭＳ Ｐゴシック" panose="020B0600070205080204" pitchFamily="34" charset="-128"/>
              </a:rPr>
              <a:t>Cost of bowling ball machine: $100,000 (depreciated according to MACRS 5-year)</a:t>
            </a:r>
          </a:p>
          <a:p>
            <a:pPr marL="342900" indent="-342900" eaLnBrk="1" hangingPunct="1">
              <a:lnSpc>
                <a:spcPct val="70000"/>
              </a:lnSpc>
              <a:buClr>
                <a:schemeClr val="tx2"/>
              </a:buClr>
              <a:buSzPct val="70000"/>
              <a:buNone/>
            </a:pPr>
            <a:endParaRPr lang="en-US" altLang="en-US" sz="2800">
              <a:latin typeface="Times New Roman" panose="02020603050405020304" pitchFamily="18" charset="0"/>
              <a:ea typeface="ＭＳ Ｐゴシック" panose="020B0600070205080204" pitchFamily="34" charset="-128"/>
            </a:endParaRPr>
          </a:p>
          <a:p>
            <a:pPr marL="342900" indent="-342900" eaLnBrk="1" hangingPunct="1">
              <a:lnSpc>
                <a:spcPct val="70000"/>
              </a:lnSpc>
              <a:buClr>
                <a:schemeClr val="tx2"/>
              </a:buClr>
              <a:buSzPct val="70000"/>
              <a:buFont typeface="Wingdings" panose="05000000000000000000" pitchFamily="2" charset="2"/>
              <a:buChar char="q"/>
            </a:pPr>
            <a:r>
              <a:rPr lang="en-US" altLang="en-US" sz="2800">
                <a:latin typeface="Times New Roman" panose="02020603050405020304" pitchFamily="18" charset="0"/>
                <a:ea typeface="ＭＳ Ｐゴシック" panose="020B0600070205080204" pitchFamily="34" charset="-128"/>
              </a:rPr>
              <a:t>Increase in net working capital: $10,000</a:t>
            </a:r>
          </a:p>
          <a:p>
            <a:pPr marL="342900" indent="-342900" eaLnBrk="1" hangingPunct="1">
              <a:lnSpc>
                <a:spcPct val="70000"/>
              </a:lnSpc>
              <a:buClr>
                <a:schemeClr val="tx2"/>
              </a:buClr>
              <a:buSzPct val="70000"/>
              <a:buNone/>
            </a:pPr>
            <a:endParaRPr lang="en-US" altLang="en-US" sz="2800">
              <a:latin typeface="Times New Roman" panose="02020603050405020304" pitchFamily="18" charset="0"/>
              <a:ea typeface="ＭＳ Ｐゴシック" panose="020B0600070205080204" pitchFamily="34" charset="-128"/>
            </a:endParaRPr>
          </a:p>
          <a:p>
            <a:pPr marL="342900" indent="-342900" eaLnBrk="1" hangingPunct="1">
              <a:lnSpc>
                <a:spcPct val="70000"/>
              </a:lnSpc>
              <a:buClr>
                <a:schemeClr val="tx2"/>
              </a:buClr>
              <a:buSzPct val="70000"/>
              <a:buFont typeface="Wingdings" panose="05000000000000000000" pitchFamily="2" charset="2"/>
              <a:buChar char="q"/>
            </a:pPr>
            <a:r>
              <a:rPr lang="en-US" altLang="en-US" sz="2800">
                <a:latin typeface="Times New Roman" panose="02020603050405020304" pitchFamily="18" charset="0"/>
                <a:ea typeface="ＭＳ Ｐゴシック" panose="020B0600070205080204" pitchFamily="34" charset="-128"/>
              </a:rPr>
              <a:t>Production (in units) by year during 5-year life of the machine: 5,000, 8,000, 12,000, 10,000, 6,000</a:t>
            </a:r>
          </a:p>
          <a:p>
            <a:pPr marL="342900" indent="-342900" eaLnBrk="1" hangingPunct="1">
              <a:lnSpc>
                <a:spcPct val="70000"/>
              </a:lnSpc>
              <a:buNone/>
            </a:pPr>
            <a:endParaRPr lang="en-US" altLang="en-US">
              <a:ea typeface="ＭＳ Ｐゴシック" panose="020B0600070205080204" pitchFamily="34" charset="-128"/>
            </a:endParaRPr>
          </a:p>
        </p:txBody>
      </p:sp>
      <p:sp>
        <p:nvSpPr>
          <p:cNvPr id="23554" name="Rectangle 2">
            <a:extLst>
              <a:ext uri="{FF2B5EF4-FFF2-40B4-BE49-F238E27FC236}">
                <a16:creationId xmlns:a16="http://schemas.microsoft.com/office/drawing/2014/main" id="{BA794AED-A54D-448F-C549-2E9309EE9DBF}"/>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Case study: The Baldwin Company</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81955">
                                            <p:txEl>
                                              <p:pRg st="0" end="0"/>
                                            </p:txEl>
                                          </p:spTgt>
                                        </p:tgtEl>
                                        <p:attrNameLst>
                                          <p:attrName>style.visibility</p:attrName>
                                        </p:attrNameLst>
                                      </p:cBhvr>
                                      <p:to>
                                        <p:strVal val="visible"/>
                                      </p:to>
                                    </p:set>
                                    <p:animEffect transition="in" filter="fade">
                                      <p:cBhvr>
                                        <p:cTn id="7" dur="1000"/>
                                        <p:tgtEl>
                                          <p:spTgt spid="381955">
                                            <p:txEl>
                                              <p:pRg st="0" end="0"/>
                                            </p:txEl>
                                          </p:spTgt>
                                        </p:tgtEl>
                                      </p:cBhvr>
                                    </p:animEffect>
                                    <p:anim calcmode="lin" valueType="num">
                                      <p:cBhvr>
                                        <p:cTn id="8" dur="1000" fill="hold"/>
                                        <p:tgtEl>
                                          <p:spTgt spid="38195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8195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81955">
                                            <p:txEl>
                                              <p:pRg st="2" end="2"/>
                                            </p:txEl>
                                          </p:spTgt>
                                        </p:tgtEl>
                                        <p:attrNameLst>
                                          <p:attrName>style.visibility</p:attrName>
                                        </p:attrNameLst>
                                      </p:cBhvr>
                                      <p:to>
                                        <p:strVal val="visible"/>
                                      </p:to>
                                    </p:set>
                                    <p:animEffect transition="in" filter="fade">
                                      <p:cBhvr>
                                        <p:cTn id="14" dur="1000"/>
                                        <p:tgtEl>
                                          <p:spTgt spid="381955">
                                            <p:txEl>
                                              <p:pRg st="2" end="2"/>
                                            </p:txEl>
                                          </p:spTgt>
                                        </p:tgtEl>
                                      </p:cBhvr>
                                    </p:animEffect>
                                    <p:anim calcmode="lin" valueType="num">
                                      <p:cBhvr>
                                        <p:cTn id="15" dur="1000" fill="hold"/>
                                        <p:tgtEl>
                                          <p:spTgt spid="381955">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8195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81955">
                                            <p:txEl>
                                              <p:pRg st="4" end="4"/>
                                            </p:txEl>
                                          </p:spTgt>
                                        </p:tgtEl>
                                        <p:attrNameLst>
                                          <p:attrName>style.visibility</p:attrName>
                                        </p:attrNameLst>
                                      </p:cBhvr>
                                      <p:to>
                                        <p:strVal val="visible"/>
                                      </p:to>
                                    </p:set>
                                    <p:animEffect transition="in" filter="fade">
                                      <p:cBhvr>
                                        <p:cTn id="21" dur="1000"/>
                                        <p:tgtEl>
                                          <p:spTgt spid="381955">
                                            <p:txEl>
                                              <p:pRg st="4" end="4"/>
                                            </p:txEl>
                                          </p:spTgt>
                                        </p:tgtEl>
                                      </p:cBhvr>
                                    </p:animEffect>
                                    <p:anim calcmode="lin" valueType="num">
                                      <p:cBhvr>
                                        <p:cTn id="22" dur="1000" fill="hold"/>
                                        <p:tgtEl>
                                          <p:spTgt spid="381955">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8195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81955">
                                            <p:txEl>
                                              <p:pRg st="6" end="6"/>
                                            </p:txEl>
                                          </p:spTgt>
                                        </p:tgtEl>
                                        <p:attrNameLst>
                                          <p:attrName>style.visibility</p:attrName>
                                        </p:attrNameLst>
                                      </p:cBhvr>
                                      <p:to>
                                        <p:strVal val="visible"/>
                                      </p:to>
                                    </p:set>
                                    <p:animEffect transition="in" filter="fade">
                                      <p:cBhvr>
                                        <p:cTn id="28" dur="1000"/>
                                        <p:tgtEl>
                                          <p:spTgt spid="381955">
                                            <p:txEl>
                                              <p:pRg st="6" end="6"/>
                                            </p:txEl>
                                          </p:spTgt>
                                        </p:tgtEl>
                                      </p:cBhvr>
                                    </p:animEffect>
                                    <p:anim calcmode="lin" valueType="num">
                                      <p:cBhvr>
                                        <p:cTn id="29" dur="1000" fill="hold"/>
                                        <p:tgtEl>
                                          <p:spTgt spid="381955">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8195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81955">
                                            <p:txEl>
                                              <p:pRg st="8" end="8"/>
                                            </p:txEl>
                                          </p:spTgt>
                                        </p:tgtEl>
                                        <p:attrNameLst>
                                          <p:attrName>style.visibility</p:attrName>
                                        </p:attrNameLst>
                                      </p:cBhvr>
                                      <p:to>
                                        <p:strVal val="visible"/>
                                      </p:to>
                                    </p:set>
                                    <p:animEffect transition="in" filter="fade">
                                      <p:cBhvr>
                                        <p:cTn id="35" dur="1000"/>
                                        <p:tgtEl>
                                          <p:spTgt spid="381955">
                                            <p:txEl>
                                              <p:pRg st="8" end="8"/>
                                            </p:txEl>
                                          </p:spTgt>
                                        </p:tgtEl>
                                      </p:cBhvr>
                                    </p:animEffect>
                                    <p:anim calcmode="lin" valueType="num">
                                      <p:cBhvr>
                                        <p:cTn id="36" dur="1000" fill="hold"/>
                                        <p:tgtEl>
                                          <p:spTgt spid="381955">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381955">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955"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a:extLst>
              <a:ext uri="{FF2B5EF4-FFF2-40B4-BE49-F238E27FC236}">
                <a16:creationId xmlns:a16="http://schemas.microsoft.com/office/drawing/2014/main" id="{87BE79CE-7FDB-B7EE-EC75-FBF8B4DFA263}"/>
              </a:ext>
            </a:extLst>
          </p:cNvPr>
          <p:cNvSpPr>
            <a:spLocks noGrp="1"/>
          </p:cNvSpPr>
          <p:nvPr>
            <p:ph idx="1"/>
          </p:nvPr>
        </p:nvSpPr>
        <p:spPr>
          <a:xfrm>
            <a:off x="1981200" y="1481138"/>
            <a:ext cx="8229600" cy="3624262"/>
          </a:xfrm>
        </p:spPr>
        <p:txBody>
          <a:bodyPr/>
          <a:lstStyle/>
          <a:p>
            <a:pPr eaLnBrk="1" hangingPunct="1">
              <a:buClr>
                <a:schemeClr val="tx2"/>
              </a:buClr>
              <a:buFont typeface="Wingdings" panose="05000000000000000000" pitchFamily="2" charset="2"/>
              <a:buChar char="q"/>
            </a:pPr>
            <a:r>
              <a:rPr lang="en-US" altLang="en-US" sz="2800">
                <a:latin typeface="Times New Roman" panose="02020603050405020304" pitchFamily="18" charset="0"/>
                <a:ea typeface="ＭＳ Ｐゴシック" panose="020B0600070205080204" pitchFamily="34" charset="-128"/>
              </a:rPr>
              <a:t>Price during first year is $20; price increases 2% per year thereafter.</a:t>
            </a:r>
          </a:p>
          <a:p>
            <a:pPr eaLnBrk="1" hangingPunct="1">
              <a:buClr>
                <a:schemeClr val="tx2"/>
              </a:buClr>
              <a:buFont typeface="Wingdings" panose="05000000000000000000" pitchFamily="2" charset="2"/>
              <a:buChar char="q"/>
            </a:pPr>
            <a:r>
              <a:rPr lang="en-US" altLang="en-US" sz="2800">
                <a:latin typeface="Times New Roman" panose="02020603050405020304" pitchFamily="18" charset="0"/>
                <a:ea typeface="ＭＳ Ｐゴシック" panose="020B0600070205080204" pitchFamily="34" charset="-128"/>
              </a:rPr>
              <a:t>Production costs during first year are $10 per unit and increase 10% per year thereafter.</a:t>
            </a:r>
          </a:p>
          <a:p>
            <a:pPr eaLnBrk="1" hangingPunct="1">
              <a:buClr>
                <a:schemeClr val="tx2"/>
              </a:buClr>
              <a:buFont typeface="Wingdings" panose="05000000000000000000" pitchFamily="2" charset="2"/>
              <a:buChar char="q"/>
            </a:pPr>
            <a:r>
              <a:rPr lang="en-US" altLang="en-US" sz="2800">
                <a:latin typeface="Times New Roman" panose="02020603050405020304" pitchFamily="18" charset="0"/>
                <a:ea typeface="ＭＳ Ｐゴシック" panose="020B0600070205080204" pitchFamily="34" charset="-128"/>
              </a:rPr>
              <a:t>Annual inflation rate: 5%</a:t>
            </a:r>
          </a:p>
          <a:p>
            <a:pPr eaLnBrk="1" hangingPunct="1">
              <a:buClr>
                <a:schemeClr val="tx2"/>
              </a:buClr>
              <a:buFont typeface="Wingdings" panose="05000000000000000000" pitchFamily="2" charset="2"/>
              <a:buChar char="q"/>
            </a:pPr>
            <a:r>
              <a:rPr lang="en-US" altLang="en-US" sz="2800">
                <a:latin typeface="Times New Roman" panose="02020603050405020304" pitchFamily="18" charset="0"/>
                <a:ea typeface="ＭＳ Ｐゴシック" panose="020B0600070205080204" pitchFamily="34" charset="-128"/>
              </a:rPr>
              <a:t>Working Capital: initial $10,000 changes with sales</a:t>
            </a:r>
          </a:p>
          <a:p>
            <a:pPr eaLnBrk="1" hangingPunct="1"/>
            <a:endParaRPr lang="en-US" altLang="en-US">
              <a:ea typeface="ＭＳ Ｐゴシック" panose="020B0600070205080204" pitchFamily="34" charset="-128"/>
            </a:endParaRPr>
          </a:p>
        </p:txBody>
      </p:sp>
      <p:sp>
        <p:nvSpPr>
          <p:cNvPr id="25602" name="Rectangle 2">
            <a:extLst>
              <a:ext uri="{FF2B5EF4-FFF2-40B4-BE49-F238E27FC236}">
                <a16:creationId xmlns:a16="http://schemas.microsoft.com/office/drawing/2014/main" id="{C587E56F-4CB1-F1E6-5B0F-946E98D90E13}"/>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The Baldwin Company</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5">
            <a:extLst>
              <a:ext uri="{FF2B5EF4-FFF2-40B4-BE49-F238E27FC236}">
                <a16:creationId xmlns:a16="http://schemas.microsoft.com/office/drawing/2014/main" id="{D7350FBD-2413-0F0F-4BB9-F265EA02936F}"/>
              </a:ext>
            </a:extLst>
          </p:cNvPr>
          <p:cNvSpPr>
            <a:spLocks noGrp="1"/>
          </p:cNvSpPr>
          <p:nvPr>
            <p:ph idx="1"/>
          </p:nvPr>
        </p:nvSpPr>
        <p:spPr>
          <a:xfrm>
            <a:off x="1752600" y="1617664"/>
            <a:ext cx="8534400" cy="4249737"/>
          </a:xfrm>
        </p:spPr>
        <p:txBody>
          <a:bodyPr/>
          <a:lstStyle/>
          <a:p>
            <a:pPr marL="342900" indent="-342900" eaLnBrk="1" hangingPunct="1">
              <a:lnSpc>
                <a:spcPct val="70000"/>
              </a:lnSpc>
              <a:spcBef>
                <a:spcPct val="30000"/>
              </a:spcBef>
              <a:buNone/>
            </a:pPr>
            <a:r>
              <a:rPr lang="en-US" altLang="en-US" sz="1800">
                <a:ea typeface="ＭＳ Ｐゴシック" panose="020B0600070205080204" pitchFamily="34" charset="-128"/>
              </a:rPr>
              <a:t>				 </a:t>
            </a:r>
            <a:r>
              <a:rPr lang="en-US" altLang="en-US" sz="1800" i="1">
                <a:latin typeface="Times New Roman" panose="02020603050405020304" pitchFamily="18" charset="0"/>
                <a:ea typeface="ＭＳ Ｐゴシック" panose="020B0600070205080204" pitchFamily="34" charset="-128"/>
              </a:rPr>
              <a:t>Year 0	Year 1	Year 2	Year 3	Year 4    Year 5 </a:t>
            </a:r>
          </a:p>
          <a:p>
            <a:pPr marL="342900" indent="-342900" eaLnBrk="1" hangingPunct="1">
              <a:lnSpc>
                <a:spcPct val="70000"/>
              </a:lnSpc>
              <a:spcBef>
                <a:spcPct val="30000"/>
              </a:spcBef>
              <a:buNone/>
            </a:pPr>
            <a:r>
              <a:rPr lang="en-US" altLang="en-US" sz="1800">
                <a:latin typeface="Times New Roman" panose="02020603050405020304" pitchFamily="18" charset="0"/>
                <a:ea typeface="ＭＳ Ｐゴシック" panose="020B0600070205080204" pitchFamily="34" charset="-128"/>
              </a:rPr>
              <a:t>Investments:</a:t>
            </a:r>
          </a:p>
          <a:p>
            <a:pPr marL="342900" indent="-342900" eaLnBrk="1" hangingPunct="1">
              <a:lnSpc>
                <a:spcPct val="70000"/>
              </a:lnSpc>
              <a:spcBef>
                <a:spcPct val="30000"/>
              </a:spcBef>
              <a:buNone/>
            </a:pPr>
            <a:r>
              <a:rPr lang="en-US" altLang="en-US" sz="1800">
                <a:latin typeface="Times New Roman" panose="02020603050405020304" pitchFamily="18" charset="0"/>
                <a:ea typeface="ＭＳ Ｐゴシック" panose="020B0600070205080204" pitchFamily="34" charset="-128"/>
              </a:rPr>
              <a:t>(1) Bowling ball machine	 –100.00				   	21.76*</a:t>
            </a:r>
          </a:p>
          <a:p>
            <a:pPr marL="342900" indent="-342900" eaLnBrk="1" hangingPunct="1">
              <a:lnSpc>
                <a:spcPct val="70000"/>
              </a:lnSpc>
              <a:spcBef>
                <a:spcPct val="30000"/>
              </a:spcBef>
              <a:buNone/>
            </a:pPr>
            <a:r>
              <a:rPr lang="en-US" altLang="en-US" sz="1800">
                <a:latin typeface="Times New Roman" panose="02020603050405020304" pitchFamily="18" charset="0"/>
                <a:ea typeface="ＭＳ Ｐゴシック" panose="020B0600070205080204" pitchFamily="34" charset="-128"/>
              </a:rPr>
              <a:t>(2) Accumulated 			20.00	52.00	71.20	82.72       94.24 </a:t>
            </a:r>
          </a:p>
          <a:p>
            <a:pPr marL="342900" indent="-342900" eaLnBrk="1" hangingPunct="1">
              <a:lnSpc>
                <a:spcPct val="70000"/>
              </a:lnSpc>
              <a:spcBef>
                <a:spcPct val="30000"/>
              </a:spcBef>
              <a:buNone/>
            </a:pPr>
            <a:r>
              <a:rPr lang="en-US" altLang="en-US" sz="1800">
                <a:latin typeface="Times New Roman" panose="02020603050405020304" pitchFamily="18" charset="0"/>
                <a:ea typeface="ＭＳ Ｐゴシック" panose="020B0600070205080204" pitchFamily="34" charset="-128"/>
              </a:rPr>
              <a:t>depreciation</a:t>
            </a:r>
          </a:p>
          <a:p>
            <a:pPr marL="342900" indent="-342900" eaLnBrk="1" hangingPunct="1">
              <a:lnSpc>
                <a:spcPct val="70000"/>
              </a:lnSpc>
              <a:spcBef>
                <a:spcPct val="30000"/>
              </a:spcBef>
              <a:buNone/>
            </a:pPr>
            <a:r>
              <a:rPr lang="en-US" altLang="en-US" sz="1800">
                <a:latin typeface="Times New Roman" panose="02020603050405020304" pitchFamily="18" charset="0"/>
                <a:ea typeface="ＭＳ Ｐゴシック" panose="020B0600070205080204" pitchFamily="34" charset="-128"/>
              </a:rPr>
              <a:t>(3)	Adjusted basis of 		80.00	48.00	28.80	17.28         5.76                machine after </a:t>
            </a:r>
            <a:br>
              <a:rPr lang="en-US" altLang="en-US" sz="1800">
                <a:latin typeface="Times New Roman" panose="02020603050405020304" pitchFamily="18" charset="0"/>
                <a:ea typeface="ＭＳ Ｐゴシック" panose="020B0600070205080204" pitchFamily="34" charset="-128"/>
              </a:rPr>
            </a:br>
            <a:r>
              <a:rPr lang="en-US" altLang="en-US" sz="1800">
                <a:latin typeface="Times New Roman" panose="02020603050405020304" pitchFamily="18" charset="0"/>
                <a:ea typeface="ＭＳ Ｐゴシック" panose="020B0600070205080204" pitchFamily="34" charset="-128"/>
              </a:rPr>
              <a:t>depreciation (end of year)</a:t>
            </a:r>
          </a:p>
          <a:p>
            <a:pPr marL="342900" indent="-342900" eaLnBrk="1" hangingPunct="1">
              <a:lnSpc>
                <a:spcPct val="70000"/>
              </a:lnSpc>
              <a:spcBef>
                <a:spcPct val="30000"/>
              </a:spcBef>
              <a:buNone/>
            </a:pPr>
            <a:r>
              <a:rPr lang="en-US" altLang="en-US" sz="1800">
                <a:latin typeface="Times New Roman" panose="02020603050405020304" pitchFamily="18" charset="0"/>
                <a:ea typeface="ＭＳ Ｐゴシック" panose="020B0600070205080204" pitchFamily="34" charset="-128"/>
              </a:rPr>
              <a:t>(4)	Opportunity cost	–150.00				              150.00</a:t>
            </a:r>
            <a:br>
              <a:rPr lang="en-US" altLang="en-US" sz="1800">
                <a:latin typeface="Times New Roman" panose="02020603050405020304" pitchFamily="18" charset="0"/>
                <a:ea typeface="ＭＳ Ｐゴシック" panose="020B0600070205080204" pitchFamily="34" charset="-128"/>
              </a:rPr>
            </a:br>
            <a:r>
              <a:rPr lang="en-US" altLang="en-US" sz="1800">
                <a:latin typeface="Times New Roman" panose="02020603050405020304" pitchFamily="18" charset="0"/>
                <a:ea typeface="ＭＳ Ｐゴシック" panose="020B0600070205080204" pitchFamily="34" charset="-128"/>
              </a:rPr>
              <a:t>(warehouse)</a:t>
            </a:r>
          </a:p>
          <a:p>
            <a:pPr marL="342900" indent="-342900" eaLnBrk="1" hangingPunct="1">
              <a:lnSpc>
                <a:spcPct val="70000"/>
              </a:lnSpc>
              <a:spcBef>
                <a:spcPct val="30000"/>
              </a:spcBef>
              <a:buNone/>
            </a:pPr>
            <a:r>
              <a:rPr lang="en-US" altLang="en-US" sz="1800">
                <a:latin typeface="Times New Roman" panose="02020603050405020304" pitchFamily="18" charset="0"/>
                <a:ea typeface="ＭＳ Ｐゴシック" panose="020B0600070205080204" pitchFamily="34" charset="-128"/>
              </a:rPr>
              <a:t>(5) Net working capital	   10.00	 10.00	16.32	24.97	21.22	      0 </a:t>
            </a:r>
          </a:p>
          <a:p>
            <a:pPr marL="342900" indent="-342900" eaLnBrk="1" hangingPunct="1">
              <a:lnSpc>
                <a:spcPct val="70000"/>
              </a:lnSpc>
              <a:spcBef>
                <a:spcPct val="30000"/>
              </a:spcBef>
              <a:buNone/>
            </a:pPr>
            <a:r>
              <a:rPr lang="en-US" altLang="en-US" sz="1800">
                <a:latin typeface="Times New Roman" panose="02020603050405020304" pitchFamily="18" charset="0"/>
                <a:ea typeface="ＭＳ Ｐゴシック" panose="020B0600070205080204" pitchFamily="34" charset="-128"/>
              </a:rPr>
              <a:t>(end of year)</a:t>
            </a:r>
          </a:p>
          <a:p>
            <a:pPr marL="342900" indent="-342900" eaLnBrk="1" hangingPunct="1">
              <a:lnSpc>
                <a:spcPct val="70000"/>
              </a:lnSpc>
              <a:spcBef>
                <a:spcPct val="30000"/>
              </a:spcBef>
              <a:buNone/>
            </a:pPr>
            <a:r>
              <a:rPr lang="en-US" altLang="en-US" sz="1800">
                <a:latin typeface="Times New Roman" panose="02020603050405020304" pitchFamily="18" charset="0"/>
                <a:ea typeface="ＭＳ Ｐゴシック" panose="020B0600070205080204" pitchFamily="34" charset="-128"/>
              </a:rPr>
              <a:t>(6)	Change in net	  	–10.00		–6.32	 –8.65	  3.75      21.22 working capital</a:t>
            </a:r>
          </a:p>
          <a:p>
            <a:pPr marL="342900" indent="-342900" eaLnBrk="1" hangingPunct="1">
              <a:lnSpc>
                <a:spcPct val="70000"/>
              </a:lnSpc>
              <a:spcBef>
                <a:spcPct val="30000"/>
              </a:spcBef>
              <a:buNone/>
            </a:pPr>
            <a:r>
              <a:rPr lang="en-US" altLang="en-US" sz="1800">
                <a:latin typeface="Times New Roman" panose="02020603050405020304" pitchFamily="18" charset="0"/>
                <a:ea typeface="ＭＳ Ｐゴシック" panose="020B0600070205080204" pitchFamily="34" charset="-128"/>
              </a:rPr>
              <a:t>(7)	Total cash flow of	  –260.00		–6.32	 –8.65	  3.75    192.98 investment</a:t>
            </a:r>
            <a:br>
              <a:rPr lang="en-US" altLang="en-US" sz="1800">
                <a:latin typeface="Times New Roman" panose="02020603050405020304" pitchFamily="18" charset="0"/>
                <a:ea typeface="ＭＳ Ｐゴシック" panose="020B0600070205080204" pitchFamily="34" charset="-128"/>
              </a:rPr>
            </a:br>
            <a:r>
              <a:rPr lang="en-US" altLang="en-US" sz="1800">
                <a:latin typeface="Times New Roman" panose="02020603050405020304" pitchFamily="18" charset="0"/>
                <a:ea typeface="ＭＳ Ｐゴシック" panose="020B0600070205080204" pitchFamily="34" charset="-128"/>
              </a:rPr>
              <a:t>[(1) + (4) + (6)]</a:t>
            </a:r>
          </a:p>
          <a:p>
            <a:pPr marL="342900" indent="-342900" eaLnBrk="1" hangingPunct="1">
              <a:lnSpc>
                <a:spcPct val="70000"/>
              </a:lnSpc>
              <a:spcBef>
                <a:spcPct val="30000"/>
              </a:spcBef>
            </a:pPr>
            <a:endParaRPr lang="en-US" altLang="en-US" sz="1800">
              <a:ea typeface="ＭＳ Ｐゴシック" panose="020B0600070205080204" pitchFamily="34" charset="-128"/>
            </a:endParaRPr>
          </a:p>
        </p:txBody>
      </p:sp>
      <p:sp>
        <p:nvSpPr>
          <p:cNvPr id="27650" name="Rectangle 4">
            <a:extLst>
              <a:ext uri="{FF2B5EF4-FFF2-40B4-BE49-F238E27FC236}">
                <a16:creationId xmlns:a16="http://schemas.microsoft.com/office/drawing/2014/main" id="{B44F0E5D-5530-81AF-DE4C-20A359C7D657}"/>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The Baldwin Company</a:t>
            </a:r>
          </a:p>
        </p:txBody>
      </p:sp>
      <p:sp>
        <p:nvSpPr>
          <p:cNvPr id="384006" name="Rectangle 6">
            <a:extLst>
              <a:ext uri="{FF2B5EF4-FFF2-40B4-BE49-F238E27FC236}">
                <a16:creationId xmlns:a16="http://schemas.microsoft.com/office/drawing/2014/main" id="{80499925-5ABF-CEAB-85F3-10875216DEC8}"/>
              </a:ext>
            </a:extLst>
          </p:cNvPr>
          <p:cNvSpPr>
            <a:spLocks noChangeArrowheads="1"/>
          </p:cNvSpPr>
          <p:nvPr/>
        </p:nvSpPr>
        <p:spPr bwMode="auto">
          <a:xfrm>
            <a:off x="2667000" y="5203826"/>
            <a:ext cx="800100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lnSpc>
                <a:spcPct val="80000"/>
              </a:lnSpc>
              <a:spcBef>
                <a:spcPct val="0"/>
              </a:spcBef>
              <a:spcAft>
                <a:spcPct val="0"/>
              </a:spcAft>
            </a:pPr>
            <a:endParaRPr lang="en-US" altLang="en-US" sz="1200">
              <a:solidFill>
                <a:prstClr val="black"/>
              </a:solidFill>
            </a:endParaRPr>
          </a:p>
        </p:txBody>
      </p:sp>
      <p:sp>
        <p:nvSpPr>
          <p:cNvPr id="29701" name="Rectangle 7">
            <a:extLst>
              <a:ext uri="{FF2B5EF4-FFF2-40B4-BE49-F238E27FC236}">
                <a16:creationId xmlns:a16="http://schemas.microsoft.com/office/drawing/2014/main" id="{B22A3FE5-0158-9115-4D2E-F75962E29B2D}"/>
              </a:ext>
            </a:extLst>
          </p:cNvPr>
          <p:cNvSpPr>
            <a:spLocks noChangeArrowheads="1"/>
          </p:cNvSpPr>
          <p:nvPr/>
        </p:nvSpPr>
        <p:spPr bwMode="auto">
          <a:xfrm>
            <a:off x="3657601" y="1295400"/>
            <a:ext cx="5021263"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lnSpc>
                <a:spcPct val="80000"/>
              </a:lnSpc>
              <a:spcBef>
                <a:spcPct val="30000"/>
              </a:spcBef>
              <a:spcAft>
                <a:spcPct val="0"/>
              </a:spcAft>
            </a:pPr>
            <a:r>
              <a:rPr lang="en-US" altLang="en-US" sz="1600">
                <a:solidFill>
                  <a:prstClr val="black"/>
                </a:solidFill>
              </a:rPr>
              <a:t>($ thousands)  (All cash flows occur at the </a:t>
            </a:r>
            <a:r>
              <a:rPr lang="en-US" altLang="en-US" sz="1600" i="1">
                <a:solidFill>
                  <a:prstClr val="black"/>
                </a:solidFill>
              </a:rPr>
              <a:t>end</a:t>
            </a:r>
            <a:r>
              <a:rPr lang="en-US" altLang="en-US" sz="1600">
                <a:solidFill>
                  <a:prstClr val="black"/>
                </a:solidFill>
              </a:rPr>
              <a:t> of the year.)</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nodePh="1">
                                  <p:stCondLst>
                                    <p:cond delay="0"/>
                                  </p:stCondLst>
                                  <p:endCondLst>
                                    <p:cond evt="begin" delay="0">
                                      <p:tn val="5"/>
                                    </p:cond>
                                  </p:endCondLst>
                                  <p:childTnLst>
                                    <p:set>
                                      <p:cBhvr>
                                        <p:cTn id="6" dur="1" fill="hold">
                                          <p:stCondLst>
                                            <p:cond delay="499"/>
                                          </p:stCondLst>
                                        </p:cTn>
                                        <p:tgtEl>
                                          <p:spTgt spid="3840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006" grpId="0"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8">
            <a:extLst>
              <a:ext uri="{FF2B5EF4-FFF2-40B4-BE49-F238E27FC236}">
                <a16:creationId xmlns:a16="http://schemas.microsoft.com/office/drawing/2014/main" id="{5835B1E4-CFB1-7BC6-E1C1-0BB00D17C12C}"/>
              </a:ext>
            </a:extLst>
          </p:cNvPr>
          <p:cNvSpPr>
            <a:spLocks noGrp="1"/>
          </p:cNvSpPr>
          <p:nvPr>
            <p:ph idx="1"/>
          </p:nvPr>
        </p:nvSpPr>
        <p:spPr>
          <a:xfrm>
            <a:off x="1905000" y="1143000"/>
            <a:ext cx="8763000" cy="4800600"/>
          </a:xfrm>
        </p:spPr>
        <p:txBody>
          <a:bodyPr/>
          <a:lstStyle/>
          <a:p>
            <a:pPr marL="342900" indent="-342900" eaLnBrk="1" hangingPunct="1">
              <a:lnSpc>
                <a:spcPct val="70000"/>
              </a:lnSpc>
              <a:spcBef>
                <a:spcPct val="30000"/>
              </a:spcBef>
              <a:buNone/>
            </a:pPr>
            <a:r>
              <a:rPr lang="en-US" altLang="en-US" sz="1800">
                <a:latin typeface="Times New Roman" panose="02020603050405020304" pitchFamily="18" charset="0"/>
                <a:ea typeface="ＭＳ Ｐゴシック" panose="020B0600070205080204" pitchFamily="34" charset="-128"/>
              </a:rPr>
              <a:t>				</a:t>
            </a:r>
            <a:r>
              <a:rPr lang="en-US" altLang="en-US" sz="1800" i="1">
                <a:latin typeface="Times New Roman" panose="02020603050405020304" pitchFamily="18" charset="0"/>
                <a:ea typeface="ＭＳ Ｐゴシック" panose="020B0600070205080204" pitchFamily="34" charset="-128"/>
              </a:rPr>
              <a:t>Year 0	Year 1	Year 2	Year 3	Year 4    Year 5 </a:t>
            </a:r>
          </a:p>
          <a:p>
            <a:pPr marL="342900" indent="-342900" eaLnBrk="1" hangingPunct="1">
              <a:lnSpc>
                <a:spcPct val="70000"/>
              </a:lnSpc>
              <a:spcBef>
                <a:spcPct val="30000"/>
              </a:spcBef>
              <a:buNone/>
            </a:pPr>
            <a:r>
              <a:rPr lang="en-US" altLang="en-US" sz="1800">
                <a:latin typeface="Times New Roman" panose="02020603050405020304" pitchFamily="18" charset="0"/>
                <a:ea typeface="ＭＳ Ｐゴシック" panose="020B0600070205080204" pitchFamily="34" charset="-128"/>
              </a:rPr>
              <a:t>Investments:</a:t>
            </a:r>
          </a:p>
          <a:p>
            <a:pPr marL="342900" indent="-342900" eaLnBrk="1" hangingPunct="1">
              <a:lnSpc>
                <a:spcPct val="70000"/>
              </a:lnSpc>
              <a:spcBef>
                <a:spcPct val="30000"/>
              </a:spcBef>
              <a:buNone/>
            </a:pPr>
            <a:r>
              <a:rPr lang="en-US" altLang="en-US" sz="1800">
                <a:latin typeface="Times New Roman" panose="02020603050405020304" pitchFamily="18" charset="0"/>
                <a:ea typeface="ＭＳ Ｐゴシック" panose="020B0600070205080204" pitchFamily="34" charset="-128"/>
              </a:rPr>
              <a:t>(1) Bowling ball machine	–100.00				               21.76</a:t>
            </a:r>
          </a:p>
          <a:p>
            <a:pPr marL="342900" indent="-342900" eaLnBrk="1" hangingPunct="1">
              <a:lnSpc>
                <a:spcPct val="70000"/>
              </a:lnSpc>
              <a:spcBef>
                <a:spcPct val="30000"/>
              </a:spcBef>
              <a:buNone/>
            </a:pPr>
            <a:r>
              <a:rPr lang="en-US" altLang="en-US" sz="1800">
                <a:latin typeface="Times New Roman" panose="02020603050405020304" pitchFamily="18" charset="0"/>
                <a:ea typeface="ＭＳ Ｐゴシック" panose="020B0600070205080204" pitchFamily="34" charset="-128"/>
              </a:rPr>
              <a:t>(2) Accumulated 			20.00	52.00	71.20	82.72       94.24 depreciation</a:t>
            </a:r>
          </a:p>
          <a:p>
            <a:pPr marL="342900" indent="-342900" eaLnBrk="1" hangingPunct="1">
              <a:lnSpc>
                <a:spcPct val="70000"/>
              </a:lnSpc>
              <a:spcBef>
                <a:spcPct val="30000"/>
              </a:spcBef>
              <a:buNone/>
            </a:pPr>
            <a:r>
              <a:rPr lang="en-US" altLang="en-US" sz="1800">
                <a:latin typeface="Times New Roman" panose="02020603050405020304" pitchFamily="18" charset="0"/>
                <a:ea typeface="ＭＳ Ｐゴシック" panose="020B0600070205080204" pitchFamily="34" charset="-128"/>
              </a:rPr>
              <a:t>(3)	Adjusted basis of 		80.00	48.00	28.80	17.28         5.76                machine after </a:t>
            </a:r>
            <a:br>
              <a:rPr lang="en-US" altLang="en-US" sz="1800">
                <a:latin typeface="Times New Roman" panose="02020603050405020304" pitchFamily="18" charset="0"/>
                <a:ea typeface="ＭＳ Ｐゴシック" panose="020B0600070205080204" pitchFamily="34" charset="-128"/>
              </a:rPr>
            </a:br>
            <a:r>
              <a:rPr lang="en-US" altLang="en-US" sz="1800">
                <a:latin typeface="Times New Roman" panose="02020603050405020304" pitchFamily="18" charset="0"/>
                <a:ea typeface="ＭＳ Ｐゴシック" panose="020B0600070205080204" pitchFamily="34" charset="-128"/>
              </a:rPr>
              <a:t>depreciation (end of year)</a:t>
            </a:r>
          </a:p>
          <a:p>
            <a:pPr marL="342900" indent="-342900" eaLnBrk="1" hangingPunct="1">
              <a:lnSpc>
                <a:spcPct val="70000"/>
              </a:lnSpc>
              <a:spcBef>
                <a:spcPct val="30000"/>
              </a:spcBef>
              <a:buNone/>
            </a:pPr>
            <a:r>
              <a:rPr lang="en-US" altLang="en-US" sz="1800">
                <a:latin typeface="Times New Roman" panose="02020603050405020304" pitchFamily="18" charset="0"/>
                <a:ea typeface="ＭＳ Ｐゴシック" panose="020B0600070205080204" pitchFamily="34" charset="-128"/>
              </a:rPr>
              <a:t>(4)	Opportunity cost     	–150.00				              150.00</a:t>
            </a:r>
            <a:br>
              <a:rPr lang="en-US" altLang="en-US" sz="1800">
                <a:latin typeface="Times New Roman" panose="02020603050405020304" pitchFamily="18" charset="0"/>
                <a:ea typeface="ＭＳ Ｐゴシック" panose="020B0600070205080204" pitchFamily="34" charset="-128"/>
              </a:rPr>
            </a:br>
            <a:r>
              <a:rPr lang="en-US" altLang="en-US" sz="1800">
                <a:latin typeface="Times New Roman" panose="02020603050405020304" pitchFamily="18" charset="0"/>
                <a:ea typeface="ＭＳ Ｐゴシック" panose="020B0600070205080204" pitchFamily="34" charset="-128"/>
              </a:rPr>
              <a:t>(warehouse)</a:t>
            </a:r>
          </a:p>
          <a:p>
            <a:pPr marL="342900" indent="-342900" eaLnBrk="1" hangingPunct="1">
              <a:lnSpc>
                <a:spcPct val="70000"/>
              </a:lnSpc>
              <a:spcBef>
                <a:spcPct val="30000"/>
              </a:spcBef>
              <a:buNone/>
            </a:pPr>
            <a:r>
              <a:rPr lang="en-US" altLang="en-US" sz="1800">
                <a:latin typeface="Times New Roman" panose="02020603050405020304" pitchFamily="18" charset="0"/>
                <a:ea typeface="ＭＳ Ｐゴシック" panose="020B0600070205080204" pitchFamily="34" charset="-128"/>
              </a:rPr>
              <a:t>(5)	Net working capital	 10.00	 10.00	16.32	24.97	21.22	      0 </a:t>
            </a:r>
          </a:p>
          <a:p>
            <a:pPr marL="342900" indent="-342900" eaLnBrk="1" hangingPunct="1">
              <a:lnSpc>
                <a:spcPct val="70000"/>
              </a:lnSpc>
              <a:spcBef>
                <a:spcPct val="30000"/>
              </a:spcBef>
              <a:buNone/>
            </a:pPr>
            <a:r>
              <a:rPr lang="en-US" altLang="en-US" sz="1800">
                <a:latin typeface="Times New Roman" panose="02020603050405020304" pitchFamily="18" charset="0"/>
                <a:ea typeface="ＭＳ Ｐゴシック" panose="020B0600070205080204" pitchFamily="34" charset="-128"/>
              </a:rPr>
              <a:t>      (end of year)</a:t>
            </a:r>
          </a:p>
          <a:p>
            <a:pPr marL="342900" indent="-342900" eaLnBrk="1" hangingPunct="1">
              <a:lnSpc>
                <a:spcPct val="70000"/>
              </a:lnSpc>
              <a:spcBef>
                <a:spcPct val="30000"/>
              </a:spcBef>
              <a:buNone/>
            </a:pPr>
            <a:r>
              <a:rPr lang="en-US" altLang="en-US" sz="1800">
                <a:latin typeface="Times New Roman" panose="02020603050405020304" pitchFamily="18" charset="0"/>
                <a:ea typeface="ＭＳ Ｐゴシック" panose="020B0600070205080204" pitchFamily="34" charset="-128"/>
              </a:rPr>
              <a:t>(6)	Change in net		–10.00		–6.32	 –8.65	3.75         21.22 working capital</a:t>
            </a:r>
          </a:p>
          <a:p>
            <a:pPr marL="342900" indent="-342900" eaLnBrk="1" hangingPunct="1">
              <a:lnSpc>
                <a:spcPct val="70000"/>
              </a:lnSpc>
              <a:spcBef>
                <a:spcPct val="30000"/>
              </a:spcBef>
              <a:buNone/>
            </a:pPr>
            <a:r>
              <a:rPr lang="en-US" altLang="en-US" sz="1800">
                <a:latin typeface="Times New Roman" panose="02020603050405020304" pitchFamily="18" charset="0"/>
                <a:ea typeface="ＭＳ Ｐゴシック" panose="020B0600070205080204" pitchFamily="34" charset="-128"/>
              </a:rPr>
              <a:t>(7)	Total cash flow of    	–260.00		 –6.32	 –8.65	3.75       192.98 investment</a:t>
            </a:r>
            <a:br>
              <a:rPr lang="en-US" altLang="en-US" sz="1800">
                <a:latin typeface="Times New Roman" panose="02020603050405020304" pitchFamily="18" charset="0"/>
                <a:ea typeface="ＭＳ Ｐゴシック" panose="020B0600070205080204" pitchFamily="34" charset="-128"/>
              </a:rPr>
            </a:br>
            <a:r>
              <a:rPr lang="en-US" altLang="en-US" sz="1800">
                <a:latin typeface="Times New Roman" panose="02020603050405020304" pitchFamily="18" charset="0"/>
                <a:ea typeface="ＭＳ Ｐゴシック" panose="020B0600070205080204" pitchFamily="34" charset="-128"/>
              </a:rPr>
              <a:t>[(1) + (4) + (6)]</a:t>
            </a:r>
          </a:p>
          <a:p>
            <a:pPr marL="342900" indent="-342900" eaLnBrk="1" hangingPunct="1">
              <a:lnSpc>
                <a:spcPct val="70000"/>
              </a:lnSpc>
              <a:spcBef>
                <a:spcPct val="30000"/>
              </a:spcBef>
            </a:pPr>
            <a:endParaRPr lang="en-US" altLang="en-US" sz="1800">
              <a:ea typeface="ＭＳ Ｐゴシック" panose="020B0600070205080204" pitchFamily="34" charset="-128"/>
            </a:endParaRPr>
          </a:p>
        </p:txBody>
      </p:sp>
      <p:sp>
        <p:nvSpPr>
          <p:cNvPr id="29698" name="Rectangle 4">
            <a:extLst>
              <a:ext uri="{FF2B5EF4-FFF2-40B4-BE49-F238E27FC236}">
                <a16:creationId xmlns:a16="http://schemas.microsoft.com/office/drawing/2014/main" id="{4375CA9E-7275-55A1-6CCF-5D8EA716BED4}"/>
              </a:ext>
            </a:extLst>
          </p:cNvPr>
          <p:cNvSpPr>
            <a:spLocks noGrp="1" noChangeArrowheads="1"/>
          </p:cNvSpPr>
          <p:nvPr>
            <p:ph type="title"/>
          </p:nvPr>
        </p:nvSpPr>
        <p:spPr>
          <a:xfrm>
            <a:off x="1905000" y="152400"/>
            <a:ext cx="8229600" cy="1143000"/>
          </a:xfrm>
        </p:spPr>
        <p:txBody>
          <a:bodyPr/>
          <a:lstStyle/>
          <a:p>
            <a:pPr eaLnBrk="1" fontAlgn="auto" hangingPunct="1">
              <a:spcAft>
                <a:spcPts val="0"/>
              </a:spcAft>
              <a:defRPr/>
            </a:pPr>
            <a:r>
              <a:rPr lang="en-US" altLang="en-US" sz="3400" dirty="0">
                <a:ea typeface="+mj-ea"/>
                <a:cs typeface="+mj-cs"/>
              </a:rPr>
              <a:t>The Baldwin Company</a:t>
            </a:r>
          </a:p>
        </p:txBody>
      </p:sp>
      <p:sp>
        <p:nvSpPr>
          <p:cNvPr id="385029" name="Rectangle 5">
            <a:extLst>
              <a:ext uri="{FF2B5EF4-FFF2-40B4-BE49-F238E27FC236}">
                <a16:creationId xmlns:a16="http://schemas.microsoft.com/office/drawing/2014/main" id="{0E7B2BB6-27D9-D8FE-1D2D-E252F130801F}"/>
              </a:ext>
            </a:extLst>
          </p:cNvPr>
          <p:cNvSpPr>
            <a:spLocks noChangeArrowheads="1"/>
          </p:cNvSpPr>
          <p:nvPr/>
        </p:nvSpPr>
        <p:spPr bwMode="auto">
          <a:xfrm>
            <a:off x="2286000" y="5410200"/>
            <a:ext cx="80010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lnSpc>
                <a:spcPct val="80000"/>
              </a:lnSpc>
              <a:spcBef>
                <a:spcPct val="0"/>
              </a:spcBef>
              <a:spcAft>
                <a:spcPct val="0"/>
              </a:spcAft>
            </a:pPr>
            <a:r>
              <a:rPr lang="en-US" altLang="en-US" sz="1600">
                <a:solidFill>
                  <a:prstClr val="black"/>
                </a:solidFill>
              </a:rPr>
              <a:t>At the end of the project, the warehouse is unencumbered, so we can sell it if we want to.</a:t>
            </a:r>
          </a:p>
        </p:txBody>
      </p:sp>
      <p:sp>
        <p:nvSpPr>
          <p:cNvPr id="385031" name="Oval 7">
            <a:extLst>
              <a:ext uri="{FF2B5EF4-FFF2-40B4-BE49-F238E27FC236}">
                <a16:creationId xmlns:a16="http://schemas.microsoft.com/office/drawing/2014/main" id="{91C009A7-F73B-5F1C-187D-9866C2745C68}"/>
              </a:ext>
            </a:extLst>
          </p:cNvPr>
          <p:cNvSpPr>
            <a:spLocks noChangeArrowheads="1"/>
          </p:cNvSpPr>
          <p:nvPr/>
        </p:nvSpPr>
        <p:spPr bwMode="auto">
          <a:xfrm>
            <a:off x="9144000" y="2895600"/>
            <a:ext cx="914400" cy="685800"/>
          </a:xfrm>
          <a:prstGeom prst="ellipse">
            <a:avLst/>
          </a:prstGeom>
          <a:noFill/>
          <a:ln w="38100">
            <a:solidFill>
              <a:srgbClr val="A819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85031"/>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3850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5029" grpId="0" autoUpdateAnimBg="0"/>
      <p:bldP spid="385031" grpId="0" animBg="1"/>
    </p:bldLst>
  </p:timing>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5">
            <a:extLst>
              <a:ext uri="{FF2B5EF4-FFF2-40B4-BE49-F238E27FC236}">
                <a16:creationId xmlns:a16="http://schemas.microsoft.com/office/drawing/2014/main" id="{0508ABA5-3060-FE1D-B0BB-DA2BB66195DD}"/>
              </a:ext>
            </a:extLst>
          </p:cNvPr>
          <p:cNvSpPr>
            <a:spLocks noGrp="1"/>
          </p:cNvSpPr>
          <p:nvPr>
            <p:ph idx="1"/>
          </p:nvPr>
        </p:nvSpPr>
        <p:spPr>
          <a:xfrm>
            <a:off x="2057400" y="1524001"/>
            <a:ext cx="8458200" cy="1870075"/>
          </a:xfrm>
        </p:spPr>
        <p:txBody>
          <a:bodyPr/>
          <a:lstStyle/>
          <a:p>
            <a:pPr marL="342900" indent="-342900" eaLnBrk="1" hangingPunct="1">
              <a:lnSpc>
                <a:spcPct val="80000"/>
              </a:lnSpc>
              <a:spcBef>
                <a:spcPct val="30000"/>
              </a:spcBef>
              <a:buNone/>
            </a:pPr>
            <a:r>
              <a:rPr lang="en-US" altLang="en-US" sz="2000">
                <a:ea typeface="ＭＳ Ｐゴシック" panose="020B0600070205080204" pitchFamily="34" charset="-128"/>
              </a:rPr>
              <a:t>			</a:t>
            </a:r>
            <a:r>
              <a:rPr lang="en-US" altLang="en-US" sz="1800" i="1">
                <a:latin typeface="Times New Roman" panose="02020603050405020304" pitchFamily="18" charset="0"/>
                <a:ea typeface="ＭＳ Ｐゴシック" panose="020B0600070205080204" pitchFamily="34" charset="-128"/>
              </a:rPr>
              <a:t>Year 0	Year 1	Year 2	Year 3	Year 4    Year 5</a:t>
            </a:r>
          </a:p>
          <a:p>
            <a:pPr marL="342900" indent="-342900" eaLnBrk="1" hangingPunct="1">
              <a:lnSpc>
                <a:spcPct val="80000"/>
              </a:lnSpc>
              <a:spcBef>
                <a:spcPct val="30000"/>
              </a:spcBef>
              <a:buNone/>
            </a:pPr>
            <a:r>
              <a:rPr lang="en-US" altLang="en-US" sz="1800">
                <a:latin typeface="Times New Roman" panose="02020603050405020304" pitchFamily="18" charset="0"/>
                <a:ea typeface="ＭＳ Ｐゴシック" panose="020B0600070205080204" pitchFamily="34" charset="-128"/>
              </a:rPr>
              <a:t>Income:</a:t>
            </a:r>
            <a:endParaRPr lang="en-US" altLang="en-US" sz="1800" i="1">
              <a:latin typeface="Times New Roman" panose="02020603050405020304" pitchFamily="18" charset="0"/>
              <a:ea typeface="ＭＳ Ｐゴシック" panose="020B0600070205080204" pitchFamily="34" charset="-128"/>
            </a:endParaRPr>
          </a:p>
          <a:p>
            <a:pPr marL="342900" indent="-342900" eaLnBrk="1" hangingPunct="1">
              <a:lnSpc>
                <a:spcPct val="80000"/>
              </a:lnSpc>
              <a:spcBef>
                <a:spcPct val="30000"/>
              </a:spcBef>
              <a:buNone/>
            </a:pPr>
            <a:r>
              <a:rPr lang="en-US" altLang="en-US" sz="1800">
                <a:latin typeface="Times New Roman" panose="02020603050405020304" pitchFamily="18" charset="0"/>
                <a:ea typeface="ＭＳ Ｐゴシック" panose="020B0600070205080204" pitchFamily="34" charset="-128"/>
              </a:rPr>
              <a:t>  (8) Sales Revenues	100.00	163.20	249.70	212.24   129.89</a:t>
            </a:r>
          </a:p>
          <a:p>
            <a:pPr marL="342900" indent="-342900" eaLnBrk="1" hangingPunct="1">
              <a:lnSpc>
                <a:spcPct val="80000"/>
              </a:lnSpc>
              <a:spcBef>
                <a:spcPct val="30000"/>
              </a:spcBef>
              <a:buNone/>
            </a:pPr>
            <a:r>
              <a:rPr lang="en-US" altLang="en-US" sz="1800">
                <a:latin typeface="Times New Roman" panose="02020603050405020304" pitchFamily="18" charset="0"/>
                <a:ea typeface="ＭＳ Ｐゴシック" panose="020B0600070205080204" pitchFamily="34" charset="-128"/>
              </a:rPr>
              <a:t>  </a:t>
            </a:r>
          </a:p>
        </p:txBody>
      </p:sp>
      <p:sp>
        <p:nvSpPr>
          <p:cNvPr id="31746" name="Rectangle 4">
            <a:extLst>
              <a:ext uri="{FF2B5EF4-FFF2-40B4-BE49-F238E27FC236}">
                <a16:creationId xmlns:a16="http://schemas.microsoft.com/office/drawing/2014/main" id="{A8F32CAF-A953-55CC-C7DB-612624E435A1}"/>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The Baldwin Company</a:t>
            </a:r>
          </a:p>
        </p:txBody>
      </p:sp>
      <p:sp>
        <p:nvSpPr>
          <p:cNvPr id="386055" name="Rectangle 7">
            <a:extLst>
              <a:ext uri="{FF2B5EF4-FFF2-40B4-BE49-F238E27FC236}">
                <a16:creationId xmlns:a16="http://schemas.microsoft.com/office/drawing/2014/main" id="{1A24DA88-707E-E4F8-F210-CF302EEF62A1}"/>
              </a:ext>
            </a:extLst>
          </p:cNvPr>
          <p:cNvSpPr>
            <a:spLocks noChangeArrowheads="1"/>
          </p:cNvSpPr>
          <p:nvPr/>
        </p:nvSpPr>
        <p:spPr bwMode="auto">
          <a:xfrm>
            <a:off x="2057400" y="3733801"/>
            <a:ext cx="7924800"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lnSpc>
                <a:spcPct val="90000"/>
              </a:lnSpc>
              <a:spcBef>
                <a:spcPct val="50000"/>
              </a:spcBef>
              <a:spcAft>
                <a:spcPct val="0"/>
              </a:spcAft>
              <a:buSzPct val="90000"/>
            </a:pPr>
            <a:r>
              <a:rPr lang="en-US" altLang="en-US" sz="1900">
                <a:solidFill>
                  <a:prstClr val="black"/>
                </a:solidFill>
              </a:rPr>
              <a:t>Recall that production (in units) by year during the 5-year life of the machine is given by: </a:t>
            </a:r>
          </a:p>
          <a:p>
            <a:pPr eaLnBrk="0" fontAlgn="base" hangingPunct="0">
              <a:lnSpc>
                <a:spcPct val="90000"/>
              </a:lnSpc>
              <a:spcBef>
                <a:spcPct val="50000"/>
              </a:spcBef>
              <a:spcAft>
                <a:spcPct val="0"/>
              </a:spcAft>
              <a:buSzPct val="90000"/>
            </a:pPr>
            <a:r>
              <a:rPr lang="en-US" altLang="en-US" sz="1900">
                <a:solidFill>
                  <a:prstClr val="black"/>
                </a:solidFill>
              </a:rPr>
              <a:t>          (5,000, 8,000, 12,000, 10,000, 6,000).</a:t>
            </a:r>
          </a:p>
          <a:p>
            <a:pPr eaLnBrk="0" fontAlgn="base" hangingPunct="0">
              <a:lnSpc>
                <a:spcPct val="90000"/>
              </a:lnSpc>
              <a:spcBef>
                <a:spcPct val="50000"/>
              </a:spcBef>
              <a:spcAft>
                <a:spcPct val="0"/>
              </a:spcAft>
              <a:buSzPct val="90000"/>
            </a:pPr>
            <a:r>
              <a:rPr lang="en-US" altLang="en-US" sz="1900">
                <a:solidFill>
                  <a:prstClr val="black"/>
                </a:solidFill>
              </a:rPr>
              <a:t>Price during the first year is $20 and increases 2% per year thereafter.</a:t>
            </a:r>
          </a:p>
          <a:p>
            <a:pPr eaLnBrk="0" fontAlgn="base" hangingPunct="0">
              <a:lnSpc>
                <a:spcPct val="90000"/>
              </a:lnSpc>
              <a:spcBef>
                <a:spcPct val="50000"/>
              </a:spcBef>
              <a:spcAft>
                <a:spcPct val="0"/>
              </a:spcAft>
              <a:buSzPct val="90000"/>
            </a:pPr>
            <a:r>
              <a:rPr lang="en-US" altLang="en-US" sz="1900">
                <a:solidFill>
                  <a:prstClr val="black"/>
                </a:solidFill>
              </a:rPr>
              <a:t>Sales revenue in year 2 = 8,000</a:t>
            </a:r>
            <a:r>
              <a:rPr lang="en-US" altLang="en-US" sz="1900">
                <a:solidFill>
                  <a:prstClr val="black"/>
                </a:solidFill>
                <a:cs typeface="Times New Roman" panose="02020603050405020304" pitchFamily="18" charset="0"/>
              </a:rPr>
              <a:t>×[$20×(1.02)</a:t>
            </a:r>
            <a:r>
              <a:rPr lang="en-US" altLang="en-US" sz="1900" baseline="30000">
                <a:solidFill>
                  <a:prstClr val="black"/>
                </a:solidFill>
                <a:cs typeface="Times New Roman" panose="02020603050405020304" pitchFamily="18" charset="0"/>
              </a:rPr>
              <a:t>1</a:t>
            </a:r>
            <a:r>
              <a:rPr lang="en-US" altLang="en-US" sz="1900">
                <a:solidFill>
                  <a:prstClr val="black"/>
                </a:solidFill>
                <a:cs typeface="Times New Roman" panose="02020603050405020304" pitchFamily="18" charset="0"/>
              </a:rPr>
              <a:t>] = 8,000×$20.40 = $163,200.</a:t>
            </a:r>
          </a:p>
        </p:txBody>
      </p:sp>
      <p:sp>
        <p:nvSpPr>
          <p:cNvPr id="386057" name="Oval 9">
            <a:extLst>
              <a:ext uri="{FF2B5EF4-FFF2-40B4-BE49-F238E27FC236}">
                <a16:creationId xmlns:a16="http://schemas.microsoft.com/office/drawing/2014/main" id="{326B213D-2925-5A0C-1A17-53E107590608}"/>
              </a:ext>
            </a:extLst>
          </p:cNvPr>
          <p:cNvSpPr>
            <a:spLocks noChangeArrowheads="1"/>
          </p:cNvSpPr>
          <p:nvPr/>
        </p:nvSpPr>
        <p:spPr bwMode="auto">
          <a:xfrm>
            <a:off x="6629401" y="2133600"/>
            <a:ext cx="868363" cy="381000"/>
          </a:xfrm>
          <a:prstGeom prst="ellipse">
            <a:avLst/>
          </a:prstGeom>
          <a:noFill/>
          <a:ln w="38100">
            <a:solidFill>
              <a:srgbClr val="A819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sp>
        <p:nvSpPr>
          <p:cNvPr id="386058" name="Arc 10">
            <a:extLst>
              <a:ext uri="{FF2B5EF4-FFF2-40B4-BE49-F238E27FC236}">
                <a16:creationId xmlns:a16="http://schemas.microsoft.com/office/drawing/2014/main" id="{A015A2B7-DD79-BCFA-A290-891E5EC1ACD8}"/>
              </a:ext>
            </a:extLst>
          </p:cNvPr>
          <p:cNvSpPr>
            <a:spLocks/>
          </p:cNvSpPr>
          <p:nvPr/>
        </p:nvSpPr>
        <p:spPr bwMode="auto">
          <a:xfrm flipV="1">
            <a:off x="7162800" y="2438400"/>
            <a:ext cx="1524000" cy="1371600"/>
          </a:xfrm>
          <a:custGeom>
            <a:avLst/>
            <a:gdLst>
              <a:gd name="T0" fmla="*/ 2147483646 w 21600"/>
              <a:gd name="T1" fmla="*/ 0 h 35949"/>
              <a:gd name="T2" fmla="*/ 2147483646 w 21600"/>
              <a:gd name="T3" fmla="*/ 2147483646 h 35949"/>
              <a:gd name="T4" fmla="*/ 0 w 21600"/>
              <a:gd name="T5" fmla="*/ 2147483646 h 35949"/>
              <a:gd name="T6" fmla="*/ 0 60000 65536"/>
              <a:gd name="T7" fmla="*/ 0 60000 65536"/>
              <a:gd name="T8" fmla="*/ 0 60000 65536"/>
              <a:gd name="T9" fmla="*/ 0 w 21600"/>
              <a:gd name="T10" fmla="*/ 0 h 35949"/>
              <a:gd name="T11" fmla="*/ 21600 w 21600"/>
              <a:gd name="T12" fmla="*/ 35949 h 35949"/>
            </a:gdLst>
            <a:ahLst/>
            <a:cxnLst>
              <a:cxn ang="T6">
                <a:pos x="T0" y="T1"/>
              </a:cxn>
              <a:cxn ang="T7">
                <a:pos x="T2" y="T3"/>
              </a:cxn>
              <a:cxn ang="T8">
                <a:pos x="T4" y="T5"/>
              </a:cxn>
            </a:cxnLst>
            <a:rect l="T9" t="T10" r="T11" b="T12"/>
            <a:pathLst>
              <a:path w="21600" h="35949" fill="none" extrusionOk="0">
                <a:moveTo>
                  <a:pt x="15725" y="0"/>
                </a:moveTo>
                <a:cubicBezTo>
                  <a:pt x="19498" y="4007"/>
                  <a:pt x="21600" y="9303"/>
                  <a:pt x="21600" y="14808"/>
                </a:cubicBezTo>
                <a:cubicBezTo>
                  <a:pt x="21600" y="25029"/>
                  <a:pt x="14435" y="33851"/>
                  <a:pt x="4430" y="35948"/>
                </a:cubicBezTo>
              </a:path>
              <a:path w="21600" h="35949" stroke="0" extrusionOk="0">
                <a:moveTo>
                  <a:pt x="15725" y="0"/>
                </a:moveTo>
                <a:cubicBezTo>
                  <a:pt x="19498" y="4007"/>
                  <a:pt x="21600" y="9303"/>
                  <a:pt x="21600" y="14808"/>
                </a:cubicBezTo>
                <a:cubicBezTo>
                  <a:pt x="21600" y="25029"/>
                  <a:pt x="14435" y="33851"/>
                  <a:pt x="4430" y="35948"/>
                </a:cubicBezTo>
                <a:lnTo>
                  <a:pt x="0" y="14808"/>
                </a:lnTo>
                <a:lnTo>
                  <a:pt x="15725" y="0"/>
                </a:lnTo>
                <a:close/>
              </a:path>
            </a:pathLst>
          </a:custGeom>
          <a:noFill/>
          <a:ln w="38100">
            <a:solidFill>
              <a:srgbClr val="A819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86055">
                                            <p:txEl>
                                              <p:pRg st="0" end="0"/>
                                            </p:txEl>
                                          </p:spTgt>
                                        </p:tgtEl>
                                        <p:attrNameLst>
                                          <p:attrName>style.visibility</p:attrName>
                                        </p:attrNameLst>
                                      </p:cBhvr>
                                      <p:to>
                                        <p:strVal val="visible"/>
                                      </p:to>
                                    </p:set>
                                    <p:animEffect transition="in" filter="fade">
                                      <p:cBhvr>
                                        <p:cTn id="7" dur="1000"/>
                                        <p:tgtEl>
                                          <p:spTgt spid="386055">
                                            <p:txEl>
                                              <p:pRg st="0" end="0"/>
                                            </p:txEl>
                                          </p:spTgt>
                                        </p:tgtEl>
                                      </p:cBhvr>
                                    </p:animEffect>
                                    <p:anim calcmode="lin" valueType="num">
                                      <p:cBhvr>
                                        <p:cTn id="8" dur="1000" fill="hold"/>
                                        <p:tgtEl>
                                          <p:spTgt spid="38605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8605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86055">
                                            <p:txEl>
                                              <p:pRg st="1" end="1"/>
                                            </p:txEl>
                                          </p:spTgt>
                                        </p:tgtEl>
                                        <p:attrNameLst>
                                          <p:attrName>style.visibility</p:attrName>
                                        </p:attrNameLst>
                                      </p:cBhvr>
                                      <p:to>
                                        <p:strVal val="visible"/>
                                      </p:to>
                                    </p:set>
                                    <p:animEffect transition="in" filter="fade">
                                      <p:cBhvr>
                                        <p:cTn id="12" dur="1000"/>
                                        <p:tgtEl>
                                          <p:spTgt spid="386055">
                                            <p:txEl>
                                              <p:pRg st="1" end="1"/>
                                            </p:txEl>
                                          </p:spTgt>
                                        </p:tgtEl>
                                      </p:cBhvr>
                                    </p:animEffect>
                                    <p:anim calcmode="lin" valueType="num">
                                      <p:cBhvr>
                                        <p:cTn id="13" dur="1000" fill="hold"/>
                                        <p:tgtEl>
                                          <p:spTgt spid="38605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86055">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86055">
                                            <p:txEl>
                                              <p:pRg st="2" end="2"/>
                                            </p:txEl>
                                          </p:spTgt>
                                        </p:tgtEl>
                                        <p:attrNameLst>
                                          <p:attrName>style.visibility</p:attrName>
                                        </p:attrNameLst>
                                      </p:cBhvr>
                                      <p:to>
                                        <p:strVal val="visible"/>
                                      </p:to>
                                    </p:set>
                                    <p:animEffect transition="in" filter="fade">
                                      <p:cBhvr>
                                        <p:cTn id="17" dur="1000"/>
                                        <p:tgtEl>
                                          <p:spTgt spid="386055">
                                            <p:txEl>
                                              <p:pRg st="2" end="2"/>
                                            </p:txEl>
                                          </p:spTgt>
                                        </p:tgtEl>
                                      </p:cBhvr>
                                    </p:animEffect>
                                    <p:anim calcmode="lin" valueType="num">
                                      <p:cBhvr>
                                        <p:cTn id="18" dur="1000" fill="hold"/>
                                        <p:tgtEl>
                                          <p:spTgt spid="386055">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86055">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86055">
                                            <p:txEl>
                                              <p:pRg st="3" end="3"/>
                                            </p:txEl>
                                          </p:spTgt>
                                        </p:tgtEl>
                                        <p:attrNameLst>
                                          <p:attrName>style.visibility</p:attrName>
                                        </p:attrNameLst>
                                      </p:cBhvr>
                                      <p:to>
                                        <p:strVal val="visible"/>
                                      </p:to>
                                    </p:set>
                                    <p:animEffect transition="in" filter="fade">
                                      <p:cBhvr>
                                        <p:cTn id="22" dur="1000"/>
                                        <p:tgtEl>
                                          <p:spTgt spid="386055">
                                            <p:txEl>
                                              <p:pRg st="3" end="3"/>
                                            </p:txEl>
                                          </p:spTgt>
                                        </p:tgtEl>
                                      </p:cBhvr>
                                    </p:animEffect>
                                    <p:anim calcmode="lin" valueType="num">
                                      <p:cBhvr>
                                        <p:cTn id="23" dur="1000" fill="hold"/>
                                        <p:tgtEl>
                                          <p:spTgt spid="386055">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86055">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86057"/>
                                        </p:tgtEl>
                                        <p:attrNameLst>
                                          <p:attrName>style.visibility</p:attrName>
                                        </p:attrNameLst>
                                      </p:cBhvr>
                                      <p:to>
                                        <p:strVal val="visible"/>
                                      </p:to>
                                    </p:set>
                                    <p:animEffect transition="in" filter="fade">
                                      <p:cBhvr>
                                        <p:cTn id="27" dur="1000"/>
                                        <p:tgtEl>
                                          <p:spTgt spid="386057"/>
                                        </p:tgtEl>
                                      </p:cBhvr>
                                    </p:animEffect>
                                    <p:anim calcmode="lin" valueType="num">
                                      <p:cBhvr>
                                        <p:cTn id="28" dur="1000" fill="hold"/>
                                        <p:tgtEl>
                                          <p:spTgt spid="386057"/>
                                        </p:tgtEl>
                                        <p:attrNameLst>
                                          <p:attrName>ppt_x</p:attrName>
                                        </p:attrNameLst>
                                      </p:cBhvr>
                                      <p:tavLst>
                                        <p:tav tm="0">
                                          <p:val>
                                            <p:strVal val="#ppt_x"/>
                                          </p:val>
                                        </p:tav>
                                        <p:tav tm="100000">
                                          <p:val>
                                            <p:strVal val="#ppt_x"/>
                                          </p:val>
                                        </p:tav>
                                      </p:tavLst>
                                    </p:anim>
                                    <p:anim calcmode="lin" valueType="num">
                                      <p:cBhvr>
                                        <p:cTn id="29" dur="1000" fill="hold"/>
                                        <p:tgtEl>
                                          <p:spTgt spid="386057"/>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86058"/>
                                        </p:tgtEl>
                                        <p:attrNameLst>
                                          <p:attrName>style.visibility</p:attrName>
                                        </p:attrNameLst>
                                      </p:cBhvr>
                                      <p:to>
                                        <p:strVal val="visible"/>
                                      </p:to>
                                    </p:set>
                                    <p:animEffect transition="in" filter="fade">
                                      <p:cBhvr>
                                        <p:cTn id="32" dur="1000"/>
                                        <p:tgtEl>
                                          <p:spTgt spid="386058"/>
                                        </p:tgtEl>
                                      </p:cBhvr>
                                    </p:animEffect>
                                    <p:anim calcmode="lin" valueType="num">
                                      <p:cBhvr>
                                        <p:cTn id="33" dur="1000" fill="hold"/>
                                        <p:tgtEl>
                                          <p:spTgt spid="386058"/>
                                        </p:tgtEl>
                                        <p:attrNameLst>
                                          <p:attrName>ppt_x</p:attrName>
                                        </p:attrNameLst>
                                      </p:cBhvr>
                                      <p:tavLst>
                                        <p:tav tm="0">
                                          <p:val>
                                            <p:strVal val="#ppt_x"/>
                                          </p:val>
                                        </p:tav>
                                        <p:tav tm="100000">
                                          <p:val>
                                            <p:strVal val="#ppt_x"/>
                                          </p:val>
                                        </p:tav>
                                      </p:tavLst>
                                    </p:anim>
                                    <p:anim calcmode="lin" valueType="num">
                                      <p:cBhvr>
                                        <p:cTn id="34" dur="1000" fill="hold"/>
                                        <p:tgtEl>
                                          <p:spTgt spid="38605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57" grpId="0" animBg="1"/>
    </p:bldLst>
  </p:timing>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5">
            <a:extLst>
              <a:ext uri="{FF2B5EF4-FFF2-40B4-BE49-F238E27FC236}">
                <a16:creationId xmlns:a16="http://schemas.microsoft.com/office/drawing/2014/main" id="{5CFEA04A-2C21-C4C0-955B-947363090047}"/>
              </a:ext>
            </a:extLst>
          </p:cNvPr>
          <p:cNvSpPr>
            <a:spLocks noGrp="1"/>
          </p:cNvSpPr>
          <p:nvPr>
            <p:ph idx="1"/>
          </p:nvPr>
        </p:nvSpPr>
        <p:spPr>
          <a:xfrm>
            <a:off x="1752600" y="1295401"/>
            <a:ext cx="8686800" cy="2098675"/>
          </a:xfrm>
        </p:spPr>
        <p:txBody>
          <a:bodyPr/>
          <a:lstStyle/>
          <a:p>
            <a:pPr marL="342900" indent="-342900" eaLnBrk="1" hangingPunct="1">
              <a:lnSpc>
                <a:spcPct val="80000"/>
              </a:lnSpc>
              <a:spcBef>
                <a:spcPct val="30000"/>
              </a:spcBef>
              <a:buNone/>
            </a:pPr>
            <a:r>
              <a:rPr lang="en-US" altLang="en-US" sz="2000">
                <a:ea typeface="ＭＳ Ｐゴシック" panose="020B0600070205080204" pitchFamily="34" charset="-128"/>
              </a:rPr>
              <a:t>				</a:t>
            </a:r>
            <a:r>
              <a:rPr lang="en-US" altLang="en-US" sz="1800" i="1">
                <a:latin typeface="Times New Roman" panose="02020603050405020304" pitchFamily="18" charset="0"/>
                <a:ea typeface="ＭＳ Ｐゴシック" panose="020B0600070205080204" pitchFamily="34" charset="-128"/>
              </a:rPr>
              <a:t>Year 0	Year 1	Year 2	Year 3	Year 4    Year 5</a:t>
            </a:r>
          </a:p>
          <a:p>
            <a:pPr marL="342900" indent="-342900" eaLnBrk="1" hangingPunct="1">
              <a:lnSpc>
                <a:spcPct val="80000"/>
              </a:lnSpc>
              <a:spcBef>
                <a:spcPct val="30000"/>
              </a:spcBef>
              <a:buNone/>
            </a:pPr>
            <a:r>
              <a:rPr lang="en-US" altLang="en-US" sz="1800">
                <a:latin typeface="Times New Roman" panose="02020603050405020304" pitchFamily="18" charset="0"/>
                <a:ea typeface="ＭＳ Ｐゴシック" panose="020B0600070205080204" pitchFamily="34" charset="-128"/>
              </a:rPr>
              <a:t>Income:</a:t>
            </a:r>
            <a:endParaRPr lang="en-US" altLang="en-US" sz="1800" i="1">
              <a:latin typeface="Times New Roman" panose="02020603050405020304" pitchFamily="18" charset="0"/>
              <a:ea typeface="ＭＳ Ｐゴシック" panose="020B0600070205080204" pitchFamily="34" charset="-128"/>
            </a:endParaRPr>
          </a:p>
          <a:p>
            <a:pPr marL="342900" indent="-342900" eaLnBrk="1" hangingPunct="1">
              <a:lnSpc>
                <a:spcPct val="80000"/>
              </a:lnSpc>
              <a:spcBef>
                <a:spcPct val="30000"/>
              </a:spcBef>
              <a:buNone/>
            </a:pPr>
            <a:r>
              <a:rPr lang="en-US" altLang="en-US" sz="1800">
                <a:latin typeface="Times New Roman" panose="02020603050405020304" pitchFamily="18" charset="0"/>
                <a:ea typeface="ＭＳ Ｐゴシック" panose="020B0600070205080204" pitchFamily="34" charset="-128"/>
              </a:rPr>
              <a:t>  (8) Sales Revenues		100.00	163.20	249.70	212.24   129.89</a:t>
            </a:r>
          </a:p>
          <a:p>
            <a:pPr marL="342900" indent="-342900" eaLnBrk="1" hangingPunct="1">
              <a:lnSpc>
                <a:spcPct val="80000"/>
              </a:lnSpc>
              <a:spcBef>
                <a:spcPct val="30000"/>
              </a:spcBef>
              <a:buNone/>
            </a:pPr>
            <a:r>
              <a:rPr lang="en-US" altLang="en-US" sz="1800">
                <a:latin typeface="Times New Roman" panose="02020603050405020304" pitchFamily="18" charset="0"/>
                <a:ea typeface="ＭＳ Ｐゴシック" panose="020B0600070205080204" pitchFamily="34" charset="-128"/>
              </a:rPr>
              <a:t>  (9) Operating costs		  50.00	  88.00	145.20    133.10    87.85</a:t>
            </a:r>
          </a:p>
          <a:p>
            <a:pPr marL="342900" indent="-342900" eaLnBrk="1" hangingPunct="1">
              <a:lnSpc>
                <a:spcPct val="80000"/>
              </a:lnSpc>
              <a:spcBef>
                <a:spcPct val="30000"/>
              </a:spcBef>
              <a:buNone/>
            </a:pPr>
            <a:endParaRPr lang="en-US" altLang="en-US" sz="2000">
              <a:ea typeface="ＭＳ Ｐゴシック" panose="020B0600070205080204" pitchFamily="34" charset="-128"/>
            </a:endParaRPr>
          </a:p>
          <a:p>
            <a:pPr marL="342900" indent="-342900" eaLnBrk="1" hangingPunct="1">
              <a:lnSpc>
                <a:spcPct val="80000"/>
              </a:lnSpc>
              <a:spcBef>
                <a:spcPct val="30000"/>
              </a:spcBef>
              <a:buNone/>
            </a:pPr>
            <a:endParaRPr lang="en-US" altLang="en-US" sz="2400">
              <a:ea typeface="ＭＳ Ｐゴシック" panose="020B0600070205080204" pitchFamily="34" charset="-128"/>
            </a:endParaRPr>
          </a:p>
          <a:p>
            <a:pPr marL="342900" indent="-342900" eaLnBrk="1" hangingPunct="1">
              <a:lnSpc>
                <a:spcPct val="80000"/>
              </a:lnSpc>
              <a:spcBef>
                <a:spcPct val="30000"/>
              </a:spcBef>
              <a:buNone/>
            </a:pPr>
            <a:r>
              <a:rPr lang="en-US" altLang="en-US" sz="2400">
                <a:ea typeface="ＭＳ Ｐゴシック" panose="020B0600070205080204" pitchFamily="34" charset="-128"/>
              </a:rPr>
              <a:t>	</a:t>
            </a:r>
          </a:p>
        </p:txBody>
      </p:sp>
      <p:sp>
        <p:nvSpPr>
          <p:cNvPr id="33794" name="Rectangle 4">
            <a:extLst>
              <a:ext uri="{FF2B5EF4-FFF2-40B4-BE49-F238E27FC236}">
                <a16:creationId xmlns:a16="http://schemas.microsoft.com/office/drawing/2014/main" id="{640C9076-71D4-B95C-C965-A754850FC9C5}"/>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The Baldwin Company</a:t>
            </a:r>
          </a:p>
        </p:txBody>
      </p:sp>
      <p:sp>
        <p:nvSpPr>
          <p:cNvPr id="387079" name="Rectangle 7">
            <a:extLst>
              <a:ext uri="{FF2B5EF4-FFF2-40B4-BE49-F238E27FC236}">
                <a16:creationId xmlns:a16="http://schemas.microsoft.com/office/drawing/2014/main" id="{E0D18F6D-2AFB-D012-DB00-2F4B8245FDB0}"/>
              </a:ext>
            </a:extLst>
          </p:cNvPr>
          <p:cNvSpPr>
            <a:spLocks noChangeArrowheads="1"/>
          </p:cNvSpPr>
          <p:nvPr/>
        </p:nvSpPr>
        <p:spPr bwMode="auto">
          <a:xfrm>
            <a:off x="1828800" y="3698875"/>
            <a:ext cx="7772400" cy="22560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lnSpc>
                <a:spcPct val="90000"/>
              </a:lnSpc>
              <a:spcBef>
                <a:spcPct val="50000"/>
              </a:spcBef>
              <a:spcAft>
                <a:spcPct val="0"/>
              </a:spcAft>
              <a:buSzPct val="90000"/>
            </a:pPr>
            <a:r>
              <a:rPr lang="en-US" altLang="en-US" sz="1900">
                <a:solidFill>
                  <a:prstClr val="black"/>
                </a:solidFill>
              </a:rPr>
              <a:t>Again, production (in units) by year during 5-year life of the machine is given by: </a:t>
            </a:r>
          </a:p>
          <a:p>
            <a:pPr eaLnBrk="0" fontAlgn="base" hangingPunct="0">
              <a:lnSpc>
                <a:spcPct val="90000"/>
              </a:lnSpc>
              <a:spcBef>
                <a:spcPct val="50000"/>
              </a:spcBef>
              <a:spcAft>
                <a:spcPct val="0"/>
              </a:spcAft>
              <a:buSzPct val="90000"/>
            </a:pPr>
            <a:r>
              <a:rPr lang="en-US" altLang="en-US" sz="1900">
                <a:solidFill>
                  <a:prstClr val="black"/>
                </a:solidFill>
              </a:rPr>
              <a:t>     (5,000, 8,000, 12,000, 10,000, 6,000).</a:t>
            </a:r>
          </a:p>
          <a:p>
            <a:pPr eaLnBrk="0" fontAlgn="base" hangingPunct="0">
              <a:lnSpc>
                <a:spcPct val="90000"/>
              </a:lnSpc>
              <a:spcBef>
                <a:spcPct val="20000"/>
              </a:spcBef>
              <a:spcAft>
                <a:spcPct val="0"/>
              </a:spcAft>
              <a:buSzPct val="90000"/>
            </a:pPr>
            <a:r>
              <a:rPr lang="en-US" altLang="en-US" sz="1900">
                <a:solidFill>
                  <a:prstClr val="black"/>
                </a:solidFill>
              </a:rPr>
              <a:t>Production costs during the first year (per unit) are $10, and they increase 10% per year thereafter.</a:t>
            </a:r>
          </a:p>
          <a:p>
            <a:pPr eaLnBrk="0" fontAlgn="base" hangingPunct="0">
              <a:lnSpc>
                <a:spcPct val="90000"/>
              </a:lnSpc>
              <a:spcBef>
                <a:spcPct val="20000"/>
              </a:spcBef>
              <a:spcAft>
                <a:spcPct val="0"/>
              </a:spcAft>
              <a:buSzPct val="90000"/>
            </a:pPr>
            <a:r>
              <a:rPr lang="en-US" altLang="en-US" sz="1900">
                <a:solidFill>
                  <a:prstClr val="black"/>
                </a:solidFill>
              </a:rPr>
              <a:t>Production costs in year 2 = 8,000</a:t>
            </a:r>
            <a:r>
              <a:rPr lang="en-US" altLang="en-US" sz="1900">
                <a:solidFill>
                  <a:prstClr val="black"/>
                </a:solidFill>
                <a:cs typeface="Times New Roman" panose="02020603050405020304" pitchFamily="18" charset="0"/>
              </a:rPr>
              <a:t>×[$10×(1.10)</a:t>
            </a:r>
            <a:r>
              <a:rPr lang="en-US" altLang="en-US" sz="1900" baseline="30000">
                <a:solidFill>
                  <a:prstClr val="black"/>
                </a:solidFill>
                <a:cs typeface="Times New Roman" panose="02020603050405020304" pitchFamily="18" charset="0"/>
              </a:rPr>
              <a:t>1</a:t>
            </a:r>
            <a:r>
              <a:rPr lang="en-US" altLang="en-US" sz="1900">
                <a:solidFill>
                  <a:prstClr val="black"/>
                </a:solidFill>
                <a:cs typeface="Times New Roman" panose="02020603050405020304" pitchFamily="18" charset="0"/>
              </a:rPr>
              <a:t>] = $88,000</a:t>
            </a:r>
          </a:p>
          <a:p>
            <a:pPr eaLnBrk="0" fontAlgn="base" hangingPunct="0">
              <a:lnSpc>
                <a:spcPct val="90000"/>
              </a:lnSpc>
              <a:spcBef>
                <a:spcPct val="20000"/>
              </a:spcBef>
              <a:spcAft>
                <a:spcPct val="0"/>
              </a:spcAft>
              <a:buSzPct val="90000"/>
            </a:pPr>
            <a:endParaRPr lang="en-US" altLang="en-US" sz="1900">
              <a:solidFill>
                <a:prstClr val="black"/>
              </a:solidFill>
              <a:cs typeface="Times New Roman" panose="02020603050405020304" pitchFamily="18" charset="0"/>
            </a:endParaRPr>
          </a:p>
        </p:txBody>
      </p:sp>
      <p:sp>
        <p:nvSpPr>
          <p:cNvPr id="387080" name="Oval 8">
            <a:extLst>
              <a:ext uri="{FF2B5EF4-FFF2-40B4-BE49-F238E27FC236}">
                <a16:creationId xmlns:a16="http://schemas.microsoft.com/office/drawing/2014/main" id="{89D184AD-B2EE-3F02-8F07-172D75AC026D}"/>
              </a:ext>
            </a:extLst>
          </p:cNvPr>
          <p:cNvSpPr>
            <a:spLocks noChangeArrowheads="1"/>
          </p:cNvSpPr>
          <p:nvPr/>
        </p:nvSpPr>
        <p:spPr bwMode="auto">
          <a:xfrm>
            <a:off x="6400801" y="2251075"/>
            <a:ext cx="765175" cy="401638"/>
          </a:xfrm>
          <a:prstGeom prst="ellipse">
            <a:avLst/>
          </a:prstGeom>
          <a:noFill/>
          <a:ln w="38100">
            <a:solidFill>
              <a:srgbClr val="A819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sp>
        <p:nvSpPr>
          <p:cNvPr id="387081" name="Arc 9">
            <a:extLst>
              <a:ext uri="{FF2B5EF4-FFF2-40B4-BE49-F238E27FC236}">
                <a16:creationId xmlns:a16="http://schemas.microsoft.com/office/drawing/2014/main" id="{C1077136-5B47-9F18-C572-57D93BBDF288}"/>
              </a:ext>
            </a:extLst>
          </p:cNvPr>
          <p:cNvSpPr>
            <a:spLocks/>
          </p:cNvSpPr>
          <p:nvPr/>
        </p:nvSpPr>
        <p:spPr bwMode="auto">
          <a:xfrm flipV="1">
            <a:off x="6553200" y="2632075"/>
            <a:ext cx="3886200" cy="2819400"/>
          </a:xfrm>
          <a:custGeom>
            <a:avLst/>
            <a:gdLst>
              <a:gd name="T0" fmla="*/ 2147483646 w 21600"/>
              <a:gd name="T1" fmla="*/ 0 h 41048"/>
              <a:gd name="T2" fmla="*/ 2147483646 w 21600"/>
              <a:gd name="T3" fmla="*/ 2147483646 h 41048"/>
              <a:gd name="T4" fmla="*/ 0 w 21600"/>
              <a:gd name="T5" fmla="*/ 2147483646 h 41048"/>
              <a:gd name="T6" fmla="*/ 0 60000 65536"/>
              <a:gd name="T7" fmla="*/ 0 60000 65536"/>
              <a:gd name="T8" fmla="*/ 0 60000 65536"/>
              <a:gd name="T9" fmla="*/ 0 w 21600"/>
              <a:gd name="T10" fmla="*/ 0 h 41048"/>
              <a:gd name="T11" fmla="*/ 21600 w 21600"/>
              <a:gd name="T12" fmla="*/ 41048 h 41048"/>
            </a:gdLst>
            <a:ahLst/>
            <a:cxnLst>
              <a:cxn ang="T6">
                <a:pos x="T0" y="T1"/>
              </a:cxn>
              <a:cxn ang="T7">
                <a:pos x="T2" y="T3"/>
              </a:cxn>
              <a:cxn ang="T8">
                <a:pos x="T4" y="T5"/>
              </a:cxn>
            </a:cxnLst>
            <a:rect l="T9" t="T10" r="T11" b="T12"/>
            <a:pathLst>
              <a:path w="21600" h="41048" fill="none" extrusionOk="0">
                <a:moveTo>
                  <a:pt x="9288" y="0"/>
                </a:moveTo>
                <a:cubicBezTo>
                  <a:pt x="16809" y="3582"/>
                  <a:pt x="21600" y="11170"/>
                  <a:pt x="21600" y="19501"/>
                </a:cubicBezTo>
                <a:cubicBezTo>
                  <a:pt x="21600" y="30844"/>
                  <a:pt x="12825" y="40255"/>
                  <a:pt x="1509" y="41048"/>
                </a:cubicBezTo>
              </a:path>
              <a:path w="21600" h="41048" stroke="0" extrusionOk="0">
                <a:moveTo>
                  <a:pt x="9288" y="0"/>
                </a:moveTo>
                <a:cubicBezTo>
                  <a:pt x="16809" y="3582"/>
                  <a:pt x="21600" y="11170"/>
                  <a:pt x="21600" y="19501"/>
                </a:cubicBezTo>
                <a:cubicBezTo>
                  <a:pt x="21600" y="30844"/>
                  <a:pt x="12825" y="40255"/>
                  <a:pt x="1509" y="41048"/>
                </a:cubicBezTo>
                <a:lnTo>
                  <a:pt x="0" y="19501"/>
                </a:lnTo>
                <a:lnTo>
                  <a:pt x="9288" y="0"/>
                </a:lnTo>
                <a:close/>
              </a:path>
            </a:pathLst>
          </a:custGeom>
          <a:noFill/>
          <a:ln w="38100">
            <a:solidFill>
              <a:srgbClr val="A819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87079"/>
                                        </p:tgtEl>
                                        <p:attrNameLst>
                                          <p:attrName>style.visibility</p:attrName>
                                        </p:attrNameLst>
                                      </p:cBhvr>
                                      <p:to>
                                        <p:strVal val="visible"/>
                                      </p:to>
                                    </p:set>
                                    <p:animEffect transition="in" filter="fade">
                                      <p:cBhvr>
                                        <p:cTn id="7" dur="1000"/>
                                        <p:tgtEl>
                                          <p:spTgt spid="387079"/>
                                        </p:tgtEl>
                                      </p:cBhvr>
                                    </p:animEffect>
                                    <p:anim calcmode="lin" valueType="num">
                                      <p:cBhvr>
                                        <p:cTn id="8" dur="1000" fill="hold"/>
                                        <p:tgtEl>
                                          <p:spTgt spid="387079"/>
                                        </p:tgtEl>
                                        <p:attrNameLst>
                                          <p:attrName>ppt_x</p:attrName>
                                        </p:attrNameLst>
                                      </p:cBhvr>
                                      <p:tavLst>
                                        <p:tav tm="0">
                                          <p:val>
                                            <p:strVal val="#ppt_x"/>
                                          </p:val>
                                        </p:tav>
                                        <p:tav tm="100000">
                                          <p:val>
                                            <p:strVal val="#ppt_x"/>
                                          </p:val>
                                        </p:tav>
                                      </p:tavLst>
                                    </p:anim>
                                    <p:anim calcmode="lin" valueType="num">
                                      <p:cBhvr>
                                        <p:cTn id="9" dur="1000" fill="hold"/>
                                        <p:tgtEl>
                                          <p:spTgt spid="387079"/>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387081"/>
                                        </p:tgtEl>
                                        <p:attrNameLst>
                                          <p:attrName>style.visibility</p:attrName>
                                        </p:attrNameLst>
                                      </p:cBhvr>
                                      <p:to>
                                        <p:strVal val="visible"/>
                                      </p:to>
                                    </p:set>
                                    <p:animEffect transition="in" filter="wipe(down)">
                                      <p:cBhvr>
                                        <p:cTn id="12" dur="500"/>
                                        <p:tgtEl>
                                          <p:spTgt spid="387081"/>
                                        </p:tgtEl>
                                      </p:cBhvr>
                                    </p:animEffect>
                                  </p:childTnLst>
                                </p:cTn>
                              </p:par>
                              <p:par>
                                <p:cTn id="13" presetID="22" presetClass="entr" presetSubtype="2" fill="hold" grpId="0" nodeType="withEffect">
                                  <p:stCondLst>
                                    <p:cond delay="0"/>
                                  </p:stCondLst>
                                  <p:childTnLst>
                                    <p:set>
                                      <p:cBhvr>
                                        <p:cTn id="14" dur="1" fill="hold">
                                          <p:stCondLst>
                                            <p:cond delay="0"/>
                                          </p:stCondLst>
                                        </p:cTn>
                                        <p:tgtEl>
                                          <p:spTgt spid="387080"/>
                                        </p:tgtEl>
                                        <p:attrNameLst>
                                          <p:attrName>style.visibility</p:attrName>
                                        </p:attrNameLst>
                                      </p:cBhvr>
                                      <p:to>
                                        <p:strVal val="visible"/>
                                      </p:to>
                                    </p:set>
                                    <p:animEffect transition="in" filter="wipe(right)">
                                      <p:cBhvr>
                                        <p:cTn id="15" dur="500"/>
                                        <p:tgtEl>
                                          <p:spTgt spid="3870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7079" grpId="0" autoUpdateAnimBg="0"/>
      <p:bldP spid="387080" grpId="0" animBg="1"/>
    </p:bldLst>
  </p:timing>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Rectangle 5">
            <a:extLst>
              <a:ext uri="{FF2B5EF4-FFF2-40B4-BE49-F238E27FC236}">
                <a16:creationId xmlns:a16="http://schemas.microsoft.com/office/drawing/2014/main" id="{4415DCF4-F1B2-C061-5B4B-8508ECA0AC51}"/>
              </a:ext>
            </a:extLst>
          </p:cNvPr>
          <p:cNvSpPr>
            <a:spLocks noGrp="1"/>
          </p:cNvSpPr>
          <p:nvPr>
            <p:ph idx="1"/>
          </p:nvPr>
        </p:nvSpPr>
        <p:spPr>
          <a:xfrm>
            <a:off x="1752600" y="1330326"/>
            <a:ext cx="8763000" cy="4613275"/>
          </a:xfrm>
        </p:spPr>
        <p:txBody>
          <a:bodyPr/>
          <a:lstStyle/>
          <a:p>
            <a:pPr marL="342900" indent="-342900" eaLnBrk="1" hangingPunct="1">
              <a:lnSpc>
                <a:spcPct val="80000"/>
              </a:lnSpc>
              <a:spcBef>
                <a:spcPct val="30000"/>
              </a:spcBef>
              <a:buNone/>
            </a:pPr>
            <a:r>
              <a:rPr lang="en-US" altLang="en-US" sz="2000">
                <a:ea typeface="ＭＳ Ｐゴシック" panose="020B0600070205080204" pitchFamily="34" charset="-128"/>
              </a:rPr>
              <a:t>				</a:t>
            </a:r>
            <a:r>
              <a:rPr lang="en-US" altLang="en-US" sz="1800" i="1">
                <a:latin typeface="Times New Roman" panose="02020603050405020304" pitchFamily="18" charset="0"/>
                <a:ea typeface="ＭＳ Ｐゴシック" panose="020B0600070205080204" pitchFamily="34" charset="-128"/>
              </a:rPr>
              <a:t>Year 0	Year 1	Year 2	Year 3	Year 4    Year 5</a:t>
            </a:r>
          </a:p>
          <a:p>
            <a:pPr marL="342900" indent="-342900" eaLnBrk="1" hangingPunct="1">
              <a:lnSpc>
                <a:spcPct val="80000"/>
              </a:lnSpc>
              <a:spcBef>
                <a:spcPct val="30000"/>
              </a:spcBef>
              <a:buNone/>
            </a:pPr>
            <a:r>
              <a:rPr lang="en-US" altLang="en-US" sz="1800">
                <a:latin typeface="Times New Roman" panose="02020603050405020304" pitchFamily="18" charset="0"/>
                <a:ea typeface="ＭＳ Ｐゴシック" panose="020B0600070205080204" pitchFamily="34" charset="-128"/>
              </a:rPr>
              <a:t>Income:</a:t>
            </a:r>
            <a:endParaRPr lang="en-US" altLang="en-US" sz="1800" i="1">
              <a:latin typeface="Times New Roman" panose="02020603050405020304" pitchFamily="18" charset="0"/>
              <a:ea typeface="ＭＳ Ｐゴシック" panose="020B0600070205080204" pitchFamily="34" charset="-128"/>
            </a:endParaRPr>
          </a:p>
          <a:p>
            <a:pPr marL="342900" indent="-342900" eaLnBrk="1" hangingPunct="1">
              <a:lnSpc>
                <a:spcPct val="80000"/>
              </a:lnSpc>
              <a:spcBef>
                <a:spcPct val="30000"/>
              </a:spcBef>
              <a:buNone/>
            </a:pPr>
            <a:r>
              <a:rPr lang="en-US" altLang="en-US" sz="1800">
                <a:latin typeface="Times New Roman" panose="02020603050405020304" pitchFamily="18" charset="0"/>
                <a:ea typeface="ＭＳ Ｐゴシック" panose="020B0600070205080204" pitchFamily="34" charset="-128"/>
              </a:rPr>
              <a:t>  (8) Sales Revenues		100.00	163.20	249.70	212.24   129.89</a:t>
            </a:r>
          </a:p>
          <a:p>
            <a:pPr marL="342900" indent="-342900" eaLnBrk="1" hangingPunct="1">
              <a:lnSpc>
                <a:spcPct val="80000"/>
              </a:lnSpc>
              <a:spcBef>
                <a:spcPct val="30000"/>
              </a:spcBef>
              <a:buNone/>
            </a:pPr>
            <a:r>
              <a:rPr lang="en-US" altLang="en-US" sz="1800">
                <a:latin typeface="Times New Roman" panose="02020603050405020304" pitchFamily="18" charset="0"/>
                <a:ea typeface="ＭＳ Ｐゴシック" panose="020B0600070205080204" pitchFamily="34" charset="-128"/>
              </a:rPr>
              <a:t>  (9) Operating costs		 -50.00	 -88.00     -145.20  -133.10    -87.85</a:t>
            </a:r>
          </a:p>
          <a:p>
            <a:pPr marL="342900" indent="-342900" eaLnBrk="1" hangingPunct="1">
              <a:lnSpc>
                <a:spcPct val="80000"/>
              </a:lnSpc>
              <a:spcBef>
                <a:spcPct val="30000"/>
              </a:spcBef>
              <a:buNone/>
            </a:pPr>
            <a:r>
              <a:rPr lang="en-US" altLang="en-US" sz="1800">
                <a:latin typeface="Times New Roman" panose="02020603050405020304" pitchFamily="18" charset="0"/>
                <a:ea typeface="ＭＳ Ｐゴシック" panose="020B0600070205080204" pitchFamily="34" charset="-128"/>
              </a:rPr>
              <a:t>(10) Depreciation			 -20.00	 -32.00	 -19.20	 -11.52    -11.52</a:t>
            </a:r>
          </a:p>
        </p:txBody>
      </p:sp>
      <p:sp>
        <p:nvSpPr>
          <p:cNvPr id="35842" name="Rectangle 4">
            <a:extLst>
              <a:ext uri="{FF2B5EF4-FFF2-40B4-BE49-F238E27FC236}">
                <a16:creationId xmlns:a16="http://schemas.microsoft.com/office/drawing/2014/main" id="{D7DA038D-89E0-D337-4A48-DDA62155DA5E}"/>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The Baldwin Company</a:t>
            </a:r>
          </a:p>
        </p:txBody>
      </p:sp>
      <p:sp>
        <p:nvSpPr>
          <p:cNvPr id="388103" name="Rectangle 7">
            <a:extLst>
              <a:ext uri="{FF2B5EF4-FFF2-40B4-BE49-F238E27FC236}">
                <a16:creationId xmlns:a16="http://schemas.microsoft.com/office/drawing/2014/main" id="{4BDC816C-99F7-25A3-AE07-288A47E8D02A}"/>
              </a:ext>
            </a:extLst>
          </p:cNvPr>
          <p:cNvSpPr>
            <a:spLocks noChangeArrowheads="1"/>
          </p:cNvSpPr>
          <p:nvPr/>
        </p:nvSpPr>
        <p:spPr bwMode="auto">
          <a:xfrm>
            <a:off x="1752600" y="3352801"/>
            <a:ext cx="5181600" cy="216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lnSpc>
                <a:spcPct val="90000"/>
              </a:lnSpc>
              <a:spcBef>
                <a:spcPct val="50000"/>
              </a:spcBef>
              <a:spcAft>
                <a:spcPct val="0"/>
              </a:spcAft>
              <a:buSzPct val="90000"/>
            </a:pPr>
            <a:r>
              <a:rPr lang="en-US" altLang="en-US" sz="1900">
                <a:solidFill>
                  <a:prstClr val="black"/>
                </a:solidFill>
              </a:rPr>
              <a:t>Depreciation is calculated using the Modified Accelerated Cost Recovery System (shown at right).</a:t>
            </a:r>
          </a:p>
          <a:p>
            <a:pPr eaLnBrk="0" fontAlgn="base" hangingPunct="0">
              <a:lnSpc>
                <a:spcPct val="90000"/>
              </a:lnSpc>
              <a:spcBef>
                <a:spcPct val="20000"/>
              </a:spcBef>
              <a:spcAft>
                <a:spcPct val="0"/>
              </a:spcAft>
              <a:buSzPct val="90000"/>
            </a:pPr>
            <a:r>
              <a:rPr lang="en-US" altLang="en-US" sz="1900">
                <a:solidFill>
                  <a:prstClr val="black"/>
                </a:solidFill>
              </a:rPr>
              <a:t>Our cost basis is $100,000.</a:t>
            </a:r>
          </a:p>
          <a:p>
            <a:pPr eaLnBrk="0" fontAlgn="base" hangingPunct="0">
              <a:lnSpc>
                <a:spcPct val="90000"/>
              </a:lnSpc>
              <a:spcBef>
                <a:spcPct val="20000"/>
              </a:spcBef>
              <a:spcAft>
                <a:spcPct val="0"/>
              </a:spcAft>
              <a:buSzPct val="90000"/>
            </a:pPr>
            <a:r>
              <a:rPr lang="en-US" altLang="en-US" sz="1900">
                <a:solidFill>
                  <a:prstClr val="black"/>
                </a:solidFill>
              </a:rPr>
              <a:t>Depreciation charge in year 4 </a:t>
            </a:r>
          </a:p>
          <a:p>
            <a:pPr eaLnBrk="0" fontAlgn="base" hangingPunct="0">
              <a:lnSpc>
                <a:spcPct val="90000"/>
              </a:lnSpc>
              <a:spcBef>
                <a:spcPct val="20000"/>
              </a:spcBef>
              <a:spcAft>
                <a:spcPct val="0"/>
              </a:spcAft>
              <a:buSzPct val="90000"/>
            </a:pPr>
            <a:r>
              <a:rPr lang="en-US" altLang="en-US" sz="1900">
                <a:solidFill>
                  <a:prstClr val="black"/>
                </a:solidFill>
              </a:rPr>
              <a:t>= $100,000</a:t>
            </a:r>
            <a:r>
              <a:rPr lang="en-US" altLang="en-US" sz="1900">
                <a:solidFill>
                  <a:prstClr val="black"/>
                </a:solidFill>
                <a:cs typeface="Times New Roman" panose="02020603050405020304" pitchFamily="18" charset="0"/>
              </a:rPr>
              <a:t>×(.1152) = $11,520.</a:t>
            </a:r>
          </a:p>
          <a:p>
            <a:pPr eaLnBrk="0" fontAlgn="base" hangingPunct="0">
              <a:lnSpc>
                <a:spcPct val="90000"/>
              </a:lnSpc>
              <a:spcBef>
                <a:spcPct val="20000"/>
              </a:spcBef>
              <a:spcAft>
                <a:spcPct val="0"/>
              </a:spcAft>
              <a:buSzPct val="90000"/>
            </a:pPr>
            <a:endParaRPr lang="en-US" altLang="en-US" sz="1900">
              <a:solidFill>
                <a:prstClr val="black"/>
              </a:solidFill>
              <a:cs typeface="Times New Roman" panose="02020603050405020304" pitchFamily="18" charset="0"/>
            </a:endParaRPr>
          </a:p>
        </p:txBody>
      </p:sp>
      <p:grpSp>
        <p:nvGrpSpPr>
          <p:cNvPr id="2" name="Group 8">
            <a:extLst>
              <a:ext uri="{FF2B5EF4-FFF2-40B4-BE49-F238E27FC236}">
                <a16:creationId xmlns:a16="http://schemas.microsoft.com/office/drawing/2014/main" id="{59B2FF6F-6512-C39F-960E-082519A32B3D}"/>
              </a:ext>
            </a:extLst>
          </p:cNvPr>
          <p:cNvGrpSpPr>
            <a:grpSpLocks/>
          </p:cNvGrpSpPr>
          <p:nvPr/>
        </p:nvGrpSpPr>
        <p:grpSpPr bwMode="auto">
          <a:xfrm>
            <a:off x="4267201" y="2514600"/>
            <a:ext cx="5256213" cy="3352800"/>
            <a:chOff x="2692" y="1920"/>
            <a:chExt cx="2923" cy="2208"/>
          </a:xfrm>
        </p:grpSpPr>
        <p:sp>
          <p:nvSpPr>
            <p:cNvPr id="37894" name="Rectangle 9">
              <a:extLst>
                <a:ext uri="{FF2B5EF4-FFF2-40B4-BE49-F238E27FC236}">
                  <a16:creationId xmlns:a16="http://schemas.microsoft.com/office/drawing/2014/main" id="{C969414A-EE6A-350D-BFA3-304E127F6EB6}"/>
                </a:ext>
              </a:extLst>
            </p:cNvPr>
            <p:cNvSpPr>
              <a:spLocks noChangeArrowheads="1"/>
            </p:cNvSpPr>
            <p:nvPr/>
          </p:nvSpPr>
          <p:spPr bwMode="auto">
            <a:xfrm>
              <a:off x="4080" y="2448"/>
              <a:ext cx="1440" cy="1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75" tIns="44443" rIns="90475" bIns="44443"/>
            <a:lstStyle>
              <a:lvl1pPr marL="342900" indent="-342900">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lnSpc>
                  <a:spcPct val="90000"/>
                </a:lnSpc>
                <a:spcBef>
                  <a:spcPct val="20000"/>
                </a:spcBef>
                <a:spcAft>
                  <a:spcPct val="0"/>
                </a:spcAft>
                <a:buSzPct val="90000"/>
              </a:pPr>
              <a:r>
                <a:rPr lang="en-US" altLang="en-US" sz="1600">
                  <a:solidFill>
                    <a:prstClr val="black"/>
                  </a:solidFill>
                </a:rPr>
                <a:t>    </a:t>
              </a:r>
              <a:r>
                <a:rPr lang="en-US" altLang="en-US" sz="1600">
                  <a:solidFill>
                    <a:srgbClr val="464646"/>
                  </a:solidFill>
                </a:rPr>
                <a:t>Year	ACRS %	</a:t>
              </a:r>
            </a:p>
            <a:p>
              <a:pPr eaLnBrk="0" fontAlgn="base" hangingPunct="0">
                <a:lnSpc>
                  <a:spcPct val="90000"/>
                </a:lnSpc>
                <a:spcBef>
                  <a:spcPct val="20000"/>
                </a:spcBef>
                <a:spcAft>
                  <a:spcPct val="0"/>
                </a:spcAft>
                <a:buSzPct val="90000"/>
              </a:pPr>
              <a:r>
                <a:rPr lang="en-US" altLang="en-US" sz="1600">
                  <a:solidFill>
                    <a:srgbClr val="464646"/>
                  </a:solidFill>
                </a:rPr>
                <a:t>   	1	20.00%	</a:t>
              </a:r>
            </a:p>
            <a:p>
              <a:pPr eaLnBrk="0" fontAlgn="base" hangingPunct="0">
                <a:lnSpc>
                  <a:spcPct val="90000"/>
                </a:lnSpc>
                <a:spcBef>
                  <a:spcPct val="20000"/>
                </a:spcBef>
                <a:spcAft>
                  <a:spcPct val="0"/>
                </a:spcAft>
                <a:buSzPct val="90000"/>
              </a:pPr>
              <a:r>
                <a:rPr lang="en-US" altLang="en-US" sz="1600">
                  <a:solidFill>
                    <a:srgbClr val="464646"/>
                  </a:solidFill>
                </a:rPr>
                <a:t>   	2	32.00%	</a:t>
              </a:r>
            </a:p>
            <a:p>
              <a:pPr eaLnBrk="0" fontAlgn="base" hangingPunct="0">
                <a:lnSpc>
                  <a:spcPct val="90000"/>
                </a:lnSpc>
                <a:spcBef>
                  <a:spcPct val="20000"/>
                </a:spcBef>
                <a:spcAft>
                  <a:spcPct val="0"/>
                </a:spcAft>
                <a:buSzPct val="90000"/>
              </a:pPr>
              <a:r>
                <a:rPr lang="en-US" altLang="en-US" sz="1600">
                  <a:solidFill>
                    <a:srgbClr val="464646"/>
                  </a:solidFill>
                </a:rPr>
                <a:t>	3	19.20%	</a:t>
              </a:r>
            </a:p>
            <a:p>
              <a:pPr eaLnBrk="0" fontAlgn="base" hangingPunct="0">
                <a:lnSpc>
                  <a:spcPct val="90000"/>
                </a:lnSpc>
                <a:spcBef>
                  <a:spcPct val="20000"/>
                </a:spcBef>
                <a:spcAft>
                  <a:spcPct val="0"/>
                </a:spcAft>
                <a:buSzPct val="90000"/>
              </a:pPr>
              <a:r>
                <a:rPr lang="en-US" altLang="en-US" sz="1600">
                  <a:solidFill>
                    <a:srgbClr val="464646"/>
                  </a:solidFill>
                </a:rPr>
                <a:t>	4	11.52%	</a:t>
              </a:r>
            </a:p>
            <a:p>
              <a:pPr eaLnBrk="0" fontAlgn="base" hangingPunct="0">
                <a:lnSpc>
                  <a:spcPct val="90000"/>
                </a:lnSpc>
                <a:spcBef>
                  <a:spcPct val="20000"/>
                </a:spcBef>
                <a:spcAft>
                  <a:spcPct val="0"/>
                </a:spcAft>
                <a:buSzPct val="90000"/>
              </a:pPr>
              <a:r>
                <a:rPr lang="en-US" altLang="en-US" sz="1600">
                  <a:solidFill>
                    <a:srgbClr val="464646"/>
                  </a:solidFill>
                </a:rPr>
                <a:t>	5	11.52%	</a:t>
              </a:r>
            </a:p>
            <a:p>
              <a:pPr eaLnBrk="0" fontAlgn="base" hangingPunct="0">
                <a:lnSpc>
                  <a:spcPct val="90000"/>
                </a:lnSpc>
                <a:spcBef>
                  <a:spcPct val="20000"/>
                </a:spcBef>
                <a:spcAft>
                  <a:spcPct val="0"/>
                </a:spcAft>
                <a:buSzPct val="90000"/>
              </a:pPr>
              <a:r>
                <a:rPr lang="en-US" altLang="en-US" sz="1600">
                  <a:solidFill>
                    <a:srgbClr val="464646"/>
                  </a:solidFill>
                </a:rPr>
                <a:t>	6	  5.76%	</a:t>
              </a:r>
            </a:p>
            <a:p>
              <a:pPr eaLnBrk="0" fontAlgn="base" hangingPunct="0">
                <a:lnSpc>
                  <a:spcPct val="90000"/>
                </a:lnSpc>
                <a:spcBef>
                  <a:spcPct val="20000"/>
                </a:spcBef>
                <a:spcAft>
                  <a:spcPct val="0"/>
                </a:spcAft>
                <a:buSzPct val="90000"/>
              </a:pPr>
              <a:r>
                <a:rPr lang="en-US" altLang="en-US" sz="1600">
                  <a:solidFill>
                    <a:srgbClr val="464646"/>
                  </a:solidFill>
                </a:rPr>
                <a:t>   Total    100.00%	</a:t>
              </a:r>
            </a:p>
          </p:txBody>
        </p:sp>
        <p:sp>
          <p:nvSpPr>
            <p:cNvPr id="37895" name="Oval 10">
              <a:extLst>
                <a:ext uri="{FF2B5EF4-FFF2-40B4-BE49-F238E27FC236}">
                  <a16:creationId xmlns:a16="http://schemas.microsoft.com/office/drawing/2014/main" id="{B2432A83-E8EE-2422-AB25-BD0EE0858983}"/>
                </a:ext>
              </a:extLst>
            </p:cNvPr>
            <p:cNvSpPr>
              <a:spLocks noChangeArrowheads="1"/>
            </p:cNvSpPr>
            <p:nvPr/>
          </p:nvSpPr>
          <p:spPr bwMode="auto">
            <a:xfrm>
              <a:off x="4848" y="1920"/>
              <a:ext cx="482" cy="253"/>
            </a:xfrm>
            <a:prstGeom prst="ellipse">
              <a:avLst/>
            </a:prstGeom>
            <a:noFill/>
            <a:ln w="38100">
              <a:solidFill>
                <a:srgbClr val="A819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sp>
          <p:nvSpPr>
            <p:cNvPr id="37896" name="Arc 11">
              <a:extLst>
                <a:ext uri="{FF2B5EF4-FFF2-40B4-BE49-F238E27FC236}">
                  <a16:creationId xmlns:a16="http://schemas.microsoft.com/office/drawing/2014/main" id="{8C980A81-8150-A091-70FD-BDE8D021D87A}"/>
                </a:ext>
              </a:extLst>
            </p:cNvPr>
            <p:cNvSpPr>
              <a:spLocks/>
            </p:cNvSpPr>
            <p:nvPr/>
          </p:nvSpPr>
          <p:spPr bwMode="auto">
            <a:xfrm flipV="1">
              <a:off x="2692" y="2122"/>
              <a:ext cx="2923" cy="2006"/>
            </a:xfrm>
            <a:custGeom>
              <a:avLst/>
              <a:gdLst>
                <a:gd name="T0" fmla="*/ 0 w 41299"/>
                <a:gd name="T1" fmla="*/ 0 h 35033"/>
                <a:gd name="T2" fmla="*/ 0 w 41299"/>
                <a:gd name="T3" fmla="*/ 0 h 35033"/>
                <a:gd name="T4" fmla="*/ 0 w 41299"/>
                <a:gd name="T5" fmla="*/ 0 h 35033"/>
                <a:gd name="T6" fmla="*/ 0 60000 65536"/>
                <a:gd name="T7" fmla="*/ 0 60000 65536"/>
                <a:gd name="T8" fmla="*/ 0 60000 65536"/>
                <a:gd name="T9" fmla="*/ 0 w 41299"/>
                <a:gd name="T10" fmla="*/ 0 h 35033"/>
                <a:gd name="T11" fmla="*/ 41299 w 41299"/>
                <a:gd name="T12" fmla="*/ 35033 h 35033"/>
              </a:gdLst>
              <a:ahLst/>
              <a:cxnLst>
                <a:cxn ang="T6">
                  <a:pos x="T0" y="T1"/>
                </a:cxn>
                <a:cxn ang="T7">
                  <a:pos x="T2" y="T3"/>
                </a:cxn>
                <a:cxn ang="T8">
                  <a:pos x="T4" y="T5"/>
                </a:cxn>
              </a:cxnLst>
              <a:rect l="T9" t="T10" r="T11" b="T12"/>
              <a:pathLst>
                <a:path w="41299" h="35033" fill="none" extrusionOk="0">
                  <a:moveTo>
                    <a:pt x="0" y="12739"/>
                  </a:moveTo>
                  <a:cubicBezTo>
                    <a:pt x="3487" y="4986"/>
                    <a:pt x="11197" y="-1"/>
                    <a:pt x="19699" y="0"/>
                  </a:cubicBezTo>
                  <a:cubicBezTo>
                    <a:pt x="31628" y="0"/>
                    <a:pt x="41299" y="9670"/>
                    <a:pt x="41299" y="21600"/>
                  </a:cubicBezTo>
                  <a:cubicBezTo>
                    <a:pt x="41299" y="26478"/>
                    <a:pt x="39647" y="31212"/>
                    <a:pt x="36613" y="35032"/>
                  </a:cubicBezTo>
                </a:path>
                <a:path w="41299" h="35033" stroke="0" extrusionOk="0">
                  <a:moveTo>
                    <a:pt x="0" y="12739"/>
                  </a:moveTo>
                  <a:cubicBezTo>
                    <a:pt x="3487" y="4986"/>
                    <a:pt x="11197" y="-1"/>
                    <a:pt x="19699" y="0"/>
                  </a:cubicBezTo>
                  <a:cubicBezTo>
                    <a:pt x="31628" y="0"/>
                    <a:pt x="41299" y="9670"/>
                    <a:pt x="41299" y="21600"/>
                  </a:cubicBezTo>
                  <a:cubicBezTo>
                    <a:pt x="41299" y="26478"/>
                    <a:pt x="39647" y="31212"/>
                    <a:pt x="36613" y="35032"/>
                  </a:cubicBezTo>
                  <a:lnTo>
                    <a:pt x="19699" y="21600"/>
                  </a:lnTo>
                  <a:lnTo>
                    <a:pt x="0" y="12739"/>
                  </a:lnTo>
                  <a:close/>
                </a:path>
              </a:pathLst>
            </a:custGeom>
            <a:noFill/>
            <a:ln w="38100">
              <a:solidFill>
                <a:srgbClr val="A819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88103"/>
                                        </p:tgtEl>
                                        <p:attrNameLst>
                                          <p:attrName>style.visibility</p:attrName>
                                        </p:attrNameLst>
                                      </p:cBhvr>
                                      <p:to>
                                        <p:strVal val="visible"/>
                                      </p:to>
                                    </p:set>
                                    <p:animEffect transition="in" filter="fade">
                                      <p:cBhvr>
                                        <p:cTn id="7" dur="1000"/>
                                        <p:tgtEl>
                                          <p:spTgt spid="388103"/>
                                        </p:tgtEl>
                                      </p:cBhvr>
                                    </p:animEffect>
                                    <p:anim calcmode="lin" valueType="num">
                                      <p:cBhvr>
                                        <p:cTn id="8" dur="1000" fill="hold"/>
                                        <p:tgtEl>
                                          <p:spTgt spid="388103"/>
                                        </p:tgtEl>
                                        <p:attrNameLst>
                                          <p:attrName>ppt_x</p:attrName>
                                        </p:attrNameLst>
                                      </p:cBhvr>
                                      <p:tavLst>
                                        <p:tav tm="0">
                                          <p:val>
                                            <p:strVal val="#ppt_x"/>
                                          </p:val>
                                        </p:tav>
                                        <p:tav tm="100000">
                                          <p:val>
                                            <p:strVal val="#ppt_x"/>
                                          </p:val>
                                        </p:tav>
                                      </p:tavLst>
                                    </p:anim>
                                    <p:anim calcmode="lin" valueType="num">
                                      <p:cBhvr>
                                        <p:cTn id="9" dur="1000" fill="hold"/>
                                        <p:tgtEl>
                                          <p:spTgt spid="388103"/>
                                        </p:tgtEl>
                                        <p:attrNameLst>
                                          <p:attrName>ppt_y</p:attrName>
                                        </p:attrNameLst>
                                      </p:cBhvr>
                                      <p:tavLst>
                                        <p:tav tm="0">
                                          <p:val>
                                            <p:strVal val="#ppt_y+.1"/>
                                          </p:val>
                                        </p:tav>
                                        <p:tav tm="100000">
                                          <p:val>
                                            <p:strVal val="#ppt_y"/>
                                          </p:val>
                                        </p:tav>
                                      </p:tavLst>
                                    </p:anim>
                                  </p:childTnLst>
                                </p:cTn>
                              </p:par>
                              <p:par>
                                <p:cTn id="10" presetID="22" presetClass="entr" presetSubtype="8"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103" grpId="0"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5">
            <a:extLst>
              <a:ext uri="{FF2B5EF4-FFF2-40B4-BE49-F238E27FC236}">
                <a16:creationId xmlns:a16="http://schemas.microsoft.com/office/drawing/2014/main" id="{5E61214A-CC77-CE3E-861F-112B267C5069}"/>
              </a:ext>
            </a:extLst>
          </p:cNvPr>
          <p:cNvSpPr>
            <a:spLocks noGrp="1"/>
          </p:cNvSpPr>
          <p:nvPr>
            <p:ph idx="1"/>
          </p:nvPr>
        </p:nvSpPr>
        <p:spPr>
          <a:xfrm>
            <a:off x="1905001" y="1371601"/>
            <a:ext cx="8556625" cy="4613275"/>
          </a:xfrm>
        </p:spPr>
        <p:txBody>
          <a:bodyPr/>
          <a:lstStyle/>
          <a:p>
            <a:pPr marL="342900" indent="-342900" eaLnBrk="1" hangingPunct="1">
              <a:lnSpc>
                <a:spcPct val="80000"/>
              </a:lnSpc>
              <a:spcBef>
                <a:spcPct val="30000"/>
              </a:spcBef>
              <a:buNone/>
            </a:pPr>
            <a:r>
              <a:rPr lang="en-US" altLang="en-US" sz="2000">
                <a:ea typeface="ＭＳ Ｐゴシック" panose="020B0600070205080204" pitchFamily="34" charset="-128"/>
              </a:rPr>
              <a:t>				</a:t>
            </a:r>
            <a:r>
              <a:rPr lang="en-US" altLang="en-US" sz="1800" i="1">
                <a:latin typeface="Times New Roman" panose="02020603050405020304" pitchFamily="18" charset="0"/>
                <a:ea typeface="ＭＳ Ｐゴシック" panose="020B0600070205080204" pitchFamily="34" charset="-128"/>
              </a:rPr>
              <a:t>Year 0	Year 1	Year 2	Year 3	Year 4    Year 5</a:t>
            </a:r>
          </a:p>
          <a:p>
            <a:pPr marL="342900" indent="-342900" eaLnBrk="1" hangingPunct="1">
              <a:lnSpc>
                <a:spcPct val="80000"/>
              </a:lnSpc>
              <a:spcBef>
                <a:spcPct val="30000"/>
              </a:spcBef>
              <a:buNone/>
            </a:pPr>
            <a:r>
              <a:rPr lang="en-US" altLang="en-US" sz="1800">
                <a:latin typeface="Times New Roman" panose="02020603050405020304" pitchFamily="18" charset="0"/>
                <a:ea typeface="ＭＳ Ｐゴシック" panose="020B0600070205080204" pitchFamily="34" charset="-128"/>
              </a:rPr>
              <a:t>Income:</a:t>
            </a:r>
            <a:endParaRPr lang="en-US" altLang="en-US" sz="1800" i="1">
              <a:latin typeface="Times New Roman" panose="02020603050405020304" pitchFamily="18" charset="0"/>
              <a:ea typeface="ＭＳ Ｐゴシック" panose="020B0600070205080204" pitchFamily="34" charset="-128"/>
            </a:endParaRPr>
          </a:p>
          <a:p>
            <a:pPr marL="342900" indent="-342900" eaLnBrk="1" hangingPunct="1">
              <a:lnSpc>
                <a:spcPct val="80000"/>
              </a:lnSpc>
              <a:spcBef>
                <a:spcPct val="30000"/>
              </a:spcBef>
              <a:buNone/>
            </a:pPr>
            <a:r>
              <a:rPr lang="en-US" altLang="en-US" sz="1800">
                <a:latin typeface="Times New Roman" panose="02020603050405020304" pitchFamily="18" charset="0"/>
                <a:ea typeface="ＭＳ Ｐゴシック" panose="020B0600070205080204" pitchFamily="34" charset="-128"/>
              </a:rPr>
              <a:t>  (8) Sales Revenues		100.00	163.20	249.70	212.24   129.89</a:t>
            </a:r>
          </a:p>
          <a:p>
            <a:pPr marL="342900" indent="-342900" eaLnBrk="1" hangingPunct="1">
              <a:lnSpc>
                <a:spcPct val="80000"/>
              </a:lnSpc>
              <a:spcBef>
                <a:spcPct val="30000"/>
              </a:spcBef>
              <a:buNone/>
            </a:pPr>
            <a:r>
              <a:rPr lang="en-US" altLang="en-US" sz="1800">
                <a:latin typeface="Times New Roman" panose="02020603050405020304" pitchFamily="18" charset="0"/>
                <a:ea typeface="ＭＳ Ｐゴシック" panose="020B0600070205080204" pitchFamily="34" charset="-128"/>
              </a:rPr>
              <a:t>  (9) Operating costs		 -50.00	 -88.00    -145.20   -133.10    -87.85</a:t>
            </a:r>
          </a:p>
          <a:p>
            <a:pPr marL="342900" indent="-342900" eaLnBrk="1" hangingPunct="1">
              <a:lnSpc>
                <a:spcPct val="80000"/>
              </a:lnSpc>
              <a:spcBef>
                <a:spcPct val="30000"/>
              </a:spcBef>
              <a:buNone/>
            </a:pPr>
            <a:r>
              <a:rPr lang="en-US" altLang="en-US" sz="1800">
                <a:latin typeface="Times New Roman" panose="02020603050405020304" pitchFamily="18" charset="0"/>
                <a:ea typeface="ＭＳ Ｐゴシック" panose="020B0600070205080204" pitchFamily="34" charset="-128"/>
              </a:rPr>
              <a:t>(10) Depreciation			 -20.00	 -32.00	 -19.20	 -11.52    -11.52</a:t>
            </a:r>
          </a:p>
          <a:p>
            <a:pPr marL="342900" indent="-342900" eaLnBrk="1" hangingPunct="1">
              <a:lnSpc>
                <a:spcPct val="80000"/>
              </a:lnSpc>
              <a:spcBef>
                <a:spcPct val="30000"/>
              </a:spcBef>
              <a:buNone/>
            </a:pPr>
            <a:r>
              <a:rPr lang="en-US" altLang="en-US" sz="1800">
                <a:latin typeface="Times New Roman" panose="02020603050405020304" pitchFamily="18" charset="0"/>
                <a:ea typeface="ＭＳ Ｐゴシック" panose="020B0600070205080204" pitchFamily="34" charset="-128"/>
              </a:rPr>
              <a:t>(11) Income before taxes	 	  30.00	  43.20	  85.30	  67.62     30.53</a:t>
            </a:r>
            <a:br>
              <a:rPr lang="en-US" altLang="en-US" sz="1800">
                <a:latin typeface="Times New Roman" panose="02020603050405020304" pitchFamily="18" charset="0"/>
                <a:ea typeface="ＭＳ Ｐゴシック" panose="020B0600070205080204" pitchFamily="34" charset="-128"/>
              </a:rPr>
            </a:br>
            <a:r>
              <a:rPr lang="en-US" altLang="en-US" sz="1800">
                <a:latin typeface="Times New Roman" panose="02020603050405020304" pitchFamily="18" charset="0"/>
                <a:ea typeface="ＭＳ Ｐゴシック" panose="020B0600070205080204" pitchFamily="34" charset="-128"/>
              </a:rPr>
              <a:t> [(8) – (9) - (10)]</a:t>
            </a:r>
          </a:p>
          <a:p>
            <a:pPr marL="342900" indent="-342900" eaLnBrk="1" hangingPunct="1">
              <a:lnSpc>
                <a:spcPct val="80000"/>
              </a:lnSpc>
              <a:spcBef>
                <a:spcPct val="30000"/>
              </a:spcBef>
              <a:buNone/>
            </a:pPr>
            <a:r>
              <a:rPr lang="en-US" altLang="en-US" sz="1800">
                <a:latin typeface="Times New Roman" panose="02020603050405020304" pitchFamily="18" charset="0"/>
                <a:ea typeface="ＭＳ Ｐゴシック" panose="020B0600070205080204" pitchFamily="34" charset="-128"/>
              </a:rPr>
              <a:t>(12) Tax at 34 percent	  	 -10.20	 -14.69	 -29.00	 -22.99    -10.38</a:t>
            </a:r>
          </a:p>
          <a:p>
            <a:pPr marL="342900" indent="-342900" eaLnBrk="1" hangingPunct="1">
              <a:lnSpc>
                <a:spcPct val="80000"/>
              </a:lnSpc>
              <a:spcBef>
                <a:spcPct val="30000"/>
              </a:spcBef>
              <a:buNone/>
            </a:pPr>
            <a:r>
              <a:rPr lang="en-US" altLang="en-US" sz="1800">
                <a:latin typeface="Times New Roman" panose="02020603050405020304" pitchFamily="18" charset="0"/>
                <a:ea typeface="ＭＳ Ｐゴシック" panose="020B0600070205080204" pitchFamily="34" charset="-128"/>
              </a:rPr>
              <a:t>(13) Net Income			  19.80	  28.51	  56.30	  44.63     20.15</a:t>
            </a:r>
          </a:p>
          <a:p>
            <a:pPr marL="342900" indent="-342900" eaLnBrk="1" hangingPunct="1">
              <a:lnSpc>
                <a:spcPct val="80000"/>
              </a:lnSpc>
              <a:spcBef>
                <a:spcPct val="30000"/>
              </a:spcBef>
              <a:buNone/>
            </a:pPr>
            <a:endParaRPr lang="en-US" altLang="en-US" sz="2400">
              <a:ea typeface="ＭＳ Ｐゴシック" panose="020B0600070205080204" pitchFamily="34" charset="-128"/>
            </a:endParaRPr>
          </a:p>
          <a:p>
            <a:pPr marL="342900" indent="-342900" eaLnBrk="1" hangingPunct="1">
              <a:lnSpc>
                <a:spcPct val="80000"/>
              </a:lnSpc>
              <a:spcBef>
                <a:spcPct val="30000"/>
              </a:spcBef>
              <a:buNone/>
            </a:pPr>
            <a:r>
              <a:rPr lang="en-US" altLang="en-US" sz="2400">
                <a:ea typeface="ＭＳ Ｐゴシック" panose="020B0600070205080204" pitchFamily="34" charset="-128"/>
              </a:rPr>
              <a:t>	</a:t>
            </a:r>
          </a:p>
        </p:txBody>
      </p:sp>
      <p:sp>
        <p:nvSpPr>
          <p:cNvPr id="37890" name="Rectangle 4">
            <a:extLst>
              <a:ext uri="{FF2B5EF4-FFF2-40B4-BE49-F238E27FC236}">
                <a16:creationId xmlns:a16="http://schemas.microsoft.com/office/drawing/2014/main" id="{3D48860A-BF22-8C7B-98C5-870AA01E8847}"/>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The Baldwin Company</a:t>
            </a:r>
          </a:p>
        </p:txBody>
      </p:sp>
      <p:sp>
        <p:nvSpPr>
          <p:cNvPr id="39940" name="Line 7">
            <a:extLst>
              <a:ext uri="{FF2B5EF4-FFF2-40B4-BE49-F238E27FC236}">
                <a16:creationId xmlns:a16="http://schemas.microsoft.com/office/drawing/2014/main" id="{0D0319A6-3EDC-13FC-09B2-54B03AF7FA94}"/>
              </a:ext>
            </a:extLst>
          </p:cNvPr>
          <p:cNvSpPr>
            <a:spLocks noChangeShapeType="1"/>
          </p:cNvSpPr>
          <p:nvPr/>
        </p:nvSpPr>
        <p:spPr bwMode="auto">
          <a:xfrm>
            <a:off x="5791200" y="2895600"/>
            <a:ext cx="6858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39941" name="Line 8">
            <a:extLst>
              <a:ext uri="{FF2B5EF4-FFF2-40B4-BE49-F238E27FC236}">
                <a16:creationId xmlns:a16="http://schemas.microsoft.com/office/drawing/2014/main" id="{FB39039F-CBC4-7CEC-E486-9F3466FC0C57}"/>
              </a:ext>
            </a:extLst>
          </p:cNvPr>
          <p:cNvSpPr>
            <a:spLocks noChangeShapeType="1"/>
          </p:cNvSpPr>
          <p:nvPr/>
        </p:nvSpPr>
        <p:spPr bwMode="auto">
          <a:xfrm>
            <a:off x="6705600" y="2895600"/>
            <a:ext cx="6858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39942" name="Line 9">
            <a:extLst>
              <a:ext uri="{FF2B5EF4-FFF2-40B4-BE49-F238E27FC236}">
                <a16:creationId xmlns:a16="http://schemas.microsoft.com/office/drawing/2014/main" id="{FFC4C117-BA16-79EC-02CF-7166B89005C3}"/>
              </a:ext>
            </a:extLst>
          </p:cNvPr>
          <p:cNvSpPr>
            <a:spLocks noChangeShapeType="1"/>
          </p:cNvSpPr>
          <p:nvPr/>
        </p:nvSpPr>
        <p:spPr bwMode="auto">
          <a:xfrm>
            <a:off x="7620000" y="2895600"/>
            <a:ext cx="6858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39943" name="Line 10">
            <a:extLst>
              <a:ext uri="{FF2B5EF4-FFF2-40B4-BE49-F238E27FC236}">
                <a16:creationId xmlns:a16="http://schemas.microsoft.com/office/drawing/2014/main" id="{71D3ABD4-F034-953B-165C-74FB07096842}"/>
              </a:ext>
            </a:extLst>
          </p:cNvPr>
          <p:cNvSpPr>
            <a:spLocks noChangeShapeType="1"/>
          </p:cNvSpPr>
          <p:nvPr/>
        </p:nvSpPr>
        <p:spPr bwMode="auto">
          <a:xfrm>
            <a:off x="8534400" y="2895600"/>
            <a:ext cx="6858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39944" name="Line 11">
            <a:extLst>
              <a:ext uri="{FF2B5EF4-FFF2-40B4-BE49-F238E27FC236}">
                <a16:creationId xmlns:a16="http://schemas.microsoft.com/office/drawing/2014/main" id="{45E57F0A-AFDC-9E13-E08E-44B2AA087E07}"/>
              </a:ext>
            </a:extLst>
          </p:cNvPr>
          <p:cNvSpPr>
            <a:spLocks noChangeShapeType="1"/>
          </p:cNvSpPr>
          <p:nvPr/>
        </p:nvSpPr>
        <p:spPr bwMode="auto">
          <a:xfrm>
            <a:off x="9372600" y="2895600"/>
            <a:ext cx="6858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39945" name="Line 12">
            <a:extLst>
              <a:ext uri="{FF2B5EF4-FFF2-40B4-BE49-F238E27FC236}">
                <a16:creationId xmlns:a16="http://schemas.microsoft.com/office/drawing/2014/main" id="{08A328B3-66ED-1B83-F631-96BC1054391D}"/>
              </a:ext>
            </a:extLst>
          </p:cNvPr>
          <p:cNvSpPr>
            <a:spLocks noChangeShapeType="1"/>
          </p:cNvSpPr>
          <p:nvPr/>
        </p:nvSpPr>
        <p:spPr bwMode="auto">
          <a:xfrm>
            <a:off x="5791200" y="3733800"/>
            <a:ext cx="6858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39946" name="Line 13">
            <a:extLst>
              <a:ext uri="{FF2B5EF4-FFF2-40B4-BE49-F238E27FC236}">
                <a16:creationId xmlns:a16="http://schemas.microsoft.com/office/drawing/2014/main" id="{24089C02-D4C6-FAD4-AAA9-46CA37FB48BD}"/>
              </a:ext>
            </a:extLst>
          </p:cNvPr>
          <p:cNvSpPr>
            <a:spLocks noChangeShapeType="1"/>
          </p:cNvSpPr>
          <p:nvPr/>
        </p:nvSpPr>
        <p:spPr bwMode="auto">
          <a:xfrm>
            <a:off x="6705600" y="3733800"/>
            <a:ext cx="6858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39947" name="Line 14">
            <a:extLst>
              <a:ext uri="{FF2B5EF4-FFF2-40B4-BE49-F238E27FC236}">
                <a16:creationId xmlns:a16="http://schemas.microsoft.com/office/drawing/2014/main" id="{F049FACC-7303-9904-189C-F1B9B306DA3A}"/>
              </a:ext>
            </a:extLst>
          </p:cNvPr>
          <p:cNvSpPr>
            <a:spLocks noChangeShapeType="1"/>
          </p:cNvSpPr>
          <p:nvPr/>
        </p:nvSpPr>
        <p:spPr bwMode="auto">
          <a:xfrm>
            <a:off x="7620000" y="3733800"/>
            <a:ext cx="6858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39948" name="Line 15">
            <a:extLst>
              <a:ext uri="{FF2B5EF4-FFF2-40B4-BE49-F238E27FC236}">
                <a16:creationId xmlns:a16="http://schemas.microsoft.com/office/drawing/2014/main" id="{CA0DEA3A-FA2D-9CC3-F9A5-43E755218A62}"/>
              </a:ext>
            </a:extLst>
          </p:cNvPr>
          <p:cNvSpPr>
            <a:spLocks noChangeShapeType="1"/>
          </p:cNvSpPr>
          <p:nvPr/>
        </p:nvSpPr>
        <p:spPr bwMode="auto">
          <a:xfrm>
            <a:off x="8534400" y="3733800"/>
            <a:ext cx="6858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39949" name="Line 16">
            <a:extLst>
              <a:ext uri="{FF2B5EF4-FFF2-40B4-BE49-F238E27FC236}">
                <a16:creationId xmlns:a16="http://schemas.microsoft.com/office/drawing/2014/main" id="{F5AC21C2-14E6-DECA-417B-8B12C5974E42}"/>
              </a:ext>
            </a:extLst>
          </p:cNvPr>
          <p:cNvSpPr>
            <a:spLocks noChangeShapeType="1"/>
          </p:cNvSpPr>
          <p:nvPr/>
        </p:nvSpPr>
        <p:spPr bwMode="auto">
          <a:xfrm>
            <a:off x="9296400" y="3733800"/>
            <a:ext cx="6858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4">
            <a:extLst>
              <a:ext uri="{FF2B5EF4-FFF2-40B4-BE49-F238E27FC236}">
                <a16:creationId xmlns:a16="http://schemas.microsoft.com/office/drawing/2014/main" id="{8AC43C59-137C-1A47-A062-6C74464BE3E9}"/>
              </a:ext>
            </a:extLst>
          </p:cNvPr>
          <p:cNvSpPr>
            <a:spLocks noGrp="1" noChangeArrowheads="1"/>
          </p:cNvSpPr>
          <p:nvPr>
            <p:ph type="title"/>
          </p:nvPr>
        </p:nvSpPr>
        <p:spPr>
          <a:xfrm>
            <a:off x="1828800" y="152400"/>
            <a:ext cx="8229600" cy="1143000"/>
          </a:xfrm>
        </p:spPr>
        <p:txBody>
          <a:bodyPr/>
          <a:lstStyle/>
          <a:p>
            <a:pPr eaLnBrk="1" fontAlgn="auto" hangingPunct="1">
              <a:spcAft>
                <a:spcPts val="0"/>
              </a:spcAft>
              <a:defRPr/>
            </a:pPr>
            <a:r>
              <a:rPr lang="en-US" altLang="en-US" sz="3400" dirty="0">
                <a:ea typeface="+mj-ea"/>
                <a:cs typeface="+mj-cs"/>
              </a:rPr>
              <a:t>Incremental After Tax Cash Flows </a:t>
            </a:r>
          </a:p>
        </p:txBody>
      </p:sp>
      <p:grpSp>
        <p:nvGrpSpPr>
          <p:cNvPr id="41987" name="Group 5">
            <a:extLst>
              <a:ext uri="{FF2B5EF4-FFF2-40B4-BE49-F238E27FC236}">
                <a16:creationId xmlns:a16="http://schemas.microsoft.com/office/drawing/2014/main" id="{B26DC47D-B2A8-32F4-D2A2-1D071838A159}"/>
              </a:ext>
            </a:extLst>
          </p:cNvPr>
          <p:cNvGrpSpPr>
            <a:grpSpLocks/>
          </p:cNvGrpSpPr>
          <p:nvPr/>
        </p:nvGrpSpPr>
        <p:grpSpPr bwMode="auto">
          <a:xfrm>
            <a:off x="2057401" y="1143000"/>
            <a:ext cx="1604963" cy="539750"/>
            <a:chOff x="0" y="0"/>
            <a:chExt cx="849" cy="556"/>
          </a:xfrm>
        </p:grpSpPr>
        <p:sp>
          <p:nvSpPr>
            <p:cNvPr id="42138" name="Rectangle 6">
              <a:extLst>
                <a:ext uri="{FF2B5EF4-FFF2-40B4-BE49-F238E27FC236}">
                  <a16:creationId xmlns:a16="http://schemas.microsoft.com/office/drawing/2014/main" id="{C73CF2A6-F123-85F5-1386-357A27CEF48E}"/>
                </a:ext>
              </a:extLst>
            </p:cNvPr>
            <p:cNvSpPr>
              <a:spLocks noChangeArrowheads="1"/>
            </p:cNvSpPr>
            <p:nvPr/>
          </p:nvSpPr>
          <p:spPr bwMode="auto">
            <a:xfrm>
              <a:off x="43" y="0"/>
              <a:ext cx="763"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r>
                <a:rPr lang="en-US" altLang="en-US" b="1">
                  <a:solidFill>
                    <a:prstClr val="black"/>
                  </a:solidFill>
                  <a:cs typeface="Times New Roman" panose="02020603050405020304" pitchFamily="18" charset="0"/>
                </a:rPr>
                <a:t> </a:t>
              </a:r>
            </a:p>
            <a:p>
              <a:pPr eaLnBrk="0" fontAlgn="base" hangingPunct="0">
                <a:spcBef>
                  <a:spcPct val="0"/>
                </a:spcBef>
                <a:spcAft>
                  <a:spcPct val="0"/>
                </a:spcAft>
              </a:pPr>
              <a:endParaRPr lang="en-US" altLang="en-US" b="1">
                <a:solidFill>
                  <a:prstClr val="black"/>
                </a:solidFill>
                <a:cs typeface="Times New Roman" panose="02020603050405020304" pitchFamily="18" charset="0"/>
              </a:endParaRPr>
            </a:p>
          </p:txBody>
        </p:sp>
        <p:sp>
          <p:nvSpPr>
            <p:cNvPr id="42139" name="Rectangle 7">
              <a:extLst>
                <a:ext uri="{FF2B5EF4-FFF2-40B4-BE49-F238E27FC236}">
                  <a16:creationId xmlns:a16="http://schemas.microsoft.com/office/drawing/2014/main" id="{A669749D-20C6-21D2-A632-6CCABEEEE8C0}"/>
                </a:ext>
              </a:extLst>
            </p:cNvPr>
            <p:cNvSpPr>
              <a:spLocks noChangeArrowheads="1"/>
            </p:cNvSpPr>
            <p:nvPr/>
          </p:nvSpPr>
          <p:spPr bwMode="auto">
            <a:xfrm>
              <a:off x="0" y="0"/>
              <a:ext cx="849"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1988" name="Group 8">
            <a:extLst>
              <a:ext uri="{FF2B5EF4-FFF2-40B4-BE49-F238E27FC236}">
                <a16:creationId xmlns:a16="http://schemas.microsoft.com/office/drawing/2014/main" id="{7DA27455-0F31-C0FF-C0ED-EC90C538EA26}"/>
              </a:ext>
            </a:extLst>
          </p:cNvPr>
          <p:cNvGrpSpPr>
            <a:grpSpLocks/>
          </p:cNvGrpSpPr>
          <p:nvPr/>
        </p:nvGrpSpPr>
        <p:grpSpPr bwMode="auto">
          <a:xfrm>
            <a:off x="3581401" y="1143000"/>
            <a:ext cx="912813" cy="539750"/>
            <a:chOff x="849" y="0"/>
            <a:chExt cx="440" cy="556"/>
          </a:xfrm>
        </p:grpSpPr>
        <p:sp>
          <p:nvSpPr>
            <p:cNvPr id="42136" name="Rectangle 9">
              <a:extLst>
                <a:ext uri="{FF2B5EF4-FFF2-40B4-BE49-F238E27FC236}">
                  <a16:creationId xmlns:a16="http://schemas.microsoft.com/office/drawing/2014/main" id="{E23EA453-A496-ED18-3E61-BD05F55B3C2E}"/>
                </a:ext>
              </a:extLst>
            </p:cNvPr>
            <p:cNvSpPr>
              <a:spLocks noChangeArrowheads="1"/>
            </p:cNvSpPr>
            <p:nvPr/>
          </p:nvSpPr>
          <p:spPr bwMode="auto">
            <a:xfrm>
              <a:off x="892" y="0"/>
              <a:ext cx="354"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eaLnBrk="0" fontAlgn="base" hangingPunct="0">
                <a:spcBef>
                  <a:spcPct val="0"/>
                </a:spcBef>
                <a:spcAft>
                  <a:spcPct val="0"/>
                </a:spcAft>
              </a:pPr>
              <a:r>
                <a:rPr lang="en-US" altLang="en-US" b="1" i="1">
                  <a:solidFill>
                    <a:prstClr val="black"/>
                  </a:solidFill>
                  <a:cs typeface="Times New Roman" panose="02020603050405020304" pitchFamily="18" charset="0"/>
                </a:rPr>
                <a:t>Year 0</a:t>
              </a:r>
              <a:endParaRPr lang="en-US" altLang="en-US" b="1">
                <a:solidFill>
                  <a:prstClr val="black"/>
                </a:solidFill>
                <a:cs typeface="Times New Roman" panose="02020603050405020304" pitchFamily="18" charset="0"/>
              </a:endParaRPr>
            </a:p>
          </p:txBody>
        </p:sp>
        <p:sp>
          <p:nvSpPr>
            <p:cNvPr id="42137" name="Rectangle 10">
              <a:extLst>
                <a:ext uri="{FF2B5EF4-FFF2-40B4-BE49-F238E27FC236}">
                  <a16:creationId xmlns:a16="http://schemas.microsoft.com/office/drawing/2014/main" id="{138E874B-BB5E-9D91-3C06-880542F6DA51}"/>
                </a:ext>
              </a:extLst>
            </p:cNvPr>
            <p:cNvSpPr>
              <a:spLocks noChangeArrowheads="1"/>
            </p:cNvSpPr>
            <p:nvPr/>
          </p:nvSpPr>
          <p:spPr bwMode="auto">
            <a:xfrm>
              <a:off x="849" y="0"/>
              <a:ext cx="44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1989" name="Group 11">
            <a:extLst>
              <a:ext uri="{FF2B5EF4-FFF2-40B4-BE49-F238E27FC236}">
                <a16:creationId xmlns:a16="http://schemas.microsoft.com/office/drawing/2014/main" id="{B7C8EB10-8667-BF66-59C0-6053B45A786B}"/>
              </a:ext>
            </a:extLst>
          </p:cNvPr>
          <p:cNvGrpSpPr>
            <a:grpSpLocks/>
          </p:cNvGrpSpPr>
          <p:nvPr/>
        </p:nvGrpSpPr>
        <p:grpSpPr bwMode="auto">
          <a:xfrm>
            <a:off x="4494214" y="1143000"/>
            <a:ext cx="1012825" cy="539750"/>
            <a:chOff x="1289" y="0"/>
            <a:chExt cx="536" cy="556"/>
          </a:xfrm>
        </p:grpSpPr>
        <p:sp>
          <p:nvSpPr>
            <p:cNvPr id="42134" name="Rectangle 12">
              <a:extLst>
                <a:ext uri="{FF2B5EF4-FFF2-40B4-BE49-F238E27FC236}">
                  <a16:creationId xmlns:a16="http://schemas.microsoft.com/office/drawing/2014/main" id="{D253BC87-588B-EB2D-185E-DB2A2D778EC8}"/>
                </a:ext>
              </a:extLst>
            </p:cNvPr>
            <p:cNvSpPr>
              <a:spLocks noChangeArrowheads="1"/>
            </p:cNvSpPr>
            <p:nvPr/>
          </p:nvSpPr>
          <p:spPr bwMode="auto">
            <a:xfrm>
              <a:off x="1332" y="0"/>
              <a:ext cx="45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eaLnBrk="0" fontAlgn="base" hangingPunct="0">
                <a:spcBef>
                  <a:spcPct val="0"/>
                </a:spcBef>
                <a:spcAft>
                  <a:spcPct val="0"/>
                </a:spcAft>
              </a:pPr>
              <a:r>
                <a:rPr lang="en-US" altLang="en-US" b="1" i="1">
                  <a:solidFill>
                    <a:prstClr val="black"/>
                  </a:solidFill>
                  <a:cs typeface="Times New Roman" panose="02020603050405020304" pitchFamily="18" charset="0"/>
                </a:rPr>
                <a:t>Year 1</a:t>
              </a:r>
              <a:endParaRPr lang="en-US" altLang="en-US" b="1">
                <a:solidFill>
                  <a:prstClr val="black"/>
                </a:solidFill>
                <a:cs typeface="Times New Roman" panose="02020603050405020304" pitchFamily="18" charset="0"/>
              </a:endParaRPr>
            </a:p>
            <a:p>
              <a:pPr algn="ctr" eaLnBrk="0" fontAlgn="base" hangingPunct="0">
                <a:spcBef>
                  <a:spcPct val="0"/>
                </a:spcBef>
                <a:spcAft>
                  <a:spcPct val="0"/>
                </a:spcAft>
              </a:pPr>
              <a:endParaRPr lang="en-US" altLang="en-US" b="1">
                <a:solidFill>
                  <a:prstClr val="black"/>
                </a:solidFill>
                <a:cs typeface="Times New Roman" panose="02020603050405020304" pitchFamily="18" charset="0"/>
              </a:endParaRPr>
            </a:p>
          </p:txBody>
        </p:sp>
        <p:sp>
          <p:nvSpPr>
            <p:cNvPr id="42135" name="Rectangle 13">
              <a:extLst>
                <a:ext uri="{FF2B5EF4-FFF2-40B4-BE49-F238E27FC236}">
                  <a16:creationId xmlns:a16="http://schemas.microsoft.com/office/drawing/2014/main" id="{14DC87DC-381F-1A8A-24F5-8444C9A67795}"/>
                </a:ext>
              </a:extLst>
            </p:cNvPr>
            <p:cNvSpPr>
              <a:spLocks noChangeArrowheads="1"/>
            </p:cNvSpPr>
            <p:nvPr/>
          </p:nvSpPr>
          <p:spPr bwMode="auto">
            <a:xfrm>
              <a:off x="1289" y="0"/>
              <a:ext cx="536"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1990" name="Group 14">
            <a:extLst>
              <a:ext uri="{FF2B5EF4-FFF2-40B4-BE49-F238E27FC236}">
                <a16:creationId xmlns:a16="http://schemas.microsoft.com/office/drawing/2014/main" id="{2CC92582-70D7-AD4A-70B5-70640378E04D}"/>
              </a:ext>
            </a:extLst>
          </p:cNvPr>
          <p:cNvGrpSpPr>
            <a:grpSpLocks/>
          </p:cNvGrpSpPr>
          <p:nvPr/>
        </p:nvGrpSpPr>
        <p:grpSpPr bwMode="auto">
          <a:xfrm>
            <a:off x="5507038" y="1143000"/>
            <a:ext cx="1096962" cy="539750"/>
            <a:chOff x="1825" y="0"/>
            <a:chExt cx="580" cy="556"/>
          </a:xfrm>
        </p:grpSpPr>
        <p:sp>
          <p:nvSpPr>
            <p:cNvPr id="42132" name="Rectangle 15">
              <a:extLst>
                <a:ext uri="{FF2B5EF4-FFF2-40B4-BE49-F238E27FC236}">
                  <a16:creationId xmlns:a16="http://schemas.microsoft.com/office/drawing/2014/main" id="{2586DE69-1A7A-481E-41CB-AF0964135B62}"/>
                </a:ext>
              </a:extLst>
            </p:cNvPr>
            <p:cNvSpPr>
              <a:spLocks noChangeArrowheads="1"/>
            </p:cNvSpPr>
            <p:nvPr/>
          </p:nvSpPr>
          <p:spPr bwMode="auto">
            <a:xfrm>
              <a:off x="1868" y="0"/>
              <a:ext cx="494"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eaLnBrk="0" fontAlgn="base" hangingPunct="0">
                <a:spcBef>
                  <a:spcPct val="0"/>
                </a:spcBef>
                <a:spcAft>
                  <a:spcPct val="0"/>
                </a:spcAft>
              </a:pPr>
              <a:r>
                <a:rPr lang="en-US" altLang="en-US" b="1" i="1">
                  <a:solidFill>
                    <a:prstClr val="black"/>
                  </a:solidFill>
                  <a:cs typeface="Times New Roman" panose="02020603050405020304" pitchFamily="18" charset="0"/>
                </a:rPr>
                <a:t>Year 2</a:t>
              </a:r>
              <a:endParaRPr lang="en-US" altLang="en-US" b="1">
                <a:solidFill>
                  <a:prstClr val="black"/>
                </a:solidFill>
                <a:cs typeface="Times New Roman" panose="02020603050405020304" pitchFamily="18" charset="0"/>
              </a:endParaRPr>
            </a:p>
            <a:p>
              <a:pPr algn="ctr" eaLnBrk="0" fontAlgn="base" hangingPunct="0">
                <a:spcBef>
                  <a:spcPct val="0"/>
                </a:spcBef>
                <a:spcAft>
                  <a:spcPct val="0"/>
                </a:spcAft>
              </a:pPr>
              <a:endParaRPr lang="en-US" altLang="en-US" b="1">
                <a:solidFill>
                  <a:prstClr val="black"/>
                </a:solidFill>
                <a:cs typeface="Times New Roman" panose="02020603050405020304" pitchFamily="18" charset="0"/>
              </a:endParaRPr>
            </a:p>
          </p:txBody>
        </p:sp>
        <p:sp>
          <p:nvSpPr>
            <p:cNvPr id="42133" name="Rectangle 16">
              <a:extLst>
                <a:ext uri="{FF2B5EF4-FFF2-40B4-BE49-F238E27FC236}">
                  <a16:creationId xmlns:a16="http://schemas.microsoft.com/office/drawing/2014/main" id="{6C52ACB3-3874-2D18-AD2D-EF02925D7B82}"/>
                </a:ext>
              </a:extLst>
            </p:cNvPr>
            <p:cNvSpPr>
              <a:spLocks noChangeArrowheads="1"/>
            </p:cNvSpPr>
            <p:nvPr/>
          </p:nvSpPr>
          <p:spPr bwMode="auto">
            <a:xfrm>
              <a:off x="1825" y="0"/>
              <a:ext cx="58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1991" name="Group 17">
            <a:extLst>
              <a:ext uri="{FF2B5EF4-FFF2-40B4-BE49-F238E27FC236}">
                <a16:creationId xmlns:a16="http://schemas.microsoft.com/office/drawing/2014/main" id="{2A44FD64-6B30-752E-A667-7ACF0C49A902}"/>
              </a:ext>
            </a:extLst>
          </p:cNvPr>
          <p:cNvGrpSpPr>
            <a:grpSpLocks/>
          </p:cNvGrpSpPr>
          <p:nvPr/>
        </p:nvGrpSpPr>
        <p:grpSpPr bwMode="auto">
          <a:xfrm>
            <a:off x="6604001" y="1143000"/>
            <a:ext cx="1096963" cy="539750"/>
            <a:chOff x="2405" y="0"/>
            <a:chExt cx="580" cy="556"/>
          </a:xfrm>
        </p:grpSpPr>
        <p:sp>
          <p:nvSpPr>
            <p:cNvPr id="42130" name="Rectangle 18">
              <a:extLst>
                <a:ext uri="{FF2B5EF4-FFF2-40B4-BE49-F238E27FC236}">
                  <a16:creationId xmlns:a16="http://schemas.microsoft.com/office/drawing/2014/main" id="{2F0A5065-003C-47AF-CBF1-F6EDEF5FE1AC}"/>
                </a:ext>
              </a:extLst>
            </p:cNvPr>
            <p:cNvSpPr>
              <a:spLocks noChangeArrowheads="1"/>
            </p:cNvSpPr>
            <p:nvPr/>
          </p:nvSpPr>
          <p:spPr bwMode="auto">
            <a:xfrm>
              <a:off x="2448" y="0"/>
              <a:ext cx="494"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eaLnBrk="0" fontAlgn="base" hangingPunct="0">
                <a:spcBef>
                  <a:spcPct val="0"/>
                </a:spcBef>
                <a:spcAft>
                  <a:spcPct val="0"/>
                </a:spcAft>
              </a:pPr>
              <a:r>
                <a:rPr lang="en-US" altLang="en-US" b="1" i="1">
                  <a:solidFill>
                    <a:prstClr val="black"/>
                  </a:solidFill>
                  <a:cs typeface="Times New Roman" panose="02020603050405020304" pitchFamily="18" charset="0"/>
                </a:rPr>
                <a:t>Year 3</a:t>
              </a:r>
              <a:endParaRPr lang="en-US" altLang="en-US" b="1">
                <a:solidFill>
                  <a:prstClr val="black"/>
                </a:solidFill>
                <a:cs typeface="Times New Roman" panose="02020603050405020304" pitchFamily="18" charset="0"/>
              </a:endParaRPr>
            </a:p>
            <a:p>
              <a:pPr algn="ctr" eaLnBrk="0" fontAlgn="base" hangingPunct="0">
                <a:spcBef>
                  <a:spcPct val="0"/>
                </a:spcBef>
                <a:spcAft>
                  <a:spcPct val="0"/>
                </a:spcAft>
              </a:pPr>
              <a:endParaRPr lang="en-US" altLang="en-US" b="1">
                <a:solidFill>
                  <a:prstClr val="black"/>
                </a:solidFill>
                <a:cs typeface="Times New Roman" panose="02020603050405020304" pitchFamily="18" charset="0"/>
              </a:endParaRPr>
            </a:p>
          </p:txBody>
        </p:sp>
        <p:sp>
          <p:nvSpPr>
            <p:cNvPr id="42131" name="Rectangle 19">
              <a:extLst>
                <a:ext uri="{FF2B5EF4-FFF2-40B4-BE49-F238E27FC236}">
                  <a16:creationId xmlns:a16="http://schemas.microsoft.com/office/drawing/2014/main" id="{2E2FD35C-46EA-E7D1-2506-A18D70B5CA0F}"/>
                </a:ext>
              </a:extLst>
            </p:cNvPr>
            <p:cNvSpPr>
              <a:spLocks noChangeArrowheads="1"/>
            </p:cNvSpPr>
            <p:nvPr/>
          </p:nvSpPr>
          <p:spPr bwMode="auto">
            <a:xfrm>
              <a:off x="2405" y="0"/>
              <a:ext cx="58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1992" name="Group 20">
            <a:extLst>
              <a:ext uri="{FF2B5EF4-FFF2-40B4-BE49-F238E27FC236}">
                <a16:creationId xmlns:a16="http://schemas.microsoft.com/office/drawing/2014/main" id="{FD59A842-8513-C69C-76AD-3768149DED6D}"/>
              </a:ext>
            </a:extLst>
          </p:cNvPr>
          <p:cNvGrpSpPr>
            <a:grpSpLocks/>
          </p:cNvGrpSpPr>
          <p:nvPr/>
        </p:nvGrpSpPr>
        <p:grpSpPr bwMode="auto">
          <a:xfrm>
            <a:off x="7700964" y="1143000"/>
            <a:ext cx="1095375" cy="539750"/>
            <a:chOff x="2985" y="0"/>
            <a:chExt cx="580" cy="556"/>
          </a:xfrm>
        </p:grpSpPr>
        <p:sp>
          <p:nvSpPr>
            <p:cNvPr id="42128" name="Rectangle 21">
              <a:extLst>
                <a:ext uri="{FF2B5EF4-FFF2-40B4-BE49-F238E27FC236}">
                  <a16:creationId xmlns:a16="http://schemas.microsoft.com/office/drawing/2014/main" id="{50F2472F-D811-1592-AFD9-6FCCE453811A}"/>
                </a:ext>
              </a:extLst>
            </p:cNvPr>
            <p:cNvSpPr>
              <a:spLocks noChangeArrowheads="1"/>
            </p:cNvSpPr>
            <p:nvPr/>
          </p:nvSpPr>
          <p:spPr bwMode="auto">
            <a:xfrm>
              <a:off x="3028" y="0"/>
              <a:ext cx="494"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eaLnBrk="0" fontAlgn="base" hangingPunct="0">
                <a:spcBef>
                  <a:spcPct val="0"/>
                </a:spcBef>
                <a:spcAft>
                  <a:spcPct val="0"/>
                </a:spcAft>
              </a:pPr>
              <a:r>
                <a:rPr lang="en-US" altLang="en-US" b="1" i="1">
                  <a:solidFill>
                    <a:prstClr val="black"/>
                  </a:solidFill>
                  <a:cs typeface="Times New Roman" panose="02020603050405020304" pitchFamily="18" charset="0"/>
                </a:rPr>
                <a:t>Year 4</a:t>
              </a:r>
              <a:endParaRPr lang="en-US" altLang="en-US" b="1">
                <a:solidFill>
                  <a:prstClr val="black"/>
                </a:solidFill>
                <a:cs typeface="Times New Roman" panose="02020603050405020304" pitchFamily="18" charset="0"/>
              </a:endParaRPr>
            </a:p>
            <a:p>
              <a:pPr algn="ctr" eaLnBrk="0" fontAlgn="base" hangingPunct="0">
                <a:spcBef>
                  <a:spcPct val="0"/>
                </a:spcBef>
                <a:spcAft>
                  <a:spcPct val="0"/>
                </a:spcAft>
              </a:pPr>
              <a:endParaRPr lang="en-US" altLang="en-US" b="1">
                <a:solidFill>
                  <a:prstClr val="black"/>
                </a:solidFill>
                <a:cs typeface="Times New Roman" panose="02020603050405020304" pitchFamily="18" charset="0"/>
              </a:endParaRPr>
            </a:p>
          </p:txBody>
        </p:sp>
        <p:sp>
          <p:nvSpPr>
            <p:cNvPr id="42129" name="Rectangle 22">
              <a:extLst>
                <a:ext uri="{FF2B5EF4-FFF2-40B4-BE49-F238E27FC236}">
                  <a16:creationId xmlns:a16="http://schemas.microsoft.com/office/drawing/2014/main" id="{A4340546-9ECF-013F-BFB8-6E026AD1C946}"/>
                </a:ext>
              </a:extLst>
            </p:cNvPr>
            <p:cNvSpPr>
              <a:spLocks noChangeArrowheads="1"/>
            </p:cNvSpPr>
            <p:nvPr/>
          </p:nvSpPr>
          <p:spPr bwMode="auto">
            <a:xfrm>
              <a:off x="2985" y="0"/>
              <a:ext cx="58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1993" name="Group 23">
            <a:extLst>
              <a:ext uri="{FF2B5EF4-FFF2-40B4-BE49-F238E27FC236}">
                <a16:creationId xmlns:a16="http://schemas.microsoft.com/office/drawing/2014/main" id="{ED8B9541-B606-04A1-3D43-CDDE741BFFC8}"/>
              </a:ext>
            </a:extLst>
          </p:cNvPr>
          <p:cNvGrpSpPr>
            <a:grpSpLocks/>
          </p:cNvGrpSpPr>
          <p:nvPr/>
        </p:nvGrpSpPr>
        <p:grpSpPr bwMode="auto">
          <a:xfrm>
            <a:off x="8796338" y="1143000"/>
            <a:ext cx="1096962" cy="539750"/>
            <a:chOff x="3565" y="0"/>
            <a:chExt cx="580" cy="556"/>
          </a:xfrm>
        </p:grpSpPr>
        <p:sp>
          <p:nvSpPr>
            <p:cNvPr id="42126" name="Rectangle 24">
              <a:extLst>
                <a:ext uri="{FF2B5EF4-FFF2-40B4-BE49-F238E27FC236}">
                  <a16:creationId xmlns:a16="http://schemas.microsoft.com/office/drawing/2014/main" id="{CDB9F9CF-3F25-0AFD-825D-FF4B728AA33D}"/>
                </a:ext>
              </a:extLst>
            </p:cNvPr>
            <p:cNvSpPr>
              <a:spLocks noChangeArrowheads="1"/>
            </p:cNvSpPr>
            <p:nvPr/>
          </p:nvSpPr>
          <p:spPr bwMode="auto">
            <a:xfrm>
              <a:off x="3608" y="0"/>
              <a:ext cx="494"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eaLnBrk="0" fontAlgn="base" hangingPunct="0">
                <a:spcBef>
                  <a:spcPct val="0"/>
                </a:spcBef>
                <a:spcAft>
                  <a:spcPct val="0"/>
                </a:spcAft>
              </a:pPr>
              <a:r>
                <a:rPr lang="en-US" altLang="en-US" b="1" i="1">
                  <a:solidFill>
                    <a:prstClr val="black"/>
                  </a:solidFill>
                  <a:cs typeface="Times New Roman" panose="02020603050405020304" pitchFamily="18" charset="0"/>
                </a:rPr>
                <a:t>Year 5</a:t>
              </a:r>
              <a:endParaRPr lang="en-US" altLang="en-US" b="1">
                <a:solidFill>
                  <a:prstClr val="black"/>
                </a:solidFill>
                <a:cs typeface="Times New Roman" panose="02020603050405020304" pitchFamily="18" charset="0"/>
              </a:endParaRPr>
            </a:p>
            <a:p>
              <a:pPr algn="ctr" eaLnBrk="0" fontAlgn="base" hangingPunct="0">
                <a:spcBef>
                  <a:spcPct val="0"/>
                </a:spcBef>
                <a:spcAft>
                  <a:spcPct val="0"/>
                </a:spcAft>
              </a:pPr>
              <a:endParaRPr lang="en-US" altLang="en-US" b="1">
                <a:solidFill>
                  <a:prstClr val="black"/>
                </a:solidFill>
                <a:cs typeface="Times New Roman" panose="02020603050405020304" pitchFamily="18" charset="0"/>
              </a:endParaRPr>
            </a:p>
          </p:txBody>
        </p:sp>
        <p:sp>
          <p:nvSpPr>
            <p:cNvPr id="42127" name="Rectangle 25">
              <a:extLst>
                <a:ext uri="{FF2B5EF4-FFF2-40B4-BE49-F238E27FC236}">
                  <a16:creationId xmlns:a16="http://schemas.microsoft.com/office/drawing/2014/main" id="{C0956BB2-AEBE-822D-CA56-6593FF3FE348}"/>
                </a:ext>
              </a:extLst>
            </p:cNvPr>
            <p:cNvSpPr>
              <a:spLocks noChangeArrowheads="1"/>
            </p:cNvSpPr>
            <p:nvPr/>
          </p:nvSpPr>
          <p:spPr bwMode="auto">
            <a:xfrm>
              <a:off x="3565" y="0"/>
              <a:ext cx="58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1994" name="Group 26">
            <a:extLst>
              <a:ext uri="{FF2B5EF4-FFF2-40B4-BE49-F238E27FC236}">
                <a16:creationId xmlns:a16="http://schemas.microsoft.com/office/drawing/2014/main" id="{356CFF28-3A19-390B-49D4-42E176085AC1}"/>
              </a:ext>
            </a:extLst>
          </p:cNvPr>
          <p:cNvGrpSpPr>
            <a:grpSpLocks/>
          </p:cNvGrpSpPr>
          <p:nvPr/>
        </p:nvGrpSpPr>
        <p:grpSpPr bwMode="auto">
          <a:xfrm>
            <a:off x="2057401" y="1651000"/>
            <a:ext cx="1604963" cy="541338"/>
            <a:chOff x="0" y="556"/>
            <a:chExt cx="849" cy="556"/>
          </a:xfrm>
        </p:grpSpPr>
        <p:sp>
          <p:nvSpPr>
            <p:cNvPr id="42124" name="Rectangle 27">
              <a:extLst>
                <a:ext uri="{FF2B5EF4-FFF2-40B4-BE49-F238E27FC236}">
                  <a16:creationId xmlns:a16="http://schemas.microsoft.com/office/drawing/2014/main" id="{4386B712-C6B0-F8D8-CD93-C707B2B81346}"/>
                </a:ext>
              </a:extLst>
            </p:cNvPr>
            <p:cNvSpPr>
              <a:spLocks noChangeArrowheads="1"/>
            </p:cNvSpPr>
            <p:nvPr/>
          </p:nvSpPr>
          <p:spPr bwMode="auto">
            <a:xfrm>
              <a:off x="43" y="556"/>
              <a:ext cx="763"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r>
                <a:rPr lang="en-US" altLang="en-US">
                  <a:solidFill>
                    <a:prstClr val="black"/>
                  </a:solidFill>
                  <a:cs typeface="Times New Roman" panose="02020603050405020304" pitchFamily="18" charset="0"/>
                </a:rPr>
                <a:t>(1)  Sales Revenues</a:t>
              </a:r>
            </a:p>
            <a:p>
              <a:pP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125" name="Rectangle 28">
              <a:extLst>
                <a:ext uri="{FF2B5EF4-FFF2-40B4-BE49-F238E27FC236}">
                  <a16:creationId xmlns:a16="http://schemas.microsoft.com/office/drawing/2014/main" id="{19FB5001-9E78-5FBF-040A-39281CE333CC}"/>
                </a:ext>
              </a:extLst>
            </p:cNvPr>
            <p:cNvSpPr>
              <a:spLocks noChangeArrowheads="1"/>
            </p:cNvSpPr>
            <p:nvPr/>
          </p:nvSpPr>
          <p:spPr bwMode="auto">
            <a:xfrm>
              <a:off x="0" y="556"/>
              <a:ext cx="849"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1995" name="Group 29">
            <a:extLst>
              <a:ext uri="{FF2B5EF4-FFF2-40B4-BE49-F238E27FC236}">
                <a16:creationId xmlns:a16="http://schemas.microsoft.com/office/drawing/2014/main" id="{433664A5-973D-F80C-FA39-12492826548D}"/>
              </a:ext>
            </a:extLst>
          </p:cNvPr>
          <p:cNvGrpSpPr>
            <a:grpSpLocks/>
          </p:cNvGrpSpPr>
          <p:nvPr/>
        </p:nvGrpSpPr>
        <p:grpSpPr bwMode="auto">
          <a:xfrm>
            <a:off x="3662363" y="1682750"/>
            <a:ext cx="831850" cy="541338"/>
            <a:chOff x="849" y="556"/>
            <a:chExt cx="440" cy="556"/>
          </a:xfrm>
        </p:grpSpPr>
        <p:sp>
          <p:nvSpPr>
            <p:cNvPr id="42122" name="Rectangle 30">
              <a:extLst>
                <a:ext uri="{FF2B5EF4-FFF2-40B4-BE49-F238E27FC236}">
                  <a16:creationId xmlns:a16="http://schemas.microsoft.com/office/drawing/2014/main" id="{5E5B3488-6330-464E-ED91-AE74D54FA8C8}"/>
                </a:ext>
              </a:extLst>
            </p:cNvPr>
            <p:cNvSpPr>
              <a:spLocks noChangeArrowheads="1"/>
            </p:cNvSpPr>
            <p:nvPr/>
          </p:nvSpPr>
          <p:spPr bwMode="auto">
            <a:xfrm>
              <a:off x="892" y="556"/>
              <a:ext cx="354"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 </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123" name="Rectangle 31">
              <a:extLst>
                <a:ext uri="{FF2B5EF4-FFF2-40B4-BE49-F238E27FC236}">
                  <a16:creationId xmlns:a16="http://schemas.microsoft.com/office/drawing/2014/main" id="{E10AB070-2939-4D8D-CB17-D92224DB4BB2}"/>
                </a:ext>
              </a:extLst>
            </p:cNvPr>
            <p:cNvSpPr>
              <a:spLocks noChangeArrowheads="1"/>
            </p:cNvSpPr>
            <p:nvPr/>
          </p:nvSpPr>
          <p:spPr bwMode="auto">
            <a:xfrm>
              <a:off x="849" y="556"/>
              <a:ext cx="44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1996" name="Group 32">
            <a:extLst>
              <a:ext uri="{FF2B5EF4-FFF2-40B4-BE49-F238E27FC236}">
                <a16:creationId xmlns:a16="http://schemas.microsoft.com/office/drawing/2014/main" id="{82B7E94B-990E-E2D3-A143-2E6E6216C75E}"/>
              </a:ext>
            </a:extLst>
          </p:cNvPr>
          <p:cNvGrpSpPr>
            <a:grpSpLocks/>
          </p:cNvGrpSpPr>
          <p:nvPr/>
        </p:nvGrpSpPr>
        <p:grpSpPr bwMode="auto">
          <a:xfrm>
            <a:off x="4476750" y="1682750"/>
            <a:ext cx="1030288" cy="541338"/>
            <a:chOff x="1280" y="556"/>
            <a:chExt cx="545" cy="556"/>
          </a:xfrm>
        </p:grpSpPr>
        <p:sp>
          <p:nvSpPr>
            <p:cNvPr id="42120" name="Rectangle 33">
              <a:extLst>
                <a:ext uri="{FF2B5EF4-FFF2-40B4-BE49-F238E27FC236}">
                  <a16:creationId xmlns:a16="http://schemas.microsoft.com/office/drawing/2014/main" id="{4FD52D3F-73B7-483F-13DF-09E2B51BFC8C}"/>
                </a:ext>
              </a:extLst>
            </p:cNvPr>
            <p:cNvSpPr>
              <a:spLocks noChangeArrowheads="1"/>
            </p:cNvSpPr>
            <p:nvPr/>
          </p:nvSpPr>
          <p:spPr bwMode="auto">
            <a:xfrm>
              <a:off x="1280" y="556"/>
              <a:ext cx="502"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$100.00</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121" name="Rectangle 34">
              <a:extLst>
                <a:ext uri="{FF2B5EF4-FFF2-40B4-BE49-F238E27FC236}">
                  <a16:creationId xmlns:a16="http://schemas.microsoft.com/office/drawing/2014/main" id="{591B8285-BC06-5625-147D-CD047069CEE0}"/>
                </a:ext>
              </a:extLst>
            </p:cNvPr>
            <p:cNvSpPr>
              <a:spLocks noChangeArrowheads="1"/>
            </p:cNvSpPr>
            <p:nvPr/>
          </p:nvSpPr>
          <p:spPr bwMode="auto">
            <a:xfrm>
              <a:off x="1289" y="556"/>
              <a:ext cx="536"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1997" name="Group 35">
            <a:extLst>
              <a:ext uri="{FF2B5EF4-FFF2-40B4-BE49-F238E27FC236}">
                <a16:creationId xmlns:a16="http://schemas.microsoft.com/office/drawing/2014/main" id="{01CBB5FA-5743-A172-738C-44BB8C253B0A}"/>
              </a:ext>
            </a:extLst>
          </p:cNvPr>
          <p:cNvGrpSpPr>
            <a:grpSpLocks/>
          </p:cNvGrpSpPr>
          <p:nvPr/>
        </p:nvGrpSpPr>
        <p:grpSpPr bwMode="auto">
          <a:xfrm>
            <a:off x="5507038" y="1682750"/>
            <a:ext cx="1096962" cy="541338"/>
            <a:chOff x="1825" y="556"/>
            <a:chExt cx="580" cy="556"/>
          </a:xfrm>
        </p:grpSpPr>
        <p:sp>
          <p:nvSpPr>
            <p:cNvPr id="42118" name="Rectangle 36">
              <a:extLst>
                <a:ext uri="{FF2B5EF4-FFF2-40B4-BE49-F238E27FC236}">
                  <a16:creationId xmlns:a16="http://schemas.microsoft.com/office/drawing/2014/main" id="{AA9EFBE0-4D6B-96E2-285D-30C07D9DE675}"/>
                </a:ext>
              </a:extLst>
            </p:cNvPr>
            <p:cNvSpPr>
              <a:spLocks noChangeArrowheads="1"/>
            </p:cNvSpPr>
            <p:nvPr/>
          </p:nvSpPr>
          <p:spPr bwMode="auto">
            <a:xfrm>
              <a:off x="1868" y="556"/>
              <a:ext cx="494"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$163.20</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119" name="Rectangle 37">
              <a:extLst>
                <a:ext uri="{FF2B5EF4-FFF2-40B4-BE49-F238E27FC236}">
                  <a16:creationId xmlns:a16="http://schemas.microsoft.com/office/drawing/2014/main" id="{0AD5981E-73E4-34CF-230E-18ECA5C7A2C2}"/>
                </a:ext>
              </a:extLst>
            </p:cNvPr>
            <p:cNvSpPr>
              <a:spLocks noChangeArrowheads="1"/>
            </p:cNvSpPr>
            <p:nvPr/>
          </p:nvSpPr>
          <p:spPr bwMode="auto">
            <a:xfrm>
              <a:off x="1825" y="556"/>
              <a:ext cx="58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1998" name="Group 38">
            <a:extLst>
              <a:ext uri="{FF2B5EF4-FFF2-40B4-BE49-F238E27FC236}">
                <a16:creationId xmlns:a16="http://schemas.microsoft.com/office/drawing/2014/main" id="{A1E29C80-912B-345D-DE87-9D8A5C82ED48}"/>
              </a:ext>
            </a:extLst>
          </p:cNvPr>
          <p:cNvGrpSpPr>
            <a:grpSpLocks/>
          </p:cNvGrpSpPr>
          <p:nvPr/>
        </p:nvGrpSpPr>
        <p:grpSpPr bwMode="auto">
          <a:xfrm>
            <a:off x="6604001" y="1682750"/>
            <a:ext cx="1096963" cy="541338"/>
            <a:chOff x="2405" y="556"/>
            <a:chExt cx="580" cy="556"/>
          </a:xfrm>
        </p:grpSpPr>
        <p:sp>
          <p:nvSpPr>
            <p:cNvPr id="42116" name="Rectangle 39">
              <a:extLst>
                <a:ext uri="{FF2B5EF4-FFF2-40B4-BE49-F238E27FC236}">
                  <a16:creationId xmlns:a16="http://schemas.microsoft.com/office/drawing/2014/main" id="{5E4FB3EA-E026-A8E5-2EE2-4DC84B3BD691}"/>
                </a:ext>
              </a:extLst>
            </p:cNvPr>
            <p:cNvSpPr>
              <a:spLocks noChangeArrowheads="1"/>
            </p:cNvSpPr>
            <p:nvPr/>
          </p:nvSpPr>
          <p:spPr bwMode="auto">
            <a:xfrm>
              <a:off x="2448" y="556"/>
              <a:ext cx="494"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$249.70</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117" name="Rectangle 40">
              <a:extLst>
                <a:ext uri="{FF2B5EF4-FFF2-40B4-BE49-F238E27FC236}">
                  <a16:creationId xmlns:a16="http://schemas.microsoft.com/office/drawing/2014/main" id="{4215A596-C6A9-5372-6CD7-2BCE554FB9B4}"/>
                </a:ext>
              </a:extLst>
            </p:cNvPr>
            <p:cNvSpPr>
              <a:spLocks noChangeArrowheads="1"/>
            </p:cNvSpPr>
            <p:nvPr/>
          </p:nvSpPr>
          <p:spPr bwMode="auto">
            <a:xfrm>
              <a:off x="2405" y="556"/>
              <a:ext cx="58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1999" name="Group 41">
            <a:extLst>
              <a:ext uri="{FF2B5EF4-FFF2-40B4-BE49-F238E27FC236}">
                <a16:creationId xmlns:a16="http://schemas.microsoft.com/office/drawing/2014/main" id="{0D43E06C-1094-AF93-2E02-88097B72FB17}"/>
              </a:ext>
            </a:extLst>
          </p:cNvPr>
          <p:cNvGrpSpPr>
            <a:grpSpLocks/>
          </p:cNvGrpSpPr>
          <p:nvPr/>
        </p:nvGrpSpPr>
        <p:grpSpPr bwMode="auto">
          <a:xfrm>
            <a:off x="7700964" y="1682750"/>
            <a:ext cx="1095375" cy="541338"/>
            <a:chOff x="2985" y="556"/>
            <a:chExt cx="580" cy="556"/>
          </a:xfrm>
        </p:grpSpPr>
        <p:sp>
          <p:nvSpPr>
            <p:cNvPr id="42114" name="Rectangle 42">
              <a:extLst>
                <a:ext uri="{FF2B5EF4-FFF2-40B4-BE49-F238E27FC236}">
                  <a16:creationId xmlns:a16="http://schemas.microsoft.com/office/drawing/2014/main" id="{788D4510-83FE-BF45-3E89-F35FD6997F01}"/>
                </a:ext>
              </a:extLst>
            </p:cNvPr>
            <p:cNvSpPr>
              <a:spLocks noChangeArrowheads="1"/>
            </p:cNvSpPr>
            <p:nvPr/>
          </p:nvSpPr>
          <p:spPr bwMode="auto">
            <a:xfrm>
              <a:off x="3028" y="556"/>
              <a:ext cx="494"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$212.24</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115" name="Rectangle 43">
              <a:extLst>
                <a:ext uri="{FF2B5EF4-FFF2-40B4-BE49-F238E27FC236}">
                  <a16:creationId xmlns:a16="http://schemas.microsoft.com/office/drawing/2014/main" id="{94235F45-FED3-2DF8-B5FB-C1EE7363CBC4}"/>
                </a:ext>
              </a:extLst>
            </p:cNvPr>
            <p:cNvSpPr>
              <a:spLocks noChangeArrowheads="1"/>
            </p:cNvSpPr>
            <p:nvPr/>
          </p:nvSpPr>
          <p:spPr bwMode="auto">
            <a:xfrm>
              <a:off x="2985" y="556"/>
              <a:ext cx="58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00" name="Group 44">
            <a:extLst>
              <a:ext uri="{FF2B5EF4-FFF2-40B4-BE49-F238E27FC236}">
                <a16:creationId xmlns:a16="http://schemas.microsoft.com/office/drawing/2014/main" id="{4A1DF6AD-C878-113D-200F-3274DE8D1558}"/>
              </a:ext>
            </a:extLst>
          </p:cNvPr>
          <p:cNvGrpSpPr>
            <a:grpSpLocks/>
          </p:cNvGrpSpPr>
          <p:nvPr/>
        </p:nvGrpSpPr>
        <p:grpSpPr bwMode="auto">
          <a:xfrm>
            <a:off x="8796338" y="1682750"/>
            <a:ext cx="1096962" cy="541338"/>
            <a:chOff x="3565" y="556"/>
            <a:chExt cx="580" cy="556"/>
          </a:xfrm>
        </p:grpSpPr>
        <p:sp>
          <p:nvSpPr>
            <p:cNvPr id="42112" name="Rectangle 45">
              <a:extLst>
                <a:ext uri="{FF2B5EF4-FFF2-40B4-BE49-F238E27FC236}">
                  <a16:creationId xmlns:a16="http://schemas.microsoft.com/office/drawing/2014/main" id="{2931400A-B841-4714-D544-A6A1DE9A0319}"/>
                </a:ext>
              </a:extLst>
            </p:cNvPr>
            <p:cNvSpPr>
              <a:spLocks noChangeArrowheads="1"/>
            </p:cNvSpPr>
            <p:nvPr/>
          </p:nvSpPr>
          <p:spPr bwMode="auto">
            <a:xfrm>
              <a:off x="3608" y="556"/>
              <a:ext cx="494"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$129.89</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113" name="Rectangle 46">
              <a:extLst>
                <a:ext uri="{FF2B5EF4-FFF2-40B4-BE49-F238E27FC236}">
                  <a16:creationId xmlns:a16="http://schemas.microsoft.com/office/drawing/2014/main" id="{9D9D5A0C-201D-078C-D517-97C2901B6488}"/>
                </a:ext>
              </a:extLst>
            </p:cNvPr>
            <p:cNvSpPr>
              <a:spLocks noChangeArrowheads="1"/>
            </p:cNvSpPr>
            <p:nvPr/>
          </p:nvSpPr>
          <p:spPr bwMode="auto">
            <a:xfrm>
              <a:off x="3565" y="556"/>
              <a:ext cx="58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01" name="Group 47">
            <a:extLst>
              <a:ext uri="{FF2B5EF4-FFF2-40B4-BE49-F238E27FC236}">
                <a16:creationId xmlns:a16="http://schemas.microsoft.com/office/drawing/2014/main" id="{0BF78A46-1791-4687-E338-DEA1B6D5960B}"/>
              </a:ext>
            </a:extLst>
          </p:cNvPr>
          <p:cNvGrpSpPr>
            <a:grpSpLocks/>
          </p:cNvGrpSpPr>
          <p:nvPr/>
        </p:nvGrpSpPr>
        <p:grpSpPr bwMode="auto">
          <a:xfrm>
            <a:off x="2057401" y="2224088"/>
            <a:ext cx="1604963" cy="539750"/>
            <a:chOff x="0" y="1112"/>
            <a:chExt cx="849" cy="556"/>
          </a:xfrm>
        </p:grpSpPr>
        <p:sp>
          <p:nvSpPr>
            <p:cNvPr id="42110" name="Rectangle 48">
              <a:extLst>
                <a:ext uri="{FF2B5EF4-FFF2-40B4-BE49-F238E27FC236}">
                  <a16:creationId xmlns:a16="http://schemas.microsoft.com/office/drawing/2014/main" id="{BEBC4960-291E-53B7-1034-8B10D701BF00}"/>
                </a:ext>
              </a:extLst>
            </p:cNvPr>
            <p:cNvSpPr>
              <a:spLocks noChangeArrowheads="1"/>
            </p:cNvSpPr>
            <p:nvPr/>
          </p:nvSpPr>
          <p:spPr bwMode="auto">
            <a:xfrm>
              <a:off x="43" y="1112"/>
              <a:ext cx="763"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r>
                <a:rPr lang="en-US" altLang="en-US">
                  <a:solidFill>
                    <a:prstClr val="black"/>
                  </a:solidFill>
                  <a:cs typeface="Times New Roman" panose="02020603050405020304" pitchFamily="18" charset="0"/>
                </a:rPr>
                <a:t>(2) Operating costs</a:t>
              </a:r>
            </a:p>
            <a:p>
              <a:pP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111" name="Rectangle 49">
              <a:extLst>
                <a:ext uri="{FF2B5EF4-FFF2-40B4-BE49-F238E27FC236}">
                  <a16:creationId xmlns:a16="http://schemas.microsoft.com/office/drawing/2014/main" id="{175274F7-6572-B63C-BF93-57DC905E7D3F}"/>
                </a:ext>
              </a:extLst>
            </p:cNvPr>
            <p:cNvSpPr>
              <a:spLocks noChangeArrowheads="1"/>
            </p:cNvSpPr>
            <p:nvPr/>
          </p:nvSpPr>
          <p:spPr bwMode="auto">
            <a:xfrm>
              <a:off x="0" y="1112"/>
              <a:ext cx="849"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02" name="Group 50">
            <a:extLst>
              <a:ext uri="{FF2B5EF4-FFF2-40B4-BE49-F238E27FC236}">
                <a16:creationId xmlns:a16="http://schemas.microsoft.com/office/drawing/2014/main" id="{C48B19AB-5F09-32CE-73C8-5D94F8E663D9}"/>
              </a:ext>
            </a:extLst>
          </p:cNvPr>
          <p:cNvGrpSpPr>
            <a:grpSpLocks/>
          </p:cNvGrpSpPr>
          <p:nvPr/>
        </p:nvGrpSpPr>
        <p:grpSpPr bwMode="auto">
          <a:xfrm>
            <a:off x="3662363" y="2224088"/>
            <a:ext cx="831850" cy="539750"/>
            <a:chOff x="849" y="1112"/>
            <a:chExt cx="440" cy="556"/>
          </a:xfrm>
        </p:grpSpPr>
        <p:sp>
          <p:nvSpPr>
            <p:cNvPr id="42108" name="Rectangle 51">
              <a:extLst>
                <a:ext uri="{FF2B5EF4-FFF2-40B4-BE49-F238E27FC236}">
                  <a16:creationId xmlns:a16="http://schemas.microsoft.com/office/drawing/2014/main" id="{7DCED4EB-AC90-21B4-A712-AE11B8778AE4}"/>
                </a:ext>
              </a:extLst>
            </p:cNvPr>
            <p:cNvSpPr>
              <a:spLocks noChangeArrowheads="1"/>
            </p:cNvSpPr>
            <p:nvPr/>
          </p:nvSpPr>
          <p:spPr bwMode="auto">
            <a:xfrm>
              <a:off x="892" y="1112"/>
              <a:ext cx="354"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 </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109" name="Rectangle 52">
              <a:extLst>
                <a:ext uri="{FF2B5EF4-FFF2-40B4-BE49-F238E27FC236}">
                  <a16:creationId xmlns:a16="http://schemas.microsoft.com/office/drawing/2014/main" id="{90C5C775-89FB-B3D2-4FAF-51F868C83013}"/>
                </a:ext>
              </a:extLst>
            </p:cNvPr>
            <p:cNvSpPr>
              <a:spLocks noChangeArrowheads="1"/>
            </p:cNvSpPr>
            <p:nvPr/>
          </p:nvSpPr>
          <p:spPr bwMode="auto">
            <a:xfrm>
              <a:off x="849" y="1112"/>
              <a:ext cx="44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03" name="Group 53">
            <a:extLst>
              <a:ext uri="{FF2B5EF4-FFF2-40B4-BE49-F238E27FC236}">
                <a16:creationId xmlns:a16="http://schemas.microsoft.com/office/drawing/2014/main" id="{6BFACF3F-C0A0-84DD-F3CB-8FFDCF26EDD7}"/>
              </a:ext>
            </a:extLst>
          </p:cNvPr>
          <p:cNvGrpSpPr>
            <a:grpSpLocks/>
          </p:cNvGrpSpPr>
          <p:nvPr/>
        </p:nvGrpSpPr>
        <p:grpSpPr bwMode="auto">
          <a:xfrm>
            <a:off x="4494214" y="2224088"/>
            <a:ext cx="1012825" cy="539750"/>
            <a:chOff x="1289" y="1112"/>
            <a:chExt cx="536" cy="556"/>
          </a:xfrm>
        </p:grpSpPr>
        <p:sp>
          <p:nvSpPr>
            <p:cNvPr id="42106" name="Rectangle 54">
              <a:extLst>
                <a:ext uri="{FF2B5EF4-FFF2-40B4-BE49-F238E27FC236}">
                  <a16:creationId xmlns:a16="http://schemas.microsoft.com/office/drawing/2014/main" id="{CC6606CD-0D68-D9EF-3246-C79716B7DB1F}"/>
                </a:ext>
              </a:extLst>
            </p:cNvPr>
            <p:cNvSpPr>
              <a:spLocks noChangeArrowheads="1"/>
            </p:cNvSpPr>
            <p:nvPr/>
          </p:nvSpPr>
          <p:spPr bwMode="auto">
            <a:xfrm>
              <a:off x="1332" y="1112"/>
              <a:ext cx="45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-50.00</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107" name="Rectangle 55">
              <a:extLst>
                <a:ext uri="{FF2B5EF4-FFF2-40B4-BE49-F238E27FC236}">
                  <a16:creationId xmlns:a16="http://schemas.microsoft.com/office/drawing/2014/main" id="{5FE033CF-0461-4FBF-304B-31BEEB624D25}"/>
                </a:ext>
              </a:extLst>
            </p:cNvPr>
            <p:cNvSpPr>
              <a:spLocks noChangeArrowheads="1"/>
            </p:cNvSpPr>
            <p:nvPr/>
          </p:nvSpPr>
          <p:spPr bwMode="auto">
            <a:xfrm>
              <a:off x="1289" y="1112"/>
              <a:ext cx="536"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04" name="Group 56">
            <a:extLst>
              <a:ext uri="{FF2B5EF4-FFF2-40B4-BE49-F238E27FC236}">
                <a16:creationId xmlns:a16="http://schemas.microsoft.com/office/drawing/2014/main" id="{EEB24A13-A562-EEB1-AA92-05906844B880}"/>
              </a:ext>
            </a:extLst>
          </p:cNvPr>
          <p:cNvGrpSpPr>
            <a:grpSpLocks/>
          </p:cNvGrpSpPr>
          <p:nvPr/>
        </p:nvGrpSpPr>
        <p:grpSpPr bwMode="auto">
          <a:xfrm>
            <a:off x="5507038" y="2224088"/>
            <a:ext cx="1096962" cy="539750"/>
            <a:chOff x="1825" y="1112"/>
            <a:chExt cx="580" cy="556"/>
          </a:xfrm>
        </p:grpSpPr>
        <p:sp>
          <p:nvSpPr>
            <p:cNvPr id="42104" name="Rectangle 57">
              <a:extLst>
                <a:ext uri="{FF2B5EF4-FFF2-40B4-BE49-F238E27FC236}">
                  <a16:creationId xmlns:a16="http://schemas.microsoft.com/office/drawing/2014/main" id="{05DAD3AE-987D-1FBF-DFC2-F4DF0E04A176}"/>
                </a:ext>
              </a:extLst>
            </p:cNvPr>
            <p:cNvSpPr>
              <a:spLocks noChangeArrowheads="1"/>
            </p:cNvSpPr>
            <p:nvPr/>
          </p:nvSpPr>
          <p:spPr bwMode="auto">
            <a:xfrm>
              <a:off x="1868" y="1112"/>
              <a:ext cx="494"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-88.00</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105" name="Rectangle 58">
              <a:extLst>
                <a:ext uri="{FF2B5EF4-FFF2-40B4-BE49-F238E27FC236}">
                  <a16:creationId xmlns:a16="http://schemas.microsoft.com/office/drawing/2014/main" id="{7C4B323E-27CB-CD23-3D96-B827AF263516}"/>
                </a:ext>
              </a:extLst>
            </p:cNvPr>
            <p:cNvSpPr>
              <a:spLocks noChangeArrowheads="1"/>
            </p:cNvSpPr>
            <p:nvPr/>
          </p:nvSpPr>
          <p:spPr bwMode="auto">
            <a:xfrm>
              <a:off x="1825" y="1112"/>
              <a:ext cx="58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05" name="Group 59">
            <a:extLst>
              <a:ext uri="{FF2B5EF4-FFF2-40B4-BE49-F238E27FC236}">
                <a16:creationId xmlns:a16="http://schemas.microsoft.com/office/drawing/2014/main" id="{886C4157-58C9-2BDE-BFD9-B667959BD198}"/>
              </a:ext>
            </a:extLst>
          </p:cNvPr>
          <p:cNvGrpSpPr>
            <a:grpSpLocks/>
          </p:cNvGrpSpPr>
          <p:nvPr/>
        </p:nvGrpSpPr>
        <p:grpSpPr bwMode="auto">
          <a:xfrm>
            <a:off x="6604001" y="2224088"/>
            <a:ext cx="1096963" cy="539750"/>
            <a:chOff x="2405" y="1112"/>
            <a:chExt cx="580" cy="556"/>
          </a:xfrm>
        </p:grpSpPr>
        <p:sp>
          <p:nvSpPr>
            <p:cNvPr id="42102" name="Rectangle 60">
              <a:extLst>
                <a:ext uri="{FF2B5EF4-FFF2-40B4-BE49-F238E27FC236}">
                  <a16:creationId xmlns:a16="http://schemas.microsoft.com/office/drawing/2014/main" id="{B1522235-B846-43A8-B950-98E348A28326}"/>
                </a:ext>
              </a:extLst>
            </p:cNvPr>
            <p:cNvSpPr>
              <a:spLocks noChangeArrowheads="1"/>
            </p:cNvSpPr>
            <p:nvPr/>
          </p:nvSpPr>
          <p:spPr bwMode="auto">
            <a:xfrm>
              <a:off x="2448" y="1112"/>
              <a:ext cx="494"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-145.20</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103" name="Rectangle 61">
              <a:extLst>
                <a:ext uri="{FF2B5EF4-FFF2-40B4-BE49-F238E27FC236}">
                  <a16:creationId xmlns:a16="http://schemas.microsoft.com/office/drawing/2014/main" id="{C6FF53C4-EB79-C70F-C318-F60F91D518CD}"/>
                </a:ext>
              </a:extLst>
            </p:cNvPr>
            <p:cNvSpPr>
              <a:spLocks noChangeArrowheads="1"/>
            </p:cNvSpPr>
            <p:nvPr/>
          </p:nvSpPr>
          <p:spPr bwMode="auto">
            <a:xfrm>
              <a:off x="2405" y="1112"/>
              <a:ext cx="58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06" name="Group 62">
            <a:extLst>
              <a:ext uri="{FF2B5EF4-FFF2-40B4-BE49-F238E27FC236}">
                <a16:creationId xmlns:a16="http://schemas.microsoft.com/office/drawing/2014/main" id="{83B29BC0-C7F0-37B7-1564-76092F3B76CA}"/>
              </a:ext>
            </a:extLst>
          </p:cNvPr>
          <p:cNvGrpSpPr>
            <a:grpSpLocks/>
          </p:cNvGrpSpPr>
          <p:nvPr/>
        </p:nvGrpSpPr>
        <p:grpSpPr bwMode="auto">
          <a:xfrm>
            <a:off x="7700964" y="2224088"/>
            <a:ext cx="1095375" cy="539750"/>
            <a:chOff x="2985" y="1112"/>
            <a:chExt cx="580" cy="556"/>
          </a:xfrm>
        </p:grpSpPr>
        <p:sp>
          <p:nvSpPr>
            <p:cNvPr id="42100" name="Rectangle 63">
              <a:extLst>
                <a:ext uri="{FF2B5EF4-FFF2-40B4-BE49-F238E27FC236}">
                  <a16:creationId xmlns:a16="http://schemas.microsoft.com/office/drawing/2014/main" id="{E931E3A4-7407-08E7-890E-8CEB6C15D44D}"/>
                </a:ext>
              </a:extLst>
            </p:cNvPr>
            <p:cNvSpPr>
              <a:spLocks noChangeArrowheads="1"/>
            </p:cNvSpPr>
            <p:nvPr/>
          </p:nvSpPr>
          <p:spPr bwMode="auto">
            <a:xfrm>
              <a:off x="3028" y="1112"/>
              <a:ext cx="494"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-133.10</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101" name="Rectangle 64">
              <a:extLst>
                <a:ext uri="{FF2B5EF4-FFF2-40B4-BE49-F238E27FC236}">
                  <a16:creationId xmlns:a16="http://schemas.microsoft.com/office/drawing/2014/main" id="{7632AD99-5A7A-7EBB-36B4-409630F3F66A}"/>
                </a:ext>
              </a:extLst>
            </p:cNvPr>
            <p:cNvSpPr>
              <a:spLocks noChangeArrowheads="1"/>
            </p:cNvSpPr>
            <p:nvPr/>
          </p:nvSpPr>
          <p:spPr bwMode="auto">
            <a:xfrm>
              <a:off x="2985" y="1112"/>
              <a:ext cx="58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07" name="Group 65">
            <a:extLst>
              <a:ext uri="{FF2B5EF4-FFF2-40B4-BE49-F238E27FC236}">
                <a16:creationId xmlns:a16="http://schemas.microsoft.com/office/drawing/2014/main" id="{E0D58097-B562-8B63-B771-63B436D6E316}"/>
              </a:ext>
            </a:extLst>
          </p:cNvPr>
          <p:cNvGrpSpPr>
            <a:grpSpLocks/>
          </p:cNvGrpSpPr>
          <p:nvPr/>
        </p:nvGrpSpPr>
        <p:grpSpPr bwMode="auto">
          <a:xfrm>
            <a:off x="8796338" y="2224088"/>
            <a:ext cx="1096962" cy="539750"/>
            <a:chOff x="3565" y="1112"/>
            <a:chExt cx="580" cy="556"/>
          </a:xfrm>
        </p:grpSpPr>
        <p:sp>
          <p:nvSpPr>
            <p:cNvPr id="42098" name="Rectangle 66">
              <a:extLst>
                <a:ext uri="{FF2B5EF4-FFF2-40B4-BE49-F238E27FC236}">
                  <a16:creationId xmlns:a16="http://schemas.microsoft.com/office/drawing/2014/main" id="{CD1EC91C-BCB4-2AD8-087C-B728E2EDD672}"/>
                </a:ext>
              </a:extLst>
            </p:cNvPr>
            <p:cNvSpPr>
              <a:spLocks noChangeArrowheads="1"/>
            </p:cNvSpPr>
            <p:nvPr/>
          </p:nvSpPr>
          <p:spPr bwMode="auto">
            <a:xfrm>
              <a:off x="3608" y="1112"/>
              <a:ext cx="494"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-87.85</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099" name="Rectangle 67">
              <a:extLst>
                <a:ext uri="{FF2B5EF4-FFF2-40B4-BE49-F238E27FC236}">
                  <a16:creationId xmlns:a16="http://schemas.microsoft.com/office/drawing/2014/main" id="{33811789-3DDA-C0D3-6461-FC07A91D5B68}"/>
                </a:ext>
              </a:extLst>
            </p:cNvPr>
            <p:cNvSpPr>
              <a:spLocks noChangeArrowheads="1"/>
            </p:cNvSpPr>
            <p:nvPr/>
          </p:nvSpPr>
          <p:spPr bwMode="auto">
            <a:xfrm>
              <a:off x="3565" y="1112"/>
              <a:ext cx="58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08" name="Group 68">
            <a:extLst>
              <a:ext uri="{FF2B5EF4-FFF2-40B4-BE49-F238E27FC236}">
                <a16:creationId xmlns:a16="http://schemas.microsoft.com/office/drawing/2014/main" id="{1B286BA6-ABE8-C4E4-58D2-25C79F2C83BF}"/>
              </a:ext>
            </a:extLst>
          </p:cNvPr>
          <p:cNvGrpSpPr>
            <a:grpSpLocks/>
          </p:cNvGrpSpPr>
          <p:nvPr/>
        </p:nvGrpSpPr>
        <p:grpSpPr bwMode="auto">
          <a:xfrm>
            <a:off x="2079626" y="2579688"/>
            <a:ext cx="1604963" cy="652462"/>
            <a:chOff x="0" y="1668"/>
            <a:chExt cx="849" cy="672"/>
          </a:xfrm>
        </p:grpSpPr>
        <p:sp>
          <p:nvSpPr>
            <p:cNvPr id="42096" name="Rectangle 69">
              <a:extLst>
                <a:ext uri="{FF2B5EF4-FFF2-40B4-BE49-F238E27FC236}">
                  <a16:creationId xmlns:a16="http://schemas.microsoft.com/office/drawing/2014/main" id="{893B2933-FB0A-7FCB-46E8-67F61510A7E1}"/>
                </a:ext>
              </a:extLst>
            </p:cNvPr>
            <p:cNvSpPr>
              <a:spLocks noChangeArrowheads="1"/>
            </p:cNvSpPr>
            <p:nvPr/>
          </p:nvSpPr>
          <p:spPr bwMode="auto">
            <a:xfrm>
              <a:off x="20" y="1918"/>
              <a:ext cx="763"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r>
                <a:rPr lang="en-US" altLang="en-US">
                  <a:solidFill>
                    <a:prstClr val="black"/>
                  </a:solidFill>
                  <a:cs typeface="Times New Roman" panose="02020603050405020304" pitchFamily="18" charset="0"/>
                </a:rPr>
                <a:t>(3)  Taxes</a:t>
              </a:r>
            </a:p>
            <a:p>
              <a:pP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097" name="Rectangle 70">
              <a:extLst>
                <a:ext uri="{FF2B5EF4-FFF2-40B4-BE49-F238E27FC236}">
                  <a16:creationId xmlns:a16="http://schemas.microsoft.com/office/drawing/2014/main" id="{DC760CD4-B3BB-6BA1-63D3-83B095764E90}"/>
                </a:ext>
              </a:extLst>
            </p:cNvPr>
            <p:cNvSpPr>
              <a:spLocks noChangeArrowheads="1"/>
            </p:cNvSpPr>
            <p:nvPr/>
          </p:nvSpPr>
          <p:spPr bwMode="auto">
            <a:xfrm>
              <a:off x="0" y="1668"/>
              <a:ext cx="849"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09" name="Group 71">
            <a:extLst>
              <a:ext uri="{FF2B5EF4-FFF2-40B4-BE49-F238E27FC236}">
                <a16:creationId xmlns:a16="http://schemas.microsoft.com/office/drawing/2014/main" id="{9E3FFE19-0BAF-9B03-B84A-6D1F9756D36C}"/>
              </a:ext>
            </a:extLst>
          </p:cNvPr>
          <p:cNvGrpSpPr>
            <a:grpSpLocks/>
          </p:cNvGrpSpPr>
          <p:nvPr/>
        </p:nvGrpSpPr>
        <p:grpSpPr bwMode="auto">
          <a:xfrm>
            <a:off x="3662363" y="2763839"/>
            <a:ext cx="831850" cy="409575"/>
            <a:chOff x="849" y="1668"/>
            <a:chExt cx="440" cy="422"/>
          </a:xfrm>
        </p:grpSpPr>
        <p:sp>
          <p:nvSpPr>
            <p:cNvPr id="42094" name="Rectangle 72">
              <a:extLst>
                <a:ext uri="{FF2B5EF4-FFF2-40B4-BE49-F238E27FC236}">
                  <a16:creationId xmlns:a16="http://schemas.microsoft.com/office/drawing/2014/main" id="{ADF7D5B6-53B8-060F-3757-3C5E3E838533}"/>
                </a:ext>
              </a:extLst>
            </p:cNvPr>
            <p:cNvSpPr>
              <a:spLocks noChangeArrowheads="1"/>
            </p:cNvSpPr>
            <p:nvPr/>
          </p:nvSpPr>
          <p:spPr bwMode="auto">
            <a:xfrm>
              <a:off x="892" y="1668"/>
              <a:ext cx="354"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 </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095" name="Rectangle 73">
              <a:extLst>
                <a:ext uri="{FF2B5EF4-FFF2-40B4-BE49-F238E27FC236}">
                  <a16:creationId xmlns:a16="http://schemas.microsoft.com/office/drawing/2014/main" id="{E3A0C667-0533-F923-F81A-1D0738D51B05}"/>
                </a:ext>
              </a:extLst>
            </p:cNvPr>
            <p:cNvSpPr>
              <a:spLocks noChangeArrowheads="1"/>
            </p:cNvSpPr>
            <p:nvPr/>
          </p:nvSpPr>
          <p:spPr bwMode="auto">
            <a:xfrm>
              <a:off x="849" y="1668"/>
              <a:ext cx="44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10" name="Group 74">
            <a:extLst>
              <a:ext uri="{FF2B5EF4-FFF2-40B4-BE49-F238E27FC236}">
                <a16:creationId xmlns:a16="http://schemas.microsoft.com/office/drawing/2014/main" id="{18875744-FE8B-5409-C9C1-381C7097D8CA}"/>
              </a:ext>
            </a:extLst>
          </p:cNvPr>
          <p:cNvGrpSpPr>
            <a:grpSpLocks/>
          </p:cNvGrpSpPr>
          <p:nvPr/>
        </p:nvGrpSpPr>
        <p:grpSpPr bwMode="auto">
          <a:xfrm>
            <a:off x="4494214" y="2763839"/>
            <a:ext cx="1012825" cy="409575"/>
            <a:chOff x="1289" y="1668"/>
            <a:chExt cx="536" cy="422"/>
          </a:xfrm>
        </p:grpSpPr>
        <p:sp>
          <p:nvSpPr>
            <p:cNvPr id="42092" name="Rectangle 75">
              <a:extLst>
                <a:ext uri="{FF2B5EF4-FFF2-40B4-BE49-F238E27FC236}">
                  <a16:creationId xmlns:a16="http://schemas.microsoft.com/office/drawing/2014/main" id="{E9AC1A38-640A-86BE-A1FA-FCBC566A359A}"/>
                </a:ext>
              </a:extLst>
            </p:cNvPr>
            <p:cNvSpPr>
              <a:spLocks noChangeArrowheads="1"/>
            </p:cNvSpPr>
            <p:nvPr/>
          </p:nvSpPr>
          <p:spPr bwMode="auto">
            <a:xfrm>
              <a:off x="1332" y="1668"/>
              <a:ext cx="45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-10.20</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093" name="Rectangle 76">
              <a:extLst>
                <a:ext uri="{FF2B5EF4-FFF2-40B4-BE49-F238E27FC236}">
                  <a16:creationId xmlns:a16="http://schemas.microsoft.com/office/drawing/2014/main" id="{9E038DBB-2A9B-AF9C-C73D-931C0F016C8A}"/>
                </a:ext>
              </a:extLst>
            </p:cNvPr>
            <p:cNvSpPr>
              <a:spLocks noChangeArrowheads="1"/>
            </p:cNvSpPr>
            <p:nvPr/>
          </p:nvSpPr>
          <p:spPr bwMode="auto">
            <a:xfrm>
              <a:off x="1289" y="1668"/>
              <a:ext cx="536"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11" name="Group 77">
            <a:extLst>
              <a:ext uri="{FF2B5EF4-FFF2-40B4-BE49-F238E27FC236}">
                <a16:creationId xmlns:a16="http://schemas.microsoft.com/office/drawing/2014/main" id="{D7A6EE9D-B312-2C85-16E8-768317E564D1}"/>
              </a:ext>
            </a:extLst>
          </p:cNvPr>
          <p:cNvGrpSpPr>
            <a:grpSpLocks/>
          </p:cNvGrpSpPr>
          <p:nvPr/>
        </p:nvGrpSpPr>
        <p:grpSpPr bwMode="auto">
          <a:xfrm>
            <a:off x="5507038" y="2763839"/>
            <a:ext cx="1096962" cy="409575"/>
            <a:chOff x="1825" y="1668"/>
            <a:chExt cx="580" cy="422"/>
          </a:xfrm>
        </p:grpSpPr>
        <p:sp>
          <p:nvSpPr>
            <p:cNvPr id="42090" name="Rectangle 78">
              <a:extLst>
                <a:ext uri="{FF2B5EF4-FFF2-40B4-BE49-F238E27FC236}">
                  <a16:creationId xmlns:a16="http://schemas.microsoft.com/office/drawing/2014/main" id="{5C12BC76-120C-C33A-662C-FE811B164E71}"/>
                </a:ext>
              </a:extLst>
            </p:cNvPr>
            <p:cNvSpPr>
              <a:spLocks noChangeArrowheads="1"/>
            </p:cNvSpPr>
            <p:nvPr/>
          </p:nvSpPr>
          <p:spPr bwMode="auto">
            <a:xfrm>
              <a:off x="1868" y="1668"/>
              <a:ext cx="494"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-14.69</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091" name="Rectangle 79">
              <a:extLst>
                <a:ext uri="{FF2B5EF4-FFF2-40B4-BE49-F238E27FC236}">
                  <a16:creationId xmlns:a16="http://schemas.microsoft.com/office/drawing/2014/main" id="{BFF16B3F-354E-922C-61EA-B3708CAABE72}"/>
                </a:ext>
              </a:extLst>
            </p:cNvPr>
            <p:cNvSpPr>
              <a:spLocks noChangeArrowheads="1"/>
            </p:cNvSpPr>
            <p:nvPr/>
          </p:nvSpPr>
          <p:spPr bwMode="auto">
            <a:xfrm>
              <a:off x="1825" y="1668"/>
              <a:ext cx="58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12" name="Group 80">
            <a:extLst>
              <a:ext uri="{FF2B5EF4-FFF2-40B4-BE49-F238E27FC236}">
                <a16:creationId xmlns:a16="http://schemas.microsoft.com/office/drawing/2014/main" id="{D8CB32D4-2779-A898-1ACE-9BDB5A98F0F2}"/>
              </a:ext>
            </a:extLst>
          </p:cNvPr>
          <p:cNvGrpSpPr>
            <a:grpSpLocks/>
          </p:cNvGrpSpPr>
          <p:nvPr/>
        </p:nvGrpSpPr>
        <p:grpSpPr bwMode="auto">
          <a:xfrm>
            <a:off x="6604001" y="2763839"/>
            <a:ext cx="1096963" cy="409575"/>
            <a:chOff x="2405" y="1668"/>
            <a:chExt cx="580" cy="422"/>
          </a:xfrm>
        </p:grpSpPr>
        <p:sp>
          <p:nvSpPr>
            <p:cNvPr id="42088" name="Rectangle 81">
              <a:extLst>
                <a:ext uri="{FF2B5EF4-FFF2-40B4-BE49-F238E27FC236}">
                  <a16:creationId xmlns:a16="http://schemas.microsoft.com/office/drawing/2014/main" id="{1278CF11-5122-934E-6D63-F826D8CCC632}"/>
                </a:ext>
              </a:extLst>
            </p:cNvPr>
            <p:cNvSpPr>
              <a:spLocks noChangeArrowheads="1"/>
            </p:cNvSpPr>
            <p:nvPr/>
          </p:nvSpPr>
          <p:spPr bwMode="auto">
            <a:xfrm>
              <a:off x="2448" y="1668"/>
              <a:ext cx="494"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-29.00</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089" name="Rectangle 82">
              <a:extLst>
                <a:ext uri="{FF2B5EF4-FFF2-40B4-BE49-F238E27FC236}">
                  <a16:creationId xmlns:a16="http://schemas.microsoft.com/office/drawing/2014/main" id="{256CB415-23D2-3A15-AC0C-0CE425FE87BC}"/>
                </a:ext>
              </a:extLst>
            </p:cNvPr>
            <p:cNvSpPr>
              <a:spLocks noChangeArrowheads="1"/>
            </p:cNvSpPr>
            <p:nvPr/>
          </p:nvSpPr>
          <p:spPr bwMode="auto">
            <a:xfrm>
              <a:off x="2405" y="1668"/>
              <a:ext cx="58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13" name="Group 83">
            <a:extLst>
              <a:ext uri="{FF2B5EF4-FFF2-40B4-BE49-F238E27FC236}">
                <a16:creationId xmlns:a16="http://schemas.microsoft.com/office/drawing/2014/main" id="{19981316-2510-ED22-6405-D3F3ECCA3E8A}"/>
              </a:ext>
            </a:extLst>
          </p:cNvPr>
          <p:cNvGrpSpPr>
            <a:grpSpLocks/>
          </p:cNvGrpSpPr>
          <p:nvPr/>
        </p:nvGrpSpPr>
        <p:grpSpPr bwMode="auto">
          <a:xfrm>
            <a:off x="7700964" y="2763839"/>
            <a:ext cx="1095375" cy="409575"/>
            <a:chOff x="2985" y="1668"/>
            <a:chExt cx="580" cy="422"/>
          </a:xfrm>
        </p:grpSpPr>
        <p:sp>
          <p:nvSpPr>
            <p:cNvPr id="42086" name="Rectangle 84">
              <a:extLst>
                <a:ext uri="{FF2B5EF4-FFF2-40B4-BE49-F238E27FC236}">
                  <a16:creationId xmlns:a16="http://schemas.microsoft.com/office/drawing/2014/main" id="{64148BFD-3DB3-16FB-EEFA-6DACAF4AAC1A}"/>
                </a:ext>
              </a:extLst>
            </p:cNvPr>
            <p:cNvSpPr>
              <a:spLocks noChangeArrowheads="1"/>
            </p:cNvSpPr>
            <p:nvPr/>
          </p:nvSpPr>
          <p:spPr bwMode="auto">
            <a:xfrm>
              <a:off x="3028" y="1668"/>
              <a:ext cx="494"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-22.99</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087" name="Rectangle 85">
              <a:extLst>
                <a:ext uri="{FF2B5EF4-FFF2-40B4-BE49-F238E27FC236}">
                  <a16:creationId xmlns:a16="http://schemas.microsoft.com/office/drawing/2014/main" id="{C419C35B-185D-2A62-E57C-09394C77150B}"/>
                </a:ext>
              </a:extLst>
            </p:cNvPr>
            <p:cNvSpPr>
              <a:spLocks noChangeArrowheads="1"/>
            </p:cNvSpPr>
            <p:nvPr/>
          </p:nvSpPr>
          <p:spPr bwMode="auto">
            <a:xfrm>
              <a:off x="2985" y="1668"/>
              <a:ext cx="58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14" name="Group 86">
            <a:extLst>
              <a:ext uri="{FF2B5EF4-FFF2-40B4-BE49-F238E27FC236}">
                <a16:creationId xmlns:a16="http://schemas.microsoft.com/office/drawing/2014/main" id="{59EDF574-120D-9998-F7BD-7E0EF2FC881B}"/>
              </a:ext>
            </a:extLst>
          </p:cNvPr>
          <p:cNvGrpSpPr>
            <a:grpSpLocks/>
          </p:cNvGrpSpPr>
          <p:nvPr/>
        </p:nvGrpSpPr>
        <p:grpSpPr bwMode="auto">
          <a:xfrm>
            <a:off x="8796338" y="2763839"/>
            <a:ext cx="1096962" cy="409575"/>
            <a:chOff x="3565" y="1668"/>
            <a:chExt cx="580" cy="422"/>
          </a:xfrm>
        </p:grpSpPr>
        <p:sp>
          <p:nvSpPr>
            <p:cNvPr id="42084" name="Rectangle 87">
              <a:extLst>
                <a:ext uri="{FF2B5EF4-FFF2-40B4-BE49-F238E27FC236}">
                  <a16:creationId xmlns:a16="http://schemas.microsoft.com/office/drawing/2014/main" id="{11B6B3B2-A0C9-6662-03C1-B7BE42EF4241}"/>
                </a:ext>
              </a:extLst>
            </p:cNvPr>
            <p:cNvSpPr>
              <a:spLocks noChangeArrowheads="1"/>
            </p:cNvSpPr>
            <p:nvPr/>
          </p:nvSpPr>
          <p:spPr bwMode="auto">
            <a:xfrm>
              <a:off x="3608" y="1668"/>
              <a:ext cx="494"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-10.38</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085" name="Rectangle 88">
              <a:extLst>
                <a:ext uri="{FF2B5EF4-FFF2-40B4-BE49-F238E27FC236}">
                  <a16:creationId xmlns:a16="http://schemas.microsoft.com/office/drawing/2014/main" id="{8FBF187F-5D46-A49C-5C72-6969A5DB4F22}"/>
                </a:ext>
              </a:extLst>
            </p:cNvPr>
            <p:cNvSpPr>
              <a:spLocks noChangeArrowheads="1"/>
            </p:cNvSpPr>
            <p:nvPr/>
          </p:nvSpPr>
          <p:spPr bwMode="auto">
            <a:xfrm>
              <a:off x="3565" y="1668"/>
              <a:ext cx="58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15" name="Group 89">
            <a:extLst>
              <a:ext uri="{FF2B5EF4-FFF2-40B4-BE49-F238E27FC236}">
                <a16:creationId xmlns:a16="http://schemas.microsoft.com/office/drawing/2014/main" id="{725FF4D2-0B00-FF0B-0F4A-22B1D71D062C}"/>
              </a:ext>
            </a:extLst>
          </p:cNvPr>
          <p:cNvGrpSpPr>
            <a:grpSpLocks/>
          </p:cNvGrpSpPr>
          <p:nvPr/>
        </p:nvGrpSpPr>
        <p:grpSpPr bwMode="auto">
          <a:xfrm>
            <a:off x="2057401" y="3173413"/>
            <a:ext cx="1604963" cy="539750"/>
            <a:chOff x="0" y="2090"/>
            <a:chExt cx="849" cy="556"/>
          </a:xfrm>
        </p:grpSpPr>
        <p:sp>
          <p:nvSpPr>
            <p:cNvPr id="42082" name="Rectangle 90">
              <a:extLst>
                <a:ext uri="{FF2B5EF4-FFF2-40B4-BE49-F238E27FC236}">
                  <a16:creationId xmlns:a16="http://schemas.microsoft.com/office/drawing/2014/main" id="{BE2BE62E-908D-B6FD-C9BC-957A5899DF0B}"/>
                </a:ext>
              </a:extLst>
            </p:cNvPr>
            <p:cNvSpPr>
              <a:spLocks noChangeArrowheads="1"/>
            </p:cNvSpPr>
            <p:nvPr/>
          </p:nvSpPr>
          <p:spPr bwMode="auto">
            <a:xfrm>
              <a:off x="43" y="2090"/>
              <a:ext cx="763"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r>
                <a:rPr lang="en-US" altLang="en-US">
                  <a:solidFill>
                    <a:prstClr val="black"/>
                  </a:solidFill>
                  <a:cs typeface="Times New Roman" panose="02020603050405020304" pitchFamily="18" charset="0"/>
                </a:rPr>
                <a:t>(4) OCF</a:t>
              </a:r>
            </a:p>
            <a:p>
              <a:pPr eaLnBrk="0" fontAlgn="base" hangingPunct="0">
                <a:spcBef>
                  <a:spcPct val="0"/>
                </a:spcBef>
                <a:spcAft>
                  <a:spcPct val="0"/>
                </a:spcAft>
              </a:pPr>
              <a:r>
                <a:rPr lang="en-US" altLang="en-US">
                  <a:solidFill>
                    <a:prstClr val="black"/>
                  </a:solidFill>
                  <a:cs typeface="Times New Roman" panose="02020603050405020304" pitchFamily="18" charset="0"/>
                </a:rPr>
                <a:t>(1) – (2) – (3)</a:t>
              </a:r>
            </a:p>
            <a:p>
              <a:pP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083" name="Rectangle 91">
              <a:extLst>
                <a:ext uri="{FF2B5EF4-FFF2-40B4-BE49-F238E27FC236}">
                  <a16:creationId xmlns:a16="http://schemas.microsoft.com/office/drawing/2014/main" id="{B2D75FB0-F94B-B97B-D981-BE98471A2BF4}"/>
                </a:ext>
              </a:extLst>
            </p:cNvPr>
            <p:cNvSpPr>
              <a:spLocks noChangeArrowheads="1"/>
            </p:cNvSpPr>
            <p:nvPr/>
          </p:nvSpPr>
          <p:spPr bwMode="auto">
            <a:xfrm>
              <a:off x="0" y="2090"/>
              <a:ext cx="849"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16" name="Group 92">
            <a:extLst>
              <a:ext uri="{FF2B5EF4-FFF2-40B4-BE49-F238E27FC236}">
                <a16:creationId xmlns:a16="http://schemas.microsoft.com/office/drawing/2014/main" id="{1C0B491B-B77B-0FD6-135D-CBB008DC1D23}"/>
              </a:ext>
            </a:extLst>
          </p:cNvPr>
          <p:cNvGrpSpPr>
            <a:grpSpLocks/>
          </p:cNvGrpSpPr>
          <p:nvPr/>
        </p:nvGrpSpPr>
        <p:grpSpPr bwMode="auto">
          <a:xfrm>
            <a:off x="3662363" y="3173413"/>
            <a:ext cx="831850" cy="539750"/>
            <a:chOff x="849" y="2090"/>
            <a:chExt cx="440" cy="556"/>
          </a:xfrm>
        </p:grpSpPr>
        <p:sp>
          <p:nvSpPr>
            <p:cNvPr id="42080" name="Rectangle 93">
              <a:extLst>
                <a:ext uri="{FF2B5EF4-FFF2-40B4-BE49-F238E27FC236}">
                  <a16:creationId xmlns:a16="http://schemas.microsoft.com/office/drawing/2014/main" id="{505E843D-6503-9EBA-10C8-B06721BCBD42}"/>
                </a:ext>
              </a:extLst>
            </p:cNvPr>
            <p:cNvSpPr>
              <a:spLocks noChangeArrowheads="1"/>
            </p:cNvSpPr>
            <p:nvPr/>
          </p:nvSpPr>
          <p:spPr bwMode="auto">
            <a:xfrm>
              <a:off x="892" y="2090"/>
              <a:ext cx="354"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 </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081" name="Rectangle 94">
              <a:extLst>
                <a:ext uri="{FF2B5EF4-FFF2-40B4-BE49-F238E27FC236}">
                  <a16:creationId xmlns:a16="http://schemas.microsoft.com/office/drawing/2014/main" id="{47BF0B10-8CE4-FE07-3B87-D594FF5B66A1}"/>
                </a:ext>
              </a:extLst>
            </p:cNvPr>
            <p:cNvSpPr>
              <a:spLocks noChangeArrowheads="1"/>
            </p:cNvSpPr>
            <p:nvPr/>
          </p:nvSpPr>
          <p:spPr bwMode="auto">
            <a:xfrm>
              <a:off x="849" y="2090"/>
              <a:ext cx="44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17" name="Group 95">
            <a:extLst>
              <a:ext uri="{FF2B5EF4-FFF2-40B4-BE49-F238E27FC236}">
                <a16:creationId xmlns:a16="http://schemas.microsoft.com/office/drawing/2014/main" id="{55CB2367-898C-11B7-5FED-5CCF29172DE2}"/>
              </a:ext>
            </a:extLst>
          </p:cNvPr>
          <p:cNvGrpSpPr>
            <a:grpSpLocks/>
          </p:cNvGrpSpPr>
          <p:nvPr/>
        </p:nvGrpSpPr>
        <p:grpSpPr bwMode="auto">
          <a:xfrm>
            <a:off x="4494214" y="3173413"/>
            <a:ext cx="1012825" cy="539750"/>
            <a:chOff x="1289" y="2090"/>
            <a:chExt cx="536" cy="556"/>
          </a:xfrm>
        </p:grpSpPr>
        <p:sp>
          <p:nvSpPr>
            <p:cNvPr id="42078" name="Rectangle 96">
              <a:extLst>
                <a:ext uri="{FF2B5EF4-FFF2-40B4-BE49-F238E27FC236}">
                  <a16:creationId xmlns:a16="http://schemas.microsoft.com/office/drawing/2014/main" id="{8767507F-CDC3-C7AF-4657-D6E6E2196E47}"/>
                </a:ext>
              </a:extLst>
            </p:cNvPr>
            <p:cNvSpPr>
              <a:spLocks noChangeArrowheads="1"/>
            </p:cNvSpPr>
            <p:nvPr/>
          </p:nvSpPr>
          <p:spPr bwMode="auto">
            <a:xfrm>
              <a:off x="1332" y="2090"/>
              <a:ext cx="45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39.80</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079" name="Rectangle 97">
              <a:extLst>
                <a:ext uri="{FF2B5EF4-FFF2-40B4-BE49-F238E27FC236}">
                  <a16:creationId xmlns:a16="http://schemas.microsoft.com/office/drawing/2014/main" id="{C5112DE1-8DD6-254E-6459-E9AA68CEA1FB}"/>
                </a:ext>
              </a:extLst>
            </p:cNvPr>
            <p:cNvSpPr>
              <a:spLocks noChangeArrowheads="1"/>
            </p:cNvSpPr>
            <p:nvPr/>
          </p:nvSpPr>
          <p:spPr bwMode="auto">
            <a:xfrm>
              <a:off x="1289" y="2090"/>
              <a:ext cx="536"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18" name="Group 98">
            <a:extLst>
              <a:ext uri="{FF2B5EF4-FFF2-40B4-BE49-F238E27FC236}">
                <a16:creationId xmlns:a16="http://schemas.microsoft.com/office/drawing/2014/main" id="{3B3DD264-BE0D-5EDE-254B-62F15C414E20}"/>
              </a:ext>
            </a:extLst>
          </p:cNvPr>
          <p:cNvGrpSpPr>
            <a:grpSpLocks/>
          </p:cNvGrpSpPr>
          <p:nvPr/>
        </p:nvGrpSpPr>
        <p:grpSpPr bwMode="auto">
          <a:xfrm>
            <a:off x="5507038" y="3173413"/>
            <a:ext cx="1096962" cy="539750"/>
            <a:chOff x="1825" y="2090"/>
            <a:chExt cx="580" cy="556"/>
          </a:xfrm>
        </p:grpSpPr>
        <p:sp>
          <p:nvSpPr>
            <p:cNvPr id="42076" name="Rectangle 99">
              <a:extLst>
                <a:ext uri="{FF2B5EF4-FFF2-40B4-BE49-F238E27FC236}">
                  <a16:creationId xmlns:a16="http://schemas.microsoft.com/office/drawing/2014/main" id="{CFB35B9B-5446-6E5D-8D36-A9B84387762F}"/>
                </a:ext>
              </a:extLst>
            </p:cNvPr>
            <p:cNvSpPr>
              <a:spLocks noChangeArrowheads="1"/>
            </p:cNvSpPr>
            <p:nvPr/>
          </p:nvSpPr>
          <p:spPr bwMode="auto">
            <a:xfrm>
              <a:off x="1868" y="2090"/>
              <a:ext cx="494"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60.51</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077" name="Rectangle 100">
              <a:extLst>
                <a:ext uri="{FF2B5EF4-FFF2-40B4-BE49-F238E27FC236}">
                  <a16:creationId xmlns:a16="http://schemas.microsoft.com/office/drawing/2014/main" id="{033D3111-F001-E908-5A0B-701D142F70A8}"/>
                </a:ext>
              </a:extLst>
            </p:cNvPr>
            <p:cNvSpPr>
              <a:spLocks noChangeArrowheads="1"/>
            </p:cNvSpPr>
            <p:nvPr/>
          </p:nvSpPr>
          <p:spPr bwMode="auto">
            <a:xfrm>
              <a:off x="1825" y="2090"/>
              <a:ext cx="58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19" name="Group 101">
            <a:extLst>
              <a:ext uri="{FF2B5EF4-FFF2-40B4-BE49-F238E27FC236}">
                <a16:creationId xmlns:a16="http://schemas.microsoft.com/office/drawing/2014/main" id="{C9FA90AA-8CC1-AAC4-E159-6D1C2028FB93}"/>
              </a:ext>
            </a:extLst>
          </p:cNvPr>
          <p:cNvGrpSpPr>
            <a:grpSpLocks/>
          </p:cNvGrpSpPr>
          <p:nvPr/>
        </p:nvGrpSpPr>
        <p:grpSpPr bwMode="auto">
          <a:xfrm>
            <a:off x="6604001" y="3173413"/>
            <a:ext cx="1096963" cy="539750"/>
            <a:chOff x="2405" y="2090"/>
            <a:chExt cx="580" cy="556"/>
          </a:xfrm>
        </p:grpSpPr>
        <p:sp>
          <p:nvSpPr>
            <p:cNvPr id="42074" name="Rectangle 102">
              <a:extLst>
                <a:ext uri="{FF2B5EF4-FFF2-40B4-BE49-F238E27FC236}">
                  <a16:creationId xmlns:a16="http://schemas.microsoft.com/office/drawing/2014/main" id="{9BA1E7D5-BAE6-4DCD-BCCC-DBD8178BD878}"/>
                </a:ext>
              </a:extLst>
            </p:cNvPr>
            <p:cNvSpPr>
              <a:spLocks noChangeArrowheads="1"/>
            </p:cNvSpPr>
            <p:nvPr/>
          </p:nvSpPr>
          <p:spPr bwMode="auto">
            <a:xfrm>
              <a:off x="2448" y="2090"/>
              <a:ext cx="494"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75.50</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075" name="Rectangle 103">
              <a:extLst>
                <a:ext uri="{FF2B5EF4-FFF2-40B4-BE49-F238E27FC236}">
                  <a16:creationId xmlns:a16="http://schemas.microsoft.com/office/drawing/2014/main" id="{650746A5-C110-0D3A-F9D9-E73534EED67F}"/>
                </a:ext>
              </a:extLst>
            </p:cNvPr>
            <p:cNvSpPr>
              <a:spLocks noChangeArrowheads="1"/>
            </p:cNvSpPr>
            <p:nvPr/>
          </p:nvSpPr>
          <p:spPr bwMode="auto">
            <a:xfrm>
              <a:off x="2405" y="2090"/>
              <a:ext cx="58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20" name="Group 104">
            <a:extLst>
              <a:ext uri="{FF2B5EF4-FFF2-40B4-BE49-F238E27FC236}">
                <a16:creationId xmlns:a16="http://schemas.microsoft.com/office/drawing/2014/main" id="{67C8C200-9A9F-B830-CB3F-EF90EA19659D}"/>
              </a:ext>
            </a:extLst>
          </p:cNvPr>
          <p:cNvGrpSpPr>
            <a:grpSpLocks/>
          </p:cNvGrpSpPr>
          <p:nvPr/>
        </p:nvGrpSpPr>
        <p:grpSpPr bwMode="auto">
          <a:xfrm>
            <a:off x="7700964" y="3173413"/>
            <a:ext cx="1095375" cy="539750"/>
            <a:chOff x="2985" y="2090"/>
            <a:chExt cx="580" cy="556"/>
          </a:xfrm>
        </p:grpSpPr>
        <p:sp>
          <p:nvSpPr>
            <p:cNvPr id="42072" name="Rectangle 105">
              <a:extLst>
                <a:ext uri="{FF2B5EF4-FFF2-40B4-BE49-F238E27FC236}">
                  <a16:creationId xmlns:a16="http://schemas.microsoft.com/office/drawing/2014/main" id="{D13CC810-B4E2-6E89-1A11-1FACB2F29D41}"/>
                </a:ext>
              </a:extLst>
            </p:cNvPr>
            <p:cNvSpPr>
              <a:spLocks noChangeArrowheads="1"/>
            </p:cNvSpPr>
            <p:nvPr/>
          </p:nvSpPr>
          <p:spPr bwMode="auto">
            <a:xfrm>
              <a:off x="3028" y="2090"/>
              <a:ext cx="494"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56.15</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073" name="Rectangle 106">
              <a:extLst>
                <a:ext uri="{FF2B5EF4-FFF2-40B4-BE49-F238E27FC236}">
                  <a16:creationId xmlns:a16="http://schemas.microsoft.com/office/drawing/2014/main" id="{779FE4D7-FD22-EDE8-ED5D-3382F7262481}"/>
                </a:ext>
              </a:extLst>
            </p:cNvPr>
            <p:cNvSpPr>
              <a:spLocks noChangeArrowheads="1"/>
            </p:cNvSpPr>
            <p:nvPr/>
          </p:nvSpPr>
          <p:spPr bwMode="auto">
            <a:xfrm>
              <a:off x="2985" y="2090"/>
              <a:ext cx="58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21" name="Group 107">
            <a:extLst>
              <a:ext uri="{FF2B5EF4-FFF2-40B4-BE49-F238E27FC236}">
                <a16:creationId xmlns:a16="http://schemas.microsoft.com/office/drawing/2014/main" id="{B486A7DD-E619-334B-E4B5-A60AABAB0089}"/>
              </a:ext>
            </a:extLst>
          </p:cNvPr>
          <p:cNvGrpSpPr>
            <a:grpSpLocks/>
          </p:cNvGrpSpPr>
          <p:nvPr/>
        </p:nvGrpSpPr>
        <p:grpSpPr bwMode="auto">
          <a:xfrm>
            <a:off x="8796338" y="3173413"/>
            <a:ext cx="1096962" cy="539750"/>
            <a:chOff x="3565" y="2090"/>
            <a:chExt cx="580" cy="556"/>
          </a:xfrm>
        </p:grpSpPr>
        <p:sp>
          <p:nvSpPr>
            <p:cNvPr id="42070" name="Rectangle 108">
              <a:extLst>
                <a:ext uri="{FF2B5EF4-FFF2-40B4-BE49-F238E27FC236}">
                  <a16:creationId xmlns:a16="http://schemas.microsoft.com/office/drawing/2014/main" id="{635510E8-360B-A1EE-C7A6-92B162330272}"/>
                </a:ext>
              </a:extLst>
            </p:cNvPr>
            <p:cNvSpPr>
              <a:spLocks noChangeArrowheads="1"/>
            </p:cNvSpPr>
            <p:nvPr/>
          </p:nvSpPr>
          <p:spPr bwMode="auto">
            <a:xfrm>
              <a:off x="3608" y="2090"/>
              <a:ext cx="494"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31.67</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071" name="Rectangle 109">
              <a:extLst>
                <a:ext uri="{FF2B5EF4-FFF2-40B4-BE49-F238E27FC236}">
                  <a16:creationId xmlns:a16="http://schemas.microsoft.com/office/drawing/2014/main" id="{F45DBDD4-7DCA-F7D6-582B-C66BA98786D6}"/>
                </a:ext>
              </a:extLst>
            </p:cNvPr>
            <p:cNvSpPr>
              <a:spLocks noChangeArrowheads="1"/>
            </p:cNvSpPr>
            <p:nvPr/>
          </p:nvSpPr>
          <p:spPr bwMode="auto">
            <a:xfrm>
              <a:off x="3565" y="2090"/>
              <a:ext cx="58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22" name="Group 110">
            <a:extLst>
              <a:ext uri="{FF2B5EF4-FFF2-40B4-BE49-F238E27FC236}">
                <a16:creationId xmlns:a16="http://schemas.microsoft.com/office/drawing/2014/main" id="{CCDF0480-331E-C57D-7871-E7AFB5D36888}"/>
              </a:ext>
            </a:extLst>
          </p:cNvPr>
          <p:cNvGrpSpPr>
            <a:grpSpLocks/>
          </p:cNvGrpSpPr>
          <p:nvPr/>
        </p:nvGrpSpPr>
        <p:grpSpPr bwMode="auto">
          <a:xfrm>
            <a:off x="2057401" y="3713164"/>
            <a:ext cx="1604963" cy="541337"/>
            <a:chOff x="0" y="2646"/>
            <a:chExt cx="849" cy="556"/>
          </a:xfrm>
        </p:grpSpPr>
        <p:sp>
          <p:nvSpPr>
            <p:cNvPr id="42068" name="Rectangle 111">
              <a:extLst>
                <a:ext uri="{FF2B5EF4-FFF2-40B4-BE49-F238E27FC236}">
                  <a16:creationId xmlns:a16="http://schemas.microsoft.com/office/drawing/2014/main" id="{8CF9B2C6-B7BB-E86B-D6D6-6A34E5DA67DB}"/>
                </a:ext>
              </a:extLst>
            </p:cNvPr>
            <p:cNvSpPr>
              <a:spLocks noChangeArrowheads="1"/>
            </p:cNvSpPr>
            <p:nvPr/>
          </p:nvSpPr>
          <p:spPr bwMode="auto">
            <a:xfrm>
              <a:off x="43" y="2646"/>
              <a:ext cx="763"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r>
                <a:rPr lang="en-US" altLang="en-US">
                  <a:solidFill>
                    <a:prstClr val="black"/>
                  </a:solidFill>
                  <a:cs typeface="Times New Roman" panose="02020603050405020304" pitchFamily="18" charset="0"/>
                </a:rPr>
                <a:t>(5) Total CF of nvestment</a:t>
              </a:r>
            </a:p>
            <a:p>
              <a:pP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069" name="Rectangle 112">
              <a:extLst>
                <a:ext uri="{FF2B5EF4-FFF2-40B4-BE49-F238E27FC236}">
                  <a16:creationId xmlns:a16="http://schemas.microsoft.com/office/drawing/2014/main" id="{0C13E6B9-BF4D-F383-C0D3-F3F06EC4042C}"/>
                </a:ext>
              </a:extLst>
            </p:cNvPr>
            <p:cNvSpPr>
              <a:spLocks noChangeArrowheads="1"/>
            </p:cNvSpPr>
            <p:nvPr/>
          </p:nvSpPr>
          <p:spPr bwMode="auto">
            <a:xfrm>
              <a:off x="0" y="2646"/>
              <a:ext cx="849"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23" name="Group 113">
            <a:extLst>
              <a:ext uri="{FF2B5EF4-FFF2-40B4-BE49-F238E27FC236}">
                <a16:creationId xmlns:a16="http://schemas.microsoft.com/office/drawing/2014/main" id="{E5DE5DC2-E743-6704-FBB6-D27802D2C77D}"/>
              </a:ext>
            </a:extLst>
          </p:cNvPr>
          <p:cNvGrpSpPr>
            <a:grpSpLocks/>
          </p:cNvGrpSpPr>
          <p:nvPr/>
        </p:nvGrpSpPr>
        <p:grpSpPr bwMode="auto">
          <a:xfrm>
            <a:off x="3662363" y="3713164"/>
            <a:ext cx="831850" cy="541337"/>
            <a:chOff x="849" y="2646"/>
            <a:chExt cx="440" cy="556"/>
          </a:xfrm>
        </p:grpSpPr>
        <p:sp>
          <p:nvSpPr>
            <p:cNvPr id="42066" name="Rectangle 114">
              <a:extLst>
                <a:ext uri="{FF2B5EF4-FFF2-40B4-BE49-F238E27FC236}">
                  <a16:creationId xmlns:a16="http://schemas.microsoft.com/office/drawing/2014/main" id="{058B828B-583E-D2E8-D645-DB9B0D1CE5C7}"/>
                </a:ext>
              </a:extLst>
            </p:cNvPr>
            <p:cNvSpPr>
              <a:spLocks noChangeArrowheads="1"/>
            </p:cNvSpPr>
            <p:nvPr/>
          </p:nvSpPr>
          <p:spPr bwMode="auto">
            <a:xfrm>
              <a:off x="892" y="2646"/>
              <a:ext cx="354"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–260</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067" name="Rectangle 115">
              <a:extLst>
                <a:ext uri="{FF2B5EF4-FFF2-40B4-BE49-F238E27FC236}">
                  <a16:creationId xmlns:a16="http://schemas.microsoft.com/office/drawing/2014/main" id="{3E02A70A-8B5B-D772-1182-DAE796C5965F}"/>
                </a:ext>
              </a:extLst>
            </p:cNvPr>
            <p:cNvSpPr>
              <a:spLocks noChangeArrowheads="1"/>
            </p:cNvSpPr>
            <p:nvPr/>
          </p:nvSpPr>
          <p:spPr bwMode="auto">
            <a:xfrm>
              <a:off x="849" y="2646"/>
              <a:ext cx="44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24" name="Group 116">
            <a:extLst>
              <a:ext uri="{FF2B5EF4-FFF2-40B4-BE49-F238E27FC236}">
                <a16:creationId xmlns:a16="http://schemas.microsoft.com/office/drawing/2014/main" id="{830A0109-42B5-7B8A-78C9-FBF742769D92}"/>
              </a:ext>
            </a:extLst>
          </p:cNvPr>
          <p:cNvGrpSpPr>
            <a:grpSpLocks/>
          </p:cNvGrpSpPr>
          <p:nvPr/>
        </p:nvGrpSpPr>
        <p:grpSpPr bwMode="auto">
          <a:xfrm>
            <a:off x="4494214" y="3713164"/>
            <a:ext cx="1012825" cy="541337"/>
            <a:chOff x="1289" y="2646"/>
            <a:chExt cx="536" cy="556"/>
          </a:xfrm>
        </p:grpSpPr>
        <p:sp>
          <p:nvSpPr>
            <p:cNvPr id="42064" name="Rectangle 117">
              <a:extLst>
                <a:ext uri="{FF2B5EF4-FFF2-40B4-BE49-F238E27FC236}">
                  <a16:creationId xmlns:a16="http://schemas.microsoft.com/office/drawing/2014/main" id="{E29F4075-5526-57F6-3CDE-F7CED25BC8AF}"/>
                </a:ext>
              </a:extLst>
            </p:cNvPr>
            <p:cNvSpPr>
              <a:spLocks noChangeArrowheads="1"/>
            </p:cNvSpPr>
            <p:nvPr/>
          </p:nvSpPr>
          <p:spPr bwMode="auto">
            <a:xfrm>
              <a:off x="1332" y="2646"/>
              <a:ext cx="45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 </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065" name="Rectangle 118">
              <a:extLst>
                <a:ext uri="{FF2B5EF4-FFF2-40B4-BE49-F238E27FC236}">
                  <a16:creationId xmlns:a16="http://schemas.microsoft.com/office/drawing/2014/main" id="{9EC879BE-3708-CF6A-6D7D-5D63D012EAA4}"/>
                </a:ext>
              </a:extLst>
            </p:cNvPr>
            <p:cNvSpPr>
              <a:spLocks noChangeArrowheads="1"/>
            </p:cNvSpPr>
            <p:nvPr/>
          </p:nvSpPr>
          <p:spPr bwMode="auto">
            <a:xfrm>
              <a:off x="1289" y="2646"/>
              <a:ext cx="536"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25" name="Group 119">
            <a:extLst>
              <a:ext uri="{FF2B5EF4-FFF2-40B4-BE49-F238E27FC236}">
                <a16:creationId xmlns:a16="http://schemas.microsoft.com/office/drawing/2014/main" id="{6407F068-E4C3-2380-8FA3-2B1D954599D9}"/>
              </a:ext>
            </a:extLst>
          </p:cNvPr>
          <p:cNvGrpSpPr>
            <a:grpSpLocks/>
          </p:cNvGrpSpPr>
          <p:nvPr/>
        </p:nvGrpSpPr>
        <p:grpSpPr bwMode="auto">
          <a:xfrm>
            <a:off x="5507038" y="3713164"/>
            <a:ext cx="1096962" cy="541337"/>
            <a:chOff x="1825" y="2646"/>
            <a:chExt cx="580" cy="556"/>
          </a:xfrm>
        </p:grpSpPr>
        <p:sp>
          <p:nvSpPr>
            <p:cNvPr id="42062" name="Rectangle 120">
              <a:extLst>
                <a:ext uri="{FF2B5EF4-FFF2-40B4-BE49-F238E27FC236}">
                  <a16:creationId xmlns:a16="http://schemas.microsoft.com/office/drawing/2014/main" id="{E99E7240-DC56-2B59-E9F3-2893B83DB5A6}"/>
                </a:ext>
              </a:extLst>
            </p:cNvPr>
            <p:cNvSpPr>
              <a:spLocks noChangeArrowheads="1"/>
            </p:cNvSpPr>
            <p:nvPr/>
          </p:nvSpPr>
          <p:spPr bwMode="auto">
            <a:xfrm>
              <a:off x="1868" y="2646"/>
              <a:ext cx="494"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–6.32</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063" name="Rectangle 121">
              <a:extLst>
                <a:ext uri="{FF2B5EF4-FFF2-40B4-BE49-F238E27FC236}">
                  <a16:creationId xmlns:a16="http://schemas.microsoft.com/office/drawing/2014/main" id="{3959DCA7-CE13-148B-416D-693D7F44C4AB}"/>
                </a:ext>
              </a:extLst>
            </p:cNvPr>
            <p:cNvSpPr>
              <a:spLocks noChangeArrowheads="1"/>
            </p:cNvSpPr>
            <p:nvPr/>
          </p:nvSpPr>
          <p:spPr bwMode="auto">
            <a:xfrm>
              <a:off x="1825" y="2646"/>
              <a:ext cx="58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26" name="Group 122">
            <a:extLst>
              <a:ext uri="{FF2B5EF4-FFF2-40B4-BE49-F238E27FC236}">
                <a16:creationId xmlns:a16="http://schemas.microsoft.com/office/drawing/2014/main" id="{96B85CAD-AA12-4B75-D5E4-17C939E2E900}"/>
              </a:ext>
            </a:extLst>
          </p:cNvPr>
          <p:cNvGrpSpPr>
            <a:grpSpLocks/>
          </p:cNvGrpSpPr>
          <p:nvPr/>
        </p:nvGrpSpPr>
        <p:grpSpPr bwMode="auto">
          <a:xfrm>
            <a:off x="6604001" y="3713164"/>
            <a:ext cx="1096963" cy="541337"/>
            <a:chOff x="2405" y="2646"/>
            <a:chExt cx="580" cy="556"/>
          </a:xfrm>
        </p:grpSpPr>
        <p:sp>
          <p:nvSpPr>
            <p:cNvPr id="42060" name="Rectangle 123">
              <a:extLst>
                <a:ext uri="{FF2B5EF4-FFF2-40B4-BE49-F238E27FC236}">
                  <a16:creationId xmlns:a16="http://schemas.microsoft.com/office/drawing/2014/main" id="{1C0F4DE5-0C29-18DE-2E36-5866DF358C1C}"/>
                </a:ext>
              </a:extLst>
            </p:cNvPr>
            <p:cNvSpPr>
              <a:spLocks noChangeArrowheads="1"/>
            </p:cNvSpPr>
            <p:nvPr/>
          </p:nvSpPr>
          <p:spPr bwMode="auto">
            <a:xfrm>
              <a:off x="2448" y="2646"/>
              <a:ext cx="494"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–8.65</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061" name="Rectangle 124">
              <a:extLst>
                <a:ext uri="{FF2B5EF4-FFF2-40B4-BE49-F238E27FC236}">
                  <a16:creationId xmlns:a16="http://schemas.microsoft.com/office/drawing/2014/main" id="{7DEB01DA-F0A5-D005-5385-276B6A907590}"/>
                </a:ext>
              </a:extLst>
            </p:cNvPr>
            <p:cNvSpPr>
              <a:spLocks noChangeArrowheads="1"/>
            </p:cNvSpPr>
            <p:nvPr/>
          </p:nvSpPr>
          <p:spPr bwMode="auto">
            <a:xfrm>
              <a:off x="2405" y="2646"/>
              <a:ext cx="58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27" name="Group 125">
            <a:extLst>
              <a:ext uri="{FF2B5EF4-FFF2-40B4-BE49-F238E27FC236}">
                <a16:creationId xmlns:a16="http://schemas.microsoft.com/office/drawing/2014/main" id="{CCEB19F5-1960-BBC2-06BE-0D750325A88C}"/>
              </a:ext>
            </a:extLst>
          </p:cNvPr>
          <p:cNvGrpSpPr>
            <a:grpSpLocks/>
          </p:cNvGrpSpPr>
          <p:nvPr/>
        </p:nvGrpSpPr>
        <p:grpSpPr bwMode="auto">
          <a:xfrm>
            <a:off x="7700964" y="3713164"/>
            <a:ext cx="1095375" cy="541337"/>
            <a:chOff x="2985" y="2646"/>
            <a:chExt cx="580" cy="556"/>
          </a:xfrm>
        </p:grpSpPr>
        <p:sp>
          <p:nvSpPr>
            <p:cNvPr id="42058" name="Rectangle 126">
              <a:extLst>
                <a:ext uri="{FF2B5EF4-FFF2-40B4-BE49-F238E27FC236}">
                  <a16:creationId xmlns:a16="http://schemas.microsoft.com/office/drawing/2014/main" id="{A6D4D29F-2F41-02BA-4B22-540737CF0193}"/>
                </a:ext>
              </a:extLst>
            </p:cNvPr>
            <p:cNvSpPr>
              <a:spLocks noChangeArrowheads="1"/>
            </p:cNvSpPr>
            <p:nvPr/>
          </p:nvSpPr>
          <p:spPr bwMode="auto">
            <a:xfrm>
              <a:off x="3028" y="2646"/>
              <a:ext cx="494"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3.75</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059" name="Rectangle 127">
              <a:extLst>
                <a:ext uri="{FF2B5EF4-FFF2-40B4-BE49-F238E27FC236}">
                  <a16:creationId xmlns:a16="http://schemas.microsoft.com/office/drawing/2014/main" id="{85D0779F-126D-973E-01C8-C90B906EA6E4}"/>
                </a:ext>
              </a:extLst>
            </p:cNvPr>
            <p:cNvSpPr>
              <a:spLocks noChangeArrowheads="1"/>
            </p:cNvSpPr>
            <p:nvPr/>
          </p:nvSpPr>
          <p:spPr bwMode="auto">
            <a:xfrm>
              <a:off x="2985" y="2646"/>
              <a:ext cx="58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28" name="Group 128">
            <a:extLst>
              <a:ext uri="{FF2B5EF4-FFF2-40B4-BE49-F238E27FC236}">
                <a16:creationId xmlns:a16="http://schemas.microsoft.com/office/drawing/2014/main" id="{EE21D383-6654-57E9-740E-D9A98647400B}"/>
              </a:ext>
            </a:extLst>
          </p:cNvPr>
          <p:cNvGrpSpPr>
            <a:grpSpLocks/>
          </p:cNvGrpSpPr>
          <p:nvPr/>
        </p:nvGrpSpPr>
        <p:grpSpPr bwMode="auto">
          <a:xfrm>
            <a:off x="8796338" y="3713164"/>
            <a:ext cx="1096962" cy="541337"/>
            <a:chOff x="3565" y="2646"/>
            <a:chExt cx="580" cy="556"/>
          </a:xfrm>
        </p:grpSpPr>
        <p:sp>
          <p:nvSpPr>
            <p:cNvPr id="42056" name="Rectangle 129">
              <a:extLst>
                <a:ext uri="{FF2B5EF4-FFF2-40B4-BE49-F238E27FC236}">
                  <a16:creationId xmlns:a16="http://schemas.microsoft.com/office/drawing/2014/main" id="{9F6F5B7E-DBE9-2E2A-8A80-7127183A9D23}"/>
                </a:ext>
              </a:extLst>
            </p:cNvPr>
            <p:cNvSpPr>
              <a:spLocks noChangeArrowheads="1"/>
            </p:cNvSpPr>
            <p:nvPr/>
          </p:nvSpPr>
          <p:spPr bwMode="auto">
            <a:xfrm>
              <a:off x="3608" y="2646"/>
              <a:ext cx="494"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192.98</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057" name="Rectangle 130">
              <a:extLst>
                <a:ext uri="{FF2B5EF4-FFF2-40B4-BE49-F238E27FC236}">
                  <a16:creationId xmlns:a16="http://schemas.microsoft.com/office/drawing/2014/main" id="{8C790D6D-9EDE-9383-9144-43929C66EDDF}"/>
                </a:ext>
              </a:extLst>
            </p:cNvPr>
            <p:cNvSpPr>
              <a:spLocks noChangeArrowheads="1"/>
            </p:cNvSpPr>
            <p:nvPr/>
          </p:nvSpPr>
          <p:spPr bwMode="auto">
            <a:xfrm>
              <a:off x="3565" y="2646"/>
              <a:ext cx="58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29" name="Group 131">
            <a:extLst>
              <a:ext uri="{FF2B5EF4-FFF2-40B4-BE49-F238E27FC236}">
                <a16:creationId xmlns:a16="http://schemas.microsoft.com/office/drawing/2014/main" id="{6C94D5C8-18D6-7275-6B02-48398FCE7E93}"/>
              </a:ext>
            </a:extLst>
          </p:cNvPr>
          <p:cNvGrpSpPr>
            <a:grpSpLocks/>
          </p:cNvGrpSpPr>
          <p:nvPr/>
        </p:nvGrpSpPr>
        <p:grpSpPr bwMode="auto">
          <a:xfrm>
            <a:off x="2057401" y="4254500"/>
            <a:ext cx="1604963" cy="539750"/>
            <a:chOff x="0" y="3202"/>
            <a:chExt cx="849" cy="556"/>
          </a:xfrm>
        </p:grpSpPr>
        <p:sp>
          <p:nvSpPr>
            <p:cNvPr id="42054" name="Rectangle 132">
              <a:extLst>
                <a:ext uri="{FF2B5EF4-FFF2-40B4-BE49-F238E27FC236}">
                  <a16:creationId xmlns:a16="http://schemas.microsoft.com/office/drawing/2014/main" id="{95263A5D-D4BE-A24B-1269-1231CD85CCFB}"/>
                </a:ext>
              </a:extLst>
            </p:cNvPr>
            <p:cNvSpPr>
              <a:spLocks noChangeArrowheads="1"/>
            </p:cNvSpPr>
            <p:nvPr/>
          </p:nvSpPr>
          <p:spPr bwMode="auto">
            <a:xfrm>
              <a:off x="43" y="3202"/>
              <a:ext cx="763"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r>
                <a:rPr lang="en-US" altLang="en-US">
                  <a:solidFill>
                    <a:prstClr val="black"/>
                  </a:solidFill>
                  <a:cs typeface="Times New Roman" panose="02020603050405020304" pitchFamily="18" charset="0"/>
                </a:rPr>
                <a:t>(6) IATCF</a:t>
              </a:r>
            </a:p>
            <a:p>
              <a:pPr eaLnBrk="0" fontAlgn="base" hangingPunct="0">
                <a:spcBef>
                  <a:spcPct val="0"/>
                </a:spcBef>
                <a:spcAft>
                  <a:spcPct val="0"/>
                </a:spcAft>
              </a:pPr>
              <a:r>
                <a:rPr lang="en-US" altLang="en-US">
                  <a:solidFill>
                    <a:prstClr val="black"/>
                  </a:solidFill>
                  <a:cs typeface="Times New Roman" panose="02020603050405020304" pitchFamily="18" charset="0"/>
                </a:rPr>
                <a:t>[(4) + (5)]</a:t>
              </a:r>
            </a:p>
            <a:p>
              <a:pP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055" name="Rectangle 133">
              <a:extLst>
                <a:ext uri="{FF2B5EF4-FFF2-40B4-BE49-F238E27FC236}">
                  <a16:creationId xmlns:a16="http://schemas.microsoft.com/office/drawing/2014/main" id="{1D926C7B-1008-E53B-BFEE-7214E8D8A21C}"/>
                </a:ext>
              </a:extLst>
            </p:cNvPr>
            <p:cNvSpPr>
              <a:spLocks noChangeArrowheads="1"/>
            </p:cNvSpPr>
            <p:nvPr/>
          </p:nvSpPr>
          <p:spPr bwMode="auto">
            <a:xfrm>
              <a:off x="0" y="3202"/>
              <a:ext cx="849"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30" name="Group 134">
            <a:extLst>
              <a:ext uri="{FF2B5EF4-FFF2-40B4-BE49-F238E27FC236}">
                <a16:creationId xmlns:a16="http://schemas.microsoft.com/office/drawing/2014/main" id="{B588262F-4F74-BE82-27D8-7B75581DB22A}"/>
              </a:ext>
            </a:extLst>
          </p:cNvPr>
          <p:cNvGrpSpPr>
            <a:grpSpLocks/>
          </p:cNvGrpSpPr>
          <p:nvPr/>
        </p:nvGrpSpPr>
        <p:grpSpPr bwMode="auto">
          <a:xfrm>
            <a:off x="3662363" y="4254500"/>
            <a:ext cx="831850" cy="539750"/>
            <a:chOff x="849" y="3202"/>
            <a:chExt cx="440" cy="556"/>
          </a:xfrm>
        </p:grpSpPr>
        <p:sp>
          <p:nvSpPr>
            <p:cNvPr id="42052" name="Rectangle 135">
              <a:extLst>
                <a:ext uri="{FF2B5EF4-FFF2-40B4-BE49-F238E27FC236}">
                  <a16:creationId xmlns:a16="http://schemas.microsoft.com/office/drawing/2014/main" id="{ECD09C6C-DA64-A5D4-B468-50B968A3690F}"/>
                </a:ext>
              </a:extLst>
            </p:cNvPr>
            <p:cNvSpPr>
              <a:spLocks noChangeArrowheads="1"/>
            </p:cNvSpPr>
            <p:nvPr/>
          </p:nvSpPr>
          <p:spPr bwMode="auto">
            <a:xfrm>
              <a:off x="892" y="3202"/>
              <a:ext cx="354"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–260          </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053" name="Rectangle 136">
              <a:extLst>
                <a:ext uri="{FF2B5EF4-FFF2-40B4-BE49-F238E27FC236}">
                  <a16:creationId xmlns:a16="http://schemas.microsoft.com/office/drawing/2014/main" id="{B4D80E6F-ADFB-6DB3-F9C0-7B0AAF00EF06}"/>
                </a:ext>
              </a:extLst>
            </p:cNvPr>
            <p:cNvSpPr>
              <a:spLocks noChangeArrowheads="1"/>
            </p:cNvSpPr>
            <p:nvPr/>
          </p:nvSpPr>
          <p:spPr bwMode="auto">
            <a:xfrm>
              <a:off x="849" y="3202"/>
              <a:ext cx="44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31" name="Group 137">
            <a:extLst>
              <a:ext uri="{FF2B5EF4-FFF2-40B4-BE49-F238E27FC236}">
                <a16:creationId xmlns:a16="http://schemas.microsoft.com/office/drawing/2014/main" id="{5E577B46-E9D8-F969-59C1-8F688D9E91F5}"/>
              </a:ext>
            </a:extLst>
          </p:cNvPr>
          <p:cNvGrpSpPr>
            <a:grpSpLocks/>
          </p:cNvGrpSpPr>
          <p:nvPr/>
        </p:nvGrpSpPr>
        <p:grpSpPr bwMode="auto">
          <a:xfrm>
            <a:off x="4494214" y="4254500"/>
            <a:ext cx="1012825" cy="539750"/>
            <a:chOff x="1289" y="3202"/>
            <a:chExt cx="536" cy="556"/>
          </a:xfrm>
        </p:grpSpPr>
        <p:sp>
          <p:nvSpPr>
            <p:cNvPr id="42050" name="Rectangle 138">
              <a:extLst>
                <a:ext uri="{FF2B5EF4-FFF2-40B4-BE49-F238E27FC236}">
                  <a16:creationId xmlns:a16="http://schemas.microsoft.com/office/drawing/2014/main" id="{8DF76E6C-D3E0-CB7D-1771-9F2792620D7C}"/>
                </a:ext>
              </a:extLst>
            </p:cNvPr>
            <p:cNvSpPr>
              <a:spLocks noChangeArrowheads="1"/>
            </p:cNvSpPr>
            <p:nvPr/>
          </p:nvSpPr>
          <p:spPr bwMode="auto">
            <a:xfrm>
              <a:off x="1332" y="3202"/>
              <a:ext cx="45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39.80</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051" name="Rectangle 139">
              <a:extLst>
                <a:ext uri="{FF2B5EF4-FFF2-40B4-BE49-F238E27FC236}">
                  <a16:creationId xmlns:a16="http://schemas.microsoft.com/office/drawing/2014/main" id="{034B2233-CA58-3C55-F3FA-9C638C8BB313}"/>
                </a:ext>
              </a:extLst>
            </p:cNvPr>
            <p:cNvSpPr>
              <a:spLocks noChangeArrowheads="1"/>
            </p:cNvSpPr>
            <p:nvPr/>
          </p:nvSpPr>
          <p:spPr bwMode="auto">
            <a:xfrm>
              <a:off x="1289" y="3202"/>
              <a:ext cx="536"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32" name="Group 140">
            <a:extLst>
              <a:ext uri="{FF2B5EF4-FFF2-40B4-BE49-F238E27FC236}">
                <a16:creationId xmlns:a16="http://schemas.microsoft.com/office/drawing/2014/main" id="{95624DDB-D8EC-3185-ED91-B120AF330F31}"/>
              </a:ext>
            </a:extLst>
          </p:cNvPr>
          <p:cNvGrpSpPr>
            <a:grpSpLocks/>
          </p:cNvGrpSpPr>
          <p:nvPr/>
        </p:nvGrpSpPr>
        <p:grpSpPr bwMode="auto">
          <a:xfrm>
            <a:off x="5507038" y="4254500"/>
            <a:ext cx="1096962" cy="539750"/>
            <a:chOff x="1825" y="3202"/>
            <a:chExt cx="580" cy="556"/>
          </a:xfrm>
        </p:grpSpPr>
        <p:sp>
          <p:nvSpPr>
            <p:cNvPr id="42048" name="Rectangle 141">
              <a:extLst>
                <a:ext uri="{FF2B5EF4-FFF2-40B4-BE49-F238E27FC236}">
                  <a16:creationId xmlns:a16="http://schemas.microsoft.com/office/drawing/2014/main" id="{BB49B051-72D9-0288-B08B-E67613616751}"/>
                </a:ext>
              </a:extLst>
            </p:cNvPr>
            <p:cNvSpPr>
              <a:spLocks noChangeArrowheads="1"/>
            </p:cNvSpPr>
            <p:nvPr/>
          </p:nvSpPr>
          <p:spPr bwMode="auto">
            <a:xfrm>
              <a:off x="1868" y="3202"/>
              <a:ext cx="494"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54.19</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049" name="Rectangle 142">
              <a:extLst>
                <a:ext uri="{FF2B5EF4-FFF2-40B4-BE49-F238E27FC236}">
                  <a16:creationId xmlns:a16="http://schemas.microsoft.com/office/drawing/2014/main" id="{1A033BEA-36F9-7137-BEB9-9346889FF61C}"/>
                </a:ext>
              </a:extLst>
            </p:cNvPr>
            <p:cNvSpPr>
              <a:spLocks noChangeArrowheads="1"/>
            </p:cNvSpPr>
            <p:nvPr/>
          </p:nvSpPr>
          <p:spPr bwMode="auto">
            <a:xfrm>
              <a:off x="1825" y="3202"/>
              <a:ext cx="58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33" name="Group 143">
            <a:extLst>
              <a:ext uri="{FF2B5EF4-FFF2-40B4-BE49-F238E27FC236}">
                <a16:creationId xmlns:a16="http://schemas.microsoft.com/office/drawing/2014/main" id="{B9AD73F5-FC6C-52DA-FE73-EA0726C1C248}"/>
              </a:ext>
            </a:extLst>
          </p:cNvPr>
          <p:cNvGrpSpPr>
            <a:grpSpLocks/>
          </p:cNvGrpSpPr>
          <p:nvPr/>
        </p:nvGrpSpPr>
        <p:grpSpPr bwMode="auto">
          <a:xfrm>
            <a:off x="6604001" y="4254500"/>
            <a:ext cx="1096963" cy="539750"/>
            <a:chOff x="2405" y="3202"/>
            <a:chExt cx="580" cy="556"/>
          </a:xfrm>
        </p:grpSpPr>
        <p:sp>
          <p:nvSpPr>
            <p:cNvPr id="42046" name="Rectangle 144">
              <a:extLst>
                <a:ext uri="{FF2B5EF4-FFF2-40B4-BE49-F238E27FC236}">
                  <a16:creationId xmlns:a16="http://schemas.microsoft.com/office/drawing/2014/main" id="{CBCFE5B2-A867-9FE1-387C-B564A585863D}"/>
                </a:ext>
              </a:extLst>
            </p:cNvPr>
            <p:cNvSpPr>
              <a:spLocks noChangeArrowheads="1"/>
            </p:cNvSpPr>
            <p:nvPr/>
          </p:nvSpPr>
          <p:spPr bwMode="auto">
            <a:xfrm>
              <a:off x="2448" y="3202"/>
              <a:ext cx="494"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66.85</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047" name="Rectangle 145">
              <a:extLst>
                <a:ext uri="{FF2B5EF4-FFF2-40B4-BE49-F238E27FC236}">
                  <a16:creationId xmlns:a16="http://schemas.microsoft.com/office/drawing/2014/main" id="{8836F237-D2D4-0D9A-8BD0-F1CF0579174D}"/>
                </a:ext>
              </a:extLst>
            </p:cNvPr>
            <p:cNvSpPr>
              <a:spLocks noChangeArrowheads="1"/>
            </p:cNvSpPr>
            <p:nvPr/>
          </p:nvSpPr>
          <p:spPr bwMode="auto">
            <a:xfrm>
              <a:off x="2405" y="3202"/>
              <a:ext cx="58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34" name="Group 146">
            <a:extLst>
              <a:ext uri="{FF2B5EF4-FFF2-40B4-BE49-F238E27FC236}">
                <a16:creationId xmlns:a16="http://schemas.microsoft.com/office/drawing/2014/main" id="{26C09B16-FC77-7268-FDE1-4CE0CCB3804A}"/>
              </a:ext>
            </a:extLst>
          </p:cNvPr>
          <p:cNvGrpSpPr>
            <a:grpSpLocks/>
          </p:cNvGrpSpPr>
          <p:nvPr/>
        </p:nvGrpSpPr>
        <p:grpSpPr bwMode="auto">
          <a:xfrm>
            <a:off x="7700964" y="4254500"/>
            <a:ext cx="1095375" cy="539750"/>
            <a:chOff x="2985" y="3202"/>
            <a:chExt cx="580" cy="556"/>
          </a:xfrm>
        </p:grpSpPr>
        <p:sp>
          <p:nvSpPr>
            <p:cNvPr id="42044" name="Rectangle 147">
              <a:extLst>
                <a:ext uri="{FF2B5EF4-FFF2-40B4-BE49-F238E27FC236}">
                  <a16:creationId xmlns:a16="http://schemas.microsoft.com/office/drawing/2014/main" id="{80D7B9E6-F44E-FD8E-747B-BC7CF27CEBF4}"/>
                </a:ext>
              </a:extLst>
            </p:cNvPr>
            <p:cNvSpPr>
              <a:spLocks noChangeArrowheads="1"/>
            </p:cNvSpPr>
            <p:nvPr/>
          </p:nvSpPr>
          <p:spPr bwMode="auto">
            <a:xfrm>
              <a:off x="3028" y="3202"/>
              <a:ext cx="494"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59.90</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045" name="Rectangle 148">
              <a:extLst>
                <a:ext uri="{FF2B5EF4-FFF2-40B4-BE49-F238E27FC236}">
                  <a16:creationId xmlns:a16="http://schemas.microsoft.com/office/drawing/2014/main" id="{8F1F764E-2D6C-A0ED-ACBE-38D0A073238C}"/>
                </a:ext>
              </a:extLst>
            </p:cNvPr>
            <p:cNvSpPr>
              <a:spLocks noChangeArrowheads="1"/>
            </p:cNvSpPr>
            <p:nvPr/>
          </p:nvSpPr>
          <p:spPr bwMode="auto">
            <a:xfrm>
              <a:off x="2985" y="3202"/>
              <a:ext cx="58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pSp>
        <p:nvGrpSpPr>
          <p:cNvPr id="42035" name="Group 149">
            <a:extLst>
              <a:ext uri="{FF2B5EF4-FFF2-40B4-BE49-F238E27FC236}">
                <a16:creationId xmlns:a16="http://schemas.microsoft.com/office/drawing/2014/main" id="{927CEAD5-C96B-9734-BCFA-2B7D13825CA4}"/>
              </a:ext>
            </a:extLst>
          </p:cNvPr>
          <p:cNvGrpSpPr>
            <a:grpSpLocks/>
          </p:cNvGrpSpPr>
          <p:nvPr/>
        </p:nvGrpSpPr>
        <p:grpSpPr bwMode="auto">
          <a:xfrm>
            <a:off x="8796338" y="4254500"/>
            <a:ext cx="1096962" cy="539750"/>
            <a:chOff x="3565" y="3202"/>
            <a:chExt cx="580" cy="556"/>
          </a:xfrm>
        </p:grpSpPr>
        <p:sp>
          <p:nvSpPr>
            <p:cNvPr id="42042" name="Rectangle 150">
              <a:extLst>
                <a:ext uri="{FF2B5EF4-FFF2-40B4-BE49-F238E27FC236}">
                  <a16:creationId xmlns:a16="http://schemas.microsoft.com/office/drawing/2014/main" id="{9CFDD725-6BA5-0B70-C87B-3AB468DA4899}"/>
                </a:ext>
              </a:extLst>
            </p:cNvPr>
            <p:cNvSpPr>
              <a:spLocks noChangeArrowheads="1"/>
            </p:cNvSpPr>
            <p:nvPr/>
          </p:nvSpPr>
          <p:spPr bwMode="auto">
            <a:xfrm>
              <a:off x="3608" y="3202"/>
              <a:ext cx="494"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a:solidFill>
                    <a:prstClr val="black"/>
                  </a:solidFill>
                  <a:cs typeface="Times New Roman" panose="02020603050405020304" pitchFamily="18" charset="0"/>
                </a:rPr>
                <a:t>224.65</a:t>
              </a:r>
            </a:p>
            <a:p>
              <a:pPr algn="r" eaLnBrk="0" fontAlgn="base" hangingPunct="0">
                <a:spcBef>
                  <a:spcPct val="0"/>
                </a:spcBef>
                <a:spcAft>
                  <a:spcPct val="0"/>
                </a:spcAft>
              </a:pPr>
              <a:endParaRPr lang="en-US" altLang="en-US">
                <a:solidFill>
                  <a:prstClr val="black"/>
                </a:solidFill>
                <a:cs typeface="Times New Roman" panose="02020603050405020304" pitchFamily="18" charset="0"/>
              </a:endParaRPr>
            </a:p>
          </p:txBody>
        </p:sp>
        <p:sp>
          <p:nvSpPr>
            <p:cNvPr id="42043" name="Rectangle 151">
              <a:extLst>
                <a:ext uri="{FF2B5EF4-FFF2-40B4-BE49-F238E27FC236}">
                  <a16:creationId xmlns:a16="http://schemas.microsoft.com/office/drawing/2014/main" id="{DF863232-DBDD-4DB1-7041-1187B1B7BEF9}"/>
                </a:ext>
              </a:extLst>
            </p:cNvPr>
            <p:cNvSpPr>
              <a:spLocks noChangeArrowheads="1"/>
            </p:cNvSpPr>
            <p:nvPr/>
          </p:nvSpPr>
          <p:spPr bwMode="auto">
            <a:xfrm>
              <a:off x="3565" y="3202"/>
              <a:ext cx="580"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type="none" w="sm" len="sm"/>
                  <a:tailEnd type="none" w="sm" len="sm"/>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graphicFrame>
        <p:nvGraphicFramePr>
          <p:cNvPr id="390297" name="Object 153">
            <a:extLst>
              <a:ext uri="{FF2B5EF4-FFF2-40B4-BE49-F238E27FC236}">
                <a16:creationId xmlns:a16="http://schemas.microsoft.com/office/drawing/2014/main" id="{B0B93A8B-463D-4974-C787-3DA17F1EC7D9}"/>
              </a:ext>
            </a:extLst>
          </p:cNvPr>
          <p:cNvGraphicFramePr>
            <a:graphicFrameLocks noChangeAspect="1"/>
          </p:cNvGraphicFramePr>
          <p:nvPr/>
        </p:nvGraphicFramePr>
        <p:xfrm>
          <a:off x="2667000" y="4953000"/>
          <a:ext cx="7145338" cy="1163638"/>
        </p:xfrm>
        <a:graphic>
          <a:graphicData uri="http://schemas.openxmlformats.org/presentationml/2006/ole">
            <mc:AlternateContent xmlns:mc="http://schemas.openxmlformats.org/markup-compatibility/2006">
              <mc:Choice xmlns:v="urn:schemas-microsoft-com:vml" Requires="v">
                <p:oleObj name="Equation" r:id="rId3" imgW="3829235" imgH="558947" progId="Equation.3">
                  <p:embed/>
                </p:oleObj>
              </mc:Choice>
              <mc:Fallback>
                <p:oleObj name="Equation" r:id="rId3" imgW="3829235" imgH="558947" progId="Equation.3">
                  <p:embed/>
                  <p:pic>
                    <p:nvPicPr>
                      <p:cNvPr id="390297" name="Object 153">
                        <a:extLst>
                          <a:ext uri="{FF2B5EF4-FFF2-40B4-BE49-F238E27FC236}">
                            <a16:creationId xmlns:a16="http://schemas.microsoft.com/office/drawing/2014/main" id="{B0B93A8B-463D-4974-C787-3DA17F1EC7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4953000"/>
                        <a:ext cx="7145338" cy="1163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037" name="Line 154">
            <a:extLst>
              <a:ext uri="{FF2B5EF4-FFF2-40B4-BE49-F238E27FC236}">
                <a16:creationId xmlns:a16="http://schemas.microsoft.com/office/drawing/2014/main" id="{E151B820-362A-9A5D-0ABE-7394CC161BC7}"/>
              </a:ext>
            </a:extLst>
          </p:cNvPr>
          <p:cNvSpPr>
            <a:spLocks noChangeShapeType="1"/>
          </p:cNvSpPr>
          <p:nvPr/>
        </p:nvSpPr>
        <p:spPr bwMode="auto">
          <a:xfrm>
            <a:off x="4800600" y="3200400"/>
            <a:ext cx="6858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42038" name="Line 155">
            <a:extLst>
              <a:ext uri="{FF2B5EF4-FFF2-40B4-BE49-F238E27FC236}">
                <a16:creationId xmlns:a16="http://schemas.microsoft.com/office/drawing/2014/main" id="{8F0DC534-69DB-C7AC-4D8A-7CCC0C855D34}"/>
              </a:ext>
            </a:extLst>
          </p:cNvPr>
          <p:cNvSpPr>
            <a:spLocks noChangeShapeType="1"/>
          </p:cNvSpPr>
          <p:nvPr/>
        </p:nvSpPr>
        <p:spPr bwMode="auto">
          <a:xfrm>
            <a:off x="5867400" y="3200400"/>
            <a:ext cx="6858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42039" name="Line 156">
            <a:extLst>
              <a:ext uri="{FF2B5EF4-FFF2-40B4-BE49-F238E27FC236}">
                <a16:creationId xmlns:a16="http://schemas.microsoft.com/office/drawing/2014/main" id="{4DD8057B-8E20-49A1-322F-F2572C453F78}"/>
              </a:ext>
            </a:extLst>
          </p:cNvPr>
          <p:cNvSpPr>
            <a:spLocks noChangeShapeType="1"/>
          </p:cNvSpPr>
          <p:nvPr/>
        </p:nvSpPr>
        <p:spPr bwMode="auto">
          <a:xfrm>
            <a:off x="6934200" y="3200400"/>
            <a:ext cx="6858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42040" name="Line 157">
            <a:extLst>
              <a:ext uri="{FF2B5EF4-FFF2-40B4-BE49-F238E27FC236}">
                <a16:creationId xmlns:a16="http://schemas.microsoft.com/office/drawing/2014/main" id="{B04E646E-2630-A78B-4D45-CC766CA3B87C}"/>
              </a:ext>
            </a:extLst>
          </p:cNvPr>
          <p:cNvSpPr>
            <a:spLocks noChangeShapeType="1"/>
          </p:cNvSpPr>
          <p:nvPr/>
        </p:nvSpPr>
        <p:spPr bwMode="auto">
          <a:xfrm>
            <a:off x="8077200" y="3200400"/>
            <a:ext cx="6858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42041" name="Line 158">
            <a:extLst>
              <a:ext uri="{FF2B5EF4-FFF2-40B4-BE49-F238E27FC236}">
                <a16:creationId xmlns:a16="http://schemas.microsoft.com/office/drawing/2014/main" id="{9ABAAD75-AF27-26D4-33DD-010200E476FD}"/>
              </a:ext>
            </a:extLst>
          </p:cNvPr>
          <p:cNvSpPr>
            <a:spLocks noChangeShapeType="1"/>
          </p:cNvSpPr>
          <p:nvPr/>
        </p:nvSpPr>
        <p:spPr bwMode="auto">
          <a:xfrm>
            <a:off x="9144000" y="3200400"/>
            <a:ext cx="6858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90297"/>
                                        </p:tgtEl>
                                        <p:attrNameLst>
                                          <p:attrName>style.visibility</p:attrName>
                                        </p:attrNameLst>
                                      </p:cBhvr>
                                      <p:to>
                                        <p:strVal val="visible"/>
                                      </p:to>
                                    </p:set>
                                    <p:anim calcmode="lin" valueType="num">
                                      <p:cBhvr additive="base">
                                        <p:cTn id="7" dur="500" fill="hold"/>
                                        <p:tgtEl>
                                          <p:spTgt spid="390297"/>
                                        </p:tgtEl>
                                        <p:attrNameLst>
                                          <p:attrName>ppt_x</p:attrName>
                                        </p:attrNameLst>
                                      </p:cBhvr>
                                      <p:tavLst>
                                        <p:tav tm="0">
                                          <p:val>
                                            <p:strVal val="#ppt_x"/>
                                          </p:val>
                                        </p:tav>
                                        <p:tav tm="100000">
                                          <p:val>
                                            <p:strVal val="#ppt_x"/>
                                          </p:val>
                                        </p:tav>
                                      </p:tavLst>
                                    </p:anim>
                                    <p:anim calcmode="lin" valueType="num">
                                      <p:cBhvr additive="base">
                                        <p:cTn id="8" dur="500" fill="hold"/>
                                        <p:tgtEl>
                                          <p:spTgt spid="39029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CCD51F78-5ABD-0F22-3C03-59B8E619C086}"/>
              </a:ext>
            </a:extLst>
          </p:cNvPr>
          <p:cNvSpPr>
            <a:spLocks noGrp="1"/>
          </p:cNvSpPr>
          <p:nvPr>
            <p:ph type="subTitle" idx="1"/>
          </p:nvPr>
        </p:nvSpPr>
        <p:spPr>
          <a:xfrm>
            <a:off x="2514600" y="2133600"/>
            <a:ext cx="6781800" cy="990600"/>
          </a:xfrm>
        </p:spPr>
        <p:txBody>
          <a:bodyPr/>
          <a:lstStyle/>
          <a:p>
            <a:pPr marR="0" algn="ctr" eaLnBrk="1" hangingPunct="1"/>
            <a:r>
              <a:rPr lang="en-US" altLang="en-US" dirty="0">
                <a:ea typeface="ＭＳ Ｐゴシック" panose="020B0600070205080204" pitchFamily="34" charset="-128"/>
              </a:rPr>
              <a:t>Chapter 7: Risk Analysis, Real Options, and Capital Budgeting</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3" name="Rectangle 3">
            <a:extLst>
              <a:ext uri="{FF2B5EF4-FFF2-40B4-BE49-F238E27FC236}">
                <a16:creationId xmlns:a16="http://schemas.microsoft.com/office/drawing/2014/main" id="{886E2F33-08ED-23D7-1FF5-7F9D13C664C9}"/>
              </a:ext>
            </a:extLst>
          </p:cNvPr>
          <p:cNvSpPr>
            <a:spLocks noGrp="1"/>
          </p:cNvSpPr>
          <p:nvPr>
            <p:ph idx="1"/>
          </p:nvPr>
        </p:nvSpPr>
        <p:spPr>
          <a:xfrm>
            <a:off x="1981200" y="1481138"/>
            <a:ext cx="8229600" cy="3548062"/>
          </a:xfrm>
        </p:spPr>
        <p:txBody>
          <a:bodyPr/>
          <a:lstStyle/>
          <a:p>
            <a:pPr marL="342900" indent="-342900" eaLnBrk="1" hangingPunct="1">
              <a:lnSpc>
                <a:spcPct val="90000"/>
              </a:lnSpc>
            </a:pPr>
            <a:r>
              <a:rPr lang="en-US" altLang="en-US" sz="2800">
                <a:latin typeface="Times New Roman" panose="02020603050405020304" pitchFamily="18" charset="0"/>
                <a:ea typeface="ＭＳ Ｐゴシック" panose="020B0600070205080204" pitchFamily="34" charset="-128"/>
              </a:rPr>
              <a:t>Understand and be able to apply scenario and sensitivity analysis</a:t>
            </a:r>
          </a:p>
          <a:p>
            <a:pPr marL="342900" indent="-342900" eaLnBrk="1" hangingPunct="1">
              <a:lnSpc>
                <a:spcPct val="90000"/>
              </a:lnSpc>
            </a:pPr>
            <a:r>
              <a:rPr lang="en-US" altLang="en-US" sz="2800">
                <a:latin typeface="Times New Roman" panose="02020603050405020304" pitchFamily="18" charset="0"/>
                <a:ea typeface="ＭＳ Ｐゴシック" panose="020B0600070205080204" pitchFamily="34" charset="-128"/>
              </a:rPr>
              <a:t>Understand the various forms of break-even analysis</a:t>
            </a:r>
          </a:p>
          <a:p>
            <a:pPr marL="342900" indent="-342900" eaLnBrk="1" hangingPunct="1">
              <a:lnSpc>
                <a:spcPct val="90000"/>
              </a:lnSpc>
            </a:pPr>
            <a:r>
              <a:rPr lang="en-US" altLang="en-US" sz="2800">
                <a:latin typeface="Times New Roman" panose="02020603050405020304" pitchFamily="18" charset="0"/>
                <a:ea typeface="ＭＳ Ｐゴシック" panose="020B0600070205080204" pitchFamily="34" charset="-128"/>
              </a:rPr>
              <a:t>Understand the importance of real options in capital budgeting</a:t>
            </a:r>
          </a:p>
          <a:p>
            <a:pPr marL="342900" indent="-342900" eaLnBrk="1" hangingPunct="1">
              <a:lnSpc>
                <a:spcPct val="90000"/>
              </a:lnSpc>
            </a:pPr>
            <a:r>
              <a:rPr lang="en-US" altLang="en-US" sz="2800">
                <a:latin typeface="Times New Roman" panose="02020603050405020304" pitchFamily="18" charset="0"/>
                <a:ea typeface="ＭＳ Ｐゴシック" panose="020B0600070205080204" pitchFamily="34" charset="-128"/>
              </a:rPr>
              <a:t>Understand decision trees</a:t>
            </a:r>
          </a:p>
        </p:txBody>
      </p:sp>
      <p:sp>
        <p:nvSpPr>
          <p:cNvPr id="7170" name="Rectangle 2">
            <a:extLst>
              <a:ext uri="{FF2B5EF4-FFF2-40B4-BE49-F238E27FC236}">
                <a16:creationId xmlns:a16="http://schemas.microsoft.com/office/drawing/2014/main" id="{CBDBC10D-0655-97EA-A948-10917011C55F}"/>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Key Concepts and Skills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501763">
                                            <p:txEl>
                                              <p:pRg st="0" end="0"/>
                                            </p:txEl>
                                          </p:spTgt>
                                        </p:tgtEl>
                                        <p:attrNameLst>
                                          <p:attrName>style.visibility</p:attrName>
                                        </p:attrNameLst>
                                      </p:cBhvr>
                                      <p:to>
                                        <p:strVal val="visible"/>
                                      </p:to>
                                    </p:set>
                                    <p:animEffect transition="in" filter="fade">
                                      <p:cBhvr>
                                        <p:cTn id="7" dur="1000"/>
                                        <p:tgtEl>
                                          <p:spTgt spid="501763">
                                            <p:txEl>
                                              <p:pRg st="0" end="0"/>
                                            </p:txEl>
                                          </p:spTgt>
                                        </p:tgtEl>
                                      </p:cBhvr>
                                    </p:animEffect>
                                    <p:anim calcmode="lin" valueType="num">
                                      <p:cBhvr>
                                        <p:cTn id="8" dur="1000" fill="hold"/>
                                        <p:tgtEl>
                                          <p:spTgt spid="50176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0176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501763">
                                            <p:txEl>
                                              <p:pRg st="1" end="1"/>
                                            </p:txEl>
                                          </p:spTgt>
                                        </p:tgtEl>
                                        <p:attrNameLst>
                                          <p:attrName>style.visibility</p:attrName>
                                        </p:attrNameLst>
                                      </p:cBhvr>
                                      <p:to>
                                        <p:strVal val="visible"/>
                                      </p:to>
                                    </p:set>
                                    <p:animEffect transition="in" filter="fade">
                                      <p:cBhvr>
                                        <p:cTn id="14" dur="1000"/>
                                        <p:tgtEl>
                                          <p:spTgt spid="501763">
                                            <p:txEl>
                                              <p:pRg st="1" end="1"/>
                                            </p:txEl>
                                          </p:spTgt>
                                        </p:tgtEl>
                                      </p:cBhvr>
                                    </p:animEffect>
                                    <p:anim calcmode="lin" valueType="num">
                                      <p:cBhvr>
                                        <p:cTn id="15" dur="1000" fill="hold"/>
                                        <p:tgtEl>
                                          <p:spTgt spid="50176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50176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501763">
                                            <p:txEl>
                                              <p:pRg st="2" end="2"/>
                                            </p:txEl>
                                          </p:spTgt>
                                        </p:tgtEl>
                                        <p:attrNameLst>
                                          <p:attrName>style.visibility</p:attrName>
                                        </p:attrNameLst>
                                      </p:cBhvr>
                                      <p:to>
                                        <p:strVal val="visible"/>
                                      </p:to>
                                    </p:set>
                                    <p:animEffect transition="in" filter="fade">
                                      <p:cBhvr>
                                        <p:cTn id="21" dur="1000"/>
                                        <p:tgtEl>
                                          <p:spTgt spid="501763">
                                            <p:txEl>
                                              <p:pRg st="2" end="2"/>
                                            </p:txEl>
                                          </p:spTgt>
                                        </p:tgtEl>
                                      </p:cBhvr>
                                    </p:animEffect>
                                    <p:anim calcmode="lin" valueType="num">
                                      <p:cBhvr>
                                        <p:cTn id="22" dur="1000" fill="hold"/>
                                        <p:tgtEl>
                                          <p:spTgt spid="50176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50176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501763">
                                            <p:txEl>
                                              <p:pRg st="3" end="3"/>
                                            </p:txEl>
                                          </p:spTgt>
                                        </p:tgtEl>
                                        <p:attrNameLst>
                                          <p:attrName>style.visibility</p:attrName>
                                        </p:attrNameLst>
                                      </p:cBhvr>
                                      <p:to>
                                        <p:strVal val="visible"/>
                                      </p:to>
                                    </p:set>
                                    <p:animEffect transition="in" filter="fade">
                                      <p:cBhvr>
                                        <p:cTn id="28" dur="1000"/>
                                        <p:tgtEl>
                                          <p:spTgt spid="501763">
                                            <p:txEl>
                                              <p:pRg st="3" end="3"/>
                                            </p:txEl>
                                          </p:spTgt>
                                        </p:tgtEl>
                                      </p:cBhvr>
                                    </p:animEffect>
                                    <p:anim calcmode="lin" valueType="num">
                                      <p:cBhvr>
                                        <p:cTn id="29" dur="1000" fill="hold"/>
                                        <p:tgtEl>
                                          <p:spTgt spid="50176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50176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1171" name="Rectangle 3">
            <a:extLst>
              <a:ext uri="{FF2B5EF4-FFF2-40B4-BE49-F238E27FC236}">
                <a16:creationId xmlns:a16="http://schemas.microsoft.com/office/drawing/2014/main" id="{DC56A06C-E7AA-DB69-7958-249BFB9CD386}"/>
              </a:ext>
            </a:extLst>
          </p:cNvPr>
          <p:cNvSpPr>
            <a:spLocks noGrp="1"/>
          </p:cNvSpPr>
          <p:nvPr>
            <p:ph idx="1"/>
          </p:nvPr>
        </p:nvSpPr>
        <p:spPr>
          <a:xfrm>
            <a:off x="1981200" y="1676400"/>
            <a:ext cx="8229600" cy="4343400"/>
          </a:xfrm>
        </p:spPr>
        <p:txBody>
          <a:bodyPr/>
          <a:lstStyle/>
          <a:p>
            <a:pPr eaLnBrk="1" hangingPunct="1">
              <a:lnSpc>
                <a:spcPct val="90000"/>
              </a:lnSpc>
            </a:pPr>
            <a:r>
              <a:rPr lang="en-US" altLang="en-US" sz="2800">
                <a:latin typeface="Times New Roman" panose="02020603050405020304" pitchFamily="18" charset="0"/>
                <a:ea typeface="ＭＳ Ｐゴシック" panose="020B0600070205080204" pitchFamily="34" charset="-128"/>
              </a:rPr>
              <a:t>Each allows us to look behind the NPV number to see how stable our estimates are.</a:t>
            </a:r>
          </a:p>
          <a:p>
            <a:pPr eaLnBrk="1" hangingPunct="1">
              <a:lnSpc>
                <a:spcPct val="90000"/>
              </a:lnSpc>
            </a:pPr>
            <a:r>
              <a:rPr lang="en-US" altLang="en-US" sz="2800">
                <a:latin typeface="Times New Roman" panose="02020603050405020304" pitchFamily="18" charset="0"/>
                <a:ea typeface="ＭＳ Ｐゴシック" panose="020B0600070205080204" pitchFamily="34" charset="-128"/>
              </a:rPr>
              <a:t>When working with spreadsheets, try to build your model so that you can adjust variables in a single cell and have the NPV calculations update accordingly.</a:t>
            </a:r>
          </a:p>
        </p:txBody>
      </p:sp>
      <p:sp>
        <p:nvSpPr>
          <p:cNvPr id="11266" name="Rectangle 2">
            <a:extLst>
              <a:ext uri="{FF2B5EF4-FFF2-40B4-BE49-F238E27FC236}">
                <a16:creationId xmlns:a16="http://schemas.microsoft.com/office/drawing/2014/main" id="{14F4ED06-2EEC-7050-8E1B-EAB97B61BA64}"/>
              </a:ext>
            </a:extLst>
          </p:cNvPr>
          <p:cNvSpPr>
            <a:spLocks noGrp="1" noChangeArrowheads="1"/>
          </p:cNvSpPr>
          <p:nvPr>
            <p:ph type="title"/>
          </p:nvPr>
        </p:nvSpPr>
        <p:spPr>
          <a:xfrm>
            <a:off x="1752600" y="533400"/>
            <a:ext cx="8915400" cy="1143000"/>
          </a:xfrm>
        </p:spPr>
        <p:txBody>
          <a:bodyPr/>
          <a:lstStyle/>
          <a:p>
            <a:pPr algn="just" eaLnBrk="1" fontAlgn="auto" hangingPunct="1">
              <a:spcAft>
                <a:spcPts val="600"/>
              </a:spcAft>
              <a:defRPr/>
            </a:pPr>
            <a:r>
              <a:rPr lang="en-US" altLang="en-US" sz="3400" dirty="0">
                <a:ea typeface="+mj-ea"/>
                <a:cs typeface="+mj-cs"/>
              </a:rPr>
              <a:t>Sensitivity, Scenario, and Break-Even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91171">
                                            <p:txEl>
                                              <p:pRg st="0" end="0"/>
                                            </p:txEl>
                                          </p:spTgt>
                                        </p:tgtEl>
                                        <p:attrNameLst>
                                          <p:attrName>style.visibility</p:attrName>
                                        </p:attrNameLst>
                                      </p:cBhvr>
                                      <p:to>
                                        <p:strVal val="visible"/>
                                      </p:to>
                                    </p:set>
                                    <p:animEffect transition="in" filter="fade">
                                      <p:cBhvr>
                                        <p:cTn id="7" dur="1000"/>
                                        <p:tgtEl>
                                          <p:spTgt spid="391171">
                                            <p:txEl>
                                              <p:pRg st="0" end="0"/>
                                            </p:txEl>
                                          </p:spTgt>
                                        </p:tgtEl>
                                      </p:cBhvr>
                                    </p:animEffect>
                                    <p:anim calcmode="lin" valueType="num">
                                      <p:cBhvr>
                                        <p:cTn id="8" dur="1000" fill="hold"/>
                                        <p:tgtEl>
                                          <p:spTgt spid="39117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9117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91171">
                                            <p:txEl>
                                              <p:pRg st="1" end="1"/>
                                            </p:txEl>
                                          </p:spTgt>
                                        </p:tgtEl>
                                        <p:attrNameLst>
                                          <p:attrName>style.visibility</p:attrName>
                                        </p:attrNameLst>
                                      </p:cBhvr>
                                      <p:to>
                                        <p:strVal val="visible"/>
                                      </p:to>
                                    </p:set>
                                    <p:animEffect transition="in" filter="fade">
                                      <p:cBhvr>
                                        <p:cTn id="14" dur="1000"/>
                                        <p:tgtEl>
                                          <p:spTgt spid="391171">
                                            <p:txEl>
                                              <p:pRg st="1" end="1"/>
                                            </p:txEl>
                                          </p:spTgt>
                                        </p:tgtEl>
                                      </p:cBhvr>
                                    </p:animEffect>
                                    <p:anim calcmode="lin" valueType="num">
                                      <p:cBhvr>
                                        <p:cTn id="15" dur="1000" fill="hold"/>
                                        <p:tgtEl>
                                          <p:spTgt spid="391171">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91171">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1171" grpId="0" build="p"/>
    </p:bldLst>
  </p:timing>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7075" name="Rectangle 3">
            <a:extLst>
              <a:ext uri="{FF2B5EF4-FFF2-40B4-BE49-F238E27FC236}">
                <a16:creationId xmlns:a16="http://schemas.microsoft.com/office/drawing/2014/main" id="{C80D7455-50AE-0DED-77A1-52F51FD37E37}"/>
              </a:ext>
            </a:extLst>
          </p:cNvPr>
          <p:cNvSpPr>
            <a:spLocks noGrp="1"/>
          </p:cNvSpPr>
          <p:nvPr>
            <p:ph idx="1"/>
          </p:nvPr>
        </p:nvSpPr>
        <p:spPr/>
        <p:txBody>
          <a:bodyPr/>
          <a:lstStyle/>
          <a:p>
            <a:pPr eaLnBrk="1" hangingPunct="1">
              <a:lnSpc>
                <a:spcPct val="90000"/>
              </a:lnSpc>
            </a:pPr>
            <a:r>
              <a:rPr lang="en-US" altLang="en-US" sz="2400">
                <a:latin typeface="Times New Roman" panose="02020603050405020304" pitchFamily="18" charset="0"/>
                <a:ea typeface="ＭＳ Ｐゴシック" panose="020B0600070205080204" pitchFamily="34" charset="-128"/>
              </a:rPr>
              <a:t>Stewart Pharmaceuticals Corporation is considering investing in the development of a drug that cures the common cold.</a:t>
            </a:r>
          </a:p>
          <a:p>
            <a:pPr eaLnBrk="1" hangingPunct="1">
              <a:lnSpc>
                <a:spcPct val="90000"/>
              </a:lnSpc>
            </a:pPr>
            <a:r>
              <a:rPr lang="en-US" altLang="en-US" sz="2400">
                <a:latin typeface="Times New Roman" panose="02020603050405020304" pitchFamily="18" charset="0"/>
                <a:ea typeface="ＭＳ Ｐゴシック" panose="020B0600070205080204" pitchFamily="34" charset="-128"/>
              </a:rPr>
              <a:t>A corporate planning group, including representatives from production, marketing, and engineering, has recommended that the firm go ahead with the test and development phase.</a:t>
            </a:r>
          </a:p>
          <a:p>
            <a:pPr eaLnBrk="1" hangingPunct="1">
              <a:lnSpc>
                <a:spcPct val="90000"/>
              </a:lnSpc>
            </a:pPr>
            <a:r>
              <a:rPr lang="en-US" altLang="en-US" sz="2400">
                <a:latin typeface="Times New Roman" panose="02020603050405020304" pitchFamily="18" charset="0"/>
                <a:ea typeface="ＭＳ Ｐゴシック" panose="020B0600070205080204" pitchFamily="34" charset="-128"/>
              </a:rPr>
              <a:t>This preliminary phase will last one year and cost $1 billion. Furthermore, the group believes that there is a 60% chance that tests will prove successful.</a:t>
            </a:r>
          </a:p>
          <a:p>
            <a:pPr eaLnBrk="1" hangingPunct="1">
              <a:lnSpc>
                <a:spcPct val="90000"/>
              </a:lnSpc>
            </a:pPr>
            <a:r>
              <a:rPr lang="en-US" altLang="en-US" sz="2400">
                <a:latin typeface="Times New Roman" panose="02020603050405020304" pitchFamily="18" charset="0"/>
                <a:ea typeface="ＭＳ Ｐゴシック" panose="020B0600070205080204" pitchFamily="34" charset="-128"/>
              </a:rPr>
              <a:t>If the initial tests are </a:t>
            </a:r>
            <a:r>
              <a:rPr lang="en-US" altLang="en-US" sz="2400" i="1">
                <a:latin typeface="Times New Roman" panose="02020603050405020304" pitchFamily="18" charset="0"/>
                <a:ea typeface="ＭＳ Ｐゴシック" panose="020B0600070205080204" pitchFamily="34" charset="-128"/>
              </a:rPr>
              <a:t>successful</a:t>
            </a:r>
            <a:r>
              <a:rPr lang="en-US" altLang="en-US" sz="2400">
                <a:latin typeface="Times New Roman" panose="02020603050405020304" pitchFamily="18" charset="0"/>
                <a:ea typeface="ＭＳ Ｐゴシック" panose="020B0600070205080204" pitchFamily="34" charset="-128"/>
              </a:rPr>
              <a:t>, Stewart Pharmaceuticals can go ahead with full-scale production. This investment phase will cost $1.6 billion. Production will occur over the following 4 years.</a:t>
            </a:r>
          </a:p>
        </p:txBody>
      </p:sp>
      <p:sp>
        <p:nvSpPr>
          <p:cNvPr id="13314" name="Rectangle 2">
            <a:extLst>
              <a:ext uri="{FF2B5EF4-FFF2-40B4-BE49-F238E27FC236}">
                <a16:creationId xmlns:a16="http://schemas.microsoft.com/office/drawing/2014/main" id="{725D1424-9BB8-5F1A-3CA6-963EF066FA88}"/>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Example: Stewart Pharmaceuticals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87075">
                                            <p:txEl>
                                              <p:pRg st="0" end="0"/>
                                            </p:txEl>
                                          </p:spTgt>
                                        </p:tgtEl>
                                        <p:attrNameLst>
                                          <p:attrName>style.visibility</p:attrName>
                                        </p:attrNameLst>
                                      </p:cBhvr>
                                      <p:to>
                                        <p:strVal val="visible"/>
                                      </p:to>
                                    </p:set>
                                    <p:animEffect transition="in" filter="fade">
                                      <p:cBhvr>
                                        <p:cTn id="7" dur="1000"/>
                                        <p:tgtEl>
                                          <p:spTgt spid="387075">
                                            <p:txEl>
                                              <p:pRg st="0" end="0"/>
                                            </p:txEl>
                                          </p:spTgt>
                                        </p:tgtEl>
                                      </p:cBhvr>
                                    </p:animEffect>
                                    <p:anim calcmode="lin" valueType="num">
                                      <p:cBhvr>
                                        <p:cTn id="8" dur="1000" fill="hold"/>
                                        <p:tgtEl>
                                          <p:spTgt spid="38707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8707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87075">
                                            <p:txEl>
                                              <p:pRg st="1" end="1"/>
                                            </p:txEl>
                                          </p:spTgt>
                                        </p:tgtEl>
                                        <p:attrNameLst>
                                          <p:attrName>style.visibility</p:attrName>
                                        </p:attrNameLst>
                                      </p:cBhvr>
                                      <p:to>
                                        <p:strVal val="visible"/>
                                      </p:to>
                                    </p:set>
                                    <p:animEffect transition="in" filter="fade">
                                      <p:cBhvr>
                                        <p:cTn id="14" dur="1000"/>
                                        <p:tgtEl>
                                          <p:spTgt spid="387075">
                                            <p:txEl>
                                              <p:pRg st="1" end="1"/>
                                            </p:txEl>
                                          </p:spTgt>
                                        </p:tgtEl>
                                      </p:cBhvr>
                                    </p:animEffect>
                                    <p:anim calcmode="lin" valueType="num">
                                      <p:cBhvr>
                                        <p:cTn id="15" dur="1000" fill="hold"/>
                                        <p:tgtEl>
                                          <p:spTgt spid="38707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8707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87075">
                                            <p:txEl>
                                              <p:pRg st="2" end="2"/>
                                            </p:txEl>
                                          </p:spTgt>
                                        </p:tgtEl>
                                        <p:attrNameLst>
                                          <p:attrName>style.visibility</p:attrName>
                                        </p:attrNameLst>
                                      </p:cBhvr>
                                      <p:to>
                                        <p:strVal val="visible"/>
                                      </p:to>
                                    </p:set>
                                    <p:animEffect transition="in" filter="fade">
                                      <p:cBhvr>
                                        <p:cTn id="21" dur="1000"/>
                                        <p:tgtEl>
                                          <p:spTgt spid="387075">
                                            <p:txEl>
                                              <p:pRg st="2" end="2"/>
                                            </p:txEl>
                                          </p:spTgt>
                                        </p:tgtEl>
                                      </p:cBhvr>
                                    </p:animEffect>
                                    <p:anim calcmode="lin" valueType="num">
                                      <p:cBhvr>
                                        <p:cTn id="22" dur="1000" fill="hold"/>
                                        <p:tgtEl>
                                          <p:spTgt spid="38707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8707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87075">
                                            <p:txEl>
                                              <p:pRg st="3" end="3"/>
                                            </p:txEl>
                                          </p:spTgt>
                                        </p:tgtEl>
                                        <p:attrNameLst>
                                          <p:attrName>style.visibility</p:attrName>
                                        </p:attrNameLst>
                                      </p:cBhvr>
                                      <p:to>
                                        <p:strVal val="visible"/>
                                      </p:to>
                                    </p:set>
                                    <p:animEffect transition="in" filter="fade">
                                      <p:cBhvr>
                                        <p:cTn id="28" dur="1000"/>
                                        <p:tgtEl>
                                          <p:spTgt spid="387075">
                                            <p:txEl>
                                              <p:pRg st="3" end="3"/>
                                            </p:txEl>
                                          </p:spTgt>
                                        </p:tgtEl>
                                      </p:cBhvr>
                                    </p:animEffect>
                                    <p:anim calcmode="lin" valueType="num">
                                      <p:cBhvr>
                                        <p:cTn id="29" dur="1000" fill="hold"/>
                                        <p:tgtEl>
                                          <p:spTgt spid="387075">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8707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7075" grpId="0" build="p"/>
    </p:bldLst>
  </p:timing>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8099" name="Rectangle 3">
            <a:extLst>
              <a:ext uri="{FF2B5EF4-FFF2-40B4-BE49-F238E27FC236}">
                <a16:creationId xmlns:a16="http://schemas.microsoft.com/office/drawing/2014/main" id="{520AE0A2-19FA-D45C-26F7-410C6D5411A1}"/>
              </a:ext>
            </a:extLst>
          </p:cNvPr>
          <p:cNvSpPr>
            <a:spLocks noGrp="1"/>
          </p:cNvSpPr>
          <p:nvPr>
            <p:ph idx="1"/>
          </p:nvPr>
        </p:nvSpPr>
        <p:spPr>
          <a:xfrm>
            <a:off x="7739063" y="1371600"/>
            <a:ext cx="2895600" cy="1828800"/>
          </a:xfrm>
        </p:spPr>
        <p:txBody>
          <a:bodyPr/>
          <a:lstStyle/>
          <a:p>
            <a:pPr marL="0" indent="0" eaLnBrk="1" hangingPunct="1">
              <a:lnSpc>
                <a:spcPct val="80000"/>
              </a:lnSpc>
              <a:buNone/>
            </a:pPr>
            <a:r>
              <a:rPr lang="en-US" altLang="en-US" sz="1600">
                <a:ea typeface="ＭＳ Ｐゴシック" panose="020B0600070205080204" pitchFamily="34" charset="-128"/>
              </a:rPr>
              <a:t>Note that the </a:t>
            </a:r>
            <a:r>
              <a:rPr lang="en-US" altLang="en-US" sz="1600" i="1">
                <a:ea typeface="ＭＳ Ｐゴシック" panose="020B0600070205080204" pitchFamily="34" charset="-128"/>
              </a:rPr>
              <a:t>NPV</a:t>
            </a:r>
            <a:r>
              <a:rPr lang="en-US" altLang="en-US" sz="1600">
                <a:ea typeface="ＭＳ Ｐゴシック" panose="020B0600070205080204" pitchFamily="34" charset="-128"/>
              </a:rPr>
              <a:t> is calculated as of date 1, the date at which the investment of $1,600 million is made. Later we bring this number back to date 0. Assume a cost of capital of 10%.</a:t>
            </a:r>
          </a:p>
        </p:txBody>
      </p:sp>
      <p:sp>
        <p:nvSpPr>
          <p:cNvPr id="15362" name="Rectangle 2">
            <a:extLst>
              <a:ext uri="{FF2B5EF4-FFF2-40B4-BE49-F238E27FC236}">
                <a16:creationId xmlns:a16="http://schemas.microsoft.com/office/drawing/2014/main" id="{D072C1E3-F926-6074-EA93-619D3BEF84C9}"/>
              </a:ext>
            </a:extLst>
          </p:cNvPr>
          <p:cNvSpPr>
            <a:spLocks noGrp="1" noChangeArrowheads="1"/>
          </p:cNvSpPr>
          <p:nvPr>
            <p:ph type="title"/>
          </p:nvPr>
        </p:nvSpPr>
        <p:spPr>
          <a:xfrm>
            <a:off x="1981200" y="274638"/>
            <a:ext cx="8229600" cy="868362"/>
          </a:xfrm>
        </p:spPr>
        <p:txBody>
          <a:bodyPr/>
          <a:lstStyle/>
          <a:p>
            <a:pPr eaLnBrk="1" fontAlgn="auto" hangingPunct="1">
              <a:spcAft>
                <a:spcPts val="0"/>
              </a:spcAft>
              <a:defRPr/>
            </a:pPr>
            <a:r>
              <a:rPr lang="en-US" altLang="en-US" sz="3400" dirty="0">
                <a:ea typeface="+mj-ea"/>
                <a:cs typeface="+mj-cs"/>
              </a:rPr>
              <a:t>NPV Following Successful Test</a:t>
            </a:r>
          </a:p>
        </p:txBody>
      </p:sp>
      <p:graphicFrame>
        <p:nvGraphicFramePr>
          <p:cNvPr id="388153" name="Group 57">
            <a:extLst>
              <a:ext uri="{FF2B5EF4-FFF2-40B4-BE49-F238E27FC236}">
                <a16:creationId xmlns:a16="http://schemas.microsoft.com/office/drawing/2014/main" id="{E84D4150-1E7A-6C19-61B5-472D36C7EA90}"/>
              </a:ext>
            </a:extLst>
          </p:cNvPr>
          <p:cNvGraphicFramePr>
            <a:graphicFrameLocks noGrp="1"/>
          </p:cNvGraphicFramePr>
          <p:nvPr/>
        </p:nvGraphicFramePr>
        <p:xfrm>
          <a:off x="1719263" y="1295400"/>
          <a:ext cx="5791200" cy="4708548"/>
        </p:xfrm>
        <a:graphic>
          <a:graphicData uri="http://schemas.openxmlformats.org/drawingml/2006/table">
            <a:tbl>
              <a:tblPr/>
              <a:tblGrid>
                <a:gridCol w="2352675">
                  <a:extLst>
                    <a:ext uri="{9D8B030D-6E8A-4147-A177-3AD203B41FA5}">
                      <a16:colId xmlns:a16="http://schemas.microsoft.com/office/drawing/2014/main" val="20000"/>
                    </a:ext>
                  </a:extLst>
                </a:gridCol>
                <a:gridCol w="1443038">
                  <a:extLst>
                    <a:ext uri="{9D8B030D-6E8A-4147-A177-3AD203B41FA5}">
                      <a16:colId xmlns:a16="http://schemas.microsoft.com/office/drawing/2014/main" val="20001"/>
                    </a:ext>
                  </a:extLst>
                </a:gridCol>
                <a:gridCol w="1995487">
                  <a:extLst>
                    <a:ext uri="{9D8B030D-6E8A-4147-A177-3AD203B41FA5}">
                      <a16:colId xmlns:a16="http://schemas.microsoft.com/office/drawing/2014/main" val="20002"/>
                    </a:ext>
                  </a:extLst>
                </a:gridCol>
              </a:tblGrid>
              <a:tr h="518137">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Investment</a:t>
                      </a:r>
                    </a:p>
                  </a:txBody>
                  <a:tcPr marT="45710" marB="4571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Year 1</a:t>
                      </a:r>
                    </a:p>
                  </a:txBody>
                  <a:tcPr marT="45710" marB="4571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Years 2-5</a:t>
                      </a:r>
                    </a:p>
                  </a:txBody>
                  <a:tcPr marT="45710" marB="4571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518137">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Revenues</a:t>
                      </a:r>
                    </a:p>
                  </a:txBody>
                  <a:tcPr marT="45710" marB="4571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sz="2800" b="0" i="0" u="none" strike="noStrike" cap="none" normalizeH="0" baseline="0">
                        <a:ln>
                          <a:noFill/>
                        </a:ln>
                        <a:solidFill>
                          <a:schemeClr val="tx1"/>
                        </a:solidFill>
                        <a:effectLst/>
                        <a:latin typeface="Times New Roman" pitchFamily="18" charset="0"/>
                      </a:endParaRPr>
                    </a:p>
                  </a:txBody>
                  <a:tcPr marT="45710" marB="4571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$7,000</a:t>
                      </a:r>
                    </a:p>
                  </a:txBody>
                  <a:tcPr marT="45710" marB="4571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518137">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Variable Costs</a:t>
                      </a:r>
                    </a:p>
                  </a:txBody>
                  <a:tcPr marT="45710" marB="4571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sz="2800" b="0" i="0" u="none" strike="noStrike" cap="none" normalizeH="0" baseline="0">
                        <a:ln>
                          <a:noFill/>
                        </a:ln>
                        <a:solidFill>
                          <a:schemeClr val="tx1"/>
                        </a:solidFill>
                        <a:effectLst/>
                        <a:latin typeface="Times New Roman" pitchFamily="18" charset="0"/>
                      </a:endParaRPr>
                    </a:p>
                  </a:txBody>
                  <a:tcPr marT="45710" marB="4571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(3,000)</a:t>
                      </a:r>
                    </a:p>
                  </a:txBody>
                  <a:tcPr marT="45710" marB="4571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518137">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Fixed Costs</a:t>
                      </a:r>
                    </a:p>
                  </a:txBody>
                  <a:tcPr marT="45710" marB="4571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sz="2800" b="0" i="0" u="none" strike="noStrike" cap="none" normalizeH="0" baseline="0">
                        <a:ln>
                          <a:noFill/>
                        </a:ln>
                        <a:solidFill>
                          <a:schemeClr val="tx1"/>
                        </a:solidFill>
                        <a:effectLst/>
                        <a:latin typeface="Times New Roman" pitchFamily="18" charset="0"/>
                      </a:endParaRPr>
                    </a:p>
                  </a:txBody>
                  <a:tcPr marT="45710" marB="4571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(1,800)</a:t>
                      </a:r>
                    </a:p>
                  </a:txBody>
                  <a:tcPr marT="45710" marB="4571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518137">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Depreciation</a:t>
                      </a:r>
                    </a:p>
                  </a:txBody>
                  <a:tcPr marT="45710" marB="4571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sz="2800" b="0" i="0" u="none" strike="noStrike" cap="none" normalizeH="0" baseline="0">
                        <a:ln>
                          <a:noFill/>
                        </a:ln>
                        <a:solidFill>
                          <a:schemeClr val="tx1"/>
                        </a:solidFill>
                        <a:effectLst/>
                        <a:latin typeface="Times New Roman" pitchFamily="18" charset="0"/>
                      </a:endParaRPr>
                    </a:p>
                  </a:txBody>
                  <a:tcPr marT="45710" marB="4571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(400)</a:t>
                      </a:r>
                    </a:p>
                  </a:txBody>
                  <a:tcPr marT="45710" marB="4571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518137">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Pretax profit</a:t>
                      </a:r>
                    </a:p>
                  </a:txBody>
                  <a:tcPr marT="45710" marB="4571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sz="2800" b="0" i="0" u="none" strike="noStrike" cap="none" normalizeH="0" baseline="0">
                        <a:ln>
                          <a:noFill/>
                        </a:ln>
                        <a:solidFill>
                          <a:schemeClr val="tx1"/>
                        </a:solidFill>
                        <a:effectLst/>
                        <a:latin typeface="Times New Roman" pitchFamily="18" charset="0"/>
                      </a:endParaRPr>
                    </a:p>
                  </a:txBody>
                  <a:tcPr marT="45710" marB="4571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$1,800</a:t>
                      </a:r>
                    </a:p>
                  </a:txBody>
                  <a:tcPr marT="45710" marB="4571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518137">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Tax (34%)</a:t>
                      </a:r>
                    </a:p>
                  </a:txBody>
                  <a:tcPr marT="45710" marB="4571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sz="2800" b="0" i="0" u="none" strike="noStrike" cap="none" normalizeH="0" baseline="0">
                        <a:ln>
                          <a:noFill/>
                        </a:ln>
                        <a:solidFill>
                          <a:schemeClr val="tx1"/>
                        </a:solidFill>
                        <a:effectLst/>
                        <a:latin typeface="Times New Roman" pitchFamily="18" charset="0"/>
                      </a:endParaRPr>
                    </a:p>
                  </a:txBody>
                  <a:tcPr marT="45710" marB="4571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(612)</a:t>
                      </a:r>
                    </a:p>
                  </a:txBody>
                  <a:tcPr marT="45710" marB="4571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518137">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Net Profit</a:t>
                      </a:r>
                    </a:p>
                  </a:txBody>
                  <a:tcPr marT="45710" marB="4571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sz="2800" b="0" i="0" u="none" strike="noStrike" cap="none" normalizeH="0" baseline="0">
                        <a:ln>
                          <a:noFill/>
                        </a:ln>
                        <a:solidFill>
                          <a:schemeClr val="tx1"/>
                        </a:solidFill>
                        <a:effectLst/>
                        <a:latin typeface="Times New Roman" pitchFamily="18" charset="0"/>
                      </a:endParaRPr>
                    </a:p>
                  </a:txBody>
                  <a:tcPr marT="45710" marB="4571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$1,188</a:t>
                      </a:r>
                    </a:p>
                  </a:txBody>
                  <a:tcPr marT="45710" marB="4571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563428">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Cash Flow</a:t>
                      </a:r>
                    </a:p>
                  </a:txBody>
                  <a:tcPr marT="45710" marB="4571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-$1,600</a:t>
                      </a:r>
                    </a:p>
                  </a:txBody>
                  <a:tcPr marT="45710" marB="4571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$1,588</a:t>
                      </a:r>
                    </a:p>
                  </a:txBody>
                  <a:tcPr marT="45710" marB="4571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bl>
          </a:graphicData>
        </a:graphic>
      </p:graphicFrame>
      <p:graphicFrame>
        <p:nvGraphicFramePr>
          <p:cNvPr id="388142" name="Object 46">
            <a:extLst>
              <a:ext uri="{FF2B5EF4-FFF2-40B4-BE49-F238E27FC236}">
                <a16:creationId xmlns:a16="http://schemas.microsoft.com/office/drawing/2014/main" id="{109EF1C0-A7C2-61B1-171F-DA6CD530CB57}"/>
              </a:ext>
            </a:extLst>
          </p:cNvPr>
          <p:cNvGraphicFramePr>
            <a:graphicFrameLocks noChangeAspect="1"/>
          </p:cNvGraphicFramePr>
          <p:nvPr/>
        </p:nvGraphicFramePr>
        <p:xfrm>
          <a:off x="7529513" y="4405314"/>
          <a:ext cx="3143250" cy="1184275"/>
        </p:xfrm>
        <a:graphic>
          <a:graphicData uri="http://schemas.openxmlformats.org/presentationml/2006/ole">
            <mc:AlternateContent xmlns:mc="http://schemas.openxmlformats.org/markup-compatibility/2006">
              <mc:Choice xmlns:v="urn:schemas-microsoft-com:vml" Requires="v">
                <p:oleObj name="Equation" r:id="rId3" imgW="1720690" imgH="603345" progId="Equation.3">
                  <p:embed/>
                </p:oleObj>
              </mc:Choice>
              <mc:Fallback>
                <p:oleObj name="Equation" r:id="rId3" imgW="1720690" imgH="603345" progId="Equation.3">
                  <p:embed/>
                  <p:pic>
                    <p:nvPicPr>
                      <p:cNvPr id="388142" name="Object 46">
                        <a:extLst>
                          <a:ext uri="{FF2B5EF4-FFF2-40B4-BE49-F238E27FC236}">
                            <a16:creationId xmlns:a16="http://schemas.microsoft.com/office/drawing/2014/main" id="{109EF1C0-A7C2-61B1-171F-DA6CD530CB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29513" y="4405314"/>
                        <a:ext cx="3143250" cy="1184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88142"/>
                                        </p:tgtEl>
                                        <p:attrNameLst>
                                          <p:attrName>style.visibility</p:attrName>
                                        </p:attrNameLst>
                                      </p:cBhvr>
                                      <p:to>
                                        <p:strVal val="visible"/>
                                      </p:to>
                                    </p:set>
                                    <p:animEffect transition="in" filter="fade">
                                      <p:cBhvr>
                                        <p:cTn id="7" dur="1000"/>
                                        <p:tgtEl>
                                          <p:spTgt spid="388142"/>
                                        </p:tgtEl>
                                      </p:cBhvr>
                                    </p:animEffect>
                                    <p:anim calcmode="lin" valueType="num">
                                      <p:cBhvr>
                                        <p:cTn id="8" dur="1000" fill="hold"/>
                                        <p:tgtEl>
                                          <p:spTgt spid="388142"/>
                                        </p:tgtEl>
                                        <p:attrNameLst>
                                          <p:attrName>ppt_x</p:attrName>
                                        </p:attrNameLst>
                                      </p:cBhvr>
                                      <p:tavLst>
                                        <p:tav tm="0">
                                          <p:val>
                                            <p:strVal val="#ppt_x"/>
                                          </p:val>
                                        </p:tav>
                                        <p:tav tm="100000">
                                          <p:val>
                                            <p:strVal val="#ppt_x"/>
                                          </p:val>
                                        </p:tav>
                                      </p:tavLst>
                                    </p:anim>
                                    <p:anim calcmode="lin" valueType="num">
                                      <p:cBhvr>
                                        <p:cTn id="9" dur="1000" fill="hold"/>
                                        <p:tgtEl>
                                          <p:spTgt spid="388142"/>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88099">
                                            <p:txEl>
                                              <p:pRg st="0" end="0"/>
                                            </p:txEl>
                                          </p:spTgt>
                                        </p:tgtEl>
                                        <p:attrNameLst>
                                          <p:attrName>style.visibility</p:attrName>
                                        </p:attrNameLst>
                                      </p:cBhvr>
                                      <p:to>
                                        <p:strVal val="visible"/>
                                      </p:to>
                                    </p:set>
                                    <p:animEffect transition="in" filter="fade">
                                      <p:cBhvr>
                                        <p:cTn id="13" dur="1000"/>
                                        <p:tgtEl>
                                          <p:spTgt spid="388099">
                                            <p:txEl>
                                              <p:pRg st="0" end="0"/>
                                            </p:txEl>
                                          </p:spTgt>
                                        </p:tgtEl>
                                      </p:cBhvr>
                                    </p:animEffect>
                                    <p:anim calcmode="lin" valueType="num">
                                      <p:cBhvr>
                                        <p:cTn id="14" dur="1000" fill="hold"/>
                                        <p:tgtEl>
                                          <p:spTgt spid="388099">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88099">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099" grpId="0" build="p" autoUpdateAnimBg="0" advAuto="0"/>
    </p:bldLst>
  </p:timing>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9540" name="Rectangle 4">
            <a:extLst>
              <a:ext uri="{FF2B5EF4-FFF2-40B4-BE49-F238E27FC236}">
                <a16:creationId xmlns:a16="http://schemas.microsoft.com/office/drawing/2014/main" id="{AAE2333C-BFFC-043C-B268-F5BFCD005DD5}"/>
              </a:ext>
            </a:extLst>
          </p:cNvPr>
          <p:cNvSpPr>
            <a:spLocks noGrp="1"/>
          </p:cNvSpPr>
          <p:nvPr>
            <p:ph idx="1"/>
          </p:nvPr>
        </p:nvSpPr>
        <p:spPr>
          <a:xfrm>
            <a:off x="7816850" y="1371600"/>
            <a:ext cx="2590800" cy="2362200"/>
          </a:xfrm>
        </p:spPr>
        <p:txBody>
          <a:bodyPr/>
          <a:lstStyle/>
          <a:p>
            <a:pPr marL="0" indent="0" eaLnBrk="1" hangingPunct="1">
              <a:lnSpc>
                <a:spcPct val="80000"/>
              </a:lnSpc>
              <a:buNone/>
            </a:pPr>
            <a:r>
              <a:rPr lang="en-US" altLang="en-US" sz="1800">
                <a:ea typeface="ＭＳ Ｐゴシック" panose="020B0600070205080204" pitchFamily="34" charset="-128"/>
              </a:rPr>
              <a:t>Note that the </a:t>
            </a:r>
            <a:r>
              <a:rPr lang="en-US" altLang="en-US" sz="1800" i="1">
                <a:ea typeface="ＭＳ Ｐゴシック" panose="020B0600070205080204" pitchFamily="34" charset="-128"/>
              </a:rPr>
              <a:t>NPV</a:t>
            </a:r>
            <a:r>
              <a:rPr lang="en-US" altLang="en-US" sz="1800">
                <a:ea typeface="ＭＳ Ｐゴシック" panose="020B0600070205080204" pitchFamily="34" charset="-128"/>
              </a:rPr>
              <a:t> is calculated as of date 1, the date at which the investment of $1,600 million is made. Later we bring this number back to date 0. Assume a cost of capital of 10%.</a:t>
            </a:r>
          </a:p>
        </p:txBody>
      </p:sp>
      <p:sp>
        <p:nvSpPr>
          <p:cNvPr id="17410" name="Rectangle 3">
            <a:extLst>
              <a:ext uri="{FF2B5EF4-FFF2-40B4-BE49-F238E27FC236}">
                <a16:creationId xmlns:a16="http://schemas.microsoft.com/office/drawing/2014/main" id="{C01ED13E-AEAE-916A-C053-9F24B568C633}"/>
              </a:ext>
            </a:extLst>
          </p:cNvPr>
          <p:cNvSpPr>
            <a:spLocks noGrp="1" noChangeArrowheads="1"/>
          </p:cNvSpPr>
          <p:nvPr>
            <p:ph type="title"/>
          </p:nvPr>
        </p:nvSpPr>
        <p:spPr>
          <a:xfrm>
            <a:off x="1981200" y="0"/>
            <a:ext cx="8229600" cy="1143000"/>
          </a:xfrm>
        </p:spPr>
        <p:txBody>
          <a:bodyPr>
            <a:noAutofit/>
          </a:bodyPr>
          <a:lstStyle/>
          <a:p>
            <a:pPr eaLnBrk="1" fontAlgn="auto" hangingPunct="1">
              <a:spcAft>
                <a:spcPts val="0"/>
              </a:spcAft>
              <a:defRPr/>
            </a:pPr>
            <a:r>
              <a:rPr lang="en-US" altLang="en-US" sz="3400" dirty="0">
                <a:ea typeface="+mj-ea"/>
                <a:cs typeface="+mj-cs"/>
              </a:rPr>
              <a:t>NPV Following Unsuccessful Test</a:t>
            </a:r>
          </a:p>
        </p:txBody>
      </p:sp>
      <p:graphicFrame>
        <p:nvGraphicFramePr>
          <p:cNvPr id="449588" name="Group 52">
            <a:extLst>
              <a:ext uri="{FF2B5EF4-FFF2-40B4-BE49-F238E27FC236}">
                <a16:creationId xmlns:a16="http://schemas.microsoft.com/office/drawing/2014/main" id="{060296F8-925F-E248-A108-42A5F9B03533}"/>
              </a:ext>
            </a:extLst>
          </p:cNvPr>
          <p:cNvGraphicFramePr>
            <a:graphicFrameLocks noGrp="1"/>
          </p:cNvGraphicFramePr>
          <p:nvPr/>
        </p:nvGraphicFramePr>
        <p:xfrm>
          <a:off x="1720850" y="1295401"/>
          <a:ext cx="5791200" cy="4664079"/>
        </p:xfrm>
        <a:graphic>
          <a:graphicData uri="http://schemas.openxmlformats.org/drawingml/2006/table">
            <a:tbl>
              <a:tblPr/>
              <a:tblGrid>
                <a:gridCol w="2292350">
                  <a:extLst>
                    <a:ext uri="{9D8B030D-6E8A-4147-A177-3AD203B41FA5}">
                      <a16:colId xmlns:a16="http://schemas.microsoft.com/office/drawing/2014/main" val="20000"/>
                    </a:ext>
                  </a:extLst>
                </a:gridCol>
                <a:gridCol w="1404938">
                  <a:extLst>
                    <a:ext uri="{9D8B030D-6E8A-4147-A177-3AD203B41FA5}">
                      <a16:colId xmlns:a16="http://schemas.microsoft.com/office/drawing/2014/main" val="20001"/>
                    </a:ext>
                  </a:extLst>
                </a:gridCol>
                <a:gridCol w="2093912">
                  <a:extLst>
                    <a:ext uri="{9D8B030D-6E8A-4147-A177-3AD203B41FA5}">
                      <a16:colId xmlns:a16="http://schemas.microsoft.com/office/drawing/2014/main" val="20002"/>
                    </a:ext>
                  </a:extLst>
                </a:gridCol>
              </a:tblGrid>
              <a:tr h="518231">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Investment</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Year 1</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Years 2-5</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518231">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Revenues</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sz="2800" b="0" i="0" u="none" strike="noStrike" cap="none" normalizeH="0" baseline="0">
                        <a:ln>
                          <a:noFill/>
                        </a:ln>
                        <a:solidFill>
                          <a:schemeClr val="tx1"/>
                        </a:solidFill>
                        <a:effectLst/>
                        <a:latin typeface="Times New Roman" pitchFamily="18" charset="0"/>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$4,050</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518231">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Variable Costs</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sz="2800" b="0" i="0" u="none" strike="noStrike" cap="none" normalizeH="0" baseline="0">
                        <a:ln>
                          <a:noFill/>
                        </a:ln>
                        <a:solidFill>
                          <a:schemeClr val="tx1"/>
                        </a:solidFill>
                        <a:effectLst/>
                        <a:latin typeface="Times New Roman" pitchFamily="18" charset="0"/>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(1,735)</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518231">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Fixed Costs</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sz="2800" b="0" i="0" u="none" strike="noStrike" cap="none" normalizeH="0" baseline="0">
                        <a:ln>
                          <a:noFill/>
                        </a:ln>
                        <a:solidFill>
                          <a:schemeClr val="tx1"/>
                        </a:solidFill>
                        <a:effectLst/>
                        <a:latin typeface="Times New Roman" pitchFamily="18" charset="0"/>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(1,800)</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518231">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Depreciation</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sz="2800" b="0" i="0" u="none" strike="noStrike" cap="none" normalizeH="0" baseline="0">
                        <a:ln>
                          <a:noFill/>
                        </a:ln>
                        <a:solidFill>
                          <a:schemeClr val="tx1"/>
                        </a:solidFill>
                        <a:effectLst/>
                        <a:latin typeface="Times New Roman" pitchFamily="18" charset="0"/>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(400)</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518231">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Pretax profit</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sz="2800" b="0" i="0" u="none" strike="noStrike" cap="none" normalizeH="0" baseline="0">
                        <a:ln>
                          <a:noFill/>
                        </a:ln>
                        <a:solidFill>
                          <a:schemeClr val="tx1"/>
                        </a:solidFill>
                        <a:effectLst/>
                        <a:latin typeface="Times New Roman" pitchFamily="18" charset="0"/>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$115</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518231">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Tax (34%)</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sz="2800" b="0" i="0" u="none" strike="noStrike" cap="none" normalizeH="0" baseline="0">
                        <a:ln>
                          <a:noFill/>
                        </a:ln>
                        <a:solidFill>
                          <a:schemeClr val="tx1"/>
                        </a:solidFill>
                        <a:effectLst/>
                        <a:latin typeface="Times New Roman" pitchFamily="18" charset="0"/>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(39.10)</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518231">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Net Profit</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sz="2800" b="0" i="0" u="none" strike="noStrike" cap="none" normalizeH="0" baseline="0">
                        <a:ln>
                          <a:noFill/>
                        </a:ln>
                        <a:solidFill>
                          <a:schemeClr val="tx1"/>
                        </a:solidFill>
                        <a:effectLst/>
                        <a:latin typeface="Times New Roman" pitchFamily="18" charset="0"/>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$75.90</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518231">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Cash Flow</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-$1,600</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$475.90</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bl>
          </a:graphicData>
        </a:graphic>
      </p:graphicFrame>
      <p:graphicFrame>
        <p:nvGraphicFramePr>
          <p:cNvPr id="449583" name="Object 47">
            <a:extLst>
              <a:ext uri="{FF2B5EF4-FFF2-40B4-BE49-F238E27FC236}">
                <a16:creationId xmlns:a16="http://schemas.microsoft.com/office/drawing/2014/main" id="{9C86566C-DDF0-C9D7-BEA8-F84BF36D998C}"/>
              </a:ext>
            </a:extLst>
          </p:cNvPr>
          <p:cNvGraphicFramePr>
            <a:graphicFrameLocks noChangeAspect="1"/>
          </p:cNvGraphicFramePr>
          <p:nvPr/>
        </p:nvGraphicFramePr>
        <p:xfrm>
          <a:off x="7629526" y="4191000"/>
          <a:ext cx="3038475" cy="1087438"/>
        </p:xfrm>
        <a:graphic>
          <a:graphicData uri="http://schemas.openxmlformats.org/presentationml/2006/ole">
            <mc:AlternateContent xmlns:mc="http://schemas.openxmlformats.org/markup-compatibility/2006">
              <mc:Choice xmlns:v="urn:schemas-microsoft-com:vml" Requires="v">
                <p:oleObj name="Equation" r:id="rId3" imgW="1803548" imgH="603345" progId="Equation.3">
                  <p:embed/>
                </p:oleObj>
              </mc:Choice>
              <mc:Fallback>
                <p:oleObj name="Equation" r:id="rId3" imgW="1803548" imgH="603345" progId="Equation.3">
                  <p:embed/>
                  <p:pic>
                    <p:nvPicPr>
                      <p:cNvPr id="449583" name="Object 47">
                        <a:extLst>
                          <a:ext uri="{FF2B5EF4-FFF2-40B4-BE49-F238E27FC236}">
                            <a16:creationId xmlns:a16="http://schemas.microsoft.com/office/drawing/2014/main" id="{9C86566C-DDF0-C9D7-BEA8-F84BF36D99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9526" y="4191000"/>
                        <a:ext cx="3038475" cy="1087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449583"/>
                                        </p:tgtEl>
                                        <p:attrNameLst>
                                          <p:attrName>style.visibility</p:attrName>
                                        </p:attrNameLst>
                                      </p:cBhvr>
                                      <p:to>
                                        <p:strVal val="visible"/>
                                      </p:to>
                                    </p:set>
                                    <p:animEffect transition="in" filter="fade">
                                      <p:cBhvr>
                                        <p:cTn id="7" dur="1000"/>
                                        <p:tgtEl>
                                          <p:spTgt spid="449583"/>
                                        </p:tgtEl>
                                      </p:cBhvr>
                                    </p:animEffect>
                                    <p:anim calcmode="lin" valueType="num">
                                      <p:cBhvr>
                                        <p:cTn id="8" dur="1000" fill="hold"/>
                                        <p:tgtEl>
                                          <p:spTgt spid="449583"/>
                                        </p:tgtEl>
                                        <p:attrNameLst>
                                          <p:attrName>ppt_x</p:attrName>
                                        </p:attrNameLst>
                                      </p:cBhvr>
                                      <p:tavLst>
                                        <p:tav tm="0">
                                          <p:val>
                                            <p:strVal val="#ppt_x"/>
                                          </p:val>
                                        </p:tav>
                                        <p:tav tm="100000">
                                          <p:val>
                                            <p:strVal val="#ppt_x"/>
                                          </p:val>
                                        </p:tav>
                                      </p:tavLst>
                                    </p:anim>
                                    <p:anim calcmode="lin" valueType="num">
                                      <p:cBhvr>
                                        <p:cTn id="9" dur="1000" fill="hold"/>
                                        <p:tgtEl>
                                          <p:spTgt spid="449583"/>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449540">
                                            <p:txEl>
                                              <p:pRg st="0" end="0"/>
                                            </p:txEl>
                                          </p:spTgt>
                                        </p:tgtEl>
                                        <p:attrNameLst>
                                          <p:attrName>style.visibility</p:attrName>
                                        </p:attrNameLst>
                                      </p:cBhvr>
                                      <p:to>
                                        <p:strVal val="visible"/>
                                      </p:to>
                                    </p:set>
                                    <p:animEffect transition="in" filter="fade">
                                      <p:cBhvr>
                                        <p:cTn id="13" dur="1000"/>
                                        <p:tgtEl>
                                          <p:spTgt spid="449540">
                                            <p:txEl>
                                              <p:pRg st="0" end="0"/>
                                            </p:txEl>
                                          </p:spTgt>
                                        </p:tgtEl>
                                      </p:cBhvr>
                                    </p:animEffect>
                                    <p:anim calcmode="lin" valueType="num">
                                      <p:cBhvr>
                                        <p:cTn id="14" dur="1000" fill="hold"/>
                                        <p:tgtEl>
                                          <p:spTgt spid="449540">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44954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9540" grpId="0" build="p" autoUpdateAnimBg="0" advAuto="0"/>
    </p:bldLst>
  </p:timing>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2195" name="Rectangle 3">
            <a:extLst>
              <a:ext uri="{FF2B5EF4-FFF2-40B4-BE49-F238E27FC236}">
                <a16:creationId xmlns:a16="http://schemas.microsoft.com/office/drawing/2014/main" id="{7DCF689B-08FD-5383-A7EE-37957A00B0A9}"/>
              </a:ext>
            </a:extLst>
          </p:cNvPr>
          <p:cNvSpPr>
            <a:spLocks noGrp="1"/>
          </p:cNvSpPr>
          <p:nvPr>
            <p:ph idx="1"/>
          </p:nvPr>
        </p:nvSpPr>
        <p:spPr>
          <a:xfrm>
            <a:off x="1924050" y="998538"/>
            <a:ext cx="8229600" cy="1173162"/>
          </a:xfrm>
        </p:spPr>
        <p:txBody>
          <a:bodyPr/>
          <a:lstStyle/>
          <a:p>
            <a:pPr eaLnBrk="1" hangingPunct="1"/>
            <a:r>
              <a:rPr lang="en-US" altLang="en-US" sz="2200">
                <a:latin typeface="Times New Roman" panose="02020603050405020304" pitchFamily="18" charset="0"/>
                <a:ea typeface="ＭＳ Ｐゴシック" panose="020B0600070205080204" pitchFamily="34" charset="-128"/>
              </a:rPr>
              <a:t>Let’s move back to the first stage, where the decision boils down to the simple question: should we invest?</a:t>
            </a:r>
          </a:p>
          <a:p>
            <a:pPr eaLnBrk="1" hangingPunct="1"/>
            <a:r>
              <a:rPr lang="en-US" altLang="en-US" sz="2200">
                <a:latin typeface="Times New Roman" panose="02020603050405020304" pitchFamily="18" charset="0"/>
                <a:ea typeface="ＭＳ Ｐゴシック" panose="020B0600070205080204" pitchFamily="34" charset="-128"/>
              </a:rPr>
              <a:t>The expected payoff evaluated at date 1 is:</a:t>
            </a:r>
          </a:p>
        </p:txBody>
      </p:sp>
      <p:sp>
        <p:nvSpPr>
          <p:cNvPr id="19458" name="Rectangle 2">
            <a:extLst>
              <a:ext uri="{FF2B5EF4-FFF2-40B4-BE49-F238E27FC236}">
                <a16:creationId xmlns:a16="http://schemas.microsoft.com/office/drawing/2014/main" id="{B854C312-5CD1-4559-FB49-9F7BD577055B}"/>
              </a:ext>
            </a:extLst>
          </p:cNvPr>
          <p:cNvSpPr>
            <a:spLocks noGrp="1" noChangeArrowheads="1"/>
          </p:cNvSpPr>
          <p:nvPr>
            <p:ph type="title"/>
          </p:nvPr>
        </p:nvSpPr>
        <p:spPr>
          <a:xfrm>
            <a:off x="1981200" y="0"/>
            <a:ext cx="8229600" cy="1143000"/>
          </a:xfrm>
        </p:spPr>
        <p:txBody>
          <a:bodyPr/>
          <a:lstStyle/>
          <a:p>
            <a:pPr eaLnBrk="1" fontAlgn="auto" hangingPunct="1">
              <a:spcAft>
                <a:spcPts val="0"/>
              </a:spcAft>
              <a:defRPr/>
            </a:pPr>
            <a:r>
              <a:rPr lang="en-US" altLang="en-US" sz="3400" dirty="0">
                <a:ea typeface="+mj-ea"/>
                <a:cs typeface="+mj-cs"/>
              </a:rPr>
              <a:t>Decision to Test</a:t>
            </a:r>
          </a:p>
        </p:txBody>
      </p:sp>
      <p:graphicFrame>
        <p:nvGraphicFramePr>
          <p:cNvPr id="392196" name="Object 4">
            <a:extLst>
              <a:ext uri="{FF2B5EF4-FFF2-40B4-BE49-F238E27FC236}">
                <a16:creationId xmlns:a16="http://schemas.microsoft.com/office/drawing/2014/main" id="{0D6BBBE2-0E24-FEE3-C79E-5FE47EEF4746}"/>
              </a:ext>
            </a:extLst>
          </p:cNvPr>
          <p:cNvGraphicFramePr>
            <a:graphicFrameLocks noChangeAspect="1"/>
          </p:cNvGraphicFramePr>
          <p:nvPr/>
        </p:nvGraphicFramePr>
        <p:xfrm>
          <a:off x="2667000" y="2362201"/>
          <a:ext cx="6673850" cy="817563"/>
        </p:xfrm>
        <a:graphic>
          <a:graphicData uri="http://schemas.openxmlformats.org/presentationml/2006/ole">
            <mc:AlternateContent xmlns:mc="http://schemas.openxmlformats.org/markup-compatibility/2006">
              <mc:Choice xmlns:v="urn:schemas-microsoft-com:vml" Requires="v">
                <p:oleObj name="Equation" r:id="rId3" imgW="3740064" imgH="393641" progId="Equation.3">
                  <p:embed/>
                </p:oleObj>
              </mc:Choice>
              <mc:Fallback>
                <p:oleObj name="Equation" r:id="rId3" imgW="3740064" imgH="393641" progId="Equation.3">
                  <p:embed/>
                  <p:pic>
                    <p:nvPicPr>
                      <p:cNvPr id="392196" name="Object 4">
                        <a:extLst>
                          <a:ext uri="{FF2B5EF4-FFF2-40B4-BE49-F238E27FC236}">
                            <a16:creationId xmlns:a16="http://schemas.microsoft.com/office/drawing/2014/main" id="{0D6BBBE2-0E24-FEE3-C79E-5FE47EEF47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2362201"/>
                        <a:ext cx="6673850" cy="817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2197" name="Object 5">
            <a:extLst>
              <a:ext uri="{FF2B5EF4-FFF2-40B4-BE49-F238E27FC236}">
                <a16:creationId xmlns:a16="http://schemas.microsoft.com/office/drawing/2014/main" id="{6B3A3673-5920-F92C-7BD0-DEBB3A0E793F}"/>
              </a:ext>
            </a:extLst>
          </p:cNvPr>
          <p:cNvGraphicFramePr>
            <a:graphicFrameLocks noChangeAspect="1"/>
          </p:cNvGraphicFramePr>
          <p:nvPr/>
        </p:nvGraphicFramePr>
        <p:xfrm>
          <a:off x="2571750" y="3346451"/>
          <a:ext cx="5786438" cy="785813"/>
        </p:xfrm>
        <a:graphic>
          <a:graphicData uri="http://schemas.openxmlformats.org/presentationml/2006/ole">
            <mc:AlternateContent xmlns:mc="http://schemas.openxmlformats.org/markup-compatibility/2006">
              <mc:Choice xmlns:v="urn:schemas-microsoft-com:vml" Requires="v">
                <p:oleObj name="Equation" r:id="rId5" imgW="3232261" imgH="374613" progId="Equation.3">
                  <p:embed/>
                </p:oleObj>
              </mc:Choice>
              <mc:Fallback>
                <p:oleObj name="Equation" r:id="rId5" imgW="3232261" imgH="374613" progId="Equation.3">
                  <p:embed/>
                  <p:pic>
                    <p:nvPicPr>
                      <p:cNvPr id="392197" name="Object 5">
                        <a:extLst>
                          <a:ext uri="{FF2B5EF4-FFF2-40B4-BE49-F238E27FC236}">
                            <a16:creationId xmlns:a16="http://schemas.microsoft.com/office/drawing/2014/main" id="{6B3A3673-5920-F92C-7BD0-DEBB3A0E793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71750" y="3346451"/>
                        <a:ext cx="5786438" cy="785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2198" name="Object 6">
            <a:extLst>
              <a:ext uri="{FF2B5EF4-FFF2-40B4-BE49-F238E27FC236}">
                <a16:creationId xmlns:a16="http://schemas.microsoft.com/office/drawing/2014/main" id="{99A8FB4E-5C89-9CE2-442C-D2B7AA05E696}"/>
              </a:ext>
            </a:extLst>
          </p:cNvPr>
          <p:cNvGraphicFramePr>
            <a:graphicFrameLocks noChangeAspect="1"/>
          </p:cNvGraphicFramePr>
          <p:nvPr/>
        </p:nvGraphicFramePr>
        <p:xfrm>
          <a:off x="3825875" y="4816476"/>
          <a:ext cx="4273550" cy="671513"/>
        </p:xfrm>
        <a:graphic>
          <a:graphicData uri="http://schemas.openxmlformats.org/presentationml/2006/ole">
            <mc:AlternateContent xmlns:mc="http://schemas.openxmlformats.org/markup-compatibility/2006">
              <mc:Choice xmlns:v="urn:schemas-microsoft-com:vml" Requires="v">
                <p:oleObj name="Equation" r:id="rId7" imgW="2368562" imgH="311187" progId="Equation.3">
                  <p:embed/>
                </p:oleObj>
              </mc:Choice>
              <mc:Fallback>
                <p:oleObj name="Equation" r:id="rId7" imgW="2368562" imgH="311187" progId="Equation.3">
                  <p:embed/>
                  <p:pic>
                    <p:nvPicPr>
                      <p:cNvPr id="392198" name="Object 6">
                        <a:extLst>
                          <a:ext uri="{FF2B5EF4-FFF2-40B4-BE49-F238E27FC236}">
                            <a16:creationId xmlns:a16="http://schemas.microsoft.com/office/drawing/2014/main" id="{99A8FB4E-5C89-9CE2-442C-D2B7AA05E69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25875" y="4816476"/>
                        <a:ext cx="4273550" cy="671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2199" name="Rectangle 7">
            <a:extLst>
              <a:ext uri="{FF2B5EF4-FFF2-40B4-BE49-F238E27FC236}">
                <a16:creationId xmlns:a16="http://schemas.microsoft.com/office/drawing/2014/main" id="{5C3260C3-85A2-E0CC-3D67-CAEC2214DDEF}"/>
              </a:ext>
            </a:extLst>
          </p:cNvPr>
          <p:cNvSpPr>
            <a:spLocks noChangeArrowheads="1"/>
          </p:cNvSpPr>
          <p:nvPr/>
        </p:nvSpPr>
        <p:spPr bwMode="auto">
          <a:xfrm>
            <a:off x="2609850" y="4198938"/>
            <a:ext cx="7772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342900" indent="-342900">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lnSpc>
                <a:spcPct val="90000"/>
              </a:lnSpc>
              <a:spcBef>
                <a:spcPct val="20000"/>
              </a:spcBef>
              <a:spcAft>
                <a:spcPct val="0"/>
              </a:spcAft>
            </a:pPr>
            <a:r>
              <a:rPr lang="en-US" altLang="en-US" sz="2200">
                <a:solidFill>
                  <a:prstClr val="black"/>
                </a:solidFill>
              </a:rPr>
              <a:t>The NPV evaluated at date 0 is:</a:t>
            </a:r>
          </a:p>
        </p:txBody>
      </p:sp>
      <p:sp>
        <p:nvSpPr>
          <p:cNvPr id="392200" name="Text Box 8">
            <a:extLst>
              <a:ext uri="{FF2B5EF4-FFF2-40B4-BE49-F238E27FC236}">
                <a16:creationId xmlns:a16="http://schemas.microsoft.com/office/drawing/2014/main" id="{BB0E1709-D38F-F50B-3CDF-A15952152DCF}"/>
              </a:ext>
            </a:extLst>
          </p:cNvPr>
          <p:cNvSpPr txBox="1">
            <a:spLocks noChangeArrowheads="1"/>
          </p:cNvSpPr>
          <p:nvPr/>
        </p:nvSpPr>
        <p:spPr bwMode="auto">
          <a:xfrm>
            <a:off x="7105650" y="5341938"/>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2200">
                <a:solidFill>
                  <a:prstClr val="black"/>
                </a:solidFill>
              </a:rPr>
              <a:t>So, we should test</a:t>
            </a:r>
            <a:r>
              <a:rPr lang="en-US" altLang="en-US" sz="2400">
                <a:solidFill>
                  <a:prstClr val="black"/>
                </a:solidFill>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92195">
                                            <p:txEl>
                                              <p:pRg st="0" end="0"/>
                                            </p:txEl>
                                          </p:spTgt>
                                        </p:tgtEl>
                                        <p:attrNameLst>
                                          <p:attrName>style.visibility</p:attrName>
                                        </p:attrNameLst>
                                      </p:cBhvr>
                                      <p:to>
                                        <p:strVal val="visible"/>
                                      </p:to>
                                    </p:set>
                                    <p:animEffect transition="in" filter="fade">
                                      <p:cBhvr>
                                        <p:cTn id="7" dur="1000"/>
                                        <p:tgtEl>
                                          <p:spTgt spid="392195">
                                            <p:txEl>
                                              <p:pRg st="0" end="0"/>
                                            </p:txEl>
                                          </p:spTgt>
                                        </p:tgtEl>
                                      </p:cBhvr>
                                    </p:animEffect>
                                    <p:anim calcmode="lin" valueType="num">
                                      <p:cBhvr>
                                        <p:cTn id="8" dur="1000" fill="hold"/>
                                        <p:tgtEl>
                                          <p:spTgt spid="39219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9219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92195">
                                            <p:txEl>
                                              <p:pRg st="1" end="1"/>
                                            </p:txEl>
                                          </p:spTgt>
                                        </p:tgtEl>
                                        <p:attrNameLst>
                                          <p:attrName>style.visibility</p:attrName>
                                        </p:attrNameLst>
                                      </p:cBhvr>
                                      <p:to>
                                        <p:strVal val="visible"/>
                                      </p:to>
                                    </p:set>
                                    <p:animEffect transition="in" filter="fade">
                                      <p:cBhvr>
                                        <p:cTn id="14" dur="1000"/>
                                        <p:tgtEl>
                                          <p:spTgt spid="392195">
                                            <p:txEl>
                                              <p:pRg st="1" end="1"/>
                                            </p:txEl>
                                          </p:spTgt>
                                        </p:tgtEl>
                                      </p:cBhvr>
                                    </p:animEffect>
                                    <p:anim calcmode="lin" valueType="num">
                                      <p:cBhvr>
                                        <p:cTn id="15" dur="1000" fill="hold"/>
                                        <p:tgtEl>
                                          <p:spTgt spid="39219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9219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392196"/>
                                        </p:tgtEl>
                                        <p:attrNameLst>
                                          <p:attrName>style.visibility</p:attrName>
                                        </p:attrNameLst>
                                      </p:cBhvr>
                                      <p:to>
                                        <p:strVal val="visible"/>
                                      </p:to>
                                    </p:set>
                                    <p:animEffect transition="in" filter="fade">
                                      <p:cBhvr>
                                        <p:cTn id="21" dur="1000"/>
                                        <p:tgtEl>
                                          <p:spTgt spid="392196"/>
                                        </p:tgtEl>
                                      </p:cBhvr>
                                    </p:animEffect>
                                    <p:anim calcmode="lin" valueType="num">
                                      <p:cBhvr>
                                        <p:cTn id="22" dur="1000" fill="hold"/>
                                        <p:tgtEl>
                                          <p:spTgt spid="392196"/>
                                        </p:tgtEl>
                                        <p:attrNameLst>
                                          <p:attrName>ppt_x</p:attrName>
                                        </p:attrNameLst>
                                      </p:cBhvr>
                                      <p:tavLst>
                                        <p:tav tm="0">
                                          <p:val>
                                            <p:strVal val="#ppt_x"/>
                                          </p:val>
                                        </p:tav>
                                        <p:tav tm="100000">
                                          <p:val>
                                            <p:strVal val="#ppt_x"/>
                                          </p:val>
                                        </p:tav>
                                      </p:tavLst>
                                    </p:anim>
                                    <p:anim calcmode="lin" valueType="num">
                                      <p:cBhvr>
                                        <p:cTn id="23" dur="1000" fill="hold"/>
                                        <p:tgtEl>
                                          <p:spTgt spid="392196"/>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392197"/>
                                        </p:tgtEl>
                                        <p:attrNameLst>
                                          <p:attrName>style.visibility</p:attrName>
                                        </p:attrNameLst>
                                      </p:cBhvr>
                                      <p:to>
                                        <p:strVal val="visible"/>
                                      </p:to>
                                    </p:set>
                                    <p:animEffect transition="in" filter="fade">
                                      <p:cBhvr>
                                        <p:cTn id="28" dur="1000"/>
                                        <p:tgtEl>
                                          <p:spTgt spid="392197"/>
                                        </p:tgtEl>
                                      </p:cBhvr>
                                    </p:animEffect>
                                    <p:anim calcmode="lin" valueType="num">
                                      <p:cBhvr>
                                        <p:cTn id="29" dur="1000" fill="hold"/>
                                        <p:tgtEl>
                                          <p:spTgt spid="392197"/>
                                        </p:tgtEl>
                                        <p:attrNameLst>
                                          <p:attrName>ppt_x</p:attrName>
                                        </p:attrNameLst>
                                      </p:cBhvr>
                                      <p:tavLst>
                                        <p:tav tm="0">
                                          <p:val>
                                            <p:strVal val="#ppt_x"/>
                                          </p:val>
                                        </p:tav>
                                        <p:tav tm="100000">
                                          <p:val>
                                            <p:strVal val="#ppt_x"/>
                                          </p:val>
                                        </p:tav>
                                      </p:tavLst>
                                    </p:anim>
                                    <p:anim calcmode="lin" valueType="num">
                                      <p:cBhvr>
                                        <p:cTn id="30" dur="1000" fill="hold"/>
                                        <p:tgtEl>
                                          <p:spTgt spid="392197"/>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92199">
                                            <p:txEl>
                                              <p:pRg st="0" end="0"/>
                                            </p:txEl>
                                          </p:spTgt>
                                        </p:tgtEl>
                                        <p:attrNameLst>
                                          <p:attrName>style.visibility</p:attrName>
                                        </p:attrNameLst>
                                      </p:cBhvr>
                                      <p:to>
                                        <p:strVal val="visible"/>
                                      </p:to>
                                    </p:set>
                                    <p:animEffect transition="in" filter="fade">
                                      <p:cBhvr>
                                        <p:cTn id="35" dur="1000"/>
                                        <p:tgtEl>
                                          <p:spTgt spid="392199">
                                            <p:txEl>
                                              <p:pRg st="0" end="0"/>
                                            </p:txEl>
                                          </p:spTgt>
                                        </p:tgtEl>
                                      </p:cBhvr>
                                    </p:animEffect>
                                    <p:anim calcmode="lin" valueType="num">
                                      <p:cBhvr>
                                        <p:cTn id="36" dur="1000" fill="hold"/>
                                        <p:tgtEl>
                                          <p:spTgt spid="392199">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39219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2" presetClass="entr" presetSubtype="0" fill="hold" nodeType="clickEffect">
                                  <p:stCondLst>
                                    <p:cond delay="0"/>
                                  </p:stCondLst>
                                  <p:childTnLst>
                                    <p:set>
                                      <p:cBhvr>
                                        <p:cTn id="41" dur="1" fill="hold">
                                          <p:stCondLst>
                                            <p:cond delay="0"/>
                                          </p:stCondLst>
                                        </p:cTn>
                                        <p:tgtEl>
                                          <p:spTgt spid="392198"/>
                                        </p:tgtEl>
                                        <p:attrNameLst>
                                          <p:attrName>style.visibility</p:attrName>
                                        </p:attrNameLst>
                                      </p:cBhvr>
                                      <p:to>
                                        <p:strVal val="visible"/>
                                      </p:to>
                                    </p:set>
                                    <p:animEffect transition="in" filter="fade">
                                      <p:cBhvr>
                                        <p:cTn id="42" dur="1000"/>
                                        <p:tgtEl>
                                          <p:spTgt spid="392198"/>
                                        </p:tgtEl>
                                      </p:cBhvr>
                                    </p:animEffect>
                                    <p:anim calcmode="lin" valueType="num">
                                      <p:cBhvr>
                                        <p:cTn id="43" dur="1000" fill="hold"/>
                                        <p:tgtEl>
                                          <p:spTgt spid="392198"/>
                                        </p:tgtEl>
                                        <p:attrNameLst>
                                          <p:attrName>ppt_x</p:attrName>
                                        </p:attrNameLst>
                                      </p:cBhvr>
                                      <p:tavLst>
                                        <p:tav tm="0">
                                          <p:val>
                                            <p:strVal val="#ppt_x"/>
                                          </p:val>
                                        </p:tav>
                                        <p:tav tm="100000">
                                          <p:val>
                                            <p:strVal val="#ppt_x"/>
                                          </p:val>
                                        </p:tav>
                                      </p:tavLst>
                                    </p:anim>
                                    <p:anim calcmode="lin" valueType="num">
                                      <p:cBhvr>
                                        <p:cTn id="44" dur="1000" fill="hold"/>
                                        <p:tgtEl>
                                          <p:spTgt spid="392198"/>
                                        </p:tgtEl>
                                        <p:attrNameLst>
                                          <p:attrName>ppt_y</p:attrName>
                                        </p:attrNameLst>
                                      </p:cBhvr>
                                      <p:tavLst>
                                        <p:tav tm="0">
                                          <p:val>
                                            <p:strVal val="#ppt_y+.1"/>
                                          </p:val>
                                        </p:tav>
                                        <p:tav tm="100000">
                                          <p:val>
                                            <p:strVal val="#ppt_y"/>
                                          </p:val>
                                        </p:tav>
                                      </p:tavLst>
                                    </p:anim>
                                  </p:childTnLst>
                                </p:cTn>
                              </p:par>
                            </p:childTnLst>
                          </p:cTn>
                        </p:par>
                        <p:par>
                          <p:cTn id="45" fill="hold" nodeType="afterGroup">
                            <p:stCondLst>
                              <p:cond delay="1000"/>
                            </p:stCondLst>
                            <p:childTnLst>
                              <p:par>
                                <p:cTn id="46" presetID="42" presetClass="entr" presetSubtype="0" fill="hold" grpId="0" nodeType="afterEffect">
                                  <p:stCondLst>
                                    <p:cond delay="0"/>
                                  </p:stCondLst>
                                  <p:childTnLst>
                                    <p:set>
                                      <p:cBhvr>
                                        <p:cTn id="47" dur="1" fill="hold">
                                          <p:stCondLst>
                                            <p:cond delay="0"/>
                                          </p:stCondLst>
                                        </p:cTn>
                                        <p:tgtEl>
                                          <p:spTgt spid="392200"/>
                                        </p:tgtEl>
                                        <p:attrNameLst>
                                          <p:attrName>style.visibility</p:attrName>
                                        </p:attrNameLst>
                                      </p:cBhvr>
                                      <p:to>
                                        <p:strVal val="visible"/>
                                      </p:to>
                                    </p:set>
                                    <p:animEffect transition="in" filter="fade">
                                      <p:cBhvr>
                                        <p:cTn id="48" dur="1000"/>
                                        <p:tgtEl>
                                          <p:spTgt spid="392200"/>
                                        </p:tgtEl>
                                      </p:cBhvr>
                                    </p:animEffect>
                                    <p:anim calcmode="lin" valueType="num">
                                      <p:cBhvr>
                                        <p:cTn id="49" dur="1000" fill="hold"/>
                                        <p:tgtEl>
                                          <p:spTgt spid="392200"/>
                                        </p:tgtEl>
                                        <p:attrNameLst>
                                          <p:attrName>ppt_x</p:attrName>
                                        </p:attrNameLst>
                                      </p:cBhvr>
                                      <p:tavLst>
                                        <p:tav tm="0">
                                          <p:val>
                                            <p:strVal val="#ppt_x"/>
                                          </p:val>
                                        </p:tav>
                                        <p:tav tm="100000">
                                          <p:val>
                                            <p:strVal val="#ppt_x"/>
                                          </p:val>
                                        </p:tav>
                                      </p:tavLst>
                                    </p:anim>
                                    <p:anim calcmode="lin" valueType="num">
                                      <p:cBhvr>
                                        <p:cTn id="50" dur="1000" fill="hold"/>
                                        <p:tgtEl>
                                          <p:spTgt spid="39220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195" grpId="0" build="p"/>
      <p:bldP spid="392199" grpId="0" build="p" bldLvl="2" autoUpdateAnimBg="0"/>
      <p:bldP spid="392200" grpId="0"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Rectangle 4">
            <a:extLst>
              <a:ext uri="{FF2B5EF4-FFF2-40B4-BE49-F238E27FC236}">
                <a16:creationId xmlns:a16="http://schemas.microsoft.com/office/drawing/2014/main" id="{64A85D4A-3220-ACD8-F79B-9CA9A5D960CD}"/>
              </a:ext>
            </a:extLst>
          </p:cNvPr>
          <p:cNvSpPr>
            <a:spLocks noGrp="1"/>
          </p:cNvSpPr>
          <p:nvPr>
            <p:ph idx="1"/>
          </p:nvPr>
        </p:nvSpPr>
        <p:spPr>
          <a:xfrm>
            <a:off x="1924050" y="1281113"/>
            <a:ext cx="8229600" cy="1173162"/>
          </a:xfrm>
        </p:spPr>
        <p:txBody>
          <a:bodyPr/>
          <a:lstStyle/>
          <a:p>
            <a:pPr eaLnBrk="1" hangingPunct="1">
              <a:lnSpc>
                <a:spcPct val="90000"/>
              </a:lnSpc>
            </a:pPr>
            <a:r>
              <a:rPr lang="en-US" altLang="en-US" sz="2800">
                <a:latin typeface="Times New Roman" panose="02020603050405020304" pitchFamily="18" charset="0"/>
                <a:ea typeface="ＭＳ Ｐゴシック" panose="020B0600070205080204" pitchFamily="34" charset="-128"/>
              </a:rPr>
              <a:t>We can see that NPV is very sensitive to changes in revenues. In the Stewart Pharmaceuticals example, a 14% drop in revenue leads to a 61% drop in NPV.</a:t>
            </a:r>
          </a:p>
        </p:txBody>
      </p:sp>
      <p:sp>
        <p:nvSpPr>
          <p:cNvPr id="21506" name="Rectangle 2">
            <a:extLst>
              <a:ext uri="{FF2B5EF4-FFF2-40B4-BE49-F238E27FC236}">
                <a16:creationId xmlns:a16="http://schemas.microsoft.com/office/drawing/2014/main" id="{1401EF40-BEE0-73FE-A64D-7C557F95ADD8}"/>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Sensitivity Analysis: Stewart</a:t>
            </a:r>
          </a:p>
        </p:txBody>
      </p:sp>
      <p:graphicFrame>
        <p:nvGraphicFramePr>
          <p:cNvPr id="394243" name="Object 3">
            <a:extLst>
              <a:ext uri="{FF2B5EF4-FFF2-40B4-BE49-F238E27FC236}">
                <a16:creationId xmlns:a16="http://schemas.microsoft.com/office/drawing/2014/main" id="{2FAFBC37-150A-9237-D6D9-C2158726A231}"/>
              </a:ext>
            </a:extLst>
          </p:cNvPr>
          <p:cNvGraphicFramePr>
            <a:graphicFrameLocks noChangeAspect="1"/>
          </p:cNvGraphicFramePr>
          <p:nvPr/>
        </p:nvGraphicFramePr>
        <p:xfrm>
          <a:off x="2754314" y="2895600"/>
          <a:ext cx="4173537" cy="704850"/>
        </p:xfrm>
        <a:graphic>
          <a:graphicData uri="http://schemas.openxmlformats.org/presentationml/2006/ole">
            <mc:AlternateContent xmlns:mc="http://schemas.openxmlformats.org/markup-compatibility/2006">
              <mc:Choice xmlns:v="urn:schemas-microsoft-com:vml" Requires="v">
                <p:oleObj name="Equation" r:id="rId3" imgW="2317664" imgH="336557" progId="Equation.3">
                  <p:embed/>
                </p:oleObj>
              </mc:Choice>
              <mc:Fallback>
                <p:oleObj name="Equation" r:id="rId3" imgW="2317664" imgH="336557" progId="Equation.3">
                  <p:embed/>
                  <p:pic>
                    <p:nvPicPr>
                      <p:cNvPr id="394243" name="Object 3">
                        <a:extLst>
                          <a:ext uri="{FF2B5EF4-FFF2-40B4-BE49-F238E27FC236}">
                            <a16:creationId xmlns:a16="http://schemas.microsoft.com/office/drawing/2014/main" id="{2FAFBC37-150A-9237-D6D9-C2158726A2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4314" y="2895600"/>
                        <a:ext cx="4173537" cy="704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4245" name="Object 5">
            <a:extLst>
              <a:ext uri="{FF2B5EF4-FFF2-40B4-BE49-F238E27FC236}">
                <a16:creationId xmlns:a16="http://schemas.microsoft.com/office/drawing/2014/main" id="{50A7E4FE-9157-8481-9256-34B63FDFA9F6}"/>
              </a:ext>
            </a:extLst>
          </p:cNvPr>
          <p:cNvGraphicFramePr>
            <a:graphicFrameLocks noChangeAspect="1"/>
          </p:cNvGraphicFramePr>
          <p:nvPr/>
        </p:nvGraphicFramePr>
        <p:xfrm>
          <a:off x="5334001" y="3657600"/>
          <a:ext cx="4951413" cy="704850"/>
        </p:xfrm>
        <a:graphic>
          <a:graphicData uri="http://schemas.openxmlformats.org/presentationml/2006/ole">
            <mc:AlternateContent xmlns:mc="http://schemas.openxmlformats.org/markup-compatibility/2006">
              <mc:Choice xmlns:v="urn:schemas-microsoft-com:vml" Requires="v">
                <p:oleObj name="Equation" r:id="rId5" imgW="2756023" imgH="336557" progId="Equation.3">
                  <p:embed/>
                </p:oleObj>
              </mc:Choice>
              <mc:Fallback>
                <p:oleObj name="Equation" r:id="rId5" imgW="2756023" imgH="336557" progId="Equation.3">
                  <p:embed/>
                  <p:pic>
                    <p:nvPicPr>
                      <p:cNvPr id="394245" name="Object 5">
                        <a:extLst>
                          <a:ext uri="{FF2B5EF4-FFF2-40B4-BE49-F238E27FC236}">
                            <a16:creationId xmlns:a16="http://schemas.microsoft.com/office/drawing/2014/main" id="{50A7E4FE-9157-8481-9256-34B63FDFA9F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1" y="3657600"/>
                        <a:ext cx="4951413" cy="704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4246" name="Rectangle 6">
            <a:extLst>
              <a:ext uri="{FF2B5EF4-FFF2-40B4-BE49-F238E27FC236}">
                <a16:creationId xmlns:a16="http://schemas.microsoft.com/office/drawing/2014/main" id="{864F1884-B0B3-6D43-D702-0D3662285B36}"/>
              </a:ext>
            </a:extLst>
          </p:cNvPr>
          <p:cNvSpPr>
            <a:spLocks noChangeArrowheads="1"/>
          </p:cNvSpPr>
          <p:nvPr/>
        </p:nvSpPr>
        <p:spPr bwMode="auto">
          <a:xfrm>
            <a:off x="2468563" y="4329113"/>
            <a:ext cx="7772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lnSpc>
                <a:spcPct val="90000"/>
              </a:lnSpc>
              <a:spcBef>
                <a:spcPct val="20000"/>
              </a:spcBef>
              <a:spcAft>
                <a:spcPct val="0"/>
              </a:spcAft>
              <a:buSzPct val="90000"/>
            </a:pPr>
            <a:r>
              <a:rPr lang="en-US" altLang="en-US" sz="2400">
                <a:solidFill>
                  <a:prstClr val="black"/>
                </a:solidFill>
              </a:rPr>
              <a:t>For every 1% drop in revenue, we can expect roughly a 4.26% drop in NPV:</a:t>
            </a:r>
          </a:p>
        </p:txBody>
      </p:sp>
      <p:graphicFrame>
        <p:nvGraphicFramePr>
          <p:cNvPr id="394247" name="Object 7">
            <a:extLst>
              <a:ext uri="{FF2B5EF4-FFF2-40B4-BE49-F238E27FC236}">
                <a16:creationId xmlns:a16="http://schemas.microsoft.com/office/drawing/2014/main" id="{BFA84300-24DC-1C05-82F7-6277BF7C53ED}"/>
              </a:ext>
            </a:extLst>
          </p:cNvPr>
          <p:cNvGraphicFramePr>
            <a:graphicFrameLocks noChangeAspect="1"/>
          </p:cNvGraphicFramePr>
          <p:nvPr/>
        </p:nvGraphicFramePr>
        <p:xfrm>
          <a:off x="5281613" y="5100639"/>
          <a:ext cx="2030412" cy="669925"/>
        </p:xfrm>
        <a:graphic>
          <a:graphicData uri="http://schemas.openxmlformats.org/presentationml/2006/ole">
            <mc:AlternateContent xmlns:mc="http://schemas.openxmlformats.org/markup-compatibility/2006">
              <mc:Choice xmlns:v="urn:schemas-microsoft-com:vml" Requires="v">
                <p:oleObj name="Equation" r:id="rId7" imgW="1079525" imgH="311187" progId="Equation.3">
                  <p:embed/>
                </p:oleObj>
              </mc:Choice>
              <mc:Fallback>
                <p:oleObj name="Equation" r:id="rId7" imgW="1079525" imgH="311187" progId="Equation.3">
                  <p:embed/>
                  <p:pic>
                    <p:nvPicPr>
                      <p:cNvPr id="394247" name="Object 7">
                        <a:extLst>
                          <a:ext uri="{FF2B5EF4-FFF2-40B4-BE49-F238E27FC236}">
                            <a16:creationId xmlns:a16="http://schemas.microsoft.com/office/drawing/2014/main" id="{BFA84300-24DC-1C05-82F7-6277BF7C53E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81613" y="5100639"/>
                        <a:ext cx="2030412" cy="669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94243"/>
                                        </p:tgtEl>
                                        <p:attrNameLst>
                                          <p:attrName>style.visibility</p:attrName>
                                        </p:attrNameLst>
                                      </p:cBhvr>
                                      <p:to>
                                        <p:strVal val="visible"/>
                                      </p:to>
                                    </p:set>
                                    <p:animEffect transition="in" filter="fade">
                                      <p:cBhvr>
                                        <p:cTn id="7" dur="1000"/>
                                        <p:tgtEl>
                                          <p:spTgt spid="394243"/>
                                        </p:tgtEl>
                                      </p:cBhvr>
                                    </p:animEffect>
                                    <p:anim calcmode="lin" valueType="num">
                                      <p:cBhvr>
                                        <p:cTn id="8" dur="1000" fill="hold"/>
                                        <p:tgtEl>
                                          <p:spTgt spid="394243"/>
                                        </p:tgtEl>
                                        <p:attrNameLst>
                                          <p:attrName>ppt_x</p:attrName>
                                        </p:attrNameLst>
                                      </p:cBhvr>
                                      <p:tavLst>
                                        <p:tav tm="0">
                                          <p:val>
                                            <p:strVal val="#ppt_x"/>
                                          </p:val>
                                        </p:tav>
                                        <p:tav tm="100000">
                                          <p:val>
                                            <p:strVal val="#ppt_x"/>
                                          </p:val>
                                        </p:tav>
                                      </p:tavLst>
                                    </p:anim>
                                    <p:anim calcmode="lin" valueType="num">
                                      <p:cBhvr>
                                        <p:cTn id="9" dur="1000" fill="hold"/>
                                        <p:tgtEl>
                                          <p:spTgt spid="394243"/>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394245"/>
                                        </p:tgtEl>
                                        <p:attrNameLst>
                                          <p:attrName>style.visibility</p:attrName>
                                        </p:attrNameLst>
                                      </p:cBhvr>
                                      <p:to>
                                        <p:strVal val="visible"/>
                                      </p:to>
                                    </p:set>
                                    <p:animEffect transition="in" filter="fade">
                                      <p:cBhvr>
                                        <p:cTn id="14" dur="1000"/>
                                        <p:tgtEl>
                                          <p:spTgt spid="394245"/>
                                        </p:tgtEl>
                                      </p:cBhvr>
                                    </p:animEffect>
                                    <p:anim calcmode="lin" valueType="num">
                                      <p:cBhvr>
                                        <p:cTn id="15" dur="1000" fill="hold"/>
                                        <p:tgtEl>
                                          <p:spTgt spid="394245"/>
                                        </p:tgtEl>
                                        <p:attrNameLst>
                                          <p:attrName>ppt_x</p:attrName>
                                        </p:attrNameLst>
                                      </p:cBhvr>
                                      <p:tavLst>
                                        <p:tav tm="0">
                                          <p:val>
                                            <p:strVal val="#ppt_x"/>
                                          </p:val>
                                        </p:tav>
                                        <p:tav tm="100000">
                                          <p:val>
                                            <p:strVal val="#ppt_x"/>
                                          </p:val>
                                        </p:tav>
                                      </p:tavLst>
                                    </p:anim>
                                    <p:anim calcmode="lin" valueType="num">
                                      <p:cBhvr>
                                        <p:cTn id="16" dur="1000" fill="hold"/>
                                        <p:tgtEl>
                                          <p:spTgt spid="394245"/>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94246"/>
                                        </p:tgtEl>
                                        <p:attrNameLst>
                                          <p:attrName>style.visibility</p:attrName>
                                        </p:attrNameLst>
                                      </p:cBhvr>
                                      <p:to>
                                        <p:strVal val="visible"/>
                                      </p:to>
                                    </p:set>
                                    <p:animEffect transition="in" filter="fade">
                                      <p:cBhvr>
                                        <p:cTn id="21" dur="1000"/>
                                        <p:tgtEl>
                                          <p:spTgt spid="394246"/>
                                        </p:tgtEl>
                                      </p:cBhvr>
                                    </p:animEffect>
                                    <p:anim calcmode="lin" valueType="num">
                                      <p:cBhvr>
                                        <p:cTn id="22" dur="1000" fill="hold"/>
                                        <p:tgtEl>
                                          <p:spTgt spid="394246"/>
                                        </p:tgtEl>
                                        <p:attrNameLst>
                                          <p:attrName>ppt_x</p:attrName>
                                        </p:attrNameLst>
                                      </p:cBhvr>
                                      <p:tavLst>
                                        <p:tav tm="0">
                                          <p:val>
                                            <p:strVal val="#ppt_x"/>
                                          </p:val>
                                        </p:tav>
                                        <p:tav tm="100000">
                                          <p:val>
                                            <p:strVal val="#ppt_x"/>
                                          </p:val>
                                        </p:tav>
                                      </p:tavLst>
                                    </p:anim>
                                    <p:anim calcmode="lin" valueType="num">
                                      <p:cBhvr>
                                        <p:cTn id="23" dur="1000" fill="hold"/>
                                        <p:tgtEl>
                                          <p:spTgt spid="394246"/>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394247"/>
                                        </p:tgtEl>
                                        <p:attrNameLst>
                                          <p:attrName>style.visibility</p:attrName>
                                        </p:attrNameLst>
                                      </p:cBhvr>
                                      <p:to>
                                        <p:strVal val="visible"/>
                                      </p:to>
                                    </p:set>
                                    <p:animEffect transition="in" filter="fade">
                                      <p:cBhvr>
                                        <p:cTn id="28" dur="1000"/>
                                        <p:tgtEl>
                                          <p:spTgt spid="394247"/>
                                        </p:tgtEl>
                                      </p:cBhvr>
                                    </p:animEffect>
                                    <p:anim calcmode="lin" valueType="num">
                                      <p:cBhvr>
                                        <p:cTn id="29" dur="1000" fill="hold"/>
                                        <p:tgtEl>
                                          <p:spTgt spid="394247"/>
                                        </p:tgtEl>
                                        <p:attrNameLst>
                                          <p:attrName>ppt_x</p:attrName>
                                        </p:attrNameLst>
                                      </p:cBhvr>
                                      <p:tavLst>
                                        <p:tav tm="0">
                                          <p:val>
                                            <p:strVal val="#ppt_x"/>
                                          </p:val>
                                        </p:tav>
                                        <p:tav tm="100000">
                                          <p:val>
                                            <p:strVal val="#ppt_x"/>
                                          </p:val>
                                        </p:tav>
                                      </p:tavLst>
                                    </p:anim>
                                    <p:anim calcmode="lin" valueType="num">
                                      <p:cBhvr>
                                        <p:cTn id="30" dur="1000" fill="hold"/>
                                        <p:tgtEl>
                                          <p:spTgt spid="3942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246" grpId="0" autoUpdateAnimBg="0"/>
    </p:bldLst>
  </p:timing>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5267" name="Rectangle 3">
            <a:extLst>
              <a:ext uri="{FF2B5EF4-FFF2-40B4-BE49-F238E27FC236}">
                <a16:creationId xmlns:a16="http://schemas.microsoft.com/office/drawing/2014/main" id="{1E79756A-AD98-BEE3-7D6D-AF1602214710}"/>
              </a:ext>
            </a:extLst>
          </p:cNvPr>
          <p:cNvSpPr>
            <a:spLocks noGrp="1"/>
          </p:cNvSpPr>
          <p:nvPr>
            <p:ph idx="1"/>
          </p:nvPr>
        </p:nvSpPr>
        <p:spPr>
          <a:xfrm>
            <a:off x="1981200" y="990600"/>
            <a:ext cx="8153400" cy="5029200"/>
          </a:xfrm>
        </p:spPr>
        <p:txBody>
          <a:bodyPr/>
          <a:lstStyle/>
          <a:p>
            <a:pPr marL="476250" indent="-476250" eaLnBrk="1" hangingPunct="1"/>
            <a:r>
              <a:rPr lang="en-US" altLang="en-US" sz="2400">
                <a:latin typeface="Times New Roman" panose="02020603050405020304" pitchFamily="18" charset="0"/>
                <a:ea typeface="ＭＳ Ｐゴシック" panose="020B0600070205080204" pitchFamily="34" charset="-128"/>
              </a:rPr>
              <a:t>A variation on sensitivity analysis is scenario analysis.</a:t>
            </a:r>
          </a:p>
          <a:p>
            <a:pPr marL="476250" indent="-476250" eaLnBrk="1" hangingPunct="1"/>
            <a:r>
              <a:rPr lang="en-US" altLang="en-US" sz="2400">
                <a:latin typeface="Times New Roman" panose="02020603050405020304" pitchFamily="18" charset="0"/>
                <a:ea typeface="ＭＳ Ｐゴシック" panose="020B0600070205080204" pitchFamily="34" charset="-128"/>
              </a:rPr>
              <a:t>For example, the following three scenarios could apply to Stewart Pharmaceuticals:</a:t>
            </a:r>
          </a:p>
          <a:p>
            <a:pPr marL="933450" lvl="1" indent="-461963" eaLnBrk="1" hangingPunct="1">
              <a:buFont typeface="Symbol" panose="05050102010706020507" pitchFamily="18" charset="2"/>
              <a:buAutoNum type="arabicPeriod"/>
            </a:pPr>
            <a:r>
              <a:rPr lang="en-US" altLang="en-US" sz="2200">
                <a:latin typeface="Times New Roman" panose="02020603050405020304" pitchFamily="18" charset="0"/>
                <a:ea typeface="ＭＳ Ｐゴシック" panose="020B0600070205080204" pitchFamily="34" charset="-128"/>
              </a:rPr>
              <a:t>The next few years each have heavy cold seasons, and sales exceed expectations, but labor costs skyrocket.</a:t>
            </a:r>
          </a:p>
          <a:p>
            <a:pPr marL="933450" lvl="1" indent="-461963" eaLnBrk="1" hangingPunct="1">
              <a:buFont typeface="Symbol" panose="05050102010706020507" pitchFamily="18" charset="2"/>
              <a:buAutoNum type="arabicPeriod"/>
            </a:pPr>
            <a:r>
              <a:rPr lang="en-US" altLang="en-US" sz="2200">
                <a:latin typeface="Times New Roman" panose="02020603050405020304" pitchFamily="18" charset="0"/>
                <a:ea typeface="ＭＳ Ｐゴシック" panose="020B0600070205080204" pitchFamily="34" charset="-128"/>
              </a:rPr>
              <a:t>The next few years are normal, and sales meet expectations.</a:t>
            </a:r>
          </a:p>
          <a:p>
            <a:pPr marL="933450" lvl="1" indent="-461963" eaLnBrk="1" hangingPunct="1">
              <a:buFont typeface="Symbol" panose="05050102010706020507" pitchFamily="18" charset="2"/>
              <a:buAutoNum type="arabicPeriod"/>
            </a:pPr>
            <a:r>
              <a:rPr lang="en-US" altLang="en-US" sz="2200">
                <a:latin typeface="Times New Roman" panose="02020603050405020304" pitchFamily="18" charset="0"/>
                <a:ea typeface="ＭＳ Ｐゴシック" panose="020B0600070205080204" pitchFamily="34" charset="-128"/>
              </a:rPr>
              <a:t>The next few years each have lighter than normal cold seasons, so sales fail to meet expectations.</a:t>
            </a:r>
          </a:p>
          <a:p>
            <a:pPr marL="476250" indent="-476250" eaLnBrk="1" hangingPunct="1"/>
            <a:r>
              <a:rPr lang="en-US" altLang="en-US" sz="2400">
                <a:latin typeface="Times New Roman" panose="02020603050405020304" pitchFamily="18" charset="0"/>
                <a:ea typeface="ＭＳ Ｐゴシック" panose="020B0600070205080204" pitchFamily="34" charset="-128"/>
              </a:rPr>
              <a:t>Other scenarios could apply to FDA approval.</a:t>
            </a:r>
          </a:p>
          <a:p>
            <a:pPr marL="476250" indent="-476250" eaLnBrk="1" hangingPunct="1"/>
            <a:r>
              <a:rPr lang="en-US" altLang="en-US" sz="2400">
                <a:latin typeface="Times New Roman" panose="02020603050405020304" pitchFamily="18" charset="0"/>
                <a:ea typeface="ＭＳ Ｐゴシック" panose="020B0600070205080204" pitchFamily="34" charset="-128"/>
              </a:rPr>
              <a:t>For each scenario, calculate the NPV.</a:t>
            </a:r>
          </a:p>
        </p:txBody>
      </p:sp>
      <p:sp>
        <p:nvSpPr>
          <p:cNvPr id="23554" name="Rectangle 2">
            <a:extLst>
              <a:ext uri="{FF2B5EF4-FFF2-40B4-BE49-F238E27FC236}">
                <a16:creationId xmlns:a16="http://schemas.microsoft.com/office/drawing/2014/main" id="{E44F1261-ABB7-182F-24E6-2C226F914B2F}"/>
              </a:ext>
            </a:extLst>
          </p:cNvPr>
          <p:cNvSpPr>
            <a:spLocks noGrp="1" noChangeArrowheads="1"/>
          </p:cNvSpPr>
          <p:nvPr>
            <p:ph type="title"/>
          </p:nvPr>
        </p:nvSpPr>
        <p:spPr>
          <a:xfrm>
            <a:off x="1981200" y="0"/>
            <a:ext cx="8229600" cy="1143000"/>
          </a:xfrm>
        </p:spPr>
        <p:txBody>
          <a:bodyPr/>
          <a:lstStyle/>
          <a:p>
            <a:pPr eaLnBrk="1" fontAlgn="auto" hangingPunct="1">
              <a:spcAft>
                <a:spcPts val="0"/>
              </a:spcAft>
              <a:defRPr/>
            </a:pPr>
            <a:r>
              <a:rPr lang="en-US" altLang="en-US" sz="3400" dirty="0">
                <a:ea typeface="+mj-ea"/>
                <a:cs typeface="+mj-cs"/>
              </a:rPr>
              <a:t>Scenario Analysis: Stewart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95267">
                                            <p:txEl>
                                              <p:pRg st="0" end="0"/>
                                            </p:txEl>
                                          </p:spTgt>
                                        </p:tgtEl>
                                        <p:attrNameLst>
                                          <p:attrName>style.visibility</p:attrName>
                                        </p:attrNameLst>
                                      </p:cBhvr>
                                      <p:to>
                                        <p:strVal val="visible"/>
                                      </p:to>
                                    </p:set>
                                    <p:animEffect transition="in" filter="fade">
                                      <p:cBhvr>
                                        <p:cTn id="7" dur="1000"/>
                                        <p:tgtEl>
                                          <p:spTgt spid="395267">
                                            <p:txEl>
                                              <p:pRg st="0" end="0"/>
                                            </p:txEl>
                                          </p:spTgt>
                                        </p:tgtEl>
                                      </p:cBhvr>
                                    </p:animEffect>
                                    <p:anim calcmode="lin" valueType="num">
                                      <p:cBhvr>
                                        <p:cTn id="8" dur="1000" fill="hold"/>
                                        <p:tgtEl>
                                          <p:spTgt spid="39526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9526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95267">
                                            <p:txEl>
                                              <p:pRg st="1" end="1"/>
                                            </p:txEl>
                                          </p:spTgt>
                                        </p:tgtEl>
                                        <p:attrNameLst>
                                          <p:attrName>style.visibility</p:attrName>
                                        </p:attrNameLst>
                                      </p:cBhvr>
                                      <p:to>
                                        <p:strVal val="visible"/>
                                      </p:to>
                                    </p:set>
                                    <p:animEffect transition="in" filter="fade">
                                      <p:cBhvr>
                                        <p:cTn id="14" dur="1000"/>
                                        <p:tgtEl>
                                          <p:spTgt spid="395267">
                                            <p:txEl>
                                              <p:pRg st="1" end="1"/>
                                            </p:txEl>
                                          </p:spTgt>
                                        </p:tgtEl>
                                      </p:cBhvr>
                                    </p:animEffect>
                                    <p:anim calcmode="lin" valueType="num">
                                      <p:cBhvr>
                                        <p:cTn id="15" dur="1000" fill="hold"/>
                                        <p:tgtEl>
                                          <p:spTgt spid="39526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95267">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95267">
                                            <p:txEl>
                                              <p:pRg st="2" end="2"/>
                                            </p:txEl>
                                          </p:spTgt>
                                        </p:tgtEl>
                                        <p:attrNameLst>
                                          <p:attrName>style.visibility</p:attrName>
                                        </p:attrNameLst>
                                      </p:cBhvr>
                                      <p:to>
                                        <p:strVal val="visible"/>
                                      </p:to>
                                    </p:set>
                                    <p:animEffect transition="in" filter="fade">
                                      <p:cBhvr>
                                        <p:cTn id="19" dur="1000"/>
                                        <p:tgtEl>
                                          <p:spTgt spid="395267">
                                            <p:txEl>
                                              <p:pRg st="2" end="2"/>
                                            </p:txEl>
                                          </p:spTgt>
                                        </p:tgtEl>
                                      </p:cBhvr>
                                    </p:animEffect>
                                    <p:anim calcmode="lin" valueType="num">
                                      <p:cBhvr>
                                        <p:cTn id="20" dur="1000" fill="hold"/>
                                        <p:tgtEl>
                                          <p:spTgt spid="395267">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95267">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95267">
                                            <p:txEl>
                                              <p:pRg st="3" end="3"/>
                                            </p:txEl>
                                          </p:spTgt>
                                        </p:tgtEl>
                                        <p:attrNameLst>
                                          <p:attrName>style.visibility</p:attrName>
                                        </p:attrNameLst>
                                      </p:cBhvr>
                                      <p:to>
                                        <p:strVal val="visible"/>
                                      </p:to>
                                    </p:set>
                                    <p:animEffect transition="in" filter="fade">
                                      <p:cBhvr>
                                        <p:cTn id="24" dur="1000"/>
                                        <p:tgtEl>
                                          <p:spTgt spid="395267">
                                            <p:txEl>
                                              <p:pRg st="3" end="3"/>
                                            </p:txEl>
                                          </p:spTgt>
                                        </p:tgtEl>
                                      </p:cBhvr>
                                    </p:animEffect>
                                    <p:anim calcmode="lin" valueType="num">
                                      <p:cBhvr>
                                        <p:cTn id="25" dur="1000" fill="hold"/>
                                        <p:tgtEl>
                                          <p:spTgt spid="395267">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95267">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95267">
                                            <p:txEl>
                                              <p:pRg st="4" end="4"/>
                                            </p:txEl>
                                          </p:spTgt>
                                        </p:tgtEl>
                                        <p:attrNameLst>
                                          <p:attrName>style.visibility</p:attrName>
                                        </p:attrNameLst>
                                      </p:cBhvr>
                                      <p:to>
                                        <p:strVal val="visible"/>
                                      </p:to>
                                    </p:set>
                                    <p:animEffect transition="in" filter="fade">
                                      <p:cBhvr>
                                        <p:cTn id="29" dur="1000"/>
                                        <p:tgtEl>
                                          <p:spTgt spid="395267">
                                            <p:txEl>
                                              <p:pRg st="4" end="4"/>
                                            </p:txEl>
                                          </p:spTgt>
                                        </p:tgtEl>
                                      </p:cBhvr>
                                    </p:animEffect>
                                    <p:anim calcmode="lin" valueType="num">
                                      <p:cBhvr>
                                        <p:cTn id="30" dur="1000" fill="hold"/>
                                        <p:tgtEl>
                                          <p:spTgt spid="395267">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9526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395267">
                                            <p:txEl>
                                              <p:pRg st="5" end="5"/>
                                            </p:txEl>
                                          </p:spTgt>
                                        </p:tgtEl>
                                        <p:attrNameLst>
                                          <p:attrName>style.visibility</p:attrName>
                                        </p:attrNameLst>
                                      </p:cBhvr>
                                      <p:to>
                                        <p:strVal val="visible"/>
                                      </p:to>
                                    </p:set>
                                    <p:animEffect transition="in" filter="fade">
                                      <p:cBhvr>
                                        <p:cTn id="36" dur="1000"/>
                                        <p:tgtEl>
                                          <p:spTgt spid="395267">
                                            <p:txEl>
                                              <p:pRg st="5" end="5"/>
                                            </p:txEl>
                                          </p:spTgt>
                                        </p:tgtEl>
                                      </p:cBhvr>
                                    </p:animEffect>
                                    <p:anim calcmode="lin" valueType="num">
                                      <p:cBhvr>
                                        <p:cTn id="37" dur="1000" fill="hold"/>
                                        <p:tgtEl>
                                          <p:spTgt spid="395267">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39526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395267">
                                            <p:txEl>
                                              <p:pRg st="6" end="6"/>
                                            </p:txEl>
                                          </p:spTgt>
                                        </p:tgtEl>
                                        <p:attrNameLst>
                                          <p:attrName>style.visibility</p:attrName>
                                        </p:attrNameLst>
                                      </p:cBhvr>
                                      <p:to>
                                        <p:strVal val="visible"/>
                                      </p:to>
                                    </p:set>
                                    <p:animEffect transition="in" filter="fade">
                                      <p:cBhvr>
                                        <p:cTn id="43" dur="1000"/>
                                        <p:tgtEl>
                                          <p:spTgt spid="395267">
                                            <p:txEl>
                                              <p:pRg st="6" end="6"/>
                                            </p:txEl>
                                          </p:spTgt>
                                        </p:tgtEl>
                                      </p:cBhvr>
                                    </p:animEffect>
                                    <p:anim calcmode="lin" valueType="num">
                                      <p:cBhvr>
                                        <p:cTn id="44" dur="1000" fill="hold"/>
                                        <p:tgtEl>
                                          <p:spTgt spid="395267">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39526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67"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7" name="Rectangle 3">
            <a:extLst>
              <a:ext uri="{FF2B5EF4-FFF2-40B4-BE49-F238E27FC236}">
                <a16:creationId xmlns:a16="http://schemas.microsoft.com/office/drawing/2014/main" id="{DECE4DC8-96A2-E919-04EF-B369A02A2BF4}"/>
              </a:ext>
            </a:extLst>
          </p:cNvPr>
          <p:cNvSpPr>
            <a:spLocks noGrp="1"/>
          </p:cNvSpPr>
          <p:nvPr>
            <p:ph idx="1"/>
          </p:nvPr>
        </p:nvSpPr>
        <p:spPr/>
        <p:txBody>
          <a:bodyPr/>
          <a:lstStyle/>
          <a:p>
            <a:pPr marL="342900" indent="-342900" eaLnBrk="1" hangingPunct="1"/>
            <a:r>
              <a:rPr lang="en-US" altLang="en-US">
                <a:latin typeface="Times New Roman" panose="02020603050405020304" pitchFamily="18" charset="0"/>
                <a:ea typeface="ＭＳ Ｐゴシック" panose="020B0600070205080204" pitchFamily="34" charset="-128"/>
              </a:rPr>
              <a:t>Common tool for analyzing the relationship between sales volume and profitability</a:t>
            </a:r>
          </a:p>
          <a:p>
            <a:pPr marL="342900" indent="-342900" eaLnBrk="1" hangingPunct="1"/>
            <a:r>
              <a:rPr lang="en-US" altLang="en-US">
                <a:latin typeface="Times New Roman" panose="02020603050405020304" pitchFamily="18" charset="0"/>
                <a:ea typeface="ＭＳ Ｐゴシック" panose="020B0600070205080204" pitchFamily="34" charset="-128"/>
              </a:rPr>
              <a:t>There are three common break-even measures</a:t>
            </a:r>
          </a:p>
          <a:p>
            <a:pPr marL="742950" lvl="1" indent="-285750" eaLnBrk="1" hangingPunct="1"/>
            <a:r>
              <a:rPr lang="en-US" altLang="en-US">
                <a:latin typeface="Times New Roman" panose="02020603050405020304" pitchFamily="18" charset="0"/>
                <a:ea typeface="ＭＳ Ｐゴシック" panose="020B0600070205080204" pitchFamily="34" charset="-128"/>
              </a:rPr>
              <a:t>Accounting break-even: sales volume at which net income = 0</a:t>
            </a:r>
          </a:p>
          <a:p>
            <a:pPr marL="742950" lvl="1" indent="-285750" eaLnBrk="1" hangingPunct="1"/>
            <a:r>
              <a:rPr lang="en-US" altLang="en-US">
                <a:latin typeface="Times New Roman" panose="02020603050405020304" pitchFamily="18" charset="0"/>
                <a:ea typeface="ＭＳ Ｐゴシック" panose="020B0600070205080204" pitchFamily="34" charset="-128"/>
              </a:rPr>
              <a:t>Cash break-even: sales volume at which operating cash flow = 0</a:t>
            </a:r>
          </a:p>
          <a:p>
            <a:pPr marL="742950" lvl="1" indent="-285750" eaLnBrk="1" hangingPunct="1"/>
            <a:r>
              <a:rPr lang="en-US" altLang="en-US">
                <a:latin typeface="Times New Roman" panose="02020603050405020304" pitchFamily="18" charset="0"/>
                <a:ea typeface="ＭＳ Ｐゴシック" panose="020B0600070205080204" pitchFamily="34" charset="-128"/>
              </a:rPr>
              <a:t>Financial break-even: sales volume at which net present value = 0</a:t>
            </a:r>
          </a:p>
        </p:txBody>
      </p:sp>
      <p:sp>
        <p:nvSpPr>
          <p:cNvPr id="25602" name="Rectangle 2">
            <a:extLst>
              <a:ext uri="{FF2B5EF4-FFF2-40B4-BE49-F238E27FC236}">
                <a16:creationId xmlns:a16="http://schemas.microsoft.com/office/drawing/2014/main" id="{416E0520-5903-9EA1-7E94-9A1C0D584AB5}"/>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Break-Even Analysis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502787">
                                            <p:txEl>
                                              <p:pRg st="0" end="0"/>
                                            </p:txEl>
                                          </p:spTgt>
                                        </p:tgtEl>
                                        <p:attrNameLst>
                                          <p:attrName>style.visibility</p:attrName>
                                        </p:attrNameLst>
                                      </p:cBhvr>
                                      <p:to>
                                        <p:strVal val="visible"/>
                                      </p:to>
                                    </p:set>
                                    <p:animEffect transition="in" filter="fade">
                                      <p:cBhvr>
                                        <p:cTn id="7" dur="1000"/>
                                        <p:tgtEl>
                                          <p:spTgt spid="502787">
                                            <p:txEl>
                                              <p:pRg st="0" end="0"/>
                                            </p:txEl>
                                          </p:spTgt>
                                        </p:tgtEl>
                                      </p:cBhvr>
                                    </p:animEffect>
                                    <p:anim calcmode="lin" valueType="num">
                                      <p:cBhvr>
                                        <p:cTn id="8" dur="1000" fill="hold"/>
                                        <p:tgtEl>
                                          <p:spTgt spid="50278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0278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502787">
                                            <p:txEl>
                                              <p:pRg st="1" end="1"/>
                                            </p:txEl>
                                          </p:spTgt>
                                        </p:tgtEl>
                                        <p:attrNameLst>
                                          <p:attrName>style.visibility</p:attrName>
                                        </p:attrNameLst>
                                      </p:cBhvr>
                                      <p:to>
                                        <p:strVal val="visible"/>
                                      </p:to>
                                    </p:set>
                                    <p:animEffect transition="in" filter="fade">
                                      <p:cBhvr>
                                        <p:cTn id="14" dur="1000"/>
                                        <p:tgtEl>
                                          <p:spTgt spid="502787">
                                            <p:txEl>
                                              <p:pRg st="1" end="1"/>
                                            </p:txEl>
                                          </p:spTgt>
                                        </p:tgtEl>
                                      </p:cBhvr>
                                    </p:animEffect>
                                    <p:anim calcmode="lin" valueType="num">
                                      <p:cBhvr>
                                        <p:cTn id="15" dur="1000" fill="hold"/>
                                        <p:tgtEl>
                                          <p:spTgt spid="50278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502787">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502787">
                                            <p:txEl>
                                              <p:pRg st="2" end="2"/>
                                            </p:txEl>
                                          </p:spTgt>
                                        </p:tgtEl>
                                        <p:attrNameLst>
                                          <p:attrName>style.visibility</p:attrName>
                                        </p:attrNameLst>
                                      </p:cBhvr>
                                      <p:to>
                                        <p:strVal val="visible"/>
                                      </p:to>
                                    </p:set>
                                    <p:animEffect transition="in" filter="fade">
                                      <p:cBhvr>
                                        <p:cTn id="19" dur="1000"/>
                                        <p:tgtEl>
                                          <p:spTgt spid="502787">
                                            <p:txEl>
                                              <p:pRg st="2" end="2"/>
                                            </p:txEl>
                                          </p:spTgt>
                                        </p:tgtEl>
                                      </p:cBhvr>
                                    </p:animEffect>
                                    <p:anim calcmode="lin" valueType="num">
                                      <p:cBhvr>
                                        <p:cTn id="20" dur="1000" fill="hold"/>
                                        <p:tgtEl>
                                          <p:spTgt spid="502787">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502787">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502787">
                                            <p:txEl>
                                              <p:pRg st="3" end="3"/>
                                            </p:txEl>
                                          </p:spTgt>
                                        </p:tgtEl>
                                        <p:attrNameLst>
                                          <p:attrName>style.visibility</p:attrName>
                                        </p:attrNameLst>
                                      </p:cBhvr>
                                      <p:to>
                                        <p:strVal val="visible"/>
                                      </p:to>
                                    </p:set>
                                    <p:animEffect transition="in" filter="fade">
                                      <p:cBhvr>
                                        <p:cTn id="24" dur="1000"/>
                                        <p:tgtEl>
                                          <p:spTgt spid="502787">
                                            <p:txEl>
                                              <p:pRg st="3" end="3"/>
                                            </p:txEl>
                                          </p:spTgt>
                                        </p:tgtEl>
                                      </p:cBhvr>
                                    </p:animEffect>
                                    <p:anim calcmode="lin" valueType="num">
                                      <p:cBhvr>
                                        <p:cTn id="25" dur="1000" fill="hold"/>
                                        <p:tgtEl>
                                          <p:spTgt spid="502787">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502787">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502787">
                                            <p:txEl>
                                              <p:pRg st="4" end="4"/>
                                            </p:txEl>
                                          </p:spTgt>
                                        </p:tgtEl>
                                        <p:attrNameLst>
                                          <p:attrName>style.visibility</p:attrName>
                                        </p:attrNameLst>
                                      </p:cBhvr>
                                      <p:to>
                                        <p:strVal val="visible"/>
                                      </p:to>
                                    </p:set>
                                    <p:animEffect transition="in" filter="fade">
                                      <p:cBhvr>
                                        <p:cTn id="29" dur="1000"/>
                                        <p:tgtEl>
                                          <p:spTgt spid="502787">
                                            <p:txEl>
                                              <p:pRg st="4" end="4"/>
                                            </p:txEl>
                                          </p:spTgt>
                                        </p:tgtEl>
                                      </p:cBhvr>
                                    </p:animEffect>
                                    <p:anim calcmode="lin" valueType="num">
                                      <p:cBhvr>
                                        <p:cTn id="30" dur="1000" fill="hold"/>
                                        <p:tgtEl>
                                          <p:spTgt spid="502787">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50278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6291" name="Rectangle 3">
            <a:extLst>
              <a:ext uri="{FF2B5EF4-FFF2-40B4-BE49-F238E27FC236}">
                <a16:creationId xmlns:a16="http://schemas.microsoft.com/office/drawing/2014/main" id="{3415A1BE-83B1-9324-5F6B-CD63B176D8F1}"/>
              </a:ext>
            </a:extLst>
          </p:cNvPr>
          <p:cNvSpPr>
            <a:spLocks noGrp="1"/>
          </p:cNvSpPr>
          <p:nvPr>
            <p:ph idx="1"/>
          </p:nvPr>
        </p:nvSpPr>
        <p:spPr>
          <a:xfrm>
            <a:off x="1981200" y="1828800"/>
            <a:ext cx="8229600" cy="2954338"/>
          </a:xfrm>
        </p:spPr>
        <p:txBody>
          <a:bodyPr/>
          <a:lstStyle/>
          <a:p>
            <a:pPr eaLnBrk="1" hangingPunct="1">
              <a:lnSpc>
                <a:spcPct val="80000"/>
              </a:lnSpc>
            </a:pPr>
            <a:r>
              <a:rPr lang="en-US" altLang="en-US" sz="2800">
                <a:latin typeface="Times New Roman" panose="02020603050405020304" pitchFamily="18" charset="0"/>
                <a:ea typeface="ＭＳ Ｐゴシック" panose="020B0600070205080204" pitchFamily="34" charset="-128"/>
              </a:rPr>
              <a:t>Another way to examine variability in our forecasts is break-even analysis.</a:t>
            </a:r>
          </a:p>
          <a:p>
            <a:pPr eaLnBrk="1" hangingPunct="1">
              <a:lnSpc>
                <a:spcPct val="80000"/>
              </a:lnSpc>
            </a:pPr>
            <a:r>
              <a:rPr lang="en-US" altLang="en-US" sz="2800">
                <a:latin typeface="Times New Roman" panose="02020603050405020304" pitchFamily="18" charset="0"/>
                <a:ea typeface="ＭＳ Ｐゴシック" panose="020B0600070205080204" pitchFamily="34" charset="-128"/>
              </a:rPr>
              <a:t>In the Stewart Pharmaceuticals example, we could be concerned with break-even revenue, break-even sales volume, or break-even price.</a:t>
            </a:r>
          </a:p>
          <a:p>
            <a:pPr eaLnBrk="1" hangingPunct="1">
              <a:lnSpc>
                <a:spcPct val="80000"/>
              </a:lnSpc>
            </a:pPr>
            <a:r>
              <a:rPr lang="en-US" altLang="en-US" sz="2800">
                <a:latin typeface="Times New Roman" panose="02020603050405020304" pitchFamily="18" charset="0"/>
                <a:ea typeface="ＭＳ Ｐゴシック" panose="020B0600070205080204" pitchFamily="34" charset="-128"/>
              </a:rPr>
              <a:t>To find either, we start with the break-even operating cash flow.</a:t>
            </a:r>
          </a:p>
        </p:txBody>
      </p:sp>
      <p:sp>
        <p:nvSpPr>
          <p:cNvPr id="27650" name="Rectangle 2">
            <a:extLst>
              <a:ext uri="{FF2B5EF4-FFF2-40B4-BE49-F238E27FC236}">
                <a16:creationId xmlns:a16="http://schemas.microsoft.com/office/drawing/2014/main" id="{2C1DC605-6346-2A24-DE8C-4A2CE27A8100}"/>
              </a:ext>
            </a:extLst>
          </p:cNvPr>
          <p:cNvSpPr>
            <a:spLocks noGrp="1" noChangeArrowheads="1"/>
          </p:cNvSpPr>
          <p:nvPr>
            <p:ph type="title"/>
          </p:nvPr>
        </p:nvSpPr>
        <p:spPr>
          <a:xfrm>
            <a:off x="1905001" y="533400"/>
            <a:ext cx="8545513" cy="1206500"/>
          </a:xfrm>
        </p:spPr>
        <p:txBody>
          <a:bodyPr/>
          <a:lstStyle/>
          <a:p>
            <a:pPr eaLnBrk="1" fontAlgn="auto" hangingPunct="1">
              <a:spcAft>
                <a:spcPts val="0"/>
              </a:spcAft>
              <a:defRPr/>
            </a:pPr>
            <a:r>
              <a:rPr lang="en-US" altLang="en-US" sz="3400" dirty="0">
                <a:ea typeface="+mj-ea"/>
                <a:cs typeface="+mj-cs"/>
              </a:rPr>
              <a:t>Break-Even Analysis: Stewart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96291">
                                            <p:txEl>
                                              <p:pRg st="0" end="0"/>
                                            </p:txEl>
                                          </p:spTgt>
                                        </p:tgtEl>
                                        <p:attrNameLst>
                                          <p:attrName>style.visibility</p:attrName>
                                        </p:attrNameLst>
                                      </p:cBhvr>
                                      <p:to>
                                        <p:strVal val="visible"/>
                                      </p:to>
                                    </p:set>
                                    <p:animEffect transition="in" filter="fade">
                                      <p:cBhvr>
                                        <p:cTn id="7" dur="1000"/>
                                        <p:tgtEl>
                                          <p:spTgt spid="396291">
                                            <p:txEl>
                                              <p:pRg st="0" end="0"/>
                                            </p:txEl>
                                          </p:spTgt>
                                        </p:tgtEl>
                                      </p:cBhvr>
                                    </p:animEffect>
                                    <p:anim calcmode="lin" valueType="num">
                                      <p:cBhvr>
                                        <p:cTn id="8" dur="1000" fill="hold"/>
                                        <p:tgtEl>
                                          <p:spTgt spid="39629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9629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96291">
                                            <p:txEl>
                                              <p:pRg st="1" end="1"/>
                                            </p:txEl>
                                          </p:spTgt>
                                        </p:tgtEl>
                                        <p:attrNameLst>
                                          <p:attrName>style.visibility</p:attrName>
                                        </p:attrNameLst>
                                      </p:cBhvr>
                                      <p:to>
                                        <p:strVal val="visible"/>
                                      </p:to>
                                    </p:set>
                                    <p:animEffect transition="in" filter="fade">
                                      <p:cBhvr>
                                        <p:cTn id="14" dur="1000"/>
                                        <p:tgtEl>
                                          <p:spTgt spid="396291">
                                            <p:txEl>
                                              <p:pRg st="1" end="1"/>
                                            </p:txEl>
                                          </p:spTgt>
                                        </p:tgtEl>
                                      </p:cBhvr>
                                    </p:animEffect>
                                    <p:anim calcmode="lin" valueType="num">
                                      <p:cBhvr>
                                        <p:cTn id="15" dur="1000" fill="hold"/>
                                        <p:tgtEl>
                                          <p:spTgt spid="396291">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9629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96291">
                                            <p:txEl>
                                              <p:pRg st="2" end="2"/>
                                            </p:txEl>
                                          </p:spTgt>
                                        </p:tgtEl>
                                        <p:attrNameLst>
                                          <p:attrName>style.visibility</p:attrName>
                                        </p:attrNameLst>
                                      </p:cBhvr>
                                      <p:to>
                                        <p:strVal val="visible"/>
                                      </p:to>
                                    </p:set>
                                    <p:animEffect transition="in" filter="fade">
                                      <p:cBhvr>
                                        <p:cTn id="21" dur="1000"/>
                                        <p:tgtEl>
                                          <p:spTgt spid="396291">
                                            <p:txEl>
                                              <p:pRg st="2" end="2"/>
                                            </p:txEl>
                                          </p:spTgt>
                                        </p:tgtEl>
                                      </p:cBhvr>
                                    </p:animEffect>
                                    <p:anim calcmode="lin" valueType="num">
                                      <p:cBhvr>
                                        <p:cTn id="22" dur="1000" fill="hold"/>
                                        <p:tgtEl>
                                          <p:spTgt spid="396291">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96291">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6291" grpId="0" build="p"/>
    </p:bldLst>
  </p:timing>
</p:sld>
</file>

<file path=ppt/slides/slide9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8995" name="Rectangle 3">
            <a:extLst>
              <a:ext uri="{FF2B5EF4-FFF2-40B4-BE49-F238E27FC236}">
                <a16:creationId xmlns:a16="http://schemas.microsoft.com/office/drawing/2014/main" id="{3954FC99-9C59-7704-10B7-1D1CCD88B1CD}"/>
              </a:ext>
            </a:extLst>
          </p:cNvPr>
          <p:cNvSpPr>
            <a:spLocks noGrp="1"/>
          </p:cNvSpPr>
          <p:nvPr>
            <p:ph idx="1"/>
          </p:nvPr>
        </p:nvSpPr>
        <p:spPr>
          <a:xfrm>
            <a:off x="1981201" y="1905001"/>
            <a:ext cx="3997325" cy="4302125"/>
          </a:xfrm>
        </p:spPr>
        <p:txBody>
          <a:bodyPr/>
          <a:lstStyle/>
          <a:p>
            <a:pPr eaLnBrk="1" hangingPunct="1"/>
            <a:r>
              <a:rPr lang="en-US" altLang="en-US" sz="2200">
                <a:ea typeface="ＭＳ Ｐゴシック" panose="020B0600070205080204" pitchFamily="34" charset="-128"/>
              </a:rPr>
              <a:t>The project requires an investment of $1,600. </a:t>
            </a:r>
          </a:p>
          <a:p>
            <a:pPr eaLnBrk="1" hangingPunct="1"/>
            <a:r>
              <a:rPr lang="en-US" altLang="en-US" sz="2200">
                <a:ea typeface="ＭＳ Ｐゴシック" panose="020B0600070205080204" pitchFamily="34" charset="-128"/>
              </a:rPr>
              <a:t>In order to cover our cost of capital (break even), the project needs to generate a cash flow of $504.75 each year for four years.</a:t>
            </a:r>
          </a:p>
          <a:p>
            <a:pPr eaLnBrk="1" hangingPunct="1"/>
            <a:r>
              <a:rPr lang="en-US" altLang="en-US" sz="2200">
                <a:ea typeface="ＭＳ Ｐゴシック" panose="020B0600070205080204" pitchFamily="34" charset="-128"/>
              </a:rPr>
              <a:t>This is the project’s break-even operating cash flow, </a:t>
            </a:r>
            <a:r>
              <a:rPr lang="en-US" altLang="en-US" sz="2200" i="1">
                <a:ea typeface="ＭＳ Ｐゴシック" panose="020B0600070205080204" pitchFamily="34" charset="-128"/>
              </a:rPr>
              <a:t>OCF</a:t>
            </a:r>
            <a:r>
              <a:rPr lang="en-US" altLang="en-US" sz="2200" i="1" baseline="-25000">
                <a:ea typeface="ＭＳ Ｐゴシック" panose="020B0600070205080204" pitchFamily="34" charset="-128"/>
              </a:rPr>
              <a:t>BE</a:t>
            </a:r>
            <a:r>
              <a:rPr lang="en-US" altLang="en-US" sz="2200" i="1">
                <a:ea typeface="ＭＳ Ｐゴシック" panose="020B0600070205080204" pitchFamily="34" charset="-128"/>
              </a:rPr>
              <a:t>.</a:t>
            </a:r>
            <a:endParaRPr lang="en-US" altLang="en-US" sz="2200" i="1" baseline="-25000">
              <a:ea typeface="ＭＳ Ｐゴシック" panose="020B0600070205080204" pitchFamily="34" charset="-128"/>
            </a:endParaRPr>
          </a:p>
        </p:txBody>
      </p:sp>
      <p:sp>
        <p:nvSpPr>
          <p:cNvPr id="29698" name="Rectangle 2">
            <a:extLst>
              <a:ext uri="{FF2B5EF4-FFF2-40B4-BE49-F238E27FC236}">
                <a16:creationId xmlns:a16="http://schemas.microsoft.com/office/drawing/2014/main" id="{B2BF5F7F-EE2A-A6A2-5B89-4CBA86BE902D}"/>
              </a:ext>
            </a:extLst>
          </p:cNvPr>
          <p:cNvSpPr>
            <a:spLocks noGrp="1" noChangeArrowheads="1"/>
          </p:cNvSpPr>
          <p:nvPr>
            <p:ph type="title"/>
          </p:nvPr>
        </p:nvSpPr>
        <p:spPr>
          <a:xfrm>
            <a:off x="1905001" y="533400"/>
            <a:ext cx="8545513" cy="1206500"/>
          </a:xfrm>
        </p:spPr>
        <p:txBody>
          <a:bodyPr/>
          <a:lstStyle/>
          <a:p>
            <a:pPr eaLnBrk="1" fontAlgn="auto" hangingPunct="1">
              <a:spcAft>
                <a:spcPts val="0"/>
              </a:spcAft>
              <a:defRPr/>
            </a:pPr>
            <a:r>
              <a:rPr lang="en-US" altLang="en-US" sz="3400" dirty="0">
                <a:ea typeface="+mj-ea"/>
                <a:cs typeface="+mj-cs"/>
              </a:rPr>
              <a:t>Break-Even Analysis: Stewart</a:t>
            </a:r>
          </a:p>
        </p:txBody>
      </p:sp>
      <p:sp>
        <p:nvSpPr>
          <p:cNvPr id="468996" name="Text Box 4">
            <a:extLst>
              <a:ext uri="{FF2B5EF4-FFF2-40B4-BE49-F238E27FC236}">
                <a16:creationId xmlns:a16="http://schemas.microsoft.com/office/drawing/2014/main" id="{2B94DF36-0440-58BA-B117-DD48D02E62AB}"/>
              </a:ext>
            </a:extLst>
          </p:cNvPr>
          <p:cNvSpPr txBox="1">
            <a:spLocks noChangeArrowheads="1"/>
          </p:cNvSpPr>
          <p:nvPr/>
        </p:nvSpPr>
        <p:spPr bwMode="auto">
          <a:xfrm>
            <a:off x="7086600" y="4457700"/>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fontAlgn="base">
              <a:spcBef>
                <a:spcPct val="50000"/>
              </a:spcBef>
              <a:spcAft>
                <a:spcPct val="0"/>
              </a:spcAft>
            </a:pPr>
            <a:r>
              <a:rPr lang="en-US" altLang="en-US" sz="2400">
                <a:solidFill>
                  <a:srgbClr val="464646"/>
                </a:solidFill>
              </a:rPr>
              <a:t>PMT</a:t>
            </a:r>
          </a:p>
        </p:txBody>
      </p:sp>
      <p:sp>
        <p:nvSpPr>
          <p:cNvPr id="66565" name="Text Box 5">
            <a:extLst>
              <a:ext uri="{FF2B5EF4-FFF2-40B4-BE49-F238E27FC236}">
                <a16:creationId xmlns:a16="http://schemas.microsoft.com/office/drawing/2014/main" id="{64930AD4-4AFB-8C32-74FF-E2E056F6974D}"/>
              </a:ext>
            </a:extLst>
          </p:cNvPr>
          <p:cNvSpPr txBox="1">
            <a:spLocks noChangeArrowheads="1"/>
          </p:cNvSpPr>
          <p:nvPr/>
        </p:nvSpPr>
        <p:spPr bwMode="auto">
          <a:xfrm>
            <a:off x="7086600" y="2857500"/>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fontAlgn="base">
              <a:spcBef>
                <a:spcPct val="50000"/>
              </a:spcBef>
              <a:spcAft>
                <a:spcPct val="0"/>
              </a:spcAft>
            </a:pPr>
            <a:r>
              <a:rPr lang="en-US" altLang="en-US" sz="2400">
                <a:solidFill>
                  <a:srgbClr val="464646"/>
                </a:solidFill>
              </a:rPr>
              <a:t>I/Y</a:t>
            </a:r>
          </a:p>
        </p:txBody>
      </p:sp>
      <p:sp>
        <p:nvSpPr>
          <p:cNvPr id="66566" name="Text Box 6">
            <a:extLst>
              <a:ext uri="{FF2B5EF4-FFF2-40B4-BE49-F238E27FC236}">
                <a16:creationId xmlns:a16="http://schemas.microsoft.com/office/drawing/2014/main" id="{0E3F793E-98FE-6284-951E-EF6B8AC69B7A}"/>
              </a:ext>
            </a:extLst>
          </p:cNvPr>
          <p:cNvSpPr txBox="1">
            <a:spLocks noChangeArrowheads="1"/>
          </p:cNvSpPr>
          <p:nvPr/>
        </p:nvSpPr>
        <p:spPr bwMode="auto">
          <a:xfrm>
            <a:off x="7086600" y="5257800"/>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fontAlgn="base">
              <a:spcBef>
                <a:spcPct val="50000"/>
              </a:spcBef>
              <a:spcAft>
                <a:spcPct val="0"/>
              </a:spcAft>
            </a:pPr>
            <a:r>
              <a:rPr lang="en-US" altLang="en-US" sz="2400">
                <a:solidFill>
                  <a:srgbClr val="464646"/>
                </a:solidFill>
              </a:rPr>
              <a:t>FV</a:t>
            </a:r>
          </a:p>
        </p:txBody>
      </p:sp>
      <p:sp>
        <p:nvSpPr>
          <p:cNvPr id="66567" name="Text Box 7">
            <a:extLst>
              <a:ext uri="{FF2B5EF4-FFF2-40B4-BE49-F238E27FC236}">
                <a16:creationId xmlns:a16="http://schemas.microsoft.com/office/drawing/2014/main" id="{BC869DAC-4B23-225F-AD61-CBACF0A32C03}"/>
              </a:ext>
            </a:extLst>
          </p:cNvPr>
          <p:cNvSpPr txBox="1">
            <a:spLocks noChangeArrowheads="1"/>
          </p:cNvSpPr>
          <p:nvPr/>
        </p:nvSpPr>
        <p:spPr bwMode="auto">
          <a:xfrm>
            <a:off x="7086600" y="3657600"/>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fontAlgn="base">
              <a:spcBef>
                <a:spcPct val="50000"/>
              </a:spcBef>
              <a:spcAft>
                <a:spcPct val="0"/>
              </a:spcAft>
            </a:pPr>
            <a:r>
              <a:rPr lang="en-US" altLang="en-US" sz="2400">
                <a:solidFill>
                  <a:srgbClr val="464646"/>
                </a:solidFill>
              </a:rPr>
              <a:t>PV</a:t>
            </a:r>
          </a:p>
        </p:txBody>
      </p:sp>
      <p:sp>
        <p:nvSpPr>
          <p:cNvPr id="66568" name="Text Box 8">
            <a:extLst>
              <a:ext uri="{FF2B5EF4-FFF2-40B4-BE49-F238E27FC236}">
                <a16:creationId xmlns:a16="http://schemas.microsoft.com/office/drawing/2014/main" id="{A9DADA6D-F5CB-445A-8A3B-F8D6ECBC3462}"/>
              </a:ext>
            </a:extLst>
          </p:cNvPr>
          <p:cNvSpPr txBox="1">
            <a:spLocks noChangeArrowheads="1"/>
          </p:cNvSpPr>
          <p:nvPr/>
        </p:nvSpPr>
        <p:spPr bwMode="auto">
          <a:xfrm>
            <a:off x="7086600" y="2057400"/>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fontAlgn="base">
              <a:spcBef>
                <a:spcPct val="50000"/>
              </a:spcBef>
              <a:spcAft>
                <a:spcPct val="0"/>
              </a:spcAft>
            </a:pPr>
            <a:r>
              <a:rPr lang="en-US" altLang="en-US" sz="2400">
                <a:solidFill>
                  <a:srgbClr val="464646"/>
                </a:solidFill>
              </a:rPr>
              <a:t>N</a:t>
            </a:r>
          </a:p>
        </p:txBody>
      </p:sp>
      <p:sp>
        <p:nvSpPr>
          <p:cNvPr id="469001" name="Text Box 9">
            <a:extLst>
              <a:ext uri="{FF2B5EF4-FFF2-40B4-BE49-F238E27FC236}">
                <a16:creationId xmlns:a16="http://schemas.microsoft.com/office/drawing/2014/main" id="{210AE97C-3163-DF23-D687-739901E02A31}"/>
              </a:ext>
            </a:extLst>
          </p:cNvPr>
          <p:cNvSpPr txBox="1">
            <a:spLocks noChangeArrowheads="1"/>
          </p:cNvSpPr>
          <p:nvPr/>
        </p:nvSpPr>
        <p:spPr bwMode="auto">
          <a:xfrm>
            <a:off x="8382000" y="4457701"/>
            <a:ext cx="205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2400">
                <a:solidFill>
                  <a:srgbClr val="644A1A"/>
                </a:solidFill>
              </a:rPr>
              <a:t>−</a:t>
            </a:r>
            <a:r>
              <a:rPr lang="en-US" altLang="en-US" sz="2400" b="1">
                <a:solidFill>
                  <a:srgbClr val="644A1A"/>
                </a:solidFill>
              </a:rPr>
              <a:t> </a:t>
            </a:r>
            <a:r>
              <a:rPr lang="en-US" altLang="en-US" sz="2800">
                <a:solidFill>
                  <a:srgbClr val="644A1A"/>
                </a:solidFill>
                <a:cs typeface="Times New Roman" panose="02020603050405020304" pitchFamily="18" charset="0"/>
              </a:rPr>
              <a:t>504.75</a:t>
            </a:r>
          </a:p>
        </p:txBody>
      </p:sp>
      <p:sp>
        <p:nvSpPr>
          <p:cNvPr id="66570" name="Text Box 10">
            <a:extLst>
              <a:ext uri="{FF2B5EF4-FFF2-40B4-BE49-F238E27FC236}">
                <a16:creationId xmlns:a16="http://schemas.microsoft.com/office/drawing/2014/main" id="{692EBD12-CA55-1284-E12E-69B9B9AB57A2}"/>
              </a:ext>
            </a:extLst>
          </p:cNvPr>
          <p:cNvSpPr txBox="1">
            <a:spLocks noChangeArrowheads="1"/>
          </p:cNvSpPr>
          <p:nvPr/>
        </p:nvSpPr>
        <p:spPr bwMode="auto">
          <a:xfrm>
            <a:off x="8382000" y="2857501"/>
            <a:ext cx="914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2800">
                <a:solidFill>
                  <a:srgbClr val="644A1A"/>
                </a:solidFill>
              </a:rPr>
              <a:t>10</a:t>
            </a:r>
          </a:p>
        </p:txBody>
      </p:sp>
      <p:sp>
        <p:nvSpPr>
          <p:cNvPr id="66571" name="Text Box 11">
            <a:extLst>
              <a:ext uri="{FF2B5EF4-FFF2-40B4-BE49-F238E27FC236}">
                <a16:creationId xmlns:a16="http://schemas.microsoft.com/office/drawing/2014/main" id="{FAE7FD8A-EA59-7B90-D6EC-6A64BE43B6CC}"/>
              </a:ext>
            </a:extLst>
          </p:cNvPr>
          <p:cNvSpPr txBox="1">
            <a:spLocks noChangeArrowheads="1"/>
          </p:cNvSpPr>
          <p:nvPr/>
        </p:nvSpPr>
        <p:spPr bwMode="auto">
          <a:xfrm>
            <a:off x="8382000" y="5257801"/>
            <a:ext cx="914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2800">
                <a:solidFill>
                  <a:srgbClr val="644A1A"/>
                </a:solidFill>
              </a:rPr>
              <a:t>0</a:t>
            </a:r>
          </a:p>
        </p:txBody>
      </p:sp>
      <p:sp>
        <p:nvSpPr>
          <p:cNvPr id="66572" name="Text Box 12">
            <a:extLst>
              <a:ext uri="{FF2B5EF4-FFF2-40B4-BE49-F238E27FC236}">
                <a16:creationId xmlns:a16="http://schemas.microsoft.com/office/drawing/2014/main" id="{D9142CAB-2669-61DB-9B20-8566C7D96C2B}"/>
              </a:ext>
            </a:extLst>
          </p:cNvPr>
          <p:cNvSpPr txBox="1">
            <a:spLocks noChangeArrowheads="1"/>
          </p:cNvSpPr>
          <p:nvPr/>
        </p:nvSpPr>
        <p:spPr bwMode="auto">
          <a:xfrm>
            <a:off x="8382000" y="3657601"/>
            <a:ext cx="1905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r>
              <a:rPr lang="en-US" altLang="en-US" sz="2800">
                <a:solidFill>
                  <a:srgbClr val="644A1A"/>
                </a:solidFill>
              </a:rPr>
              <a:t>1,600</a:t>
            </a:r>
          </a:p>
        </p:txBody>
      </p:sp>
      <p:sp>
        <p:nvSpPr>
          <p:cNvPr id="66573" name="Text Box 13">
            <a:extLst>
              <a:ext uri="{FF2B5EF4-FFF2-40B4-BE49-F238E27FC236}">
                <a16:creationId xmlns:a16="http://schemas.microsoft.com/office/drawing/2014/main" id="{B5F1CE14-2D51-DEE1-B663-C3B75EB4BABD}"/>
              </a:ext>
            </a:extLst>
          </p:cNvPr>
          <p:cNvSpPr txBox="1">
            <a:spLocks noChangeArrowheads="1"/>
          </p:cNvSpPr>
          <p:nvPr/>
        </p:nvSpPr>
        <p:spPr bwMode="auto">
          <a:xfrm>
            <a:off x="8382000" y="2057401"/>
            <a:ext cx="914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2800">
                <a:solidFill>
                  <a:srgbClr val="644A1A"/>
                </a:solidFill>
              </a:rPr>
              <a:t>4</a:t>
            </a:r>
          </a:p>
        </p:txBody>
      </p:sp>
      <p:sp>
        <p:nvSpPr>
          <p:cNvPr id="66574" name="Text Box 14">
            <a:extLst>
              <a:ext uri="{FF2B5EF4-FFF2-40B4-BE49-F238E27FC236}">
                <a16:creationId xmlns:a16="http://schemas.microsoft.com/office/drawing/2014/main" id="{5309005C-E14C-0223-D43B-1A86B3ABD5B6}"/>
              </a:ext>
            </a:extLst>
          </p:cNvPr>
          <p:cNvSpPr txBox="1">
            <a:spLocks noChangeArrowheads="1"/>
          </p:cNvSpPr>
          <p:nvPr/>
        </p:nvSpPr>
        <p:spPr bwMode="auto">
          <a:xfrm>
            <a:off x="7086600" y="3657600"/>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fontAlgn="base">
              <a:spcBef>
                <a:spcPct val="50000"/>
              </a:spcBef>
              <a:spcAft>
                <a:spcPct val="0"/>
              </a:spcAft>
            </a:pPr>
            <a:r>
              <a:rPr lang="en-US" altLang="en-US" sz="2400">
                <a:solidFill>
                  <a:srgbClr val="464646"/>
                </a:solidFill>
              </a:rPr>
              <a:t>PV</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68995">
                                            <p:txEl>
                                              <p:pRg st="0" end="0"/>
                                            </p:txEl>
                                          </p:spTgt>
                                        </p:tgtEl>
                                        <p:attrNameLst>
                                          <p:attrName>style.visibility</p:attrName>
                                        </p:attrNameLst>
                                      </p:cBhvr>
                                      <p:to>
                                        <p:strVal val="visible"/>
                                      </p:to>
                                    </p:set>
                                    <p:animEffect transition="in" filter="fade">
                                      <p:cBhvr>
                                        <p:cTn id="7" dur="1000"/>
                                        <p:tgtEl>
                                          <p:spTgt spid="468995">
                                            <p:txEl>
                                              <p:pRg st="0" end="0"/>
                                            </p:txEl>
                                          </p:spTgt>
                                        </p:tgtEl>
                                      </p:cBhvr>
                                    </p:animEffect>
                                    <p:anim calcmode="lin" valueType="num">
                                      <p:cBhvr>
                                        <p:cTn id="8" dur="1000" fill="hold"/>
                                        <p:tgtEl>
                                          <p:spTgt spid="46899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6899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68995">
                                            <p:txEl>
                                              <p:pRg st="1" end="1"/>
                                            </p:txEl>
                                          </p:spTgt>
                                        </p:tgtEl>
                                        <p:attrNameLst>
                                          <p:attrName>style.visibility</p:attrName>
                                        </p:attrNameLst>
                                      </p:cBhvr>
                                      <p:to>
                                        <p:strVal val="visible"/>
                                      </p:to>
                                    </p:set>
                                    <p:animEffect transition="in" filter="fade">
                                      <p:cBhvr>
                                        <p:cTn id="14" dur="1000"/>
                                        <p:tgtEl>
                                          <p:spTgt spid="468995">
                                            <p:txEl>
                                              <p:pRg st="1" end="1"/>
                                            </p:txEl>
                                          </p:spTgt>
                                        </p:tgtEl>
                                      </p:cBhvr>
                                    </p:animEffect>
                                    <p:anim calcmode="lin" valueType="num">
                                      <p:cBhvr>
                                        <p:cTn id="15" dur="1000" fill="hold"/>
                                        <p:tgtEl>
                                          <p:spTgt spid="46899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6899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68995">
                                            <p:txEl>
                                              <p:pRg st="2" end="2"/>
                                            </p:txEl>
                                          </p:spTgt>
                                        </p:tgtEl>
                                        <p:attrNameLst>
                                          <p:attrName>style.visibility</p:attrName>
                                        </p:attrNameLst>
                                      </p:cBhvr>
                                      <p:to>
                                        <p:strVal val="visible"/>
                                      </p:to>
                                    </p:set>
                                    <p:animEffect transition="in" filter="fade">
                                      <p:cBhvr>
                                        <p:cTn id="21" dur="1000"/>
                                        <p:tgtEl>
                                          <p:spTgt spid="468995">
                                            <p:txEl>
                                              <p:pRg st="2" end="2"/>
                                            </p:txEl>
                                          </p:spTgt>
                                        </p:tgtEl>
                                      </p:cBhvr>
                                    </p:animEffect>
                                    <p:anim calcmode="lin" valueType="num">
                                      <p:cBhvr>
                                        <p:cTn id="22" dur="1000" fill="hold"/>
                                        <p:tgtEl>
                                          <p:spTgt spid="46899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6899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mph" presetSubtype="0" fill="hold" grpId="0" nodeType="clickEffect">
                                  <p:stCondLst>
                                    <p:cond delay="0"/>
                                  </p:stCondLst>
                                  <p:childTnLst>
                                    <p:anim calcmode="discrete" valueType="str">
                                      <p:cBhvr override="childStyle">
                                        <p:cTn id="27" dur="2000" fill="hold"/>
                                        <p:tgtEl>
                                          <p:spTgt spid="468996">
                                            <p:txEl>
                                              <p:charRg st="4294967295" end="4294967295"/>
                                            </p:txEl>
                                          </p:spTgt>
                                        </p:tgtEl>
                                        <p:attrNameLst>
                                          <p:attrName>style.fontWeight</p:attrName>
                                        </p:attrNameLst>
                                      </p:cBhvr>
                                      <p:tavLst>
                                        <p:tav tm="0">
                                          <p:val>
                                            <p:strVal val="normal"/>
                                          </p:val>
                                        </p:tav>
                                        <p:tav tm="50000">
                                          <p:val>
                                            <p:strVal val="bold"/>
                                          </p:val>
                                        </p:tav>
                                        <p:tav tm="60000">
                                          <p:val>
                                            <p:strVal val="normal"/>
                                          </p:val>
                                        </p:tav>
                                        <p:tav tm="100000">
                                          <p:val>
                                            <p:strVal val="normal"/>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690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8995" grpId="0" build="p"/>
      <p:bldP spid="468996" grpId="0"/>
      <p:bldP spid="469001"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A920ED23-7560-9ED4-A991-349E9BAE5F3D}"/>
              </a:ext>
            </a:extLst>
          </p:cNvPr>
          <p:cNvSpPr>
            <a:spLocks noGrp="1" noChangeArrowheads="1"/>
          </p:cNvSpPr>
          <p:nvPr>
            <p:ph type="title"/>
          </p:nvPr>
        </p:nvSpPr>
        <p:spPr>
          <a:xfrm>
            <a:off x="1981200" y="152400"/>
            <a:ext cx="8229600" cy="1143000"/>
          </a:xfrm>
        </p:spPr>
        <p:txBody>
          <a:bodyPr/>
          <a:lstStyle/>
          <a:p>
            <a:pPr eaLnBrk="1" fontAlgn="auto" hangingPunct="1">
              <a:spcAft>
                <a:spcPts val="0"/>
              </a:spcAft>
              <a:defRPr/>
            </a:pPr>
            <a:r>
              <a:rPr lang="en-US" altLang="en-US" sz="3400" dirty="0">
                <a:ea typeface="+mj-ea"/>
                <a:cs typeface="+mj-cs"/>
              </a:rPr>
              <a:t>Break-Even Revenue: Stewart</a:t>
            </a:r>
          </a:p>
        </p:txBody>
      </p:sp>
      <p:sp>
        <p:nvSpPr>
          <p:cNvPr id="68611" name="Rectangle 3">
            <a:extLst>
              <a:ext uri="{FF2B5EF4-FFF2-40B4-BE49-F238E27FC236}">
                <a16:creationId xmlns:a16="http://schemas.microsoft.com/office/drawing/2014/main" id="{8E02A93E-D3EC-003E-2A73-506CD8A46634}"/>
              </a:ext>
            </a:extLst>
          </p:cNvPr>
          <p:cNvSpPr>
            <a:spLocks noChangeArrowheads="1"/>
          </p:cNvSpPr>
          <p:nvPr/>
        </p:nvSpPr>
        <p:spPr bwMode="auto">
          <a:xfrm>
            <a:off x="1828800" y="1219200"/>
            <a:ext cx="8610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marL="469900" indent="-469900">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lnSpc>
                <a:spcPct val="80000"/>
              </a:lnSpc>
              <a:spcBef>
                <a:spcPct val="20000"/>
              </a:spcBef>
              <a:spcAft>
                <a:spcPct val="0"/>
              </a:spcAft>
              <a:buClr>
                <a:srgbClr val="DEF5FA"/>
              </a:buClr>
              <a:buSzPct val="70000"/>
            </a:pPr>
            <a:r>
              <a:rPr lang="en-US" altLang="en-US" sz="2800">
                <a:solidFill>
                  <a:prstClr val="black"/>
                </a:solidFill>
              </a:rPr>
              <a:t>Work backwards from </a:t>
            </a:r>
            <a:r>
              <a:rPr lang="en-US" altLang="en-US" sz="2800" i="1">
                <a:solidFill>
                  <a:prstClr val="black"/>
                </a:solidFill>
              </a:rPr>
              <a:t>OCF</a:t>
            </a:r>
            <a:r>
              <a:rPr lang="en-US" altLang="en-US" sz="2800" i="1" baseline="-25000">
                <a:solidFill>
                  <a:prstClr val="black"/>
                </a:solidFill>
              </a:rPr>
              <a:t>BE</a:t>
            </a:r>
            <a:r>
              <a:rPr lang="en-US" altLang="en-US" sz="2800">
                <a:solidFill>
                  <a:prstClr val="black"/>
                </a:solidFill>
              </a:rPr>
              <a:t> to Break-Even Revenue</a:t>
            </a:r>
          </a:p>
          <a:p>
            <a:pPr fontAlgn="base">
              <a:spcBef>
                <a:spcPct val="20000"/>
              </a:spcBef>
              <a:spcAft>
                <a:spcPct val="0"/>
              </a:spcAft>
              <a:buClr>
                <a:srgbClr val="DEF5FA"/>
              </a:buClr>
              <a:buSzPct val="70000"/>
              <a:buFont typeface="Wingdings" panose="05000000000000000000" pitchFamily="2" charset="2"/>
              <a:buChar char="o"/>
            </a:pPr>
            <a:endParaRPr lang="en-US" altLang="en-US" sz="2800">
              <a:solidFill>
                <a:prstClr val="black"/>
              </a:solidFill>
            </a:endParaRPr>
          </a:p>
        </p:txBody>
      </p:sp>
      <p:sp>
        <p:nvSpPr>
          <p:cNvPr id="68612" name="Rectangle 4">
            <a:extLst>
              <a:ext uri="{FF2B5EF4-FFF2-40B4-BE49-F238E27FC236}">
                <a16:creationId xmlns:a16="http://schemas.microsoft.com/office/drawing/2014/main" id="{A0980732-4D64-EB84-EB3D-A71A602ABC4A}"/>
              </a:ext>
            </a:extLst>
          </p:cNvPr>
          <p:cNvSpPr>
            <a:spLocks noChangeArrowheads="1"/>
          </p:cNvSpPr>
          <p:nvPr/>
        </p:nvSpPr>
        <p:spPr bwMode="auto">
          <a:xfrm>
            <a:off x="2922588" y="2032000"/>
            <a:ext cx="2335212"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r>
              <a:rPr lang="en-US" altLang="en-US" sz="2400">
                <a:solidFill>
                  <a:prstClr val="black"/>
                </a:solidFill>
              </a:rPr>
              <a:t>Revenue</a:t>
            </a:r>
            <a:endParaRPr lang="en-US" altLang="en-US" sz="2400" b="1">
              <a:solidFill>
                <a:prstClr val="black"/>
              </a:solidFill>
            </a:endParaRPr>
          </a:p>
          <a:p>
            <a:pPr eaLnBrk="0" fontAlgn="base" hangingPunct="0">
              <a:spcBef>
                <a:spcPct val="0"/>
              </a:spcBef>
              <a:spcAft>
                <a:spcPct val="0"/>
              </a:spcAft>
            </a:pPr>
            <a:endParaRPr lang="en-US" altLang="en-US" sz="2400">
              <a:solidFill>
                <a:prstClr val="black"/>
              </a:solidFill>
            </a:endParaRPr>
          </a:p>
        </p:txBody>
      </p:sp>
      <p:sp>
        <p:nvSpPr>
          <p:cNvPr id="470022" name="Rectangle 6">
            <a:extLst>
              <a:ext uri="{FF2B5EF4-FFF2-40B4-BE49-F238E27FC236}">
                <a16:creationId xmlns:a16="http://schemas.microsoft.com/office/drawing/2014/main" id="{102DA70A-ACA8-2BA8-5506-F3674D9E988F}"/>
              </a:ext>
            </a:extLst>
          </p:cNvPr>
          <p:cNvSpPr>
            <a:spLocks noChangeArrowheads="1"/>
          </p:cNvSpPr>
          <p:nvPr/>
        </p:nvSpPr>
        <p:spPr bwMode="auto">
          <a:xfrm>
            <a:off x="8008938" y="2032000"/>
            <a:ext cx="200025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sz="2400">
                <a:solidFill>
                  <a:srgbClr val="464646"/>
                </a:solidFill>
              </a:rPr>
              <a:t>$5,358.71</a:t>
            </a:r>
            <a:endParaRPr lang="en-US" altLang="en-US" sz="2400" b="1">
              <a:solidFill>
                <a:srgbClr val="464646"/>
              </a:solidFill>
            </a:endParaRPr>
          </a:p>
          <a:p>
            <a:pPr algn="r" eaLnBrk="0" fontAlgn="base" hangingPunct="0">
              <a:spcBef>
                <a:spcPct val="0"/>
              </a:spcBef>
              <a:spcAft>
                <a:spcPct val="0"/>
              </a:spcAft>
            </a:pPr>
            <a:endParaRPr lang="en-US" altLang="en-US" sz="2400">
              <a:solidFill>
                <a:srgbClr val="464646"/>
              </a:solidFill>
            </a:endParaRPr>
          </a:p>
        </p:txBody>
      </p:sp>
      <p:sp>
        <p:nvSpPr>
          <p:cNvPr id="68614" name="Rectangle 7">
            <a:extLst>
              <a:ext uri="{FF2B5EF4-FFF2-40B4-BE49-F238E27FC236}">
                <a16:creationId xmlns:a16="http://schemas.microsoft.com/office/drawing/2014/main" id="{4883EB56-E532-70BF-C5FD-50E66FD050D0}"/>
              </a:ext>
            </a:extLst>
          </p:cNvPr>
          <p:cNvSpPr>
            <a:spLocks noChangeArrowheads="1"/>
          </p:cNvSpPr>
          <p:nvPr/>
        </p:nvSpPr>
        <p:spPr bwMode="auto">
          <a:xfrm>
            <a:off x="2922588" y="2571750"/>
            <a:ext cx="2335212"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r>
              <a:rPr lang="en-US" altLang="en-US" sz="2400">
                <a:solidFill>
                  <a:prstClr val="black"/>
                </a:solidFill>
              </a:rPr>
              <a:t>Variable cost</a:t>
            </a:r>
            <a:endParaRPr lang="en-US" altLang="en-US" sz="2400" b="1">
              <a:solidFill>
                <a:prstClr val="black"/>
              </a:solidFill>
            </a:endParaRPr>
          </a:p>
          <a:p>
            <a:pPr eaLnBrk="0" fontAlgn="base" hangingPunct="0">
              <a:spcBef>
                <a:spcPct val="0"/>
              </a:spcBef>
              <a:spcAft>
                <a:spcPct val="0"/>
              </a:spcAft>
            </a:pPr>
            <a:endParaRPr lang="en-US" altLang="en-US" sz="2400">
              <a:solidFill>
                <a:prstClr val="black"/>
              </a:solidFill>
            </a:endParaRPr>
          </a:p>
        </p:txBody>
      </p:sp>
      <p:sp>
        <p:nvSpPr>
          <p:cNvPr id="68615" name="Rectangle 9">
            <a:extLst>
              <a:ext uri="{FF2B5EF4-FFF2-40B4-BE49-F238E27FC236}">
                <a16:creationId xmlns:a16="http://schemas.microsoft.com/office/drawing/2014/main" id="{A41D539C-C3D6-4616-7C8B-4A7670F2D253}"/>
              </a:ext>
            </a:extLst>
          </p:cNvPr>
          <p:cNvSpPr>
            <a:spLocks noChangeArrowheads="1"/>
          </p:cNvSpPr>
          <p:nvPr/>
        </p:nvSpPr>
        <p:spPr bwMode="auto">
          <a:xfrm>
            <a:off x="8008938" y="2571750"/>
            <a:ext cx="2000250"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sz="2400">
                <a:solidFill>
                  <a:srgbClr val="464646"/>
                </a:solidFill>
              </a:rPr>
              <a:t>$3,000</a:t>
            </a:r>
            <a:endParaRPr lang="en-US" altLang="en-US" sz="2400" b="1">
              <a:solidFill>
                <a:srgbClr val="464646"/>
              </a:solidFill>
            </a:endParaRPr>
          </a:p>
          <a:p>
            <a:pPr algn="r" eaLnBrk="0" fontAlgn="base" hangingPunct="0">
              <a:spcBef>
                <a:spcPct val="0"/>
              </a:spcBef>
              <a:spcAft>
                <a:spcPct val="0"/>
              </a:spcAft>
            </a:pPr>
            <a:endParaRPr lang="en-US" altLang="en-US" sz="2400">
              <a:solidFill>
                <a:srgbClr val="464646"/>
              </a:solidFill>
            </a:endParaRPr>
          </a:p>
        </p:txBody>
      </p:sp>
      <p:sp>
        <p:nvSpPr>
          <p:cNvPr id="68616" name="Rectangle 10">
            <a:extLst>
              <a:ext uri="{FF2B5EF4-FFF2-40B4-BE49-F238E27FC236}">
                <a16:creationId xmlns:a16="http://schemas.microsoft.com/office/drawing/2014/main" id="{78AC987C-4BD8-165F-7F86-85FDC266839D}"/>
              </a:ext>
            </a:extLst>
          </p:cNvPr>
          <p:cNvSpPr>
            <a:spLocks noChangeArrowheads="1"/>
          </p:cNvSpPr>
          <p:nvPr/>
        </p:nvSpPr>
        <p:spPr bwMode="auto">
          <a:xfrm>
            <a:off x="2922588" y="3022601"/>
            <a:ext cx="233521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r>
              <a:rPr lang="en-US" altLang="en-US" sz="2400">
                <a:solidFill>
                  <a:prstClr val="black"/>
                </a:solidFill>
              </a:rPr>
              <a:t>Fixed cost</a:t>
            </a:r>
            <a:endParaRPr lang="en-US" altLang="en-US" sz="2400" b="1">
              <a:solidFill>
                <a:prstClr val="black"/>
              </a:solidFill>
            </a:endParaRPr>
          </a:p>
          <a:p>
            <a:pPr eaLnBrk="0" fontAlgn="base" hangingPunct="0">
              <a:spcBef>
                <a:spcPct val="0"/>
              </a:spcBef>
              <a:spcAft>
                <a:spcPct val="0"/>
              </a:spcAft>
            </a:pPr>
            <a:endParaRPr lang="en-US" altLang="en-US" sz="2400">
              <a:solidFill>
                <a:prstClr val="black"/>
              </a:solidFill>
            </a:endParaRPr>
          </a:p>
        </p:txBody>
      </p:sp>
      <p:sp>
        <p:nvSpPr>
          <p:cNvPr id="68617" name="Rectangle 12">
            <a:extLst>
              <a:ext uri="{FF2B5EF4-FFF2-40B4-BE49-F238E27FC236}">
                <a16:creationId xmlns:a16="http://schemas.microsoft.com/office/drawing/2014/main" id="{06C71CAB-7C98-6182-B77D-530273D7D0BF}"/>
              </a:ext>
            </a:extLst>
          </p:cNvPr>
          <p:cNvSpPr>
            <a:spLocks noChangeArrowheads="1"/>
          </p:cNvSpPr>
          <p:nvPr/>
        </p:nvSpPr>
        <p:spPr bwMode="auto">
          <a:xfrm>
            <a:off x="8008938" y="3022601"/>
            <a:ext cx="2000250"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sz="2400">
                <a:solidFill>
                  <a:srgbClr val="464646"/>
                </a:solidFill>
              </a:rPr>
              <a:t>$1,800</a:t>
            </a:r>
            <a:endParaRPr lang="en-US" altLang="en-US" sz="2400" b="1">
              <a:solidFill>
                <a:srgbClr val="464646"/>
              </a:solidFill>
            </a:endParaRPr>
          </a:p>
          <a:p>
            <a:pPr algn="r" eaLnBrk="0" fontAlgn="base" hangingPunct="0">
              <a:spcBef>
                <a:spcPct val="0"/>
              </a:spcBef>
              <a:spcAft>
                <a:spcPct val="0"/>
              </a:spcAft>
            </a:pPr>
            <a:endParaRPr lang="en-US" altLang="en-US" sz="2400">
              <a:solidFill>
                <a:srgbClr val="464646"/>
              </a:solidFill>
            </a:endParaRPr>
          </a:p>
        </p:txBody>
      </p:sp>
      <p:sp>
        <p:nvSpPr>
          <p:cNvPr id="68618" name="Rectangle 13">
            <a:extLst>
              <a:ext uri="{FF2B5EF4-FFF2-40B4-BE49-F238E27FC236}">
                <a16:creationId xmlns:a16="http://schemas.microsoft.com/office/drawing/2014/main" id="{9B509759-CCB1-F31C-4C5E-8EB5A1549B0A}"/>
              </a:ext>
            </a:extLst>
          </p:cNvPr>
          <p:cNvSpPr>
            <a:spLocks noChangeArrowheads="1"/>
          </p:cNvSpPr>
          <p:nvPr/>
        </p:nvSpPr>
        <p:spPr bwMode="auto">
          <a:xfrm>
            <a:off x="2922588" y="3467100"/>
            <a:ext cx="2335212"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r>
              <a:rPr lang="en-US" altLang="en-US" sz="2400">
                <a:solidFill>
                  <a:prstClr val="black"/>
                </a:solidFill>
              </a:rPr>
              <a:t>Depreciation</a:t>
            </a:r>
            <a:endParaRPr lang="en-US" altLang="en-US" sz="2400" b="1">
              <a:solidFill>
                <a:prstClr val="black"/>
              </a:solidFill>
            </a:endParaRPr>
          </a:p>
          <a:p>
            <a:pPr eaLnBrk="0" fontAlgn="base" hangingPunct="0">
              <a:spcBef>
                <a:spcPct val="0"/>
              </a:spcBef>
              <a:spcAft>
                <a:spcPct val="0"/>
              </a:spcAft>
            </a:pPr>
            <a:endParaRPr lang="en-US" altLang="en-US" sz="2400">
              <a:solidFill>
                <a:prstClr val="black"/>
              </a:solidFill>
            </a:endParaRPr>
          </a:p>
        </p:txBody>
      </p:sp>
      <p:sp>
        <p:nvSpPr>
          <p:cNvPr id="68619" name="Rectangle 15">
            <a:extLst>
              <a:ext uri="{FF2B5EF4-FFF2-40B4-BE49-F238E27FC236}">
                <a16:creationId xmlns:a16="http://schemas.microsoft.com/office/drawing/2014/main" id="{93338C2F-E28B-B49E-4E4D-C808D944FA8D}"/>
              </a:ext>
            </a:extLst>
          </p:cNvPr>
          <p:cNvSpPr>
            <a:spLocks noChangeArrowheads="1"/>
          </p:cNvSpPr>
          <p:nvPr/>
        </p:nvSpPr>
        <p:spPr bwMode="auto">
          <a:xfrm>
            <a:off x="8008938" y="3467100"/>
            <a:ext cx="2000250"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sz="2400" u="sng">
                <a:solidFill>
                  <a:srgbClr val="464646"/>
                </a:solidFill>
              </a:rPr>
              <a:t>$400</a:t>
            </a:r>
            <a:endParaRPr lang="en-US" altLang="en-US" sz="2400" b="1" u="sng">
              <a:solidFill>
                <a:srgbClr val="464646"/>
              </a:solidFill>
            </a:endParaRPr>
          </a:p>
          <a:p>
            <a:pPr algn="r" eaLnBrk="0" fontAlgn="base" hangingPunct="0">
              <a:spcBef>
                <a:spcPct val="0"/>
              </a:spcBef>
              <a:spcAft>
                <a:spcPct val="0"/>
              </a:spcAft>
            </a:pPr>
            <a:endParaRPr lang="en-US" altLang="en-US" sz="2400" u="sng">
              <a:solidFill>
                <a:srgbClr val="464646"/>
              </a:solidFill>
            </a:endParaRPr>
          </a:p>
        </p:txBody>
      </p:sp>
      <p:sp>
        <p:nvSpPr>
          <p:cNvPr id="68620" name="Rectangle 16">
            <a:extLst>
              <a:ext uri="{FF2B5EF4-FFF2-40B4-BE49-F238E27FC236}">
                <a16:creationId xmlns:a16="http://schemas.microsoft.com/office/drawing/2014/main" id="{C7F5BEF2-1DB2-DAD3-79D9-9146F429918F}"/>
              </a:ext>
            </a:extLst>
          </p:cNvPr>
          <p:cNvSpPr>
            <a:spLocks noChangeArrowheads="1"/>
          </p:cNvSpPr>
          <p:nvPr/>
        </p:nvSpPr>
        <p:spPr bwMode="auto">
          <a:xfrm>
            <a:off x="2922588" y="4008438"/>
            <a:ext cx="2335212"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r>
              <a:rPr lang="en-US" altLang="en-US" sz="2400">
                <a:solidFill>
                  <a:prstClr val="black"/>
                </a:solidFill>
              </a:rPr>
              <a:t>EBIT</a:t>
            </a:r>
            <a:endParaRPr lang="en-US" altLang="en-US" sz="2400" b="1">
              <a:solidFill>
                <a:prstClr val="black"/>
              </a:solidFill>
            </a:endParaRPr>
          </a:p>
          <a:p>
            <a:pPr eaLnBrk="0" fontAlgn="base" hangingPunct="0">
              <a:spcBef>
                <a:spcPct val="0"/>
              </a:spcBef>
              <a:spcAft>
                <a:spcPct val="0"/>
              </a:spcAft>
            </a:pPr>
            <a:endParaRPr lang="en-US" altLang="en-US" sz="2400">
              <a:solidFill>
                <a:prstClr val="black"/>
              </a:solidFill>
            </a:endParaRPr>
          </a:p>
        </p:txBody>
      </p:sp>
      <p:sp>
        <p:nvSpPr>
          <p:cNvPr id="68621" name="Rectangle 17">
            <a:extLst>
              <a:ext uri="{FF2B5EF4-FFF2-40B4-BE49-F238E27FC236}">
                <a16:creationId xmlns:a16="http://schemas.microsoft.com/office/drawing/2014/main" id="{05A5C8B0-7804-C890-175D-E44E99CB1FE8}"/>
              </a:ext>
            </a:extLst>
          </p:cNvPr>
          <p:cNvSpPr>
            <a:spLocks noChangeArrowheads="1"/>
          </p:cNvSpPr>
          <p:nvPr/>
        </p:nvSpPr>
        <p:spPr bwMode="auto">
          <a:xfrm>
            <a:off x="5257800" y="4008438"/>
            <a:ext cx="2751138"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sz="2400" b="1">
              <a:solidFill>
                <a:srgbClr val="464646"/>
              </a:solidFill>
            </a:endParaRPr>
          </a:p>
          <a:p>
            <a:pPr eaLnBrk="0" fontAlgn="base" hangingPunct="0">
              <a:spcBef>
                <a:spcPct val="0"/>
              </a:spcBef>
              <a:spcAft>
                <a:spcPct val="0"/>
              </a:spcAft>
            </a:pPr>
            <a:endParaRPr lang="en-US" altLang="en-US" sz="2400">
              <a:solidFill>
                <a:srgbClr val="464646"/>
              </a:solidFill>
            </a:endParaRPr>
          </a:p>
        </p:txBody>
      </p:sp>
      <p:sp>
        <p:nvSpPr>
          <p:cNvPr id="470034" name="Rectangle 18">
            <a:extLst>
              <a:ext uri="{FF2B5EF4-FFF2-40B4-BE49-F238E27FC236}">
                <a16:creationId xmlns:a16="http://schemas.microsoft.com/office/drawing/2014/main" id="{530D1ED6-3883-96A5-C035-B86960274CB3}"/>
              </a:ext>
            </a:extLst>
          </p:cNvPr>
          <p:cNvSpPr>
            <a:spLocks noChangeArrowheads="1"/>
          </p:cNvSpPr>
          <p:nvPr/>
        </p:nvSpPr>
        <p:spPr bwMode="auto">
          <a:xfrm>
            <a:off x="8008938" y="4008438"/>
            <a:ext cx="200025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sz="2400">
                <a:solidFill>
                  <a:srgbClr val="464646"/>
                </a:solidFill>
              </a:rPr>
              <a:t>$158.71</a:t>
            </a:r>
            <a:endParaRPr lang="en-US" altLang="en-US" sz="2400" b="1">
              <a:solidFill>
                <a:srgbClr val="464646"/>
              </a:solidFill>
            </a:endParaRPr>
          </a:p>
          <a:p>
            <a:pPr algn="r" eaLnBrk="0" fontAlgn="base" hangingPunct="0">
              <a:spcBef>
                <a:spcPct val="0"/>
              </a:spcBef>
              <a:spcAft>
                <a:spcPct val="0"/>
              </a:spcAft>
            </a:pPr>
            <a:endParaRPr lang="en-US" altLang="en-US" sz="2400">
              <a:solidFill>
                <a:srgbClr val="464646"/>
              </a:solidFill>
            </a:endParaRPr>
          </a:p>
        </p:txBody>
      </p:sp>
      <p:sp>
        <p:nvSpPr>
          <p:cNvPr id="68623" name="Rectangle 19">
            <a:extLst>
              <a:ext uri="{FF2B5EF4-FFF2-40B4-BE49-F238E27FC236}">
                <a16:creationId xmlns:a16="http://schemas.microsoft.com/office/drawing/2014/main" id="{4EF3BB2A-6CB5-916D-B1AD-A5E024DF96B6}"/>
              </a:ext>
            </a:extLst>
          </p:cNvPr>
          <p:cNvSpPr>
            <a:spLocks noChangeArrowheads="1"/>
          </p:cNvSpPr>
          <p:nvPr/>
        </p:nvSpPr>
        <p:spPr bwMode="auto">
          <a:xfrm>
            <a:off x="2922588" y="4548188"/>
            <a:ext cx="233521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r>
              <a:rPr lang="en-US" altLang="en-US" sz="2400">
                <a:solidFill>
                  <a:prstClr val="black"/>
                </a:solidFill>
              </a:rPr>
              <a:t>Tax (34%)</a:t>
            </a:r>
            <a:endParaRPr lang="en-US" altLang="en-US" sz="2400" b="1">
              <a:solidFill>
                <a:prstClr val="black"/>
              </a:solidFill>
            </a:endParaRPr>
          </a:p>
          <a:p>
            <a:pPr eaLnBrk="0" fontAlgn="base" hangingPunct="0">
              <a:spcBef>
                <a:spcPct val="0"/>
              </a:spcBef>
              <a:spcAft>
                <a:spcPct val="0"/>
              </a:spcAft>
            </a:pPr>
            <a:endParaRPr lang="en-US" altLang="en-US" sz="2400">
              <a:solidFill>
                <a:prstClr val="black"/>
              </a:solidFill>
            </a:endParaRPr>
          </a:p>
        </p:txBody>
      </p:sp>
      <p:sp>
        <p:nvSpPr>
          <p:cNvPr id="68624" name="Rectangle 20">
            <a:extLst>
              <a:ext uri="{FF2B5EF4-FFF2-40B4-BE49-F238E27FC236}">
                <a16:creationId xmlns:a16="http://schemas.microsoft.com/office/drawing/2014/main" id="{2932F7FD-B85A-C779-AC86-8B78E25FFB69}"/>
              </a:ext>
            </a:extLst>
          </p:cNvPr>
          <p:cNvSpPr>
            <a:spLocks noChangeArrowheads="1"/>
          </p:cNvSpPr>
          <p:nvPr/>
        </p:nvSpPr>
        <p:spPr bwMode="auto">
          <a:xfrm>
            <a:off x="5257800" y="4548188"/>
            <a:ext cx="275113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r>
              <a:rPr lang="en-US" altLang="en-US" sz="2400" b="1">
                <a:solidFill>
                  <a:srgbClr val="464646"/>
                </a:solidFill>
              </a:rPr>
              <a:t> </a:t>
            </a:r>
          </a:p>
          <a:p>
            <a:pPr eaLnBrk="0" fontAlgn="base" hangingPunct="0">
              <a:spcBef>
                <a:spcPct val="0"/>
              </a:spcBef>
              <a:spcAft>
                <a:spcPct val="0"/>
              </a:spcAft>
            </a:pPr>
            <a:endParaRPr lang="en-US" altLang="en-US" sz="2400">
              <a:solidFill>
                <a:srgbClr val="464646"/>
              </a:solidFill>
            </a:endParaRPr>
          </a:p>
        </p:txBody>
      </p:sp>
      <p:sp>
        <p:nvSpPr>
          <p:cNvPr id="470037" name="Rectangle 21">
            <a:extLst>
              <a:ext uri="{FF2B5EF4-FFF2-40B4-BE49-F238E27FC236}">
                <a16:creationId xmlns:a16="http://schemas.microsoft.com/office/drawing/2014/main" id="{A406F677-CA4C-7CE9-BCD4-A3F867B333DD}"/>
              </a:ext>
            </a:extLst>
          </p:cNvPr>
          <p:cNvSpPr>
            <a:spLocks noChangeArrowheads="1"/>
          </p:cNvSpPr>
          <p:nvPr/>
        </p:nvSpPr>
        <p:spPr bwMode="auto">
          <a:xfrm>
            <a:off x="8008938" y="4548188"/>
            <a:ext cx="200025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sz="2400" u="sng">
                <a:solidFill>
                  <a:srgbClr val="464646"/>
                </a:solidFill>
              </a:rPr>
              <a:t>$53.96</a:t>
            </a:r>
            <a:endParaRPr lang="en-US" altLang="en-US" sz="2400" b="1">
              <a:solidFill>
                <a:srgbClr val="464646"/>
              </a:solidFill>
            </a:endParaRPr>
          </a:p>
          <a:p>
            <a:pPr algn="r" eaLnBrk="0" fontAlgn="base" hangingPunct="0">
              <a:spcBef>
                <a:spcPct val="0"/>
              </a:spcBef>
              <a:spcAft>
                <a:spcPct val="0"/>
              </a:spcAft>
            </a:pPr>
            <a:endParaRPr lang="en-US" altLang="en-US" sz="2400">
              <a:solidFill>
                <a:srgbClr val="464646"/>
              </a:solidFill>
            </a:endParaRPr>
          </a:p>
        </p:txBody>
      </p:sp>
      <p:sp>
        <p:nvSpPr>
          <p:cNvPr id="68626" name="Rectangle 22">
            <a:extLst>
              <a:ext uri="{FF2B5EF4-FFF2-40B4-BE49-F238E27FC236}">
                <a16:creationId xmlns:a16="http://schemas.microsoft.com/office/drawing/2014/main" id="{4F80DC3E-C58F-1C79-4BF5-6FDAEFF6E21B}"/>
              </a:ext>
            </a:extLst>
          </p:cNvPr>
          <p:cNvSpPr>
            <a:spLocks noChangeArrowheads="1"/>
          </p:cNvSpPr>
          <p:nvPr/>
        </p:nvSpPr>
        <p:spPr bwMode="auto">
          <a:xfrm>
            <a:off x="2922588" y="4903788"/>
            <a:ext cx="2335212"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r>
              <a:rPr lang="en-US" altLang="en-US" sz="2400">
                <a:solidFill>
                  <a:prstClr val="black"/>
                </a:solidFill>
              </a:rPr>
              <a:t>Net Income</a:t>
            </a:r>
            <a:endParaRPr lang="en-US" altLang="en-US" sz="2400" b="1">
              <a:solidFill>
                <a:prstClr val="black"/>
              </a:solidFill>
            </a:endParaRPr>
          </a:p>
          <a:p>
            <a:pPr algn="r" eaLnBrk="0" fontAlgn="base" hangingPunct="0">
              <a:spcBef>
                <a:spcPct val="0"/>
              </a:spcBef>
              <a:spcAft>
                <a:spcPct val="0"/>
              </a:spcAft>
            </a:pPr>
            <a:endParaRPr lang="en-US" altLang="en-US" sz="2400">
              <a:solidFill>
                <a:prstClr val="black"/>
              </a:solidFill>
            </a:endParaRPr>
          </a:p>
        </p:txBody>
      </p:sp>
      <p:sp>
        <p:nvSpPr>
          <p:cNvPr id="68627" name="Rectangle 23">
            <a:extLst>
              <a:ext uri="{FF2B5EF4-FFF2-40B4-BE49-F238E27FC236}">
                <a16:creationId xmlns:a16="http://schemas.microsoft.com/office/drawing/2014/main" id="{8E3FD194-547B-5B40-CD8E-E13F6E1FA46E}"/>
              </a:ext>
            </a:extLst>
          </p:cNvPr>
          <p:cNvSpPr>
            <a:spLocks noChangeArrowheads="1"/>
          </p:cNvSpPr>
          <p:nvPr/>
        </p:nvSpPr>
        <p:spPr bwMode="auto">
          <a:xfrm>
            <a:off x="5257800" y="4903788"/>
            <a:ext cx="275113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r>
              <a:rPr lang="en-US" altLang="en-US" sz="2400" b="1">
                <a:solidFill>
                  <a:srgbClr val="464646"/>
                </a:solidFill>
              </a:rPr>
              <a:t> </a:t>
            </a:r>
          </a:p>
          <a:p>
            <a:pPr eaLnBrk="0" fontAlgn="base" hangingPunct="0">
              <a:spcBef>
                <a:spcPct val="0"/>
              </a:spcBef>
              <a:spcAft>
                <a:spcPct val="0"/>
              </a:spcAft>
            </a:pPr>
            <a:endParaRPr lang="en-US" altLang="en-US" sz="2400">
              <a:solidFill>
                <a:srgbClr val="464646"/>
              </a:solidFill>
            </a:endParaRPr>
          </a:p>
        </p:txBody>
      </p:sp>
      <p:sp>
        <p:nvSpPr>
          <p:cNvPr id="470040" name="Rectangle 24">
            <a:extLst>
              <a:ext uri="{FF2B5EF4-FFF2-40B4-BE49-F238E27FC236}">
                <a16:creationId xmlns:a16="http://schemas.microsoft.com/office/drawing/2014/main" id="{5979DD8F-ADBC-D974-E473-B31AFED14C65}"/>
              </a:ext>
            </a:extLst>
          </p:cNvPr>
          <p:cNvSpPr>
            <a:spLocks noChangeArrowheads="1"/>
          </p:cNvSpPr>
          <p:nvPr/>
        </p:nvSpPr>
        <p:spPr bwMode="auto">
          <a:xfrm>
            <a:off x="8008938" y="4903788"/>
            <a:ext cx="2000250"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sz="2400">
                <a:solidFill>
                  <a:srgbClr val="464646"/>
                </a:solidFill>
              </a:rPr>
              <a:t>$104.75</a:t>
            </a:r>
            <a:r>
              <a:rPr lang="en-US" altLang="en-US" sz="2400" b="1">
                <a:solidFill>
                  <a:srgbClr val="464646"/>
                </a:solidFill>
              </a:rPr>
              <a:t> </a:t>
            </a:r>
          </a:p>
        </p:txBody>
      </p:sp>
      <p:sp>
        <p:nvSpPr>
          <p:cNvPr id="68629" name="Rectangle 25">
            <a:extLst>
              <a:ext uri="{FF2B5EF4-FFF2-40B4-BE49-F238E27FC236}">
                <a16:creationId xmlns:a16="http://schemas.microsoft.com/office/drawing/2014/main" id="{2D5EEA9F-DE41-F174-7DA1-4561F5B16E57}"/>
              </a:ext>
            </a:extLst>
          </p:cNvPr>
          <p:cNvSpPr>
            <a:spLocks noChangeArrowheads="1"/>
          </p:cNvSpPr>
          <p:nvPr/>
        </p:nvSpPr>
        <p:spPr bwMode="auto">
          <a:xfrm>
            <a:off x="2922588" y="5257800"/>
            <a:ext cx="233521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sz="2400" i="1">
                <a:solidFill>
                  <a:prstClr val="black"/>
                </a:solidFill>
              </a:rPr>
              <a:t>OCF =  </a:t>
            </a:r>
            <a:endParaRPr lang="en-US" altLang="en-US" sz="2400" b="1" i="1">
              <a:solidFill>
                <a:prstClr val="black"/>
              </a:solidFill>
            </a:endParaRPr>
          </a:p>
          <a:p>
            <a:pPr algn="r" eaLnBrk="0" fontAlgn="base" hangingPunct="0">
              <a:spcBef>
                <a:spcPct val="0"/>
              </a:spcBef>
              <a:spcAft>
                <a:spcPct val="0"/>
              </a:spcAft>
            </a:pPr>
            <a:endParaRPr lang="en-US" altLang="en-US" sz="2400" i="1">
              <a:solidFill>
                <a:prstClr val="black"/>
              </a:solidFill>
            </a:endParaRPr>
          </a:p>
        </p:txBody>
      </p:sp>
      <p:sp>
        <p:nvSpPr>
          <p:cNvPr id="470042" name="Rectangle 26">
            <a:extLst>
              <a:ext uri="{FF2B5EF4-FFF2-40B4-BE49-F238E27FC236}">
                <a16:creationId xmlns:a16="http://schemas.microsoft.com/office/drawing/2014/main" id="{16BFB406-F8C6-C77D-285B-9D1E16FC75BC}"/>
              </a:ext>
            </a:extLst>
          </p:cNvPr>
          <p:cNvSpPr>
            <a:spLocks noChangeArrowheads="1"/>
          </p:cNvSpPr>
          <p:nvPr/>
        </p:nvSpPr>
        <p:spPr bwMode="auto">
          <a:xfrm>
            <a:off x="5257800" y="5257800"/>
            <a:ext cx="275113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r>
              <a:rPr lang="en-US" altLang="en-US" sz="2400">
                <a:solidFill>
                  <a:srgbClr val="464646"/>
                </a:solidFill>
              </a:rPr>
              <a:t>$104.75</a:t>
            </a:r>
            <a:r>
              <a:rPr lang="en-US" altLang="en-US" sz="2400" b="1">
                <a:solidFill>
                  <a:srgbClr val="464646"/>
                </a:solidFill>
              </a:rPr>
              <a:t> </a:t>
            </a:r>
            <a:r>
              <a:rPr lang="en-US" altLang="en-US" sz="2400">
                <a:solidFill>
                  <a:srgbClr val="464646"/>
                </a:solidFill>
              </a:rPr>
              <a:t>+ $400</a:t>
            </a:r>
            <a:endParaRPr lang="en-US" altLang="en-US" sz="2400" b="1">
              <a:solidFill>
                <a:srgbClr val="464646"/>
              </a:solidFill>
            </a:endParaRPr>
          </a:p>
          <a:p>
            <a:pPr eaLnBrk="0" fontAlgn="base" hangingPunct="0">
              <a:spcBef>
                <a:spcPct val="0"/>
              </a:spcBef>
              <a:spcAft>
                <a:spcPct val="0"/>
              </a:spcAft>
            </a:pPr>
            <a:endParaRPr lang="en-US" altLang="en-US" sz="2400">
              <a:solidFill>
                <a:srgbClr val="464646"/>
              </a:solidFill>
            </a:endParaRPr>
          </a:p>
        </p:txBody>
      </p:sp>
      <p:sp>
        <p:nvSpPr>
          <p:cNvPr id="68631" name="Rectangle 27">
            <a:extLst>
              <a:ext uri="{FF2B5EF4-FFF2-40B4-BE49-F238E27FC236}">
                <a16:creationId xmlns:a16="http://schemas.microsoft.com/office/drawing/2014/main" id="{5FF9A81E-A3AC-6B78-5156-164CA76F53DE}"/>
              </a:ext>
            </a:extLst>
          </p:cNvPr>
          <p:cNvSpPr>
            <a:spLocks noChangeArrowheads="1"/>
          </p:cNvSpPr>
          <p:nvPr/>
        </p:nvSpPr>
        <p:spPr bwMode="auto">
          <a:xfrm>
            <a:off x="8008938" y="5257800"/>
            <a:ext cx="200025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eaLnBrk="0" fontAlgn="base" hangingPunct="0">
              <a:spcBef>
                <a:spcPct val="0"/>
              </a:spcBef>
              <a:spcAft>
                <a:spcPct val="0"/>
              </a:spcAft>
            </a:pPr>
            <a:r>
              <a:rPr lang="en-US" altLang="en-US" sz="2400">
                <a:solidFill>
                  <a:srgbClr val="464646"/>
                </a:solidFill>
              </a:rPr>
              <a:t>$504.75</a:t>
            </a:r>
          </a:p>
        </p:txBody>
      </p:sp>
      <p:grpSp>
        <p:nvGrpSpPr>
          <p:cNvPr id="2" name="Group 28">
            <a:extLst>
              <a:ext uri="{FF2B5EF4-FFF2-40B4-BE49-F238E27FC236}">
                <a16:creationId xmlns:a16="http://schemas.microsoft.com/office/drawing/2014/main" id="{BFA5E43D-1A8B-70B4-FD6A-D3E2D0A7EF26}"/>
              </a:ext>
            </a:extLst>
          </p:cNvPr>
          <p:cNvGrpSpPr>
            <a:grpSpLocks/>
          </p:cNvGrpSpPr>
          <p:nvPr/>
        </p:nvGrpSpPr>
        <p:grpSpPr bwMode="auto">
          <a:xfrm>
            <a:off x="5818188" y="4013200"/>
            <a:ext cx="2590800" cy="1143000"/>
            <a:chOff x="2736" y="2688"/>
            <a:chExt cx="1632" cy="720"/>
          </a:xfrm>
        </p:grpSpPr>
        <p:sp>
          <p:nvSpPr>
            <p:cNvPr id="68638" name="AutoShape 29">
              <a:extLst>
                <a:ext uri="{FF2B5EF4-FFF2-40B4-BE49-F238E27FC236}">
                  <a16:creationId xmlns:a16="http://schemas.microsoft.com/office/drawing/2014/main" id="{C221E6D7-8F0B-3B3A-C2D8-E67321FDCF44}"/>
                </a:ext>
              </a:extLst>
            </p:cNvPr>
            <p:cNvSpPr>
              <a:spLocks noChangeArrowheads="1"/>
            </p:cNvSpPr>
            <p:nvPr/>
          </p:nvSpPr>
          <p:spPr bwMode="auto">
            <a:xfrm flipV="1">
              <a:off x="3840" y="2688"/>
              <a:ext cx="528" cy="720"/>
            </a:xfrm>
            <a:prstGeom prst="curvedRightArrow">
              <a:avLst>
                <a:gd name="adj1" fmla="val 27273"/>
                <a:gd name="adj2" fmla="val 54545"/>
                <a:gd name="adj3" fmla="val 33333"/>
              </a:avLst>
            </a:prstGeom>
            <a:solidFill>
              <a:schemeClr val="accent1"/>
            </a:solidFill>
            <a:ln w="12700" cap="sq">
              <a:solidFill>
                <a:schemeClr val="tx1"/>
              </a:solidFill>
              <a:miter lim="800000"/>
              <a:headEnd type="none" w="sm" len="sm"/>
              <a:tailEnd type="none" w="sm" len="sm"/>
            </a:ln>
          </p:spPr>
          <p:txBody>
            <a:bodyPr wrap="none" anchor="ct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grpSp>
          <p:nvGrpSpPr>
            <p:cNvPr id="68639" name="Group 30">
              <a:extLst>
                <a:ext uri="{FF2B5EF4-FFF2-40B4-BE49-F238E27FC236}">
                  <a16:creationId xmlns:a16="http://schemas.microsoft.com/office/drawing/2014/main" id="{71567653-1EF1-8CC5-CF0C-A707083BDDB9}"/>
                </a:ext>
              </a:extLst>
            </p:cNvPr>
            <p:cNvGrpSpPr>
              <a:grpSpLocks/>
            </p:cNvGrpSpPr>
            <p:nvPr/>
          </p:nvGrpSpPr>
          <p:grpSpPr bwMode="auto">
            <a:xfrm>
              <a:off x="2736" y="2832"/>
              <a:ext cx="1020" cy="528"/>
              <a:chOff x="2160" y="2880"/>
              <a:chExt cx="1020" cy="528"/>
            </a:xfrm>
          </p:grpSpPr>
          <p:sp>
            <p:nvSpPr>
              <p:cNvPr id="68640" name="Rectangle 31">
                <a:extLst>
                  <a:ext uri="{FF2B5EF4-FFF2-40B4-BE49-F238E27FC236}">
                    <a16:creationId xmlns:a16="http://schemas.microsoft.com/office/drawing/2014/main" id="{76407D05-8269-D329-5978-EEFF72CABB68}"/>
                  </a:ext>
                </a:extLst>
              </p:cNvPr>
              <p:cNvSpPr>
                <a:spLocks noChangeArrowheads="1"/>
              </p:cNvSpPr>
              <p:nvPr/>
            </p:nvSpPr>
            <p:spPr bwMode="auto">
              <a:xfrm>
                <a:off x="2160" y="2880"/>
                <a:ext cx="102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eaLnBrk="0" fontAlgn="base" hangingPunct="0">
                  <a:spcBef>
                    <a:spcPct val="0"/>
                  </a:spcBef>
                  <a:spcAft>
                    <a:spcPct val="0"/>
                  </a:spcAft>
                </a:pPr>
                <a:r>
                  <a:rPr lang="en-US" altLang="en-US" sz="2400">
                    <a:solidFill>
                      <a:srgbClr val="464646"/>
                    </a:solidFill>
                  </a:rPr>
                  <a:t>$104.75   </a:t>
                </a:r>
                <a:r>
                  <a:rPr lang="en-US" altLang="en-US" sz="2400" b="1">
                    <a:solidFill>
                      <a:srgbClr val="464646"/>
                    </a:solidFill>
                  </a:rPr>
                  <a:t> </a:t>
                </a:r>
              </a:p>
            </p:txBody>
          </p:sp>
          <p:sp>
            <p:nvSpPr>
              <p:cNvPr id="68641" name="Line 32">
                <a:extLst>
                  <a:ext uri="{FF2B5EF4-FFF2-40B4-BE49-F238E27FC236}">
                    <a16:creationId xmlns:a16="http://schemas.microsoft.com/office/drawing/2014/main" id="{5392A1D0-DF0A-7255-C199-E69961036132}"/>
                  </a:ext>
                </a:extLst>
              </p:cNvPr>
              <p:cNvSpPr>
                <a:spLocks noChangeShapeType="1"/>
              </p:cNvSpPr>
              <p:nvPr/>
            </p:nvSpPr>
            <p:spPr bwMode="auto">
              <a:xfrm>
                <a:off x="2238" y="3120"/>
                <a:ext cx="864"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68642" name="Text Box 33">
                <a:extLst>
                  <a:ext uri="{FF2B5EF4-FFF2-40B4-BE49-F238E27FC236}">
                    <a16:creationId xmlns:a16="http://schemas.microsoft.com/office/drawing/2014/main" id="{FAF65663-6BA2-5030-031B-B45ADB109359}"/>
                  </a:ext>
                </a:extLst>
              </p:cNvPr>
              <p:cNvSpPr txBox="1">
                <a:spLocks noChangeArrowheads="1"/>
              </p:cNvSpPr>
              <p:nvPr/>
            </p:nvSpPr>
            <p:spPr bwMode="auto">
              <a:xfrm>
                <a:off x="2382" y="3120"/>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2400">
                    <a:solidFill>
                      <a:srgbClr val="464646"/>
                    </a:solidFill>
                  </a:rPr>
                  <a:t>0.66</a:t>
                </a:r>
              </a:p>
            </p:txBody>
          </p:sp>
        </p:grpSp>
      </p:grpSp>
      <p:grpSp>
        <p:nvGrpSpPr>
          <p:cNvPr id="4" name="Group 39">
            <a:extLst>
              <a:ext uri="{FF2B5EF4-FFF2-40B4-BE49-F238E27FC236}">
                <a16:creationId xmlns:a16="http://schemas.microsoft.com/office/drawing/2014/main" id="{67082E00-F1EC-491E-2868-6D7B8A1EEB75}"/>
              </a:ext>
            </a:extLst>
          </p:cNvPr>
          <p:cNvGrpSpPr>
            <a:grpSpLocks/>
          </p:cNvGrpSpPr>
          <p:nvPr/>
        </p:nvGrpSpPr>
        <p:grpSpPr bwMode="auto">
          <a:xfrm>
            <a:off x="7570788" y="1879600"/>
            <a:ext cx="1143000" cy="2438400"/>
            <a:chOff x="3840" y="1344"/>
            <a:chExt cx="720" cy="1536"/>
          </a:xfrm>
        </p:grpSpPr>
        <p:sp>
          <p:nvSpPr>
            <p:cNvPr id="68634" name="AutoShape 35">
              <a:extLst>
                <a:ext uri="{FF2B5EF4-FFF2-40B4-BE49-F238E27FC236}">
                  <a16:creationId xmlns:a16="http://schemas.microsoft.com/office/drawing/2014/main" id="{5A8B1C3A-6A57-6D75-1CA5-37587D796ED7}"/>
                </a:ext>
              </a:extLst>
            </p:cNvPr>
            <p:cNvSpPr>
              <a:spLocks noChangeArrowheads="1"/>
            </p:cNvSpPr>
            <p:nvPr/>
          </p:nvSpPr>
          <p:spPr bwMode="auto">
            <a:xfrm flipH="1" flipV="1">
              <a:off x="3840" y="1344"/>
              <a:ext cx="720" cy="1536"/>
            </a:xfrm>
            <a:prstGeom prst="curvedLeftArrow">
              <a:avLst>
                <a:gd name="adj1" fmla="val 42667"/>
                <a:gd name="adj2" fmla="val 85333"/>
                <a:gd name="adj3" fmla="val 33333"/>
              </a:avLst>
            </a:prstGeom>
            <a:solidFill>
              <a:schemeClr val="accent1"/>
            </a:solidFill>
            <a:ln w="12700" cap="sq">
              <a:solidFill>
                <a:schemeClr val="tx1"/>
              </a:solidFill>
              <a:miter lim="800000"/>
              <a:headEnd type="none" w="sm" len="sm"/>
              <a:tailEnd type="none" w="sm" len="sm"/>
            </a:ln>
          </p:spPr>
          <p:txBody>
            <a:bodyPr wrap="none" anchor="ct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srgbClr val="464646"/>
                </a:solidFill>
              </a:endParaRPr>
            </a:p>
          </p:txBody>
        </p:sp>
        <p:sp>
          <p:nvSpPr>
            <p:cNvPr id="68635" name="Rectangle 36">
              <a:extLst>
                <a:ext uri="{FF2B5EF4-FFF2-40B4-BE49-F238E27FC236}">
                  <a16:creationId xmlns:a16="http://schemas.microsoft.com/office/drawing/2014/main" id="{BA1CBE64-0C57-A819-6B0C-1DA386478593}"/>
                </a:ext>
              </a:extLst>
            </p:cNvPr>
            <p:cNvSpPr>
              <a:spLocks noChangeArrowheads="1"/>
            </p:cNvSpPr>
            <p:nvPr/>
          </p:nvSpPr>
          <p:spPr bwMode="auto">
            <a:xfrm>
              <a:off x="3861" y="2400"/>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400">
                  <a:solidFill>
                    <a:srgbClr val="464646"/>
                  </a:solidFill>
                </a:rPr>
                <a:t>+</a:t>
              </a:r>
              <a:r>
                <a:rPr lang="en-US" altLang="en-US" sz="2400" i="1">
                  <a:solidFill>
                    <a:srgbClr val="464646"/>
                  </a:solidFill>
                </a:rPr>
                <a:t>D</a:t>
              </a:r>
            </a:p>
          </p:txBody>
        </p:sp>
        <p:sp>
          <p:nvSpPr>
            <p:cNvPr id="68636" name="Rectangle 37">
              <a:extLst>
                <a:ext uri="{FF2B5EF4-FFF2-40B4-BE49-F238E27FC236}">
                  <a16:creationId xmlns:a16="http://schemas.microsoft.com/office/drawing/2014/main" id="{48FA9216-B382-1EE9-F4CB-139288EF4C25}"/>
                </a:ext>
              </a:extLst>
            </p:cNvPr>
            <p:cNvSpPr>
              <a:spLocks noChangeArrowheads="1"/>
            </p:cNvSpPr>
            <p:nvPr/>
          </p:nvSpPr>
          <p:spPr bwMode="auto">
            <a:xfrm>
              <a:off x="4080" y="2544"/>
              <a:ext cx="46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400">
                  <a:solidFill>
                    <a:srgbClr val="464646"/>
                  </a:solidFill>
                </a:rPr>
                <a:t>+</a:t>
              </a:r>
              <a:r>
                <a:rPr lang="en-US" altLang="en-US" sz="2400" i="1">
                  <a:solidFill>
                    <a:srgbClr val="464646"/>
                  </a:solidFill>
                </a:rPr>
                <a:t>FC</a:t>
              </a:r>
            </a:p>
          </p:txBody>
        </p:sp>
        <p:sp>
          <p:nvSpPr>
            <p:cNvPr id="68637" name="Rectangle 38">
              <a:extLst>
                <a:ext uri="{FF2B5EF4-FFF2-40B4-BE49-F238E27FC236}">
                  <a16:creationId xmlns:a16="http://schemas.microsoft.com/office/drawing/2014/main" id="{EECB6B77-6D7B-6401-AB3B-63E8D52D7B27}"/>
                </a:ext>
              </a:extLst>
            </p:cNvPr>
            <p:cNvSpPr>
              <a:spLocks noChangeArrowheads="1"/>
            </p:cNvSpPr>
            <p:nvPr/>
          </p:nvSpPr>
          <p:spPr bwMode="auto">
            <a:xfrm>
              <a:off x="3947" y="1584"/>
              <a:ext cx="51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400">
                  <a:solidFill>
                    <a:srgbClr val="464646"/>
                  </a:solidFill>
                </a:rPr>
                <a:t>+ </a:t>
              </a:r>
              <a:r>
                <a:rPr lang="en-US" altLang="en-US" sz="2400" i="1">
                  <a:solidFill>
                    <a:srgbClr val="464646"/>
                  </a:solidFill>
                </a:rPr>
                <a:t>VC</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004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004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00"/>
                                        <p:tgtEl>
                                          <p:spTgt spid="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470037"/>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70034"/>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down)">
                                      <p:cBhvr>
                                        <p:cTn id="28" dur="500"/>
                                        <p:tgtEl>
                                          <p:spTgt spid="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700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0022" grpId="0"/>
      <p:bldP spid="470034" grpId="0"/>
      <p:bldP spid="470037" grpId="0"/>
      <p:bldP spid="470040" grpId="0"/>
      <p:bldP spid="470042" grpId="0"/>
    </p:bldLst>
  </p:timing>
</p:sld>
</file>

<file path=ppt/slides/slide9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8339" name="Rectangle 3">
            <a:extLst>
              <a:ext uri="{FF2B5EF4-FFF2-40B4-BE49-F238E27FC236}">
                <a16:creationId xmlns:a16="http://schemas.microsoft.com/office/drawing/2014/main" id="{533314F0-C1DE-D705-6E75-1FB41BB7DFE2}"/>
              </a:ext>
            </a:extLst>
          </p:cNvPr>
          <p:cNvSpPr>
            <a:spLocks noGrp="1"/>
          </p:cNvSpPr>
          <p:nvPr>
            <p:ph idx="1"/>
          </p:nvPr>
        </p:nvSpPr>
        <p:spPr>
          <a:xfrm>
            <a:off x="1981200" y="1066801"/>
            <a:ext cx="8229600" cy="3660775"/>
          </a:xfrm>
        </p:spPr>
        <p:txBody>
          <a:bodyPr/>
          <a:lstStyle/>
          <a:p>
            <a:pPr eaLnBrk="1" hangingPunct="1"/>
            <a:r>
              <a:rPr lang="en-US" altLang="en-US" sz="2800">
                <a:latin typeface="Times New Roman" panose="02020603050405020304" pitchFamily="18" charset="0"/>
                <a:ea typeface="ＭＳ Ｐゴシック" panose="020B0600070205080204" pitchFamily="34" charset="-128"/>
              </a:rPr>
              <a:t>Now that we have break-even revenue of $5,358.71 million, we can calculate break-even price.</a:t>
            </a:r>
          </a:p>
          <a:p>
            <a:pPr eaLnBrk="1" hangingPunct="1"/>
            <a:r>
              <a:rPr lang="en-US" altLang="en-US" sz="2800">
                <a:latin typeface="Times New Roman" panose="02020603050405020304" pitchFamily="18" charset="0"/>
                <a:ea typeface="ＭＳ Ｐゴシック" panose="020B0600070205080204" pitchFamily="34" charset="-128"/>
              </a:rPr>
              <a:t>The original plan was to generate revenues of $7 billion by selling the cold cure at $10 per dose and selling 700 million doses per year, </a:t>
            </a:r>
          </a:p>
          <a:p>
            <a:pPr eaLnBrk="1" hangingPunct="1"/>
            <a:r>
              <a:rPr lang="en-US" altLang="en-US" sz="2800">
                <a:latin typeface="Times New Roman" panose="02020603050405020304" pitchFamily="18" charset="0"/>
                <a:ea typeface="ＭＳ Ｐゴシック" panose="020B0600070205080204" pitchFamily="34" charset="-128"/>
              </a:rPr>
              <a:t>We can reach break-even revenue with a price of only: </a:t>
            </a:r>
          </a:p>
          <a:p>
            <a:pPr algn="ctr" eaLnBrk="1" hangingPunct="1">
              <a:lnSpc>
                <a:spcPct val="90000"/>
              </a:lnSpc>
              <a:buFont typeface="Wingdings" panose="05000000000000000000" pitchFamily="2" charset="2"/>
              <a:buNone/>
            </a:pPr>
            <a:r>
              <a:rPr lang="en-US" altLang="en-US" sz="2800">
                <a:latin typeface="Times New Roman" panose="02020603050405020304" pitchFamily="18" charset="0"/>
                <a:ea typeface="ＭＳ Ｐゴシック" panose="020B0600070205080204" pitchFamily="34" charset="-128"/>
              </a:rPr>
              <a:t>$5,358.71 million =  700 million × </a:t>
            </a:r>
            <a:r>
              <a:rPr lang="en-US" altLang="en-US" sz="2800" i="1">
                <a:latin typeface="Times New Roman" panose="02020603050405020304" pitchFamily="18" charset="0"/>
                <a:ea typeface="ＭＳ Ｐゴシック" panose="020B0600070205080204" pitchFamily="34" charset="-128"/>
              </a:rPr>
              <a:t>P</a:t>
            </a:r>
            <a:r>
              <a:rPr lang="en-US" altLang="en-US" sz="2800" i="1" baseline="-25000">
                <a:latin typeface="Times New Roman" panose="02020603050405020304" pitchFamily="18" charset="0"/>
                <a:ea typeface="ＭＳ Ｐゴシック" panose="020B0600070205080204" pitchFamily="34" charset="-128"/>
              </a:rPr>
              <a:t>BE</a:t>
            </a:r>
          </a:p>
          <a:p>
            <a:pPr eaLnBrk="1" hangingPunct="1"/>
            <a:endParaRPr lang="en-US" altLang="en-US" sz="2800">
              <a:latin typeface="Times New Roman" panose="02020603050405020304" pitchFamily="18" charset="0"/>
              <a:ea typeface="ＭＳ Ｐゴシック" panose="020B0600070205080204" pitchFamily="34" charset="-128"/>
            </a:endParaRPr>
          </a:p>
        </p:txBody>
      </p:sp>
      <p:sp>
        <p:nvSpPr>
          <p:cNvPr id="33794" name="Rectangle 2">
            <a:extLst>
              <a:ext uri="{FF2B5EF4-FFF2-40B4-BE49-F238E27FC236}">
                <a16:creationId xmlns:a16="http://schemas.microsoft.com/office/drawing/2014/main" id="{A8165325-7D58-5EF5-A52D-C5E4A375A9BE}"/>
              </a:ext>
            </a:extLst>
          </p:cNvPr>
          <p:cNvSpPr>
            <a:spLocks noGrp="1" noChangeArrowheads="1"/>
          </p:cNvSpPr>
          <p:nvPr>
            <p:ph type="title"/>
          </p:nvPr>
        </p:nvSpPr>
        <p:spPr>
          <a:xfrm>
            <a:off x="1981200" y="0"/>
            <a:ext cx="8229600" cy="1143000"/>
          </a:xfrm>
        </p:spPr>
        <p:txBody>
          <a:bodyPr/>
          <a:lstStyle/>
          <a:p>
            <a:pPr eaLnBrk="1" fontAlgn="auto" hangingPunct="1">
              <a:spcAft>
                <a:spcPts val="0"/>
              </a:spcAft>
              <a:defRPr/>
            </a:pPr>
            <a:r>
              <a:rPr lang="en-US" altLang="en-US" sz="3400" dirty="0">
                <a:ea typeface="+mj-ea"/>
                <a:cs typeface="+mj-cs"/>
              </a:rPr>
              <a:t>Break-Even Analysis: </a:t>
            </a:r>
            <a:r>
              <a:rPr lang="en-US" altLang="en-US" sz="3400" i="1" dirty="0">
                <a:ea typeface="+mj-ea"/>
                <a:cs typeface="+mj-cs"/>
              </a:rPr>
              <a:t>P</a:t>
            </a:r>
            <a:r>
              <a:rPr lang="en-US" altLang="en-US" sz="3400" i="1" baseline="-25000" dirty="0">
                <a:ea typeface="+mj-ea"/>
                <a:cs typeface="+mj-cs"/>
              </a:rPr>
              <a:t>BE</a:t>
            </a:r>
          </a:p>
        </p:txBody>
      </p:sp>
      <p:grpSp>
        <p:nvGrpSpPr>
          <p:cNvPr id="2" name="Group 22">
            <a:extLst>
              <a:ext uri="{FF2B5EF4-FFF2-40B4-BE49-F238E27FC236}">
                <a16:creationId xmlns:a16="http://schemas.microsoft.com/office/drawing/2014/main" id="{BE912A81-D576-D652-4AF1-85CB1E133D55}"/>
              </a:ext>
            </a:extLst>
          </p:cNvPr>
          <p:cNvGrpSpPr>
            <a:grpSpLocks/>
          </p:cNvGrpSpPr>
          <p:nvPr/>
        </p:nvGrpSpPr>
        <p:grpSpPr bwMode="auto">
          <a:xfrm>
            <a:off x="3886200" y="5029201"/>
            <a:ext cx="4953000" cy="976313"/>
            <a:chOff x="1464" y="3216"/>
            <a:chExt cx="3120" cy="615"/>
          </a:xfrm>
        </p:grpSpPr>
        <p:sp>
          <p:nvSpPr>
            <p:cNvPr id="70661" name="Rectangle 15">
              <a:extLst>
                <a:ext uri="{FF2B5EF4-FFF2-40B4-BE49-F238E27FC236}">
                  <a16:creationId xmlns:a16="http://schemas.microsoft.com/office/drawing/2014/main" id="{9015BED3-2D1A-CBBC-B51C-3CE8DD0C507F}"/>
                </a:ext>
              </a:extLst>
            </p:cNvPr>
            <p:cNvSpPr>
              <a:spLocks noChangeArrowheads="1"/>
            </p:cNvSpPr>
            <p:nvPr/>
          </p:nvSpPr>
          <p:spPr bwMode="auto">
            <a:xfrm>
              <a:off x="1464" y="3383"/>
              <a:ext cx="3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400" i="1">
                  <a:solidFill>
                    <a:prstClr val="black"/>
                  </a:solidFill>
                </a:rPr>
                <a:t>P</a:t>
              </a:r>
              <a:r>
                <a:rPr lang="en-US" altLang="en-US" sz="2400" i="1" baseline="-25000">
                  <a:solidFill>
                    <a:prstClr val="black"/>
                  </a:solidFill>
                </a:rPr>
                <a:t>BE</a:t>
              </a:r>
            </a:p>
          </p:txBody>
        </p:sp>
        <p:sp>
          <p:nvSpPr>
            <p:cNvPr id="70662" name="Text Box 16">
              <a:extLst>
                <a:ext uri="{FF2B5EF4-FFF2-40B4-BE49-F238E27FC236}">
                  <a16:creationId xmlns:a16="http://schemas.microsoft.com/office/drawing/2014/main" id="{7C6FDDD5-3095-2585-82C5-958360B663C8}"/>
                </a:ext>
              </a:extLst>
            </p:cNvPr>
            <p:cNvSpPr txBox="1">
              <a:spLocks noChangeArrowheads="1"/>
            </p:cNvSpPr>
            <p:nvPr/>
          </p:nvSpPr>
          <p:spPr bwMode="auto">
            <a:xfrm>
              <a:off x="1848" y="3399"/>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2400">
                  <a:solidFill>
                    <a:prstClr val="black"/>
                  </a:solidFill>
                </a:rPr>
                <a:t>=</a:t>
              </a:r>
            </a:p>
          </p:txBody>
        </p:sp>
        <p:sp>
          <p:nvSpPr>
            <p:cNvPr id="70663" name="Text Box 17">
              <a:extLst>
                <a:ext uri="{FF2B5EF4-FFF2-40B4-BE49-F238E27FC236}">
                  <a16:creationId xmlns:a16="http://schemas.microsoft.com/office/drawing/2014/main" id="{7FADB4CA-1883-AF37-9E0E-A11AF99479F3}"/>
                </a:ext>
              </a:extLst>
            </p:cNvPr>
            <p:cNvSpPr txBox="1">
              <a:spLocks noChangeArrowheads="1"/>
            </p:cNvSpPr>
            <p:nvPr/>
          </p:nvSpPr>
          <p:spPr bwMode="auto">
            <a:xfrm>
              <a:off x="3096" y="3399"/>
              <a:ext cx="14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2400">
                  <a:solidFill>
                    <a:prstClr val="black"/>
                  </a:solidFill>
                </a:rPr>
                <a:t>= $7.66 / dose</a:t>
              </a:r>
            </a:p>
          </p:txBody>
        </p:sp>
        <p:sp>
          <p:nvSpPr>
            <p:cNvPr id="70664" name="Text Box 18">
              <a:extLst>
                <a:ext uri="{FF2B5EF4-FFF2-40B4-BE49-F238E27FC236}">
                  <a16:creationId xmlns:a16="http://schemas.microsoft.com/office/drawing/2014/main" id="{F753CCBA-5611-C0DA-A0D8-2EE924CD831E}"/>
                </a:ext>
              </a:extLst>
            </p:cNvPr>
            <p:cNvSpPr txBox="1">
              <a:spLocks noChangeArrowheads="1"/>
            </p:cNvSpPr>
            <p:nvPr/>
          </p:nvSpPr>
          <p:spPr bwMode="auto">
            <a:xfrm>
              <a:off x="2256" y="3543"/>
              <a:ext cx="7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2400">
                  <a:solidFill>
                    <a:prstClr val="black"/>
                  </a:solidFill>
                </a:rPr>
                <a:t>  700 </a:t>
              </a:r>
            </a:p>
          </p:txBody>
        </p:sp>
        <p:sp>
          <p:nvSpPr>
            <p:cNvPr id="70665" name="Text Box 19">
              <a:extLst>
                <a:ext uri="{FF2B5EF4-FFF2-40B4-BE49-F238E27FC236}">
                  <a16:creationId xmlns:a16="http://schemas.microsoft.com/office/drawing/2014/main" id="{FF0D0549-D046-DAFA-CDE5-35AD923FC189}"/>
                </a:ext>
              </a:extLst>
            </p:cNvPr>
            <p:cNvSpPr txBox="1">
              <a:spLocks noChangeArrowheads="1"/>
            </p:cNvSpPr>
            <p:nvPr/>
          </p:nvSpPr>
          <p:spPr bwMode="auto">
            <a:xfrm>
              <a:off x="2112" y="3216"/>
              <a:ext cx="10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fontAlgn="base">
                <a:spcBef>
                  <a:spcPct val="50000"/>
                </a:spcBef>
                <a:spcAft>
                  <a:spcPct val="0"/>
                </a:spcAft>
              </a:pPr>
              <a:r>
                <a:rPr lang="en-US" altLang="en-US" sz="2400">
                  <a:solidFill>
                    <a:prstClr val="black"/>
                  </a:solidFill>
                </a:rPr>
                <a:t>$5,358.71</a:t>
              </a:r>
            </a:p>
          </p:txBody>
        </p:sp>
        <p:sp>
          <p:nvSpPr>
            <p:cNvPr id="70666" name="Line 20">
              <a:extLst>
                <a:ext uri="{FF2B5EF4-FFF2-40B4-BE49-F238E27FC236}">
                  <a16:creationId xmlns:a16="http://schemas.microsoft.com/office/drawing/2014/main" id="{E6BFDBB9-4DA0-A051-D60F-6EC83029EEB2}"/>
                </a:ext>
              </a:extLst>
            </p:cNvPr>
            <p:cNvSpPr>
              <a:spLocks noChangeShapeType="1"/>
            </p:cNvSpPr>
            <p:nvPr/>
          </p:nvSpPr>
          <p:spPr bwMode="auto">
            <a:xfrm>
              <a:off x="2136" y="3543"/>
              <a:ext cx="96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98339">
                                            <p:txEl>
                                              <p:pRg st="0" end="0"/>
                                            </p:txEl>
                                          </p:spTgt>
                                        </p:tgtEl>
                                        <p:attrNameLst>
                                          <p:attrName>style.visibility</p:attrName>
                                        </p:attrNameLst>
                                      </p:cBhvr>
                                      <p:to>
                                        <p:strVal val="visible"/>
                                      </p:to>
                                    </p:set>
                                    <p:animEffect transition="in" filter="fade">
                                      <p:cBhvr>
                                        <p:cTn id="7" dur="1000"/>
                                        <p:tgtEl>
                                          <p:spTgt spid="398339">
                                            <p:txEl>
                                              <p:pRg st="0" end="0"/>
                                            </p:txEl>
                                          </p:spTgt>
                                        </p:tgtEl>
                                      </p:cBhvr>
                                    </p:animEffect>
                                    <p:anim calcmode="lin" valueType="num">
                                      <p:cBhvr>
                                        <p:cTn id="8" dur="1000" fill="hold"/>
                                        <p:tgtEl>
                                          <p:spTgt spid="39833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9833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98339">
                                            <p:txEl>
                                              <p:pRg st="1" end="1"/>
                                            </p:txEl>
                                          </p:spTgt>
                                        </p:tgtEl>
                                        <p:attrNameLst>
                                          <p:attrName>style.visibility</p:attrName>
                                        </p:attrNameLst>
                                      </p:cBhvr>
                                      <p:to>
                                        <p:strVal val="visible"/>
                                      </p:to>
                                    </p:set>
                                    <p:animEffect transition="in" filter="fade">
                                      <p:cBhvr>
                                        <p:cTn id="14" dur="1000"/>
                                        <p:tgtEl>
                                          <p:spTgt spid="398339">
                                            <p:txEl>
                                              <p:pRg st="1" end="1"/>
                                            </p:txEl>
                                          </p:spTgt>
                                        </p:tgtEl>
                                      </p:cBhvr>
                                    </p:animEffect>
                                    <p:anim calcmode="lin" valueType="num">
                                      <p:cBhvr>
                                        <p:cTn id="15" dur="1000" fill="hold"/>
                                        <p:tgtEl>
                                          <p:spTgt spid="39833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9833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98339">
                                            <p:txEl>
                                              <p:pRg st="2" end="2"/>
                                            </p:txEl>
                                          </p:spTgt>
                                        </p:tgtEl>
                                        <p:attrNameLst>
                                          <p:attrName>style.visibility</p:attrName>
                                        </p:attrNameLst>
                                      </p:cBhvr>
                                      <p:to>
                                        <p:strVal val="visible"/>
                                      </p:to>
                                    </p:set>
                                    <p:animEffect transition="in" filter="fade">
                                      <p:cBhvr>
                                        <p:cTn id="21" dur="1000"/>
                                        <p:tgtEl>
                                          <p:spTgt spid="398339">
                                            <p:txEl>
                                              <p:pRg st="2" end="2"/>
                                            </p:txEl>
                                          </p:spTgt>
                                        </p:tgtEl>
                                      </p:cBhvr>
                                    </p:animEffect>
                                    <p:anim calcmode="lin" valueType="num">
                                      <p:cBhvr>
                                        <p:cTn id="22" dur="1000" fill="hold"/>
                                        <p:tgtEl>
                                          <p:spTgt spid="398339">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9833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98339">
                                            <p:txEl>
                                              <p:pRg st="3" end="3"/>
                                            </p:txEl>
                                          </p:spTgt>
                                        </p:tgtEl>
                                        <p:attrNameLst>
                                          <p:attrName>style.visibility</p:attrName>
                                        </p:attrNameLst>
                                      </p:cBhvr>
                                      <p:to>
                                        <p:strVal val="visible"/>
                                      </p:to>
                                    </p:set>
                                    <p:animEffect transition="in" filter="fade">
                                      <p:cBhvr>
                                        <p:cTn id="28" dur="1000"/>
                                        <p:tgtEl>
                                          <p:spTgt spid="398339">
                                            <p:txEl>
                                              <p:pRg st="3" end="3"/>
                                            </p:txEl>
                                          </p:spTgt>
                                        </p:tgtEl>
                                      </p:cBhvr>
                                    </p:animEffect>
                                    <p:anim calcmode="lin" valueType="num">
                                      <p:cBhvr>
                                        <p:cTn id="29" dur="1000" fill="hold"/>
                                        <p:tgtEl>
                                          <p:spTgt spid="398339">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9833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fade">
                                      <p:cBhvr>
                                        <p:cTn id="35" dur="1000"/>
                                        <p:tgtEl>
                                          <p:spTgt spid="2"/>
                                        </p:tgtEl>
                                      </p:cBhvr>
                                    </p:animEffect>
                                    <p:anim calcmode="lin" valueType="num">
                                      <p:cBhvr>
                                        <p:cTn id="36" dur="1000" fill="hold"/>
                                        <p:tgtEl>
                                          <p:spTgt spid="2"/>
                                        </p:tgtEl>
                                        <p:attrNameLst>
                                          <p:attrName>ppt_x</p:attrName>
                                        </p:attrNameLst>
                                      </p:cBhvr>
                                      <p:tavLst>
                                        <p:tav tm="0">
                                          <p:val>
                                            <p:strVal val="#ppt_x"/>
                                          </p:val>
                                        </p:tav>
                                        <p:tav tm="100000">
                                          <p:val>
                                            <p:strVal val="#ppt_x"/>
                                          </p:val>
                                        </p:tav>
                                      </p:tavLst>
                                    </p:anim>
                                    <p:anim calcmode="lin" valueType="num">
                                      <p:cBhvr>
                                        <p:cTn id="37"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39" grpId="0" build="p"/>
    </p:bldLst>
  </p:timing>
</p:sld>
</file>

<file path=ppt/slides/slide1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4115" name="Rectangle 3">
            <a:extLst>
              <a:ext uri="{FF2B5EF4-FFF2-40B4-BE49-F238E27FC236}">
                <a16:creationId xmlns:a16="http://schemas.microsoft.com/office/drawing/2014/main" id="{EEEBEBB2-CA17-55F4-B3F1-1ECC9532A98F}"/>
              </a:ext>
            </a:extLst>
          </p:cNvPr>
          <p:cNvSpPr>
            <a:spLocks noGrp="1"/>
          </p:cNvSpPr>
          <p:nvPr>
            <p:ph idx="1"/>
          </p:nvPr>
        </p:nvSpPr>
        <p:spPr>
          <a:xfrm>
            <a:off x="1981200" y="1143001"/>
            <a:ext cx="8229600" cy="4525963"/>
          </a:xfrm>
        </p:spPr>
        <p:txBody>
          <a:bodyPr/>
          <a:lstStyle/>
          <a:p>
            <a:pPr eaLnBrk="1" hangingPunct="1"/>
            <a:r>
              <a:rPr lang="en-US" altLang="en-US" sz="2800">
                <a:latin typeface="Times New Roman" panose="02020603050405020304" pitchFamily="18" charset="0"/>
                <a:ea typeface="ＭＳ Ｐゴシック" panose="020B0600070205080204" pitchFamily="34" charset="-128"/>
              </a:rPr>
              <a:t>Monte Carlo simulation is a further attempt to model real-world uncertainty.</a:t>
            </a:r>
          </a:p>
          <a:p>
            <a:pPr eaLnBrk="1" hangingPunct="1"/>
            <a:r>
              <a:rPr lang="en-US" altLang="en-US" sz="2800">
                <a:latin typeface="Times New Roman" panose="02020603050405020304" pitchFamily="18" charset="0"/>
                <a:ea typeface="ＭＳ Ｐゴシック" panose="020B0600070205080204" pitchFamily="34" charset="-128"/>
              </a:rPr>
              <a:t>This approach takes its name from the famous European casino, because it analyzes projects the way one might evaluate gambling strategies.</a:t>
            </a:r>
          </a:p>
        </p:txBody>
      </p:sp>
      <p:sp>
        <p:nvSpPr>
          <p:cNvPr id="35842" name="Rectangle 2">
            <a:extLst>
              <a:ext uri="{FF2B5EF4-FFF2-40B4-BE49-F238E27FC236}">
                <a16:creationId xmlns:a16="http://schemas.microsoft.com/office/drawing/2014/main" id="{3A67DEC1-59FA-D861-E4AC-1780564B5D75}"/>
              </a:ext>
            </a:extLst>
          </p:cNvPr>
          <p:cNvSpPr>
            <a:spLocks noGrp="1" noChangeArrowheads="1"/>
          </p:cNvSpPr>
          <p:nvPr>
            <p:ph type="title"/>
          </p:nvPr>
        </p:nvSpPr>
        <p:spPr>
          <a:xfrm>
            <a:off x="1981200" y="0"/>
            <a:ext cx="8229600" cy="1143000"/>
          </a:xfrm>
        </p:spPr>
        <p:txBody>
          <a:bodyPr/>
          <a:lstStyle/>
          <a:p>
            <a:pPr eaLnBrk="1" fontAlgn="auto" hangingPunct="1">
              <a:spcAft>
                <a:spcPts val="0"/>
              </a:spcAft>
              <a:defRPr/>
            </a:pPr>
            <a:r>
              <a:rPr lang="en-US" altLang="en-US" sz="3400" dirty="0">
                <a:ea typeface="+mj-ea"/>
                <a:cs typeface="+mj-cs"/>
              </a:rPr>
              <a:t>Monte Carlo Simulation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74115">
                                            <p:txEl>
                                              <p:pRg st="0" end="0"/>
                                            </p:txEl>
                                          </p:spTgt>
                                        </p:tgtEl>
                                        <p:attrNameLst>
                                          <p:attrName>style.visibility</p:attrName>
                                        </p:attrNameLst>
                                      </p:cBhvr>
                                      <p:to>
                                        <p:strVal val="visible"/>
                                      </p:to>
                                    </p:set>
                                    <p:animEffect transition="in" filter="fade">
                                      <p:cBhvr>
                                        <p:cTn id="7" dur="1000"/>
                                        <p:tgtEl>
                                          <p:spTgt spid="474115">
                                            <p:txEl>
                                              <p:pRg st="0" end="0"/>
                                            </p:txEl>
                                          </p:spTgt>
                                        </p:tgtEl>
                                      </p:cBhvr>
                                    </p:animEffect>
                                    <p:anim calcmode="lin" valueType="num">
                                      <p:cBhvr>
                                        <p:cTn id="8" dur="1000" fill="hold"/>
                                        <p:tgtEl>
                                          <p:spTgt spid="47411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7411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74115">
                                            <p:txEl>
                                              <p:pRg st="1" end="1"/>
                                            </p:txEl>
                                          </p:spTgt>
                                        </p:tgtEl>
                                        <p:attrNameLst>
                                          <p:attrName>style.visibility</p:attrName>
                                        </p:attrNameLst>
                                      </p:cBhvr>
                                      <p:to>
                                        <p:strVal val="visible"/>
                                      </p:to>
                                    </p:set>
                                    <p:animEffect transition="in" filter="fade">
                                      <p:cBhvr>
                                        <p:cTn id="14" dur="1000"/>
                                        <p:tgtEl>
                                          <p:spTgt spid="474115">
                                            <p:txEl>
                                              <p:pRg st="1" end="1"/>
                                            </p:txEl>
                                          </p:spTgt>
                                        </p:tgtEl>
                                      </p:cBhvr>
                                    </p:animEffect>
                                    <p:anim calcmode="lin" valueType="num">
                                      <p:cBhvr>
                                        <p:cTn id="15" dur="1000" fill="hold"/>
                                        <p:tgtEl>
                                          <p:spTgt spid="47411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7411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4115" grpId="0" build="p"/>
    </p:bldLst>
  </p:timing>
</p:sld>
</file>

<file path=ppt/slides/slide1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5139" name="Rectangle 3">
            <a:extLst>
              <a:ext uri="{FF2B5EF4-FFF2-40B4-BE49-F238E27FC236}">
                <a16:creationId xmlns:a16="http://schemas.microsoft.com/office/drawing/2014/main" id="{953878B1-5584-16FA-C29C-38FCCCCDEA6D}"/>
              </a:ext>
            </a:extLst>
          </p:cNvPr>
          <p:cNvSpPr>
            <a:spLocks noGrp="1"/>
          </p:cNvSpPr>
          <p:nvPr>
            <p:ph idx="1"/>
          </p:nvPr>
        </p:nvSpPr>
        <p:spPr>
          <a:xfrm>
            <a:off x="1981200" y="1143000"/>
            <a:ext cx="8229600" cy="4864100"/>
          </a:xfrm>
        </p:spPr>
        <p:txBody>
          <a:bodyPr/>
          <a:lstStyle/>
          <a:p>
            <a:pPr eaLnBrk="1" hangingPunct="1"/>
            <a:r>
              <a:rPr lang="en-US" altLang="en-US" sz="2800">
                <a:latin typeface="Times New Roman" panose="02020603050405020304" pitchFamily="18" charset="0"/>
                <a:ea typeface="ＭＳ Ｐゴシック" panose="020B0600070205080204" pitchFamily="34" charset="-128"/>
              </a:rPr>
              <a:t>Imagine a serious blackjack player who wants to know if she should take the third card whenever her first two cards total sixteen.</a:t>
            </a:r>
          </a:p>
          <a:p>
            <a:pPr lvl="1" eaLnBrk="1" hangingPunct="1"/>
            <a:r>
              <a:rPr lang="en-US" altLang="en-US" sz="2600">
                <a:latin typeface="Times New Roman" panose="02020603050405020304" pitchFamily="18" charset="0"/>
                <a:ea typeface="ＭＳ Ｐゴシック" panose="020B0600070205080204" pitchFamily="34" charset="-128"/>
              </a:rPr>
              <a:t>She could play thousands of hands for real money to find out. </a:t>
            </a:r>
          </a:p>
          <a:p>
            <a:pPr lvl="1" eaLnBrk="1" hangingPunct="1"/>
            <a:r>
              <a:rPr lang="en-US" altLang="en-US" sz="2600">
                <a:latin typeface="Times New Roman" panose="02020603050405020304" pitchFamily="18" charset="0"/>
                <a:ea typeface="ＭＳ Ｐゴシック" panose="020B0600070205080204" pitchFamily="34" charset="-128"/>
              </a:rPr>
              <a:t>This could be hazardous to her wealth.</a:t>
            </a:r>
          </a:p>
          <a:p>
            <a:pPr lvl="1" eaLnBrk="1" hangingPunct="1"/>
            <a:r>
              <a:rPr lang="en-US" altLang="en-US" sz="2600">
                <a:latin typeface="Times New Roman" panose="02020603050405020304" pitchFamily="18" charset="0"/>
                <a:ea typeface="ＭＳ Ｐゴシック" panose="020B0600070205080204" pitchFamily="34" charset="-128"/>
              </a:rPr>
              <a:t>Or, she could play thousands of practice hands.</a:t>
            </a:r>
          </a:p>
          <a:p>
            <a:pPr eaLnBrk="1" hangingPunct="1"/>
            <a:r>
              <a:rPr lang="en-US" altLang="en-US" sz="2800">
                <a:latin typeface="Times New Roman" panose="02020603050405020304" pitchFamily="18" charset="0"/>
                <a:ea typeface="ＭＳ Ｐゴシック" panose="020B0600070205080204" pitchFamily="34" charset="-128"/>
              </a:rPr>
              <a:t>Monte Carlo simulation of capital budgeting projects is in this spirit.</a:t>
            </a:r>
          </a:p>
        </p:txBody>
      </p:sp>
      <p:sp>
        <p:nvSpPr>
          <p:cNvPr id="37890" name="Rectangle 2">
            <a:extLst>
              <a:ext uri="{FF2B5EF4-FFF2-40B4-BE49-F238E27FC236}">
                <a16:creationId xmlns:a16="http://schemas.microsoft.com/office/drawing/2014/main" id="{C09B0CD1-5BAB-8AC7-E314-EAD270A8769A}"/>
              </a:ext>
            </a:extLst>
          </p:cNvPr>
          <p:cNvSpPr>
            <a:spLocks noGrp="1" noChangeArrowheads="1"/>
          </p:cNvSpPr>
          <p:nvPr>
            <p:ph type="title"/>
          </p:nvPr>
        </p:nvSpPr>
        <p:spPr>
          <a:xfrm>
            <a:off x="1981200" y="152400"/>
            <a:ext cx="8229600" cy="1143000"/>
          </a:xfrm>
        </p:spPr>
        <p:txBody>
          <a:bodyPr/>
          <a:lstStyle/>
          <a:p>
            <a:pPr eaLnBrk="1" fontAlgn="auto" hangingPunct="1">
              <a:spcAft>
                <a:spcPts val="0"/>
              </a:spcAft>
              <a:defRPr/>
            </a:pPr>
            <a:r>
              <a:rPr lang="en-US" altLang="en-US" sz="3400" dirty="0">
                <a:ea typeface="+mj-ea"/>
                <a:cs typeface="+mj-cs"/>
              </a:rPr>
              <a:t>Monte Carlo Simulation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75139">
                                            <p:txEl>
                                              <p:pRg st="0" end="0"/>
                                            </p:txEl>
                                          </p:spTgt>
                                        </p:tgtEl>
                                        <p:attrNameLst>
                                          <p:attrName>style.visibility</p:attrName>
                                        </p:attrNameLst>
                                      </p:cBhvr>
                                      <p:to>
                                        <p:strVal val="visible"/>
                                      </p:to>
                                    </p:set>
                                    <p:animEffect transition="in" filter="fade">
                                      <p:cBhvr>
                                        <p:cTn id="7" dur="1000"/>
                                        <p:tgtEl>
                                          <p:spTgt spid="475139">
                                            <p:txEl>
                                              <p:pRg st="0" end="0"/>
                                            </p:txEl>
                                          </p:spTgt>
                                        </p:tgtEl>
                                      </p:cBhvr>
                                    </p:animEffect>
                                    <p:anim calcmode="lin" valueType="num">
                                      <p:cBhvr>
                                        <p:cTn id="8" dur="1000" fill="hold"/>
                                        <p:tgtEl>
                                          <p:spTgt spid="47513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75139">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75139">
                                            <p:txEl>
                                              <p:pRg st="1" end="1"/>
                                            </p:txEl>
                                          </p:spTgt>
                                        </p:tgtEl>
                                        <p:attrNameLst>
                                          <p:attrName>style.visibility</p:attrName>
                                        </p:attrNameLst>
                                      </p:cBhvr>
                                      <p:to>
                                        <p:strVal val="visible"/>
                                      </p:to>
                                    </p:set>
                                    <p:animEffect transition="in" filter="fade">
                                      <p:cBhvr>
                                        <p:cTn id="12" dur="1000"/>
                                        <p:tgtEl>
                                          <p:spTgt spid="475139">
                                            <p:txEl>
                                              <p:pRg st="1" end="1"/>
                                            </p:txEl>
                                          </p:spTgt>
                                        </p:tgtEl>
                                      </p:cBhvr>
                                    </p:animEffect>
                                    <p:anim calcmode="lin" valueType="num">
                                      <p:cBhvr>
                                        <p:cTn id="13" dur="1000" fill="hold"/>
                                        <p:tgtEl>
                                          <p:spTgt spid="475139">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75139">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75139">
                                            <p:txEl>
                                              <p:pRg st="2" end="2"/>
                                            </p:txEl>
                                          </p:spTgt>
                                        </p:tgtEl>
                                        <p:attrNameLst>
                                          <p:attrName>style.visibility</p:attrName>
                                        </p:attrNameLst>
                                      </p:cBhvr>
                                      <p:to>
                                        <p:strVal val="visible"/>
                                      </p:to>
                                    </p:set>
                                    <p:animEffect transition="in" filter="fade">
                                      <p:cBhvr>
                                        <p:cTn id="17" dur="1000"/>
                                        <p:tgtEl>
                                          <p:spTgt spid="475139">
                                            <p:txEl>
                                              <p:pRg st="2" end="2"/>
                                            </p:txEl>
                                          </p:spTgt>
                                        </p:tgtEl>
                                      </p:cBhvr>
                                    </p:animEffect>
                                    <p:anim calcmode="lin" valueType="num">
                                      <p:cBhvr>
                                        <p:cTn id="18" dur="1000" fill="hold"/>
                                        <p:tgtEl>
                                          <p:spTgt spid="475139">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475139">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475139">
                                            <p:txEl>
                                              <p:pRg st="3" end="3"/>
                                            </p:txEl>
                                          </p:spTgt>
                                        </p:tgtEl>
                                        <p:attrNameLst>
                                          <p:attrName>style.visibility</p:attrName>
                                        </p:attrNameLst>
                                      </p:cBhvr>
                                      <p:to>
                                        <p:strVal val="visible"/>
                                      </p:to>
                                    </p:set>
                                    <p:animEffect transition="in" filter="fade">
                                      <p:cBhvr>
                                        <p:cTn id="22" dur="1000"/>
                                        <p:tgtEl>
                                          <p:spTgt spid="475139">
                                            <p:txEl>
                                              <p:pRg st="3" end="3"/>
                                            </p:txEl>
                                          </p:spTgt>
                                        </p:tgtEl>
                                      </p:cBhvr>
                                    </p:animEffect>
                                    <p:anim calcmode="lin" valueType="num">
                                      <p:cBhvr>
                                        <p:cTn id="23" dur="1000" fill="hold"/>
                                        <p:tgtEl>
                                          <p:spTgt spid="475139">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47513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475139">
                                            <p:txEl>
                                              <p:pRg st="4" end="4"/>
                                            </p:txEl>
                                          </p:spTgt>
                                        </p:tgtEl>
                                        <p:attrNameLst>
                                          <p:attrName>style.visibility</p:attrName>
                                        </p:attrNameLst>
                                      </p:cBhvr>
                                      <p:to>
                                        <p:strVal val="visible"/>
                                      </p:to>
                                    </p:set>
                                    <p:animEffect transition="in" filter="fade">
                                      <p:cBhvr>
                                        <p:cTn id="29" dur="1000"/>
                                        <p:tgtEl>
                                          <p:spTgt spid="475139">
                                            <p:txEl>
                                              <p:pRg st="4" end="4"/>
                                            </p:txEl>
                                          </p:spTgt>
                                        </p:tgtEl>
                                      </p:cBhvr>
                                    </p:animEffect>
                                    <p:anim calcmode="lin" valueType="num">
                                      <p:cBhvr>
                                        <p:cTn id="30" dur="1000" fill="hold"/>
                                        <p:tgtEl>
                                          <p:spTgt spid="475139">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47513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5139" grpId="0" build="p"/>
    </p:bldLst>
  </p:timing>
</p:sld>
</file>

<file path=ppt/slides/slide10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6163" name="Rectangle 3">
            <a:extLst>
              <a:ext uri="{FF2B5EF4-FFF2-40B4-BE49-F238E27FC236}">
                <a16:creationId xmlns:a16="http://schemas.microsoft.com/office/drawing/2014/main" id="{47F2148E-8F18-4DEA-E7D3-D4E7B1538597}"/>
              </a:ext>
            </a:extLst>
          </p:cNvPr>
          <p:cNvSpPr>
            <a:spLocks noGrp="1"/>
          </p:cNvSpPr>
          <p:nvPr>
            <p:ph idx="1"/>
          </p:nvPr>
        </p:nvSpPr>
        <p:spPr>
          <a:xfrm>
            <a:off x="1981200" y="1143001"/>
            <a:ext cx="8229600" cy="4525963"/>
          </a:xfrm>
        </p:spPr>
        <p:txBody>
          <a:bodyPr/>
          <a:lstStyle/>
          <a:p>
            <a:pPr eaLnBrk="1" hangingPunct="1"/>
            <a:r>
              <a:rPr lang="en-US" altLang="en-US" sz="2800">
                <a:latin typeface="Times New Roman" panose="02020603050405020304" pitchFamily="18" charset="0"/>
                <a:ea typeface="ＭＳ Ｐゴシック" panose="020B0600070205080204" pitchFamily="34" charset="-128"/>
              </a:rPr>
              <a:t>Monte Carlo simulation of capital budgeting projects is often viewed as a step beyond either sensitivity analysis or scenario analysis.</a:t>
            </a:r>
          </a:p>
          <a:p>
            <a:pPr eaLnBrk="1" hangingPunct="1"/>
            <a:r>
              <a:rPr lang="en-US" altLang="en-US" sz="2800">
                <a:latin typeface="Times New Roman" panose="02020603050405020304" pitchFamily="18" charset="0"/>
                <a:ea typeface="ＭＳ Ｐゴシック" panose="020B0600070205080204" pitchFamily="34" charset="-128"/>
              </a:rPr>
              <a:t>Interactions between the variables are explicitly specified in Monte Carlo simulation; so, at least theoretically, this methodology provides a more complete analysis.</a:t>
            </a:r>
          </a:p>
          <a:p>
            <a:pPr eaLnBrk="1" hangingPunct="1"/>
            <a:r>
              <a:rPr lang="en-US" altLang="en-US" sz="2800">
                <a:latin typeface="Times New Roman" panose="02020603050405020304" pitchFamily="18" charset="0"/>
                <a:ea typeface="ＭＳ Ｐゴシック" panose="020B0600070205080204" pitchFamily="34" charset="-128"/>
              </a:rPr>
              <a:t>While the pharmaceutical industry has pioneered applications of this methodology, its use in other industries is far from widespread.</a:t>
            </a:r>
          </a:p>
        </p:txBody>
      </p:sp>
      <p:sp>
        <p:nvSpPr>
          <p:cNvPr id="39938" name="Rectangle 2">
            <a:extLst>
              <a:ext uri="{FF2B5EF4-FFF2-40B4-BE49-F238E27FC236}">
                <a16:creationId xmlns:a16="http://schemas.microsoft.com/office/drawing/2014/main" id="{33686996-6A44-D477-1937-C668F27976EA}"/>
              </a:ext>
            </a:extLst>
          </p:cNvPr>
          <p:cNvSpPr>
            <a:spLocks noGrp="1" noChangeArrowheads="1"/>
          </p:cNvSpPr>
          <p:nvPr>
            <p:ph type="title"/>
          </p:nvPr>
        </p:nvSpPr>
        <p:spPr>
          <a:xfrm>
            <a:off x="2057400" y="0"/>
            <a:ext cx="8229600" cy="1143000"/>
          </a:xfrm>
        </p:spPr>
        <p:txBody>
          <a:bodyPr/>
          <a:lstStyle/>
          <a:p>
            <a:pPr eaLnBrk="1" fontAlgn="auto" hangingPunct="1">
              <a:spcAft>
                <a:spcPts val="0"/>
              </a:spcAft>
              <a:defRPr/>
            </a:pPr>
            <a:r>
              <a:rPr lang="en-US" altLang="en-US" sz="3400" dirty="0">
                <a:ea typeface="+mj-ea"/>
                <a:cs typeface="+mj-cs"/>
              </a:rPr>
              <a:t>Monte Carlo Simulation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76163">
                                            <p:txEl>
                                              <p:pRg st="0" end="0"/>
                                            </p:txEl>
                                          </p:spTgt>
                                        </p:tgtEl>
                                        <p:attrNameLst>
                                          <p:attrName>style.visibility</p:attrName>
                                        </p:attrNameLst>
                                      </p:cBhvr>
                                      <p:to>
                                        <p:strVal val="visible"/>
                                      </p:to>
                                    </p:set>
                                    <p:animEffect transition="in" filter="fade">
                                      <p:cBhvr>
                                        <p:cTn id="7" dur="1000"/>
                                        <p:tgtEl>
                                          <p:spTgt spid="476163">
                                            <p:txEl>
                                              <p:pRg st="0" end="0"/>
                                            </p:txEl>
                                          </p:spTgt>
                                        </p:tgtEl>
                                      </p:cBhvr>
                                    </p:animEffect>
                                    <p:anim calcmode="lin" valueType="num">
                                      <p:cBhvr>
                                        <p:cTn id="8" dur="1000" fill="hold"/>
                                        <p:tgtEl>
                                          <p:spTgt spid="47616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7616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76163">
                                            <p:txEl>
                                              <p:pRg st="1" end="1"/>
                                            </p:txEl>
                                          </p:spTgt>
                                        </p:tgtEl>
                                        <p:attrNameLst>
                                          <p:attrName>style.visibility</p:attrName>
                                        </p:attrNameLst>
                                      </p:cBhvr>
                                      <p:to>
                                        <p:strVal val="visible"/>
                                      </p:to>
                                    </p:set>
                                    <p:animEffect transition="in" filter="fade">
                                      <p:cBhvr>
                                        <p:cTn id="14" dur="1000"/>
                                        <p:tgtEl>
                                          <p:spTgt spid="476163">
                                            <p:txEl>
                                              <p:pRg st="1" end="1"/>
                                            </p:txEl>
                                          </p:spTgt>
                                        </p:tgtEl>
                                      </p:cBhvr>
                                    </p:animEffect>
                                    <p:anim calcmode="lin" valueType="num">
                                      <p:cBhvr>
                                        <p:cTn id="15" dur="1000" fill="hold"/>
                                        <p:tgtEl>
                                          <p:spTgt spid="47616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7616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76163">
                                            <p:txEl>
                                              <p:pRg st="2" end="2"/>
                                            </p:txEl>
                                          </p:spTgt>
                                        </p:tgtEl>
                                        <p:attrNameLst>
                                          <p:attrName>style.visibility</p:attrName>
                                        </p:attrNameLst>
                                      </p:cBhvr>
                                      <p:to>
                                        <p:strVal val="visible"/>
                                      </p:to>
                                    </p:set>
                                    <p:animEffect transition="in" filter="fade">
                                      <p:cBhvr>
                                        <p:cTn id="21" dur="1000"/>
                                        <p:tgtEl>
                                          <p:spTgt spid="476163">
                                            <p:txEl>
                                              <p:pRg st="2" end="2"/>
                                            </p:txEl>
                                          </p:spTgt>
                                        </p:tgtEl>
                                      </p:cBhvr>
                                    </p:animEffect>
                                    <p:anim calcmode="lin" valueType="num">
                                      <p:cBhvr>
                                        <p:cTn id="22" dur="1000" fill="hold"/>
                                        <p:tgtEl>
                                          <p:spTgt spid="47616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7616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163" grpId="0" build="p"/>
    </p:bldLst>
  </p:timing>
</p:sld>
</file>

<file path=ppt/slides/slide10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63" name="Rectangle 3">
            <a:extLst>
              <a:ext uri="{FF2B5EF4-FFF2-40B4-BE49-F238E27FC236}">
                <a16:creationId xmlns:a16="http://schemas.microsoft.com/office/drawing/2014/main" id="{0E94FE5A-160C-C116-EE4B-2C791EDF5F78}"/>
              </a:ext>
            </a:extLst>
          </p:cNvPr>
          <p:cNvSpPr>
            <a:spLocks noGrp="1"/>
          </p:cNvSpPr>
          <p:nvPr>
            <p:ph idx="1"/>
          </p:nvPr>
        </p:nvSpPr>
        <p:spPr>
          <a:xfrm>
            <a:off x="1981200" y="1481138"/>
            <a:ext cx="8229600" cy="3471862"/>
          </a:xfrm>
        </p:spPr>
        <p:txBody>
          <a:bodyPr/>
          <a:lstStyle/>
          <a:p>
            <a:pPr eaLnBrk="1" hangingPunct="1"/>
            <a:r>
              <a:rPr lang="en-US" altLang="en-US" sz="2800">
                <a:latin typeface="Times New Roman" panose="02020603050405020304" pitchFamily="18" charset="0"/>
                <a:ea typeface="ＭＳ Ｐゴシック" panose="020B0600070205080204" pitchFamily="34" charset="-128"/>
              </a:rPr>
              <a:t>One of the fundamental insights of modern finance theory is that options have value.</a:t>
            </a:r>
          </a:p>
          <a:p>
            <a:pPr eaLnBrk="1" hangingPunct="1"/>
            <a:r>
              <a:rPr lang="en-US" altLang="en-US" sz="2800">
                <a:latin typeface="Times New Roman" panose="02020603050405020304" pitchFamily="18" charset="0"/>
                <a:ea typeface="ＭＳ Ｐゴシック" panose="020B0600070205080204" pitchFamily="34" charset="-128"/>
              </a:rPr>
              <a:t>The phrase “We are out of options” is surely a sign of trouble.</a:t>
            </a:r>
          </a:p>
          <a:p>
            <a:pPr eaLnBrk="1" hangingPunct="1"/>
            <a:r>
              <a:rPr lang="en-US" altLang="en-US" sz="2800">
                <a:latin typeface="Times New Roman" panose="02020603050405020304" pitchFamily="18" charset="0"/>
                <a:ea typeface="ＭＳ Ｐゴシック" panose="020B0600070205080204" pitchFamily="34" charset="-128"/>
              </a:rPr>
              <a:t>Because corporations make decisions in a dynamic environment, they have options that should be considered in project valuation.</a:t>
            </a:r>
          </a:p>
          <a:p>
            <a:pPr eaLnBrk="1" hangingPunct="1"/>
            <a:endParaRPr lang="en-US" altLang="en-US">
              <a:ea typeface="ＭＳ Ｐゴシック" panose="020B0600070205080204" pitchFamily="34" charset="-128"/>
            </a:endParaRPr>
          </a:p>
        </p:txBody>
      </p:sp>
      <p:sp>
        <p:nvSpPr>
          <p:cNvPr id="44034" name="Rectangle 2">
            <a:extLst>
              <a:ext uri="{FF2B5EF4-FFF2-40B4-BE49-F238E27FC236}">
                <a16:creationId xmlns:a16="http://schemas.microsoft.com/office/drawing/2014/main" id="{6ADEC552-36E6-6938-0EEB-AE5BE087041A}"/>
              </a:ext>
            </a:extLst>
          </p:cNvPr>
          <p:cNvSpPr>
            <a:spLocks noGrp="1" noChangeArrowheads="1"/>
          </p:cNvSpPr>
          <p:nvPr>
            <p:ph type="title"/>
          </p:nvPr>
        </p:nvSpPr>
        <p:spPr/>
        <p:txBody>
          <a:bodyPr/>
          <a:lstStyle/>
          <a:p>
            <a:pPr algn="just" eaLnBrk="1" fontAlgn="auto" hangingPunct="1">
              <a:spcAft>
                <a:spcPts val="600"/>
              </a:spcAft>
              <a:defRPr/>
            </a:pPr>
            <a:r>
              <a:rPr lang="en-US" altLang="en-US" sz="3400" dirty="0">
                <a:ea typeface="+mj-ea"/>
                <a:cs typeface="+mj-cs"/>
              </a:rPr>
              <a:t>Real Options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99363">
                                            <p:txEl>
                                              <p:pRg st="0" end="0"/>
                                            </p:txEl>
                                          </p:spTgt>
                                        </p:tgtEl>
                                        <p:attrNameLst>
                                          <p:attrName>style.visibility</p:attrName>
                                        </p:attrNameLst>
                                      </p:cBhvr>
                                      <p:to>
                                        <p:strVal val="visible"/>
                                      </p:to>
                                    </p:set>
                                    <p:animEffect transition="in" filter="fade">
                                      <p:cBhvr>
                                        <p:cTn id="7" dur="1000"/>
                                        <p:tgtEl>
                                          <p:spTgt spid="399363">
                                            <p:txEl>
                                              <p:pRg st="0" end="0"/>
                                            </p:txEl>
                                          </p:spTgt>
                                        </p:tgtEl>
                                      </p:cBhvr>
                                    </p:animEffect>
                                    <p:anim calcmode="lin" valueType="num">
                                      <p:cBhvr>
                                        <p:cTn id="8" dur="1000" fill="hold"/>
                                        <p:tgtEl>
                                          <p:spTgt spid="39936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9936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99363">
                                            <p:txEl>
                                              <p:pRg st="1" end="1"/>
                                            </p:txEl>
                                          </p:spTgt>
                                        </p:tgtEl>
                                        <p:attrNameLst>
                                          <p:attrName>style.visibility</p:attrName>
                                        </p:attrNameLst>
                                      </p:cBhvr>
                                      <p:to>
                                        <p:strVal val="visible"/>
                                      </p:to>
                                    </p:set>
                                    <p:animEffect transition="in" filter="fade">
                                      <p:cBhvr>
                                        <p:cTn id="14" dur="1000"/>
                                        <p:tgtEl>
                                          <p:spTgt spid="399363">
                                            <p:txEl>
                                              <p:pRg st="1" end="1"/>
                                            </p:txEl>
                                          </p:spTgt>
                                        </p:tgtEl>
                                      </p:cBhvr>
                                    </p:animEffect>
                                    <p:anim calcmode="lin" valueType="num">
                                      <p:cBhvr>
                                        <p:cTn id="15" dur="1000" fill="hold"/>
                                        <p:tgtEl>
                                          <p:spTgt spid="39936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9936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99363">
                                            <p:txEl>
                                              <p:pRg st="2" end="2"/>
                                            </p:txEl>
                                          </p:spTgt>
                                        </p:tgtEl>
                                        <p:attrNameLst>
                                          <p:attrName>style.visibility</p:attrName>
                                        </p:attrNameLst>
                                      </p:cBhvr>
                                      <p:to>
                                        <p:strVal val="visible"/>
                                      </p:to>
                                    </p:set>
                                    <p:animEffect transition="in" filter="fade">
                                      <p:cBhvr>
                                        <p:cTn id="21" dur="1000"/>
                                        <p:tgtEl>
                                          <p:spTgt spid="399363">
                                            <p:txEl>
                                              <p:pRg st="2" end="2"/>
                                            </p:txEl>
                                          </p:spTgt>
                                        </p:tgtEl>
                                      </p:cBhvr>
                                    </p:animEffect>
                                    <p:anim calcmode="lin" valueType="num">
                                      <p:cBhvr>
                                        <p:cTn id="22" dur="1000" fill="hold"/>
                                        <p:tgtEl>
                                          <p:spTgt spid="39936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9936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63" grpId="0" build="p"/>
    </p:bldLst>
  </p:timing>
</p:sld>
</file>

<file path=ppt/slides/slide10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0387" name="Rectangle 3">
            <a:extLst>
              <a:ext uri="{FF2B5EF4-FFF2-40B4-BE49-F238E27FC236}">
                <a16:creationId xmlns:a16="http://schemas.microsoft.com/office/drawing/2014/main" id="{F35B0442-71B2-7594-861E-F4BE34B7DB3C}"/>
              </a:ext>
            </a:extLst>
          </p:cNvPr>
          <p:cNvSpPr>
            <a:spLocks noGrp="1"/>
          </p:cNvSpPr>
          <p:nvPr>
            <p:ph idx="1"/>
          </p:nvPr>
        </p:nvSpPr>
        <p:spPr/>
        <p:txBody>
          <a:bodyPr/>
          <a:lstStyle/>
          <a:p>
            <a:pPr eaLnBrk="1" hangingPunct="1"/>
            <a:r>
              <a:rPr lang="en-US" altLang="en-US">
                <a:latin typeface="Times New Roman" panose="02020603050405020304" pitchFamily="18" charset="0"/>
                <a:ea typeface="ＭＳ Ｐゴシック" panose="020B0600070205080204" pitchFamily="34" charset="-128"/>
              </a:rPr>
              <a:t>The Option to Expand</a:t>
            </a:r>
          </a:p>
          <a:p>
            <a:pPr lvl="1" eaLnBrk="1" hangingPunct="1"/>
            <a:r>
              <a:rPr lang="en-US" altLang="en-US">
                <a:latin typeface="Times New Roman" panose="02020603050405020304" pitchFamily="18" charset="0"/>
                <a:ea typeface="ＭＳ Ｐゴシック" panose="020B0600070205080204" pitchFamily="34" charset="-128"/>
              </a:rPr>
              <a:t>Has value if demand turns out to be higher than expected</a:t>
            </a:r>
          </a:p>
          <a:p>
            <a:pPr eaLnBrk="1" hangingPunct="1"/>
            <a:r>
              <a:rPr lang="en-US" altLang="en-US">
                <a:latin typeface="Times New Roman" panose="02020603050405020304" pitchFamily="18" charset="0"/>
                <a:ea typeface="ＭＳ Ｐゴシック" panose="020B0600070205080204" pitchFamily="34" charset="-128"/>
              </a:rPr>
              <a:t>The Option to Abandon</a:t>
            </a:r>
          </a:p>
          <a:p>
            <a:pPr lvl="1" eaLnBrk="1" hangingPunct="1"/>
            <a:r>
              <a:rPr lang="en-US" altLang="en-US">
                <a:latin typeface="Times New Roman" panose="02020603050405020304" pitchFamily="18" charset="0"/>
                <a:ea typeface="ＭＳ Ｐゴシック" panose="020B0600070205080204" pitchFamily="34" charset="-128"/>
              </a:rPr>
              <a:t>Has value if demand turns out to be lower than expected</a:t>
            </a:r>
          </a:p>
          <a:p>
            <a:pPr eaLnBrk="1" hangingPunct="1"/>
            <a:r>
              <a:rPr lang="en-US" altLang="en-US">
                <a:latin typeface="Times New Roman" panose="02020603050405020304" pitchFamily="18" charset="0"/>
                <a:ea typeface="ＭＳ Ｐゴシック" panose="020B0600070205080204" pitchFamily="34" charset="-128"/>
              </a:rPr>
              <a:t>The Option to Delay</a:t>
            </a:r>
          </a:p>
          <a:p>
            <a:pPr lvl="1" eaLnBrk="1" hangingPunct="1"/>
            <a:r>
              <a:rPr lang="en-US" altLang="en-US">
                <a:latin typeface="Times New Roman" panose="02020603050405020304" pitchFamily="18" charset="0"/>
                <a:ea typeface="ＭＳ Ｐゴシック" panose="020B0600070205080204" pitchFamily="34" charset="-128"/>
              </a:rPr>
              <a:t>Has value if the underlying variables are changing with a favorable trend</a:t>
            </a:r>
          </a:p>
        </p:txBody>
      </p:sp>
      <p:sp>
        <p:nvSpPr>
          <p:cNvPr id="46082" name="Rectangle 2">
            <a:extLst>
              <a:ext uri="{FF2B5EF4-FFF2-40B4-BE49-F238E27FC236}">
                <a16:creationId xmlns:a16="http://schemas.microsoft.com/office/drawing/2014/main" id="{8A221F33-AAE9-9EEC-2E6E-A666445A5537}"/>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Real Options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00387">
                                            <p:txEl>
                                              <p:pRg st="0" end="0"/>
                                            </p:txEl>
                                          </p:spTgt>
                                        </p:tgtEl>
                                        <p:attrNameLst>
                                          <p:attrName>style.visibility</p:attrName>
                                        </p:attrNameLst>
                                      </p:cBhvr>
                                      <p:to>
                                        <p:strVal val="visible"/>
                                      </p:to>
                                    </p:set>
                                    <p:animEffect transition="in" filter="fade">
                                      <p:cBhvr>
                                        <p:cTn id="7" dur="1000"/>
                                        <p:tgtEl>
                                          <p:spTgt spid="400387">
                                            <p:txEl>
                                              <p:pRg st="0" end="0"/>
                                            </p:txEl>
                                          </p:spTgt>
                                        </p:tgtEl>
                                      </p:cBhvr>
                                    </p:animEffect>
                                    <p:anim calcmode="lin" valueType="num">
                                      <p:cBhvr>
                                        <p:cTn id="8" dur="1000" fill="hold"/>
                                        <p:tgtEl>
                                          <p:spTgt spid="40038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0038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00387">
                                            <p:txEl>
                                              <p:pRg st="1" end="1"/>
                                            </p:txEl>
                                          </p:spTgt>
                                        </p:tgtEl>
                                        <p:attrNameLst>
                                          <p:attrName>style.visibility</p:attrName>
                                        </p:attrNameLst>
                                      </p:cBhvr>
                                      <p:to>
                                        <p:strVal val="visible"/>
                                      </p:to>
                                    </p:set>
                                    <p:animEffect transition="in" filter="fade">
                                      <p:cBhvr>
                                        <p:cTn id="12" dur="1000"/>
                                        <p:tgtEl>
                                          <p:spTgt spid="400387">
                                            <p:txEl>
                                              <p:pRg st="1" end="1"/>
                                            </p:txEl>
                                          </p:spTgt>
                                        </p:tgtEl>
                                      </p:cBhvr>
                                    </p:animEffect>
                                    <p:anim calcmode="lin" valueType="num">
                                      <p:cBhvr>
                                        <p:cTn id="13" dur="1000" fill="hold"/>
                                        <p:tgtEl>
                                          <p:spTgt spid="40038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0038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00387">
                                            <p:txEl>
                                              <p:pRg st="2" end="2"/>
                                            </p:txEl>
                                          </p:spTgt>
                                        </p:tgtEl>
                                        <p:attrNameLst>
                                          <p:attrName>style.visibility</p:attrName>
                                        </p:attrNameLst>
                                      </p:cBhvr>
                                      <p:to>
                                        <p:strVal val="visible"/>
                                      </p:to>
                                    </p:set>
                                    <p:animEffect transition="in" filter="fade">
                                      <p:cBhvr>
                                        <p:cTn id="19" dur="1000"/>
                                        <p:tgtEl>
                                          <p:spTgt spid="400387">
                                            <p:txEl>
                                              <p:pRg st="2" end="2"/>
                                            </p:txEl>
                                          </p:spTgt>
                                        </p:tgtEl>
                                      </p:cBhvr>
                                    </p:animEffect>
                                    <p:anim calcmode="lin" valueType="num">
                                      <p:cBhvr>
                                        <p:cTn id="20" dur="1000" fill="hold"/>
                                        <p:tgtEl>
                                          <p:spTgt spid="400387">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400387">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400387">
                                            <p:txEl>
                                              <p:pRg st="3" end="3"/>
                                            </p:txEl>
                                          </p:spTgt>
                                        </p:tgtEl>
                                        <p:attrNameLst>
                                          <p:attrName>style.visibility</p:attrName>
                                        </p:attrNameLst>
                                      </p:cBhvr>
                                      <p:to>
                                        <p:strVal val="visible"/>
                                      </p:to>
                                    </p:set>
                                    <p:animEffect transition="in" filter="fade">
                                      <p:cBhvr>
                                        <p:cTn id="24" dur="1000"/>
                                        <p:tgtEl>
                                          <p:spTgt spid="400387">
                                            <p:txEl>
                                              <p:pRg st="3" end="3"/>
                                            </p:txEl>
                                          </p:spTgt>
                                        </p:tgtEl>
                                      </p:cBhvr>
                                    </p:animEffect>
                                    <p:anim calcmode="lin" valueType="num">
                                      <p:cBhvr>
                                        <p:cTn id="25" dur="1000" fill="hold"/>
                                        <p:tgtEl>
                                          <p:spTgt spid="400387">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40038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400387">
                                            <p:txEl>
                                              <p:pRg st="4" end="4"/>
                                            </p:txEl>
                                          </p:spTgt>
                                        </p:tgtEl>
                                        <p:attrNameLst>
                                          <p:attrName>style.visibility</p:attrName>
                                        </p:attrNameLst>
                                      </p:cBhvr>
                                      <p:to>
                                        <p:strVal val="visible"/>
                                      </p:to>
                                    </p:set>
                                    <p:animEffect transition="in" filter="fade">
                                      <p:cBhvr>
                                        <p:cTn id="31" dur="1000"/>
                                        <p:tgtEl>
                                          <p:spTgt spid="400387">
                                            <p:txEl>
                                              <p:pRg st="4" end="4"/>
                                            </p:txEl>
                                          </p:spTgt>
                                        </p:tgtEl>
                                      </p:cBhvr>
                                    </p:animEffect>
                                    <p:anim calcmode="lin" valueType="num">
                                      <p:cBhvr>
                                        <p:cTn id="32" dur="1000" fill="hold"/>
                                        <p:tgtEl>
                                          <p:spTgt spid="400387">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400387">
                                            <p:txEl>
                                              <p:pRg st="4" end="4"/>
                                            </p:tx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400387">
                                            <p:txEl>
                                              <p:pRg st="5" end="5"/>
                                            </p:txEl>
                                          </p:spTgt>
                                        </p:tgtEl>
                                        <p:attrNameLst>
                                          <p:attrName>style.visibility</p:attrName>
                                        </p:attrNameLst>
                                      </p:cBhvr>
                                      <p:to>
                                        <p:strVal val="visible"/>
                                      </p:to>
                                    </p:set>
                                    <p:animEffect transition="in" filter="fade">
                                      <p:cBhvr>
                                        <p:cTn id="36" dur="1000"/>
                                        <p:tgtEl>
                                          <p:spTgt spid="400387">
                                            <p:txEl>
                                              <p:pRg st="5" end="5"/>
                                            </p:txEl>
                                          </p:spTgt>
                                        </p:tgtEl>
                                      </p:cBhvr>
                                    </p:animEffect>
                                    <p:anim calcmode="lin" valueType="num">
                                      <p:cBhvr>
                                        <p:cTn id="37" dur="1000" fill="hold"/>
                                        <p:tgtEl>
                                          <p:spTgt spid="400387">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40038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387" grpId="0" build="p"/>
    </p:bldLst>
  </p:timing>
</p:sld>
</file>

<file path=ppt/slides/slide10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1411" name="Rectangle 3">
            <a:extLst>
              <a:ext uri="{FF2B5EF4-FFF2-40B4-BE49-F238E27FC236}">
                <a16:creationId xmlns:a16="http://schemas.microsoft.com/office/drawing/2014/main" id="{09C0401F-3DC6-D9C0-2131-A68ED510B0BB}"/>
              </a:ext>
            </a:extLst>
          </p:cNvPr>
          <p:cNvSpPr>
            <a:spLocks noGrp="1"/>
          </p:cNvSpPr>
          <p:nvPr>
            <p:ph idx="1"/>
          </p:nvPr>
        </p:nvSpPr>
        <p:spPr>
          <a:xfrm>
            <a:off x="1981200" y="1524001"/>
            <a:ext cx="8229600" cy="1433513"/>
          </a:xfrm>
        </p:spPr>
        <p:txBody>
          <a:bodyPr/>
          <a:lstStyle/>
          <a:p>
            <a:pPr eaLnBrk="1" hangingPunct="1"/>
            <a:r>
              <a:rPr lang="en-US" altLang="en-US" sz="2800">
                <a:latin typeface="Times New Roman" panose="02020603050405020304" pitchFamily="18" charset="0"/>
                <a:ea typeface="ＭＳ Ｐゴシック" panose="020B0600070205080204" pitchFamily="34" charset="-128"/>
              </a:rPr>
              <a:t>We can calculate the market value of a project as the sum of the NPV of the project without options and the value of the managerial options implicit in the project.</a:t>
            </a:r>
          </a:p>
          <a:p>
            <a:pPr algn="ctr" eaLnBrk="1" hangingPunct="1">
              <a:buFont typeface="Wingdings" panose="05000000000000000000" pitchFamily="2" charset="2"/>
              <a:buNone/>
            </a:pPr>
            <a:r>
              <a:rPr lang="en-US" altLang="en-US" sz="2800" i="1">
                <a:latin typeface="Times New Roman" panose="02020603050405020304" pitchFamily="18" charset="0"/>
                <a:ea typeface="ＭＳ Ｐゴシック" panose="020B0600070205080204" pitchFamily="34" charset="-128"/>
              </a:rPr>
              <a:t>M</a:t>
            </a:r>
            <a:r>
              <a:rPr lang="en-US" altLang="en-US" sz="2800">
                <a:latin typeface="Times New Roman" panose="02020603050405020304" pitchFamily="18" charset="0"/>
                <a:ea typeface="ＭＳ Ｐゴシック" panose="020B0600070205080204" pitchFamily="34" charset="-128"/>
              </a:rPr>
              <a:t> = </a:t>
            </a:r>
            <a:r>
              <a:rPr lang="en-US" altLang="en-US" sz="2800" i="1">
                <a:latin typeface="Times New Roman" panose="02020603050405020304" pitchFamily="18" charset="0"/>
                <a:ea typeface="ＭＳ Ｐゴシック" panose="020B0600070205080204" pitchFamily="34" charset="-128"/>
              </a:rPr>
              <a:t>NPV</a:t>
            </a:r>
            <a:r>
              <a:rPr lang="en-US" altLang="en-US" sz="2800">
                <a:latin typeface="Times New Roman" panose="02020603050405020304" pitchFamily="18" charset="0"/>
                <a:ea typeface="ＭＳ Ｐゴシック" panose="020B0600070205080204" pitchFamily="34" charset="-128"/>
              </a:rPr>
              <a:t> + </a:t>
            </a:r>
            <a:r>
              <a:rPr lang="en-US" altLang="en-US" sz="2800" i="1">
                <a:latin typeface="Times New Roman" panose="02020603050405020304" pitchFamily="18" charset="0"/>
                <a:ea typeface="ＭＳ Ｐゴシック" panose="020B0600070205080204" pitchFamily="34" charset="-128"/>
              </a:rPr>
              <a:t>Opt</a:t>
            </a:r>
          </a:p>
          <a:p>
            <a:pPr eaLnBrk="1" hangingPunct="1"/>
            <a:endParaRPr lang="en-US" altLang="en-US" sz="2800">
              <a:ea typeface="ＭＳ Ｐゴシック" panose="020B0600070205080204" pitchFamily="34" charset="-128"/>
            </a:endParaRPr>
          </a:p>
        </p:txBody>
      </p:sp>
      <p:sp>
        <p:nvSpPr>
          <p:cNvPr id="48130" name="Rectangle 2">
            <a:extLst>
              <a:ext uri="{FF2B5EF4-FFF2-40B4-BE49-F238E27FC236}">
                <a16:creationId xmlns:a16="http://schemas.microsoft.com/office/drawing/2014/main" id="{B65FAB40-62CE-52F7-CE83-02701209EEA0}"/>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Discounted CF and Options</a:t>
            </a:r>
          </a:p>
        </p:txBody>
      </p:sp>
      <p:sp>
        <p:nvSpPr>
          <p:cNvPr id="401413" name="Rectangle 5">
            <a:extLst>
              <a:ext uri="{FF2B5EF4-FFF2-40B4-BE49-F238E27FC236}">
                <a16:creationId xmlns:a16="http://schemas.microsoft.com/office/drawing/2014/main" id="{9C9AF58D-D1F0-24BB-67DF-24D216AED05D}"/>
              </a:ext>
            </a:extLst>
          </p:cNvPr>
          <p:cNvSpPr>
            <a:spLocks noChangeArrowheads="1"/>
          </p:cNvSpPr>
          <p:nvPr/>
        </p:nvSpPr>
        <p:spPr bwMode="auto">
          <a:xfrm>
            <a:off x="2209800" y="3962400"/>
            <a:ext cx="77724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lnSpc>
                <a:spcPct val="90000"/>
              </a:lnSpc>
              <a:spcBef>
                <a:spcPct val="20000"/>
              </a:spcBef>
              <a:spcAft>
                <a:spcPct val="0"/>
              </a:spcAft>
              <a:buSzPct val="90000"/>
            </a:pPr>
            <a:r>
              <a:rPr lang="en-US" altLang="en-US" sz="2800">
                <a:solidFill>
                  <a:prstClr val="black"/>
                </a:solidFill>
              </a:rPr>
              <a:t>A good example would be comparing the desirability of a specialized machine versus a more versatile machine. If they both cost about the same and last the same amount of time, the more versatile machine is more valuable because it comes with options.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01411">
                                            <p:txEl>
                                              <p:pRg st="0" end="0"/>
                                            </p:txEl>
                                          </p:spTgt>
                                        </p:tgtEl>
                                        <p:attrNameLst>
                                          <p:attrName>style.visibility</p:attrName>
                                        </p:attrNameLst>
                                      </p:cBhvr>
                                      <p:to>
                                        <p:strVal val="visible"/>
                                      </p:to>
                                    </p:set>
                                    <p:animEffect transition="in" filter="fade">
                                      <p:cBhvr>
                                        <p:cTn id="7" dur="1000"/>
                                        <p:tgtEl>
                                          <p:spTgt spid="401411">
                                            <p:txEl>
                                              <p:pRg st="0" end="0"/>
                                            </p:txEl>
                                          </p:spTgt>
                                        </p:tgtEl>
                                      </p:cBhvr>
                                    </p:animEffect>
                                    <p:anim calcmode="lin" valueType="num">
                                      <p:cBhvr>
                                        <p:cTn id="8" dur="1000" fill="hold"/>
                                        <p:tgtEl>
                                          <p:spTgt spid="40141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014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01411">
                                            <p:txEl>
                                              <p:pRg st="1" end="1"/>
                                            </p:txEl>
                                          </p:spTgt>
                                        </p:tgtEl>
                                        <p:attrNameLst>
                                          <p:attrName>style.visibility</p:attrName>
                                        </p:attrNameLst>
                                      </p:cBhvr>
                                      <p:to>
                                        <p:strVal val="visible"/>
                                      </p:to>
                                    </p:set>
                                    <p:animEffect transition="in" filter="fade">
                                      <p:cBhvr>
                                        <p:cTn id="14" dur="1000"/>
                                        <p:tgtEl>
                                          <p:spTgt spid="401411">
                                            <p:txEl>
                                              <p:pRg st="1" end="1"/>
                                            </p:txEl>
                                          </p:spTgt>
                                        </p:tgtEl>
                                      </p:cBhvr>
                                    </p:animEffect>
                                    <p:anim calcmode="lin" valueType="num">
                                      <p:cBhvr>
                                        <p:cTn id="15" dur="1000" fill="hold"/>
                                        <p:tgtEl>
                                          <p:spTgt spid="401411">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0141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01413"/>
                                        </p:tgtEl>
                                        <p:attrNameLst>
                                          <p:attrName>style.visibility</p:attrName>
                                        </p:attrNameLst>
                                      </p:cBhvr>
                                      <p:to>
                                        <p:strVal val="visible"/>
                                      </p:to>
                                    </p:set>
                                    <p:animEffect transition="in" filter="fade">
                                      <p:cBhvr>
                                        <p:cTn id="21" dur="1000"/>
                                        <p:tgtEl>
                                          <p:spTgt spid="401413"/>
                                        </p:tgtEl>
                                      </p:cBhvr>
                                    </p:animEffect>
                                    <p:anim calcmode="lin" valueType="num">
                                      <p:cBhvr>
                                        <p:cTn id="22" dur="1000" fill="hold"/>
                                        <p:tgtEl>
                                          <p:spTgt spid="401413"/>
                                        </p:tgtEl>
                                        <p:attrNameLst>
                                          <p:attrName>ppt_x</p:attrName>
                                        </p:attrNameLst>
                                      </p:cBhvr>
                                      <p:tavLst>
                                        <p:tav tm="0">
                                          <p:val>
                                            <p:strVal val="#ppt_x"/>
                                          </p:val>
                                        </p:tav>
                                        <p:tav tm="100000">
                                          <p:val>
                                            <p:strVal val="#ppt_x"/>
                                          </p:val>
                                        </p:tav>
                                      </p:tavLst>
                                    </p:anim>
                                    <p:anim calcmode="lin" valueType="num">
                                      <p:cBhvr>
                                        <p:cTn id="23" dur="1000" fill="hold"/>
                                        <p:tgtEl>
                                          <p:spTgt spid="4014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411" grpId="0" build="p"/>
      <p:bldP spid="401413" grpId="0"/>
    </p:bldLst>
  </p:timing>
</p:sld>
</file>

<file path=ppt/slides/slide10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03" name="Rectangle 3">
            <a:extLst>
              <a:ext uri="{FF2B5EF4-FFF2-40B4-BE49-F238E27FC236}">
                <a16:creationId xmlns:a16="http://schemas.microsoft.com/office/drawing/2014/main" id="{527A11BF-129F-D036-F307-19212AA177BA}"/>
              </a:ext>
            </a:extLst>
          </p:cNvPr>
          <p:cNvSpPr>
            <a:spLocks noGrp="1"/>
          </p:cNvSpPr>
          <p:nvPr>
            <p:ph idx="1"/>
          </p:nvPr>
        </p:nvSpPr>
        <p:spPr>
          <a:xfrm>
            <a:off x="2057400" y="1371600"/>
            <a:ext cx="8001000" cy="4114800"/>
          </a:xfrm>
        </p:spPr>
        <p:txBody>
          <a:bodyPr/>
          <a:lstStyle/>
          <a:p>
            <a:pPr eaLnBrk="1" hangingPunct="1"/>
            <a:r>
              <a:rPr lang="en-US" altLang="en-US" sz="2800">
                <a:latin typeface="Times New Roman" panose="02020603050405020304" pitchFamily="18" charset="0"/>
                <a:ea typeface="ＭＳ Ｐゴシック" panose="020B0600070205080204" pitchFamily="34" charset="-128"/>
              </a:rPr>
              <a:t>Suppose we are drilling an oil well. The drilling rig costs $300 today, and in one year the well is either a success or a failure.</a:t>
            </a:r>
          </a:p>
          <a:p>
            <a:pPr eaLnBrk="1" hangingPunct="1"/>
            <a:r>
              <a:rPr lang="en-US" altLang="en-US" sz="2800">
                <a:latin typeface="Times New Roman" panose="02020603050405020304" pitchFamily="18" charset="0"/>
                <a:ea typeface="ＭＳ Ｐゴシック" panose="020B0600070205080204" pitchFamily="34" charset="-128"/>
              </a:rPr>
              <a:t>The outcomes are equally likely. The discount rate is 10%.</a:t>
            </a:r>
          </a:p>
          <a:p>
            <a:pPr eaLnBrk="1" hangingPunct="1"/>
            <a:r>
              <a:rPr lang="en-US" altLang="en-US" sz="2800">
                <a:latin typeface="Times New Roman" panose="02020603050405020304" pitchFamily="18" charset="0"/>
                <a:ea typeface="ＭＳ Ｐゴシック" panose="020B0600070205080204" pitchFamily="34" charset="-128"/>
              </a:rPr>
              <a:t>The </a:t>
            </a:r>
            <a:r>
              <a:rPr lang="en-US" altLang="en-US" sz="2800" i="1">
                <a:latin typeface="Times New Roman" panose="02020603050405020304" pitchFamily="18" charset="0"/>
                <a:ea typeface="ＭＳ Ｐゴシック" panose="020B0600070205080204" pitchFamily="34" charset="-128"/>
              </a:rPr>
              <a:t>PV</a:t>
            </a:r>
            <a:r>
              <a:rPr lang="en-US" altLang="en-US" sz="2800">
                <a:latin typeface="Times New Roman" panose="02020603050405020304" pitchFamily="18" charset="0"/>
                <a:ea typeface="ＭＳ Ｐゴシック" panose="020B0600070205080204" pitchFamily="34" charset="-128"/>
              </a:rPr>
              <a:t> of the successful payoff at time one is $575.</a:t>
            </a:r>
          </a:p>
          <a:p>
            <a:pPr eaLnBrk="1" hangingPunct="1"/>
            <a:r>
              <a:rPr lang="en-US" altLang="en-US" sz="2800">
                <a:latin typeface="Times New Roman" panose="02020603050405020304" pitchFamily="18" charset="0"/>
                <a:ea typeface="ＭＳ Ｐゴシック" panose="020B0600070205080204" pitchFamily="34" charset="-128"/>
              </a:rPr>
              <a:t>The </a:t>
            </a:r>
            <a:r>
              <a:rPr lang="en-US" altLang="en-US" sz="2800" i="1">
                <a:latin typeface="Times New Roman" panose="02020603050405020304" pitchFamily="18" charset="0"/>
                <a:ea typeface="ＭＳ Ｐゴシック" panose="020B0600070205080204" pitchFamily="34" charset="-128"/>
              </a:rPr>
              <a:t>PV</a:t>
            </a:r>
            <a:r>
              <a:rPr lang="en-US" altLang="en-US" sz="2800">
                <a:latin typeface="Times New Roman" panose="02020603050405020304" pitchFamily="18" charset="0"/>
                <a:ea typeface="ＭＳ Ｐゴシック" panose="020B0600070205080204" pitchFamily="34" charset="-128"/>
              </a:rPr>
              <a:t> of the unsuccessful payoff at time one is $0.</a:t>
            </a:r>
          </a:p>
        </p:txBody>
      </p:sp>
      <p:sp>
        <p:nvSpPr>
          <p:cNvPr id="50178" name="Rectangle 2">
            <a:extLst>
              <a:ext uri="{FF2B5EF4-FFF2-40B4-BE49-F238E27FC236}">
                <a16:creationId xmlns:a16="http://schemas.microsoft.com/office/drawing/2014/main" id="{B9596260-9D0D-EF92-5131-0F99171029D1}"/>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The Option to Abandon: Example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09603">
                                            <p:txEl>
                                              <p:pRg st="0" end="0"/>
                                            </p:txEl>
                                          </p:spTgt>
                                        </p:tgtEl>
                                        <p:attrNameLst>
                                          <p:attrName>style.visibility</p:attrName>
                                        </p:attrNameLst>
                                      </p:cBhvr>
                                      <p:to>
                                        <p:strVal val="visible"/>
                                      </p:to>
                                    </p:set>
                                    <p:animEffect transition="in" filter="fade">
                                      <p:cBhvr>
                                        <p:cTn id="7" dur="1000"/>
                                        <p:tgtEl>
                                          <p:spTgt spid="409603">
                                            <p:txEl>
                                              <p:pRg st="0" end="0"/>
                                            </p:txEl>
                                          </p:spTgt>
                                        </p:tgtEl>
                                      </p:cBhvr>
                                    </p:animEffect>
                                    <p:anim calcmode="lin" valueType="num">
                                      <p:cBhvr>
                                        <p:cTn id="8" dur="1000" fill="hold"/>
                                        <p:tgtEl>
                                          <p:spTgt spid="40960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0960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09603">
                                            <p:txEl>
                                              <p:pRg st="1" end="1"/>
                                            </p:txEl>
                                          </p:spTgt>
                                        </p:tgtEl>
                                        <p:attrNameLst>
                                          <p:attrName>style.visibility</p:attrName>
                                        </p:attrNameLst>
                                      </p:cBhvr>
                                      <p:to>
                                        <p:strVal val="visible"/>
                                      </p:to>
                                    </p:set>
                                    <p:animEffect transition="in" filter="fade">
                                      <p:cBhvr>
                                        <p:cTn id="14" dur="1000"/>
                                        <p:tgtEl>
                                          <p:spTgt spid="409603">
                                            <p:txEl>
                                              <p:pRg st="1" end="1"/>
                                            </p:txEl>
                                          </p:spTgt>
                                        </p:tgtEl>
                                      </p:cBhvr>
                                    </p:animEffect>
                                    <p:anim calcmode="lin" valueType="num">
                                      <p:cBhvr>
                                        <p:cTn id="15" dur="1000" fill="hold"/>
                                        <p:tgtEl>
                                          <p:spTgt spid="40960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0960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09603">
                                            <p:txEl>
                                              <p:pRg st="2" end="2"/>
                                            </p:txEl>
                                          </p:spTgt>
                                        </p:tgtEl>
                                        <p:attrNameLst>
                                          <p:attrName>style.visibility</p:attrName>
                                        </p:attrNameLst>
                                      </p:cBhvr>
                                      <p:to>
                                        <p:strVal val="visible"/>
                                      </p:to>
                                    </p:set>
                                    <p:animEffect transition="in" filter="fade">
                                      <p:cBhvr>
                                        <p:cTn id="21" dur="1000"/>
                                        <p:tgtEl>
                                          <p:spTgt spid="409603">
                                            <p:txEl>
                                              <p:pRg st="2" end="2"/>
                                            </p:txEl>
                                          </p:spTgt>
                                        </p:tgtEl>
                                      </p:cBhvr>
                                    </p:animEffect>
                                    <p:anim calcmode="lin" valueType="num">
                                      <p:cBhvr>
                                        <p:cTn id="22" dur="1000" fill="hold"/>
                                        <p:tgtEl>
                                          <p:spTgt spid="40960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0960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09603">
                                            <p:txEl>
                                              <p:pRg st="3" end="3"/>
                                            </p:txEl>
                                          </p:spTgt>
                                        </p:tgtEl>
                                        <p:attrNameLst>
                                          <p:attrName>style.visibility</p:attrName>
                                        </p:attrNameLst>
                                      </p:cBhvr>
                                      <p:to>
                                        <p:strVal val="visible"/>
                                      </p:to>
                                    </p:set>
                                    <p:animEffect transition="in" filter="fade">
                                      <p:cBhvr>
                                        <p:cTn id="28" dur="1000"/>
                                        <p:tgtEl>
                                          <p:spTgt spid="409603">
                                            <p:txEl>
                                              <p:pRg st="3" end="3"/>
                                            </p:txEl>
                                          </p:spTgt>
                                        </p:tgtEl>
                                      </p:cBhvr>
                                    </p:animEffect>
                                    <p:anim calcmode="lin" valueType="num">
                                      <p:cBhvr>
                                        <p:cTn id="29" dur="1000" fill="hold"/>
                                        <p:tgtEl>
                                          <p:spTgt spid="40960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0960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03" grpId="0" build="p"/>
    </p:bldLst>
  </p:timing>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0A2315EE-82BD-1D60-0357-FAB541D06162}"/>
              </a:ext>
            </a:extLst>
          </p:cNvPr>
          <p:cNvSpPr>
            <a:spLocks noGrp="1" noChangeArrowheads="1"/>
          </p:cNvSpPr>
          <p:nvPr>
            <p:ph type="title"/>
          </p:nvPr>
        </p:nvSpPr>
        <p:spPr/>
        <p:txBody>
          <a:bodyPr/>
          <a:lstStyle/>
          <a:p>
            <a:pPr eaLnBrk="1" fontAlgn="auto" hangingPunct="1">
              <a:spcAft>
                <a:spcPts val="0"/>
              </a:spcAft>
              <a:defRPr/>
            </a:pPr>
            <a:r>
              <a:rPr lang="en-US" altLang="en-US" sz="3400" dirty="0">
                <a:solidFill>
                  <a:schemeClr val="bg2"/>
                </a:solidFill>
                <a:ea typeface="+mj-ea"/>
                <a:cs typeface="+mj-cs"/>
              </a:rPr>
              <a:t>The Option to Abandon: Example </a:t>
            </a:r>
          </a:p>
        </p:txBody>
      </p:sp>
      <p:sp>
        <p:nvSpPr>
          <p:cNvPr id="87043" name="Rectangle 43">
            <a:extLst>
              <a:ext uri="{FF2B5EF4-FFF2-40B4-BE49-F238E27FC236}">
                <a16:creationId xmlns:a16="http://schemas.microsoft.com/office/drawing/2014/main" id="{DA2320AC-8DB8-BE36-11DA-6496AB3172B8}"/>
              </a:ext>
            </a:extLst>
          </p:cNvPr>
          <p:cNvSpPr>
            <a:spLocks noChangeArrowheads="1"/>
          </p:cNvSpPr>
          <p:nvPr/>
        </p:nvSpPr>
        <p:spPr bwMode="auto">
          <a:xfrm>
            <a:off x="1676400" y="1371600"/>
            <a:ext cx="8763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marL="342900" indent="-342900">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20000"/>
              </a:spcBef>
              <a:spcAft>
                <a:spcPct val="0"/>
              </a:spcAft>
              <a:buClr>
                <a:srgbClr val="671739"/>
              </a:buClr>
            </a:pPr>
            <a:r>
              <a:rPr lang="en-US" altLang="en-US" sz="2600">
                <a:solidFill>
                  <a:prstClr val="black"/>
                </a:solidFill>
              </a:rPr>
              <a:t>Traditional NPV analysis would indicate rejection of the project.</a:t>
            </a:r>
          </a:p>
        </p:txBody>
      </p:sp>
      <p:grpSp>
        <p:nvGrpSpPr>
          <p:cNvPr id="2" name="Group 44">
            <a:extLst>
              <a:ext uri="{FF2B5EF4-FFF2-40B4-BE49-F238E27FC236}">
                <a16:creationId xmlns:a16="http://schemas.microsoft.com/office/drawing/2014/main" id="{82231A1D-6127-FC33-406F-E5A8E22E1AD1}"/>
              </a:ext>
            </a:extLst>
          </p:cNvPr>
          <p:cNvGrpSpPr>
            <a:grpSpLocks/>
          </p:cNvGrpSpPr>
          <p:nvPr/>
        </p:nvGrpSpPr>
        <p:grpSpPr bwMode="auto">
          <a:xfrm>
            <a:off x="2590800" y="5105401"/>
            <a:ext cx="5867400" cy="1052513"/>
            <a:chOff x="480" y="2256"/>
            <a:chExt cx="3696" cy="663"/>
          </a:xfrm>
        </p:grpSpPr>
        <p:sp>
          <p:nvSpPr>
            <p:cNvPr id="87062" name="Rectangle 45">
              <a:extLst>
                <a:ext uri="{FF2B5EF4-FFF2-40B4-BE49-F238E27FC236}">
                  <a16:creationId xmlns:a16="http://schemas.microsoft.com/office/drawing/2014/main" id="{A7295C21-30D3-D726-15AA-C04A19D6B5AB}"/>
                </a:ext>
              </a:extLst>
            </p:cNvPr>
            <p:cNvSpPr>
              <a:spLocks noChangeArrowheads="1"/>
            </p:cNvSpPr>
            <p:nvPr/>
          </p:nvSpPr>
          <p:spPr bwMode="auto">
            <a:xfrm>
              <a:off x="480" y="2409"/>
              <a:ext cx="74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prstClr val="black"/>
                  </a:solidFill>
                </a:rPr>
                <a:t>NPV =</a:t>
              </a:r>
              <a:endParaRPr lang="en-US" altLang="en-US" sz="2800" i="1" baseline="-25000">
                <a:solidFill>
                  <a:prstClr val="black"/>
                </a:solidFill>
              </a:endParaRPr>
            </a:p>
          </p:txBody>
        </p:sp>
        <p:sp>
          <p:nvSpPr>
            <p:cNvPr id="87063" name="Text Box 46">
              <a:extLst>
                <a:ext uri="{FF2B5EF4-FFF2-40B4-BE49-F238E27FC236}">
                  <a16:creationId xmlns:a16="http://schemas.microsoft.com/office/drawing/2014/main" id="{0F44D8A3-2ACF-2C68-B3EC-CE4904C1BCDB}"/>
                </a:ext>
              </a:extLst>
            </p:cNvPr>
            <p:cNvSpPr txBox="1">
              <a:spLocks noChangeArrowheads="1"/>
            </p:cNvSpPr>
            <p:nvPr/>
          </p:nvSpPr>
          <p:spPr bwMode="auto">
            <a:xfrm>
              <a:off x="3072" y="2400"/>
              <a:ext cx="110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2800">
                  <a:solidFill>
                    <a:prstClr val="black"/>
                  </a:solidFill>
                </a:rPr>
                <a:t>=  </a:t>
              </a:r>
              <a:r>
                <a:rPr lang="en-US" altLang="en-US" sz="2800">
                  <a:solidFill>
                    <a:prstClr val="black"/>
                  </a:solidFill>
                  <a:cs typeface="Times New Roman" panose="02020603050405020304" pitchFamily="18" charset="0"/>
                </a:rPr>
                <a:t>–$38.64</a:t>
              </a:r>
            </a:p>
          </p:txBody>
        </p:sp>
        <p:sp>
          <p:nvSpPr>
            <p:cNvPr id="87064" name="Text Box 47">
              <a:extLst>
                <a:ext uri="{FF2B5EF4-FFF2-40B4-BE49-F238E27FC236}">
                  <a16:creationId xmlns:a16="http://schemas.microsoft.com/office/drawing/2014/main" id="{0E8781EF-7711-0A00-05FB-871F0FA083AC}"/>
                </a:ext>
              </a:extLst>
            </p:cNvPr>
            <p:cNvSpPr txBox="1">
              <a:spLocks noChangeArrowheads="1"/>
            </p:cNvSpPr>
            <p:nvPr/>
          </p:nvSpPr>
          <p:spPr bwMode="auto">
            <a:xfrm>
              <a:off x="2232" y="2592"/>
              <a:ext cx="7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fontAlgn="base">
                <a:spcBef>
                  <a:spcPct val="50000"/>
                </a:spcBef>
                <a:spcAft>
                  <a:spcPct val="0"/>
                </a:spcAft>
              </a:pPr>
              <a:r>
                <a:rPr lang="en-US" altLang="en-US" sz="2800">
                  <a:solidFill>
                    <a:prstClr val="black"/>
                  </a:solidFill>
                </a:rPr>
                <a:t>1.10</a:t>
              </a:r>
            </a:p>
          </p:txBody>
        </p:sp>
        <p:sp>
          <p:nvSpPr>
            <p:cNvPr id="87065" name="Text Box 48">
              <a:extLst>
                <a:ext uri="{FF2B5EF4-FFF2-40B4-BE49-F238E27FC236}">
                  <a16:creationId xmlns:a16="http://schemas.microsoft.com/office/drawing/2014/main" id="{F40828DE-6E87-7211-BD8B-B3B079D8FB07}"/>
                </a:ext>
              </a:extLst>
            </p:cNvPr>
            <p:cNvSpPr txBox="1">
              <a:spLocks noChangeArrowheads="1"/>
            </p:cNvSpPr>
            <p:nvPr/>
          </p:nvSpPr>
          <p:spPr bwMode="auto">
            <a:xfrm>
              <a:off x="2112" y="2256"/>
              <a:ext cx="96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fontAlgn="base">
                <a:spcBef>
                  <a:spcPct val="50000"/>
                </a:spcBef>
                <a:spcAft>
                  <a:spcPct val="0"/>
                </a:spcAft>
              </a:pPr>
              <a:r>
                <a:rPr lang="en-US" altLang="en-US" sz="2800">
                  <a:solidFill>
                    <a:prstClr val="black"/>
                  </a:solidFill>
                </a:rPr>
                <a:t>$287.50</a:t>
              </a:r>
            </a:p>
          </p:txBody>
        </p:sp>
        <p:sp>
          <p:nvSpPr>
            <p:cNvPr id="87066" name="Line 49">
              <a:extLst>
                <a:ext uri="{FF2B5EF4-FFF2-40B4-BE49-F238E27FC236}">
                  <a16:creationId xmlns:a16="http://schemas.microsoft.com/office/drawing/2014/main" id="{9302643E-EF20-1C8E-7BD0-660403665F5F}"/>
                </a:ext>
              </a:extLst>
            </p:cNvPr>
            <p:cNvSpPr>
              <a:spLocks noChangeShapeType="1"/>
            </p:cNvSpPr>
            <p:nvPr/>
          </p:nvSpPr>
          <p:spPr bwMode="auto">
            <a:xfrm>
              <a:off x="2112" y="2592"/>
              <a:ext cx="960" cy="0"/>
            </a:xfrm>
            <a:prstGeom prst="line">
              <a:avLst/>
            </a:prstGeom>
            <a:noFill/>
            <a:ln w="12700" cap="sq">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87067" name="Text Box 50">
              <a:extLst>
                <a:ext uri="{FF2B5EF4-FFF2-40B4-BE49-F238E27FC236}">
                  <a16:creationId xmlns:a16="http://schemas.microsoft.com/office/drawing/2014/main" id="{BB958029-2968-34C4-6400-7E5474C512CB}"/>
                </a:ext>
              </a:extLst>
            </p:cNvPr>
            <p:cNvSpPr txBox="1">
              <a:spLocks noChangeArrowheads="1"/>
            </p:cNvSpPr>
            <p:nvPr/>
          </p:nvSpPr>
          <p:spPr bwMode="auto">
            <a:xfrm>
              <a:off x="1200" y="2409"/>
              <a:ext cx="110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2800">
                  <a:solidFill>
                    <a:prstClr val="black"/>
                  </a:solidFill>
                  <a:cs typeface="Times New Roman" panose="02020603050405020304" pitchFamily="18" charset="0"/>
                </a:rPr>
                <a:t>–$300 +</a:t>
              </a:r>
            </a:p>
          </p:txBody>
        </p:sp>
      </p:grpSp>
      <p:grpSp>
        <p:nvGrpSpPr>
          <p:cNvPr id="3" name="Group 51">
            <a:extLst>
              <a:ext uri="{FF2B5EF4-FFF2-40B4-BE49-F238E27FC236}">
                <a16:creationId xmlns:a16="http://schemas.microsoft.com/office/drawing/2014/main" id="{4707A413-753F-5891-BAEF-E4C51EE0C662}"/>
              </a:ext>
            </a:extLst>
          </p:cNvPr>
          <p:cNvGrpSpPr>
            <a:grpSpLocks/>
          </p:cNvGrpSpPr>
          <p:nvPr/>
        </p:nvGrpSpPr>
        <p:grpSpPr bwMode="auto">
          <a:xfrm>
            <a:off x="2133600" y="3886200"/>
            <a:ext cx="7391400" cy="1136650"/>
            <a:chOff x="480" y="2409"/>
            <a:chExt cx="4656" cy="716"/>
          </a:xfrm>
        </p:grpSpPr>
        <p:sp>
          <p:nvSpPr>
            <p:cNvPr id="87060" name="Rectangle 52">
              <a:extLst>
                <a:ext uri="{FF2B5EF4-FFF2-40B4-BE49-F238E27FC236}">
                  <a16:creationId xmlns:a16="http://schemas.microsoft.com/office/drawing/2014/main" id="{CACD6262-D820-FF98-36C4-8CB4144665FF}"/>
                </a:ext>
              </a:extLst>
            </p:cNvPr>
            <p:cNvSpPr>
              <a:spLocks noChangeArrowheads="1"/>
            </p:cNvSpPr>
            <p:nvPr/>
          </p:nvSpPr>
          <p:spPr bwMode="auto">
            <a:xfrm>
              <a:off x="480" y="2409"/>
              <a:ext cx="1152"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fontAlgn="base">
                <a:spcBef>
                  <a:spcPct val="0"/>
                </a:spcBef>
                <a:spcAft>
                  <a:spcPct val="0"/>
                </a:spcAft>
              </a:pPr>
              <a:r>
                <a:rPr lang="en-US" altLang="en-US" sz="2800">
                  <a:solidFill>
                    <a:prstClr val="black"/>
                  </a:solidFill>
                </a:rPr>
                <a:t>Expected Payoff</a:t>
              </a:r>
              <a:endParaRPr lang="en-US" altLang="en-US" sz="2800" i="1" baseline="-25000">
                <a:solidFill>
                  <a:prstClr val="black"/>
                </a:solidFill>
              </a:endParaRPr>
            </a:p>
          </p:txBody>
        </p:sp>
        <p:sp>
          <p:nvSpPr>
            <p:cNvPr id="87061" name="Text Box 53">
              <a:extLst>
                <a:ext uri="{FF2B5EF4-FFF2-40B4-BE49-F238E27FC236}">
                  <a16:creationId xmlns:a16="http://schemas.microsoft.com/office/drawing/2014/main" id="{6FBC794D-0C12-3A45-089A-24846567978A}"/>
                </a:ext>
              </a:extLst>
            </p:cNvPr>
            <p:cNvSpPr txBox="1">
              <a:spLocks noChangeArrowheads="1"/>
            </p:cNvSpPr>
            <p:nvPr/>
          </p:nvSpPr>
          <p:spPr bwMode="auto">
            <a:xfrm>
              <a:off x="1488" y="2524"/>
              <a:ext cx="3648"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2800">
                  <a:solidFill>
                    <a:prstClr val="black"/>
                  </a:solidFill>
                  <a:cs typeface="Times New Roman" panose="02020603050405020304" pitchFamily="18" charset="0"/>
                </a:rPr>
                <a:t>=</a:t>
              </a:r>
              <a:r>
                <a:rPr lang="en-US" altLang="en-US" sz="2800">
                  <a:solidFill>
                    <a:prstClr val="white"/>
                  </a:solidFill>
                  <a:cs typeface="Times New Roman" panose="02020603050405020304" pitchFamily="18" charset="0"/>
                </a:rPr>
                <a:t> </a:t>
              </a:r>
              <a:r>
                <a:rPr lang="en-US" altLang="en-US" sz="2800">
                  <a:solidFill>
                    <a:prstClr val="black"/>
                  </a:solidFill>
                  <a:cs typeface="Times New Roman" panose="02020603050405020304" pitchFamily="18" charset="0"/>
                </a:rPr>
                <a:t>(0.50×$575) + (0.50×$0) = $287.50</a:t>
              </a:r>
            </a:p>
          </p:txBody>
        </p:sp>
      </p:grpSp>
      <p:grpSp>
        <p:nvGrpSpPr>
          <p:cNvPr id="4" name="Group 54">
            <a:extLst>
              <a:ext uri="{FF2B5EF4-FFF2-40B4-BE49-F238E27FC236}">
                <a16:creationId xmlns:a16="http://schemas.microsoft.com/office/drawing/2014/main" id="{98B71149-D672-2F2E-35CF-D41A7AE8E62D}"/>
              </a:ext>
            </a:extLst>
          </p:cNvPr>
          <p:cNvGrpSpPr>
            <a:grpSpLocks/>
          </p:cNvGrpSpPr>
          <p:nvPr/>
        </p:nvGrpSpPr>
        <p:grpSpPr bwMode="auto">
          <a:xfrm>
            <a:off x="1981200" y="2362200"/>
            <a:ext cx="8458200" cy="954088"/>
            <a:chOff x="432" y="1680"/>
            <a:chExt cx="5328" cy="601"/>
          </a:xfrm>
        </p:grpSpPr>
        <p:sp>
          <p:nvSpPr>
            <p:cNvPr id="87047" name="Rectangle 55">
              <a:extLst>
                <a:ext uri="{FF2B5EF4-FFF2-40B4-BE49-F238E27FC236}">
                  <a16:creationId xmlns:a16="http://schemas.microsoft.com/office/drawing/2014/main" id="{E2B5D299-629B-962E-4829-A9DFD0F3275D}"/>
                </a:ext>
              </a:extLst>
            </p:cNvPr>
            <p:cNvSpPr>
              <a:spLocks noChangeArrowheads="1"/>
            </p:cNvSpPr>
            <p:nvPr/>
          </p:nvSpPr>
          <p:spPr bwMode="auto">
            <a:xfrm>
              <a:off x="1440" y="1763"/>
              <a:ext cx="26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prstClr val="black"/>
                  </a:solidFill>
                </a:rPr>
                <a:t>=</a:t>
              </a:r>
            </a:p>
          </p:txBody>
        </p:sp>
        <p:sp>
          <p:nvSpPr>
            <p:cNvPr id="87048" name="Rectangle 56">
              <a:extLst>
                <a:ext uri="{FF2B5EF4-FFF2-40B4-BE49-F238E27FC236}">
                  <a16:creationId xmlns:a16="http://schemas.microsoft.com/office/drawing/2014/main" id="{03ADDD12-A177-E0D9-34CE-D337C013D002}"/>
                </a:ext>
              </a:extLst>
            </p:cNvPr>
            <p:cNvSpPr>
              <a:spLocks noChangeArrowheads="1"/>
            </p:cNvSpPr>
            <p:nvPr/>
          </p:nvSpPr>
          <p:spPr bwMode="auto">
            <a:xfrm>
              <a:off x="432" y="1680"/>
              <a:ext cx="1152"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fontAlgn="base">
                <a:spcBef>
                  <a:spcPct val="0"/>
                </a:spcBef>
                <a:spcAft>
                  <a:spcPct val="0"/>
                </a:spcAft>
              </a:pPr>
              <a:r>
                <a:rPr lang="en-US" altLang="en-US" sz="2800">
                  <a:solidFill>
                    <a:prstClr val="black"/>
                  </a:solidFill>
                </a:rPr>
                <a:t>Expected Payoff</a:t>
              </a:r>
              <a:endParaRPr lang="en-US" altLang="en-US" sz="2800" i="1" baseline="-25000">
                <a:solidFill>
                  <a:prstClr val="black"/>
                </a:solidFill>
              </a:endParaRPr>
            </a:p>
          </p:txBody>
        </p:sp>
        <p:sp>
          <p:nvSpPr>
            <p:cNvPr id="87049" name="Rectangle 57">
              <a:extLst>
                <a:ext uri="{FF2B5EF4-FFF2-40B4-BE49-F238E27FC236}">
                  <a16:creationId xmlns:a16="http://schemas.microsoft.com/office/drawing/2014/main" id="{C094A558-CDF3-632E-F1D4-0CC17B408611}"/>
                </a:ext>
              </a:extLst>
            </p:cNvPr>
            <p:cNvSpPr>
              <a:spLocks noChangeArrowheads="1"/>
            </p:cNvSpPr>
            <p:nvPr/>
          </p:nvSpPr>
          <p:spPr bwMode="auto">
            <a:xfrm>
              <a:off x="1632" y="1680"/>
              <a:ext cx="1152"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fontAlgn="base">
                <a:spcBef>
                  <a:spcPct val="0"/>
                </a:spcBef>
                <a:spcAft>
                  <a:spcPct val="0"/>
                </a:spcAft>
              </a:pPr>
              <a:r>
                <a:rPr lang="en-US" altLang="en-US" sz="2800">
                  <a:solidFill>
                    <a:prstClr val="black"/>
                  </a:solidFill>
                </a:rPr>
                <a:t>Prob. Success</a:t>
              </a:r>
              <a:endParaRPr lang="en-US" altLang="en-US" sz="2800" i="1" baseline="-25000">
                <a:solidFill>
                  <a:prstClr val="black"/>
                </a:solidFill>
              </a:endParaRPr>
            </a:p>
          </p:txBody>
        </p:sp>
        <p:sp>
          <p:nvSpPr>
            <p:cNvPr id="87050" name="Rectangle 58">
              <a:extLst>
                <a:ext uri="{FF2B5EF4-FFF2-40B4-BE49-F238E27FC236}">
                  <a16:creationId xmlns:a16="http://schemas.microsoft.com/office/drawing/2014/main" id="{C369F8A5-2267-3E57-915F-B3A11A9EF5DF}"/>
                </a:ext>
              </a:extLst>
            </p:cNvPr>
            <p:cNvSpPr>
              <a:spLocks noChangeArrowheads="1"/>
            </p:cNvSpPr>
            <p:nvPr/>
          </p:nvSpPr>
          <p:spPr bwMode="auto">
            <a:xfrm>
              <a:off x="2426" y="1763"/>
              <a:ext cx="45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fontAlgn="base">
                <a:spcBef>
                  <a:spcPct val="0"/>
                </a:spcBef>
                <a:spcAft>
                  <a:spcPct val="0"/>
                </a:spcAft>
              </a:pPr>
              <a:r>
                <a:rPr lang="en-US" altLang="en-US" sz="2800">
                  <a:solidFill>
                    <a:prstClr val="black"/>
                  </a:solidFill>
                </a:rPr>
                <a:t>×</a:t>
              </a:r>
              <a:r>
                <a:rPr lang="en-US" altLang="en-US" sz="2800">
                  <a:solidFill>
                    <a:srgbClr val="DEF5FA"/>
                  </a:solidFill>
                </a:rPr>
                <a:t>  </a:t>
              </a:r>
            </a:p>
          </p:txBody>
        </p:sp>
        <p:sp>
          <p:nvSpPr>
            <p:cNvPr id="87051" name="Rectangle 59">
              <a:extLst>
                <a:ext uri="{FF2B5EF4-FFF2-40B4-BE49-F238E27FC236}">
                  <a16:creationId xmlns:a16="http://schemas.microsoft.com/office/drawing/2014/main" id="{D5F51605-7190-8528-A078-2B6668408BE7}"/>
                </a:ext>
              </a:extLst>
            </p:cNvPr>
            <p:cNvSpPr>
              <a:spLocks noChangeArrowheads="1"/>
            </p:cNvSpPr>
            <p:nvPr/>
          </p:nvSpPr>
          <p:spPr bwMode="auto">
            <a:xfrm>
              <a:off x="2640" y="1680"/>
              <a:ext cx="1200"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fontAlgn="base">
                <a:spcBef>
                  <a:spcPct val="0"/>
                </a:spcBef>
                <a:spcAft>
                  <a:spcPct val="0"/>
                </a:spcAft>
              </a:pPr>
              <a:r>
                <a:rPr lang="en-US" altLang="en-US" sz="2800">
                  <a:solidFill>
                    <a:prstClr val="black"/>
                  </a:solidFill>
                </a:rPr>
                <a:t>  Successful Payoff</a:t>
              </a:r>
            </a:p>
          </p:txBody>
        </p:sp>
        <p:sp>
          <p:nvSpPr>
            <p:cNvPr id="87052" name="Rectangle 60">
              <a:extLst>
                <a:ext uri="{FF2B5EF4-FFF2-40B4-BE49-F238E27FC236}">
                  <a16:creationId xmlns:a16="http://schemas.microsoft.com/office/drawing/2014/main" id="{651E76C0-33C8-5F86-6D58-1F6F63D0350D}"/>
                </a:ext>
              </a:extLst>
            </p:cNvPr>
            <p:cNvSpPr>
              <a:spLocks noChangeArrowheads="1"/>
            </p:cNvSpPr>
            <p:nvPr/>
          </p:nvSpPr>
          <p:spPr bwMode="auto">
            <a:xfrm>
              <a:off x="1680" y="1877"/>
              <a:ext cx="1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endParaRPr lang="en-US" altLang="en-US" sz="2800">
                <a:solidFill>
                  <a:srgbClr val="DEF5FA"/>
                </a:solidFill>
              </a:endParaRPr>
            </a:p>
          </p:txBody>
        </p:sp>
        <p:sp>
          <p:nvSpPr>
            <p:cNvPr id="87053" name="Rectangle 61">
              <a:extLst>
                <a:ext uri="{FF2B5EF4-FFF2-40B4-BE49-F238E27FC236}">
                  <a16:creationId xmlns:a16="http://schemas.microsoft.com/office/drawing/2014/main" id="{1ADB92D3-0D7E-790C-9ED1-BFEFDDDDEEFC}"/>
                </a:ext>
              </a:extLst>
            </p:cNvPr>
            <p:cNvSpPr>
              <a:spLocks noChangeArrowheads="1"/>
            </p:cNvSpPr>
            <p:nvPr/>
          </p:nvSpPr>
          <p:spPr bwMode="auto">
            <a:xfrm>
              <a:off x="3552" y="1877"/>
              <a:ext cx="1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endParaRPr lang="en-US" altLang="en-US" sz="2800">
                <a:solidFill>
                  <a:srgbClr val="DEF5FA"/>
                </a:solidFill>
              </a:endParaRPr>
            </a:p>
          </p:txBody>
        </p:sp>
        <p:sp>
          <p:nvSpPr>
            <p:cNvPr id="87054" name="Rectangle 62">
              <a:extLst>
                <a:ext uri="{FF2B5EF4-FFF2-40B4-BE49-F238E27FC236}">
                  <a16:creationId xmlns:a16="http://schemas.microsoft.com/office/drawing/2014/main" id="{7AD34252-00F9-96D3-FB4B-1319D1E1861E}"/>
                </a:ext>
              </a:extLst>
            </p:cNvPr>
            <p:cNvSpPr>
              <a:spLocks noChangeArrowheads="1"/>
            </p:cNvSpPr>
            <p:nvPr/>
          </p:nvSpPr>
          <p:spPr bwMode="auto">
            <a:xfrm>
              <a:off x="3760" y="1763"/>
              <a:ext cx="24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a:solidFill>
                    <a:prstClr val="black"/>
                  </a:solidFill>
                </a:rPr>
                <a:t>+</a:t>
              </a:r>
            </a:p>
          </p:txBody>
        </p:sp>
        <p:sp>
          <p:nvSpPr>
            <p:cNvPr id="87055" name="Rectangle 63">
              <a:extLst>
                <a:ext uri="{FF2B5EF4-FFF2-40B4-BE49-F238E27FC236}">
                  <a16:creationId xmlns:a16="http://schemas.microsoft.com/office/drawing/2014/main" id="{A63C4AD0-1365-9893-C0CD-AD9F35AA9804}"/>
                </a:ext>
              </a:extLst>
            </p:cNvPr>
            <p:cNvSpPr>
              <a:spLocks noChangeArrowheads="1"/>
            </p:cNvSpPr>
            <p:nvPr/>
          </p:nvSpPr>
          <p:spPr bwMode="auto">
            <a:xfrm>
              <a:off x="3840" y="1680"/>
              <a:ext cx="1008"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fontAlgn="base">
                <a:spcBef>
                  <a:spcPct val="0"/>
                </a:spcBef>
                <a:spcAft>
                  <a:spcPct val="0"/>
                </a:spcAft>
              </a:pPr>
              <a:r>
                <a:rPr lang="en-US" altLang="en-US" sz="2800">
                  <a:solidFill>
                    <a:prstClr val="black"/>
                  </a:solidFill>
                </a:rPr>
                <a:t>Prob. Failure</a:t>
              </a:r>
              <a:endParaRPr lang="en-US" altLang="en-US" sz="2800" i="1" baseline="-25000">
                <a:solidFill>
                  <a:prstClr val="black"/>
                </a:solidFill>
              </a:endParaRPr>
            </a:p>
          </p:txBody>
        </p:sp>
        <p:sp>
          <p:nvSpPr>
            <p:cNvPr id="87056" name="Rectangle 64">
              <a:extLst>
                <a:ext uri="{FF2B5EF4-FFF2-40B4-BE49-F238E27FC236}">
                  <a16:creationId xmlns:a16="http://schemas.microsoft.com/office/drawing/2014/main" id="{52A53CFC-E379-D423-BF3F-C1993A172D59}"/>
                </a:ext>
              </a:extLst>
            </p:cNvPr>
            <p:cNvSpPr>
              <a:spLocks noChangeArrowheads="1"/>
            </p:cNvSpPr>
            <p:nvPr/>
          </p:nvSpPr>
          <p:spPr bwMode="auto">
            <a:xfrm>
              <a:off x="4608" y="1763"/>
              <a:ext cx="34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a:solidFill>
                    <a:prstClr val="black"/>
                  </a:solidFill>
                </a:rPr>
                <a:t>×</a:t>
              </a:r>
            </a:p>
          </p:txBody>
        </p:sp>
        <p:sp>
          <p:nvSpPr>
            <p:cNvPr id="87057" name="Rectangle 65">
              <a:extLst>
                <a:ext uri="{FF2B5EF4-FFF2-40B4-BE49-F238E27FC236}">
                  <a16:creationId xmlns:a16="http://schemas.microsoft.com/office/drawing/2014/main" id="{03D4E278-1C61-AF26-D4F7-7A88F456B47E}"/>
                </a:ext>
              </a:extLst>
            </p:cNvPr>
            <p:cNvSpPr>
              <a:spLocks noChangeArrowheads="1"/>
            </p:cNvSpPr>
            <p:nvPr/>
          </p:nvSpPr>
          <p:spPr bwMode="auto">
            <a:xfrm>
              <a:off x="4560" y="1680"/>
              <a:ext cx="1200"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fontAlgn="base">
                <a:spcBef>
                  <a:spcPct val="0"/>
                </a:spcBef>
                <a:spcAft>
                  <a:spcPct val="0"/>
                </a:spcAft>
              </a:pPr>
              <a:r>
                <a:rPr lang="en-US" altLang="en-US" sz="2800">
                  <a:solidFill>
                    <a:prstClr val="black"/>
                  </a:solidFill>
                </a:rPr>
                <a:t>Failure Payoff</a:t>
              </a:r>
            </a:p>
          </p:txBody>
        </p:sp>
        <p:sp>
          <p:nvSpPr>
            <p:cNvPr id="87058" name="Rectangle 66">
              <a:extLst>
                <a:ext uri="{FF2B5EF4-FFF2-40B4-BE49-F238E27FC236}">
                  <a16:creationId xmlns:a16="http://schemas.microsoft.com/office/drawing/2014/main" id="{61AD3307-E428-638C-1CF7-603A7C298C87}"/>
                </a:ext>
              </a:extLst>
            </p:cNvPr>
            <p:cNvSpPr>
              <a:spLocks noChangeArrowheads="1"/>
            </p:cNvSpPr>
            <p:nvPr/>
          </p:nvSpPr>
          <p:spPr bwMode="auto">
            <a:xfrm>
              <a:off x="3888" y="1877"/>
              <a:ext cx="1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endParaRPr lang="en-US" altLang="en-US" sz="2800">
                <a:solidFill>
                  <a:srgbClr val="DEF5FA"/>
                </a:solidFill>
              </a:endParaRPr>
            </a:p>
          </p:txBody>
        </p:sp>
        <p:sp>
          <p:nvSpPr>
            <p:cNvPr id="87059" name="Rectangle 67">
              <a:extLst>
                <a:ext uri="{FF2B5EF4-FFF2-40B4-BE49-F238E27FC236}">
                  <a16:creationId xmlns:a16="http://schemas.microsoft.com/office/drawing/2014/main" id="{B84844FD-81B6-00D9-08ED-389AACD3D600}"/>
                </a:ext>
              </a:extLst>
            </p:cNvPr>
            <p:cNvSpPr>
              <a:spLocks noChangeArrowheads="1"/>
            </p:cNvSpPr>
            <p:nvPr/>
          </p:nvSpPr>
          <p:spPr bwMode="auto">
            <a:xfrm>
              <a:off x="5424" y="1877"/>
              <a:ext cx="1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endParaRPr lang="en-US" altLang="en-US" sz="2800">
                <a:solidFill>
                  <a:srgbClr val="DEF5FA"/>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1000"/>
                                        <p:tgtEl>
                                          <p:spTgt spid="2"/>
                                        </p:tgtEl>
                                      </p:cBhvr>
                                    </p:animEffect>
                                    <p:anim calcmode="lin" valueType="num">
                                      <p:cBhvr>
                                        <p:cTn id="22" dur="1000" fill="hold"/>
                                        <p:tgtEl>
                                          <p:spTgt spid="2"/>
                                        </p:tgtEl>
                                        <p:attrNameLst>
                                          <p:attrName>ppt_x</p:attrName>
                                        </p:attrNameLst>
                                      </p:cBhvr>
                                      <p:tavLst>
                                        <p:tav tm="0">
                                          <p:val>
                                            <p:strVal val="#ppt_x"/>
                                          </p:val>
                                        </p:tav>
                                        <p:tav tm="100000">
                                          <p:val>
                                            <p:strVal val="#ppt_x"/>
                                          </p:val>
                                        </p:tav>
                                      </p:tavLst>
                                    </p:anim>
                                    <p:anim calcmode="lin" valueType="num">
                                      <p:cBhvr>
                                        <p:cTn id="2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DD15F5D6-B506-C379-B336-DBF9E0E90DEF}"/>
              </a:ext>
            </a:extLst>
          </p:cNvPr>
          <p:cNvSpPr>
            <a:spLocks noGrp="1" noChangeArrowheads="1"/>
          </p:cNvSpPr>
          <p:nvPr>
            <p:ph type="title"/>
          </p:nvPr>
        </p:nvSpPr>
        <p:spPr>
          <a:xfrm>
            <a:off x="1981200" y="0"/>
            <a:ext cx="8229600" cy="1143000"/>
          </a:xfrm>
        </p:spPr>
        <p:txBody>
          <a:bodyPr/>
          <a:lstStyle/>
          <a:p>
            <a:pPr eaLnBrk="1" fontAlgn="auto" hangingPunct="1">
              <a:spcAft>
                <a:spcPts val="0"/>
              </a:spcAft>
              <a:defRPr/>
            </a:pPr>
            <a:r>
              <a:rPr lang="en-US" altLang="en-US" sz="3400" dirty="0">
                <a:ea typeface="+mj-ea"/>
                <a:cs typeface="+mj-cs"/>
              </a:rPr>
              <a:t>The Option to Abandon: Example</a:t>
            </a:r>
          </a:p>
        </p:txBody>
      </p:sp>
      <p:sp>
        <p:nvSpPr>
          <p:cNvPr id="411658" name="Text Box 10">
            <a:extLst>
              <a:ext uri="{FF2B5EF4-FFF2-40B4-BE49-F238E27FC236}">
                <a16:creationId xmlns:a16="http://schemas.microsoft.com/office/drawing/2014/main" id="{848AF3E0-3F3B-00E6-B42D-FF102B7F548A}"/>
              </a:ext>
            </a:extLst>
          </p:cNvPr>
          <p:cNvSpPr txBox="1">
            <a:spLocks noChangeArrowheads="1"/>
          </p:cNvSpPr>
          <p:nvPr/>
        </p:nvSpPr>
        <p:spPr bwMode="auto">
          <a:xfrm>
            <a:off x="1676400" y="5334000"/>
            <a:ext cx="830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50000"/>
              </a:spcBef>
              <a:spcAft>
                <a:spcPct val="0"/>
              </a:spcAft>
            </a:pPr>
            <a:r>
              <a:rPr lang="en-US" altLang="en-US" sz="2400" i="1">
                <a:solidFill>
                  <a:prstClr val="black"/>
                </a:solidFill>
              </a:rPr>
              <a:t>The firm has two decisions to make: drill or not, abandon or stay.</a:t>
            </a:r>
          </a:p>
        </p:txBody>
      </p:sp>
      <p:grpSp>
        <p:nvGrpSpPr>
          <p:cNvPr id="2" name="Group 45">
            <a:extLst>
              <a:ext uri="{FF2B5EF4-FFF2-40B4-BE49-F238E27FC236}">
                <a16:creationId xmlns:a16="http://schemas.microsoft.com/office/drawing/2014/main" id="{EE7E77F8-D7FA-3B00-A50D-964DF79267A5}"/>
              </a:ext>
            </a:extLst>
          </p:cNvPr>
          <p:cNvGrpSpPr>
            <a:grpSpLocks/>
          </p:cNvGrpSpPr>
          <p:nvPr/>
        </p:nvGrpSpPr>
        <p:grpSpPr bwMode="auto">
          <a:xfrm>
            <a:off x="2209800" y="2286000"/>
            <a:ext cx="3505200" cy="2979738"/>
            <a:chOff x="528" y="1776"/>
            <a:chExt cx="2208" cy="1877"/>
          </a:xfrm>
        </p:grpSpPr>
        <p:grpSp>
          <p:nvGrpSpPr>
            <p:cNvPr id="89109" name="Group 30">
              <a:extLst>
                <a:ext uri="{FF2B5EF4-FFF2-40B4-BE49-F238E27FC236}">
                  <a16:creationId xmlns:a16="http://schemas.microsoft.com/office/drawing/2014/main" id="{8B882DF3-B00B-6F55-4DB4-171B034288D0}"/>
                </a:ext>
              </a:extLst>
            </p:cNvPr>
            <p:cNvGrpSpPr>
              <a:grpSpLocks/>
            </p:cNvGrpSpPr>
            <p:nvPr/>
          </p:nvGrpSpPr>
          <p:grpSpPr bwMode="auto">
            <a:xfrm>
              <a:off x="528" y="1776"/>
              <a:ext cx="1512" cy="1877"/>
              <a:chOff x="816" y="1776"/>
              <a:chExt cx="1512" cy="1877"/>
            </a:xfrm>
          </p:grpSpPr>
          <p:sp>
            <p:nvSpPr>
              <p:cNvPr id="89112" name="Line 3">
                <a:extLst>
                  <a:ext uri="{FF2B5EF4-FFF2-40B4-BE49-F238E27FC236}">
                    <a16:creationId xmlns:a16="http://schemas.microsoft.com/office/drawing/2014/main" id="{2E731E4F-1DC7-AD16-F872-7588855753B4}"/>
                  </a:ext>
                </a:extLst>
              </p:cNvPr>
              <p:cNvSpPr>
                <a:spLocks noChangeShapeType="1"/>
              </p:cNvSpPr>
              <p:nvPr/>
            </p:nvSpPr>
            <p:spPr bwMode="auto">
              <a:xfrm flipV="1">
                <a:off x="960" y="2064"/>
                <a:ext cx="576" cy="576"/>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89113" name="Line 4">
                <a:extLst>
                  <a:ext uri="{FF2B5EF4-FFF2-40B4-BE49-F238E27FC236}">
                    <a16:creationId xmlns:a16="http://schemas.microsoft.com/office/drawing/2014/main" id="{0FD6FB9B-264F-B905-FB8B-B6E774680D31}"/>
                  </a:ext>
                </a:extLst>
              </p:cNvPr>
              <p:cNvSpPr>
                <a:spLocks noChangeShapeType="1"/>
              </p:cNvSpPr>
              <p:nvPr/>
            </p:nvSpPr>
            <p:spPr bwMode="auto">
              <a:xfrm>
                <a:off x="960" y="2832"/>
                <a:ext cx="576" cy="576"/>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89114" name="Oval 5">
                <a:extLst>
                  <a:ext uri="{FF2B5EF4-FFF2-40B4-BE49-F238E27FC236}">
                    <a16:creationId xmlns:a16="http://schemas.microsoft.com/office/drawing/2014/main" id="{63D6B7D0-AA7F-7497-D858-3BC70D57D93B}"/>
                  </a:ext>
                </a:extLst>
              </p:cNvPr>
              <p:cNvSpPr>
                <a:spLocks noChangeArrowheads="1"/>
              </p:cNvSpPr>
              <p:nvPr/>
            </p:nvSpPr>
            <p:spPr bwMode="auto">
              <a:xfrm>
                <a:off x="816" y="2640"/>
                <a:ext cx="192" cy="192"/>
              </a:xfrm>
              <a:prstGeom prst="ellipse">
                <a:avLst/>
              </a:prstGeom>
              <a:noFill/>
              <a:ln w="38100">
                <a:solidFill>
                  <a:schemeClr val="bg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sp>
            <p:nvSpPr>
              <p:cNvPr id="89115" name="Line 6">
                <a:extLst>
                  <a:ext uri="{FF2B5EF4-FFF2-40B4-BE49-F238E27FC236}">
                    <a16:creationId xmlns:a16="http://schemas.microsoft.com/office/drawing/2014/main" id="{9C36080F-FAE5-6B43-A4BB-0E8E1AAF3C4F}"/>
                  </a:ext>
                </a:extLst>
              </p:cNvPr>
              <p:cNvSpPr>
                <a:spLocks noChangeShapeType="1"/>
              </p:cNvSpPr>
              <p:nvPr/>
            </p:nvSpPr>
            <p:spPr bwMode="auto">
              <a:xfrm>
                <a:off x="1536" y="3408"/>
                <a:ext cx="672" cy="0"/>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89116" name="Text Box 7">
                <a:extLst>
                  <a:ext uri="{FF2B5EF4-FFF2-40B4-BE49-F238E27FC236}">
                    <a16:creationId xmlns:a16="http://schemas.microsoft.com/office/drawing/2014/main" id="{B6FE3110-23DB-392F-7AEB-D1AB35137333}"/>
                  </a:ext>
                </a:extLst>
              </p:cNvPr>
              <p:cNvSpPr txBox="1">
                <a:spLocks noChangeArrowheads="1"/>
              </p:cNvSpPr>
              <p:nvPr/>
            </p:nvSpPr>
            <p:spPr bwMode="auto">
              <a:xfrm>
                <a:off x="1488" y="3130"/>
                <a:ext cx="672"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eaLnBrk="0" fontAlgn="base" hangingPunct="0">
                  <a:spcBef>
                    <a:spcPct val="50000"/>
                  </a:spcBef>
                  <a:spcAft>
                    <a:spcPct val="0"/>
                  </a:spcAft>
                </a:pPr>
                <a:r>
                  <a:rPr lang="en-US" altLang="en-US" sz="2400">
                    <a:solidFill>
                      <a:prstClr val="black"/>
                    </a:solidFill>
                  </a:rPr>
                  <a:t>Do not drill</a:t>
                </a:r>
              </a:p>
            </p:txBody>
          </p:sp>
          <p:sp>
            <p:nvSpPr>
              <p:cNvPr id="89117" name="Line 8">
                <a:extLst>
                  <a:ext uri="{FF2B5EF4-FFF2-40B4-BE49-F238E27FC236}">
                    <a16:creationId xmlns:a16="http://schemas.microsoft.com/office/drawing/2014/main" id="{6A97EF29-6CF1-6297-00E2-760EAA88A2C3}"/>
                  </a:ext>
                </a:extLst>
              </p:cNvPr>
              <p:cNvSpPr>
                <a:spLocks noChangeShapeType="1"/>
              </p:cNvSpPr>
              <p:nvPr/>
            </p:nvSpPr>
            <p:spPr bwMode="auto">
              <a:xfrm>
                <a:off x="1536" y="2064"/>
                <a:ext cx="672" cy="0"/>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89118" name="Text Box 9">
                <a:extLst>
                  <a:ext uri="{FF2B5EF4-FFF2-40B4-BE49-F238E27FC236}">
                    <a16:creationId xmlns:a16="http://schemas.microsoft.com/office/drawing/2014/main" id="{68BEFD51-FD8F-FBAE-0425-027D4FE90464}"/>
                  </a:ext>
                </a:extLst>
              </p:cNvPr>
              <p:cNvSpPr txBox="1">
                <a:spLocks noChangeArrowheads="1"/>
              </p:cNvSpPr>
              <p:nvPr/>
            </p:nvSpPr>
            <p:spPr bwMode="auto">
              <a:xfrm>
                <a:off x="1440" y="1776"/>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eaLnBrk="0" fontAlgn="base" hangingPunct="0">
                  <a:spcBef>
                    <a:spcPct val="50000"/>
                  </a:spcBef>
                  <a:spcAft>
                    <a:spcPct val="0"/>
                  </a:spcAft>
                </a:pPr>
                <a:r>
                  <a:rPr lang="en-US" altLang="en-US" sz="2400">
                    <a:solidFill>
                      <a:prstClr val="black"/>
                    </a:solidFill>
                  </a:rPr>
                  <a:t>Drill</a:t>
                </a:r>
              </a:p>
            </p:txBody>
          </p:sp>
          <p:sp>
            <p:nvSpPr>
              <p:cNvPr id="89119" name="Oval 14">
                <a:extLst>
                  <a:ext uri="{FF2B5EF4-FFF2-40B4-BE49-F238E27FC236}">
                    <a16:creationId xmlns:a16="http://schemas.microsoft.com/office/drawing/2014/main" id="{4B99E68B-7000-E34B-3F8B-0F5C0D8FFCAA}"/>
                  </a:ext>
                </a:extLst>
              </p:cNvPr>
              <p:cNvSpPr>
                <a:spLocks noChangeArrowheads="1"/>
              </p:cNvSpPr>
              <p:nvPr/>
            </p:nvSpPr>
            <p:spPr bwMode="auto">
              <a:xfrm>
                <a:off x="2136" y="1968"/>
                <a:ext cx="192" cy="192"/>
              </a:xfrm>
              <a:prstGeom prst="ellipse">
                <a:avLst/>
              </a:prstGeom>
              <a:solidFill>
                <a:schemeClr val="bg2"/>
              </a:solidFill>
              <a:ln w="38100">
                <a:solidFill>
                  <a:schemeClr val="bg2"/>
                </a:solidFill>
                <a:round/>
                <a:headEnd type="none" w="sm" len="sm"/>
                <a:tailEnd type="none" w="sm" len="sm"/>
              </a:ln>
            </p:spPr>
            <p:txBody>
              <a:bodyPr wrap="none" anchor="ct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sp>
            <p:nvSpPr>
              <p:cNvPr id="89120" name="Line 29">
                <a:extLst>
                  <a:ext uri="{FF2B5EF4-FFF2-40B4-BE49-F238E27FC236}">
                    <a16:creationId xmlns:a16="http://schemas.microsoft.com/office/drawing/2014/main" id="{6C3920B9-8940-92DC-803E-B4846B0ED933}"/>
                  </a:ext>
                </a:extLst>
              </p:cNvPr>
              <p:cNvSpPr>
                <a:spLocks noChangeShapeType="1"/>
              </p:cNvSpPr>
              <p:nvPr/>
            </p:nvSpPr>
            <p:spPr bwMode="auto">
              <a:xfrm>
                <a:off x="2208" y="3264"/>
                <a:ext cx="0" cy="288"/>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grpSp>
        <p:graphicFrame>
          <p:nvGraphicFramePr>
            <p:cNvPr id="89110" name="Object 40">
              <a:extLst>
                <a:ext uri="{FF2B5EF4-FFF2-40B4-BE49-F238E27FC236}">
                  <a16:creationId xmlns:a16="http://schemas.microsoft.com/office/drawing/2014/main" id="{1C76D237-01BE-1B37-E0A6-5BC5414148CF}"/>
                </a:ext>
              </a:extLst>
            </p:cNvPr>
            <p:cNvGraphicFramePr>
              <a:graphicFrameLocks noChangeAspect="1"/>
            </p:cNvGraphicFramePr>
            <p:nvPr/>
          </p:nvGraphicFramePr>
          <p:xfrm>
            <a:off x="2008" y="3312"/>
            <a:ext cx="728" cy="196"/>
          </p:xfrm>
          <a:graphic>
            <a:graphicData uri="http://schemas.openxmlformats.org/presentationml/2006/ole">
              <mc:AlternateContent xmlns:mc="http://schemas.openxmlformats.org/markup-compatibility/2006">
                <mc:Choice xmlns:v="urn:schemas-microsoft-com:vml" Requires="v">
                  <p:oleObj name="Equation" r:id="rId3" imgW="584348" imgH="107825" progId="Equation.3">
                    <p:embed/>
                  </p:oleObj>
                </mc:Choice>
                <mc:Fallback>
                  <p:oleObj name="Equation" r:id="rId3" imgW="584348" imgH="107825" progId="Equation.3">
                    <p:embed/>
                    <p:pic>
                      <p:nvPicPr>
                        <p:cNvPr id="89110" name="Object 40">
                          <a:extLst>
                            <a:ext uri="{FF2B5EF4-FFF2-40B4-BE49-F238E27FC236}">
                              <a16:creationId xmlns:a16="http://schemas.microsoft.com/office/drawing/2014/main" id="{1C76D237-01BE-1B37-E0A6-5BC5414148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8" y="3312"/>
                          <a:ext cx="728" cy="1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9111" name="Object 44">
              <a:extLst>
                <a:ext uri="{FF2B5EF4-FFF2-40B4-BE49-F238E27FC236}">
                  <a16:creationId xmlns:a16="http://schemas.microsoft.com/office/drawing/2014/main" id="{7FD0AE24-D203-7C72-B99D-EB3EA22EF04C}"/>
                </a:ext>
              </a:extLst>
            </p:cNvPr>
            <p:cNvGraphicFramePr>
              <a:graphicFrameLocks noChangeAspect="1"/>
            </p:cNvGraphicFramePr>
            <p:nvPr/>
          </p:nvGraphicFramePr>
          <p:xfrm>
            <a:off x="1312" y="2160"/>
            <a:ext cx="504" cy="196"/>
          </p:xfrm>
          <a:graphic>
            <a:graphicData uri="http://schemas.openxmlformats.org/presentationml/2006/ole">
              <mc:AlternateContent xmlns:mc="http://schemas.openxmlformats.org/markup-compatibility/2006">
                <mc:Choice xmlns:v="urn:schemas-microsoft-com:vml" Requires="v">
                  <p:oleObj name="Equation" r:id="rId5" imgW="381148" imgH="107825" progId="Equation.3">
                    <p:embed/>
                  </p:oleObj>
                </mc:Choice>
                <mc:Fallback>
                  <p:oleObj name="Equation" r:id="rId5" imgW="381148" imgH="107825" progId="Equation.3">
                    <p:embed/>
                    <p:pic>
                      <p:nvPicPr>
                        <p:cNvPr id="89111" name="Object 44">
                          <a:extLst>
                            <a:ext uri="{FF2B5EF4-FFF2-40B4-BE49-F238E27FC236}">
                              <a16:creationId xmlns:a16="http://schemas.microsoft.com/office/drawing/2014/main" id="{7FD0AE24-D203-7C72-B99D-EB3EA22EF04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12" y="2160"/>
                          <a:ext cx="504" cy="1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 name="Group 64">
            <a:extLst>
              <a:ext uri="{FF2B5EF4-FFF2-40B4-BE49-F238E27FC236}">
                <a16:creationId xmlns:a16="http://schemas.microsoft.com/office/drawing/2014/main" id="{73CF5F83-38D5-F5C4-B1FA-0792106B1DF8}"/>
              </a:ext>
            </a:extLst>
          </p:cNvPr>
          <p:cNvGrpSpPr>
            <a:grpSpLocks/>
          </p:cNvGrpSpPr>
          <p:nvPr/>
        </p:nvGrpSpPr>
        <p:grpSpPr bwMode="auto">
          <a:xfrm>
            <a:off x="4495800" y="1447800"/>
            <a:ext cx="4114800" cy="2362200"/>
            <a:chOff x="1968" y="1248"/>
            <a:chExt cx="2592" cy="1488"/>
          </a:xfrm>
        </p:grpSpPr>
        <p:sp>
          <p:nvSpPr>
            <p:cNvPr id="89103" name="Line 65">
              <a:extLst>
                <a:ext uri="{FF2B5EF4-FFF2-40B4-BE49-F238E27FC236}">
                  <a16:creationId xmlns:a16="http://schemas.microsoft.com/office/drawing/2014/main" id="{6AE354E4-CED6-F7FD-F40C-AF7F81A85FD3}"/>
                </a:ext>
              </a:extLst>
            </p:cNvPr>
            <p:cNvSpPr>
              <a:spLocks noChangeShapeType="1"/>
            </p:cNvSpPr>
            <p:nvPr/>
          </p:nvSpPr>
          <p:spPr bwMode="auto">
            <a:xfrm flipV="1">
              <a:off x="1968" y="1392"/>
              <a:ext cx="576" cy="576"/>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89104" name="Line 66">
              <a:extLst>
                <a:ext uri="{FF2B5EF4-FFF2-40B4-BE49-F238E27FC236}">
                  <a16:creationId xmlns:a16="http://schemas.microsoft.com/office/drawing/2014/main" id="{2B24164B-B6F1-92C9-64FC-0B91991A00EF}"/>
                </a:ext>
              </a:extLst>
            </p:cNvPr>
            <p:cNvSpPr>
              <a:spLocks noChangeShapeType="1"/>
            </p:cNvSpPr>
            <p:nvPr/>
          </p:nvSpPr>
          <p:spPr bwMode="auto">
            <a:xfrm>
              <a:off x="1968" y="2160"/>
              <a:ext cx="576" cy="576"/>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89105" name="Text Box 67">
              <a:extLst>
                <a:ext uri="{FF2B5EF4-FFF2-40B4-BE49-F238E27FC236}">
                  <a16:creationId xmlns:a16="http://schemas.microsoft.com/office/drawing/2014/main" id="{8C70E7EF-CE9C-BB33-BE73-3E4B518FE526}"/>
                </a:ext>
              </a:extLst>
            </p:cNvPr>
            <p:cNvSpPr txBox="1">
              <a:spLocks noChangeArrowheads="1"/>
            </p:cNvSpPr>
            <p:nvPr/>
          </p:nvSpPr>
          <p:spPr bwMode="auto">
            <a:xfrm>
              <a:off x="2496" y="2448"/>
              <a:ext cx="7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eaLnBrk="0" fontAlgn="base" hangingPunct="0">
                <a:spcBef>
                  <a:spcPct val="50000"/>
                </a:spcBef>
                <a:spcAft>
                  <a:spcPct val="0"/>
                </a:spcAft>
              </a:pPr>
              <a:r>
                <a:rPr lang="en-US" altLang="en-US" sz="2400">
                  <a:solidFill>
                    <a:prstClr val="black"/>
                  </a:solidFill>
                </a:rPr>
                <a:t>Failure</a:t>
              </a:r>
            </a:p>
          </p:txBody>
        </p:sp>
        <p:sp>
          <p:nvSpPr>
            <p:cNvPr id="89106" name="Text Box 68">
              <a:extLst>
                <a:ext uri="{FF2B5EF4-FFF2-40B4-BE49-F238E27FC236}">
                  <a16:creationId xmlns:a16="http://schemas.microsoft.com/office/drawing/2014/main" id="{4F4B2469-D566-1393-01A8-369457FF7850}"/>
                </a:ext>
              </a:extLst>
            </p:cNvPr>
            <p:cNvSpPr txBox="1">
              <a:spLocks noChangeArrowheads="1"/>
            </p:cNvSpPr>
            <p:nvPr/>
          </p:nvSpPr>
          <p:spPr bwMode="auto">
            <a:xfrm>
              <a:off x="2832" y="1248"/>
              <a:ext cx="17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50000"/>
                </a:spcBef>
                <a:spcAft>
                  <a:spcPct val="0"/>
                </a:spcAft>
              </a:pPr>
              <a:r>
                <a:rPr lang="en-US" altLang="en-US" sz="2400">
                  <a:solidFill>
                    <a:prstClr val="black"/>
                  </a:solidFill>
                </a:rPr>
                <a:t>Success: </a:t>
              </a:r>
              <a:r>
                <a:rPr lang="en-US" altLang="en-US" sz="2400" i="1">
                  <a:solidFill>
                    <a:prstClr val="black"/>
                  </a:solidFill>
                </a:rPr>
                <a:t>PV</a:t>
              </a:r>
              <a:r>
                <a:rPr lang="en-US" altLang="en-US" sz="2400">
                  <a:solidFill>
                    <a:prstClr val="black"/>
                  </a:solidFill>
                </a:rPr>
                <a:t> = $500</a:t>
              </a:r>
            </a:p>
          </p:txBody>
        </p:sp>
        <p:sp>
          <p:nvSpPr>
            <p:cNvPr id="89107" name="Line 69">
              <a:extLst>
                <a:ext uri="{FF2B5EF4-FFF2-40B4-BE49-F238E27FC236}">
                  <a16:creationId xmlns:a16="http://schemas.microsoft.com/office/drawing/2014/main" id="{7FBF5ACD-9960-9F5A-414C-AE2535429347}"/>
                </a:ext>
              </a:extLst>
            </p:cNvPr>
            <p:cNvSpPr>
              <a:spLocks noChangeShapeType="1"/>
            </p:cNvSpPr>
            <p:nvPr/>
          </p:nvSpPr>
          <p:spPr bwMode="auto">
            <a:xfrm>
              <a:off x="2544" y="2736"/>
              <a:ext cx="624" cy="0"/>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89108" name="Line 70">
              <a:extLst>
                <a:ext uri="{FF2B5EF4-FFF2-40B4-BE49-F238E27FC236}">
                  <a16:creationId xmlns:a16="http://schemas.microsoft.com/office/drawing/2014/main" id="{17AD8C06-6CAA-5D73-5F15-308B64DB04DF}"/>
                </a:ext>
              </a:extLst>
            </p:cNvPr>
            <p:cNvSpPr>
              <a:spLocks noChangeShapeType="1"/>
            </p:cNvSpPr>
            <p:nvPr/>
          </p:nvSpPr>
          <p:spPr bwMode="auto">
            <a:xfrm>
              <a:off x="2544" y="1392"/>
              <a:ext cx="288" cy="0"/>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grpSp>
      <p:grpSp>
        <p:nvGrpSpPr>
          <p:cNvPr id="5" name="Group 71">
            <a:extLst>
              <a:ext uri="{FF2B5EF4-FFF2-40B4-BE49-F238E27FC236}">
                <a16:creationId xmlns:a16="http://schemas.microsoft.com/office/drawing/2014/main" id="{16808409-C3E2-5C36-D2D1-549A995550EF}"/>
              </a:ext>
            </a:extLst>
          </p:cNvPr>
          <p:cNvGrpSpPr>
            <a:grpSpLocks/>
          </p:cNvGrpSpPr>
          <p:nvPr/>
        </p:nvGrpSpPr>
        <p:grpSpPr bwMode="auto">
          <a:xfrm>
            <a:off x="6400800" y="2165350"/>
            <a:ext cx="3886200" cy="3333750"/>
            <a:chOff x="3168" y="1700"/>
            <a:chExt cx="2448" cy="2100"/>
          </a:xfrm>
        </p:grpSpPr>
        <p:sp>
          <p:nvSpPr>
            <p:cNvPr id="89096" name="Line 72">
              <a:extLst>
                <a:ext uri="{FF2B5EF4-FFF2-40B4-BE49-F238E27FC236}">
                  <a16:creationId xmlns:a16="http://schemas.microsoft.com/office/drawing/2014/main" id="{FB0C40B3-309E-9A0B-C7A8-AFDBCFE36EFB}"/>
                </a:ext>
              </a:extLst>
            </p:cNvPr>
            <p:cNvSpPr>
              <a:spLocks noChangeShapeType="1"/>
            </p:cNvSpPr>
            <p:nvPr/>
          </p:nvSpPr>
          <p:spPr bwMode="auto">
            <a:xfrm flipV="1">
              <a:off x="3312" y="2074"/>
              <a:ext cx="576" cy="576"/>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89097" name="Text Box 73">
              <a:extLst>
                <a:ext uri="{FF2B5EF4-FFF2-40B4-BE49-F238E27FC236}">
                  <a16:creationId xmlns:a16="http://schemas.microsoft.com/office/drawing/2014/main" id="{1297CCA5-FA03-DFE0-5623-92100128802A}"/>
                </a:ext>
              </a:extLst>
            </p:cNvPr>
            <p:cNvSpPr txBox="1">
              <a:spLocks noChangeArrowheads="1"/>
            </p:cNvSpPr>
            <p:nvPr/>
          </p:nvSpPr>
          <p:spPr bwMode="auto">
            <a:xfrm>
              <a:off x="4224" y="3044"/>
              <a:ext cx="1248"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eaLnBrk="0" fontAlgn="base" hangingPunct="0">
                <a:spcBef>
                  <a:spcPct val="50000"/>
                </a:spcBef>
                <a:spcAft>
                  <a:spcPct val="0"/>
                </a:spcAft>
              </a:pPr>
              <a:r>
                <a:rPr lang="en-US" altLang="en-US" sz="2400">
                  <a:solidFill>
                    <a:prstClr val="black"/>
                  </a:solidFill>
                </a:rPr>
                <a:t>Sell the rig; salvage value = $250 </a:t>
              </a:r>
            </a:p>
          </p:txBody>
        </p:sp>
        <p:sp>
          <p:nvSpPr>
            <p:cNvPr id="89098" name="Text Box 74">
              <a:extLst>
                <a:ext uri="{FF2B5EF4-FFF2-40B4-BE49-F238E27FC236}">
                  <a16:creationId xmlns:a16="http://schemas.microsoft.com/office/drawing/2014/main" id="{E22AEB90-EA57-4687-6290-AA81FB7CBA9D}"/>
                </a:ext>
              </a:extLst>
            </p:cNvPr>
            <p:cNvSpPr txBox="1">
              <a:spLocks noChangeArrowheads="1"/>
            </p:cNvSpPr>
            <p:nvPr/>
          </p:nvSpPr>
          <p:spPr bwMode="auto">
            <a:xfrm>
              <a:off x="4176" y="1700"/>
              <a:ext cx="1440"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eaLnBrk="0" fontAlgn="base" hangingPunct="0">
                <a:spcBef>
                  <a:spcPct val="50000"/>
                </a:spcBef>
                <a:spcAft>
                  <a:spcPct val="0"/>
                </a:spcAft>
              </a:pPr>
              <a:r>
                <a:rPr lang="en-US" altLang="en-US" sz="2400">
                  <a:solidFill>
                    <a:prstClr val="black"/>
                  </a:solidFill>
                </a:rPr>
                <a:t>Sit on rig; stare at empty hole: </a:t>
              </a:r>
              <a:r>
                <a:rPr lang="en-US" altLang="en-US" sz="2400" i="1">
                  <a:solidFill>
                    <a:prstClr val="black"/>
                  </a:solidFill>
                </a:rPr>
                <a:t>PV</a:t>
              </a:r>
              <a:r>
                <a:rPr lang="en-US" altLang="en-US" sz="2400">
                  <a:solidFill>
                    <a:prstClr val="black"/>
                  </a:solidFill>
                </a:rPr>
                <a:t> = $0.</a:t>
              </a:r>
            </a:p>
          </p:txBody>
        </p:sp>
        <p:sp>
          <p:nvSpPr>
            <p:cNvPr id="89099" name="Line 75">
              <a:extLst>
                <a:ext uri="{FF2B5EF4-FFF2-40B4-BE49-F238E27FC236}">
                  <a16:creationId xmlns:a16="http://schemas.microsoft.com/office/drawing/2014/main" id="{E09BD431-C516-21BD-0154-68FA7E290BE9}"/>
                </a:ext>
              </a:extLst>
            </p:cNvPr>
            <p:cNvSpPr>
              <a:spLocks noChangeShapeType="1"/>
            </p:cNvSpPr>
            <p:nvPr/>
          </p:nvSpPr>
          <p:spPr bwMode="auto">
            <a:xfrm>
              <a:off x="3888" y="3418"/>
              <a:ext cx="288" cy="0"/>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89100" name="Line 76">
              <a:extLst>
                <a:ext uri="{FF2B5EF4-FFF2-40B4-BE49-F238E27FC236}">
                  <a16:creationId xmlns:a16="http://schemas.microsoft.com/office/drawing/2014/main" id="{DA60426F-5CBA-2E5E-775A-55EAF6954587}"/>
                </a:ext>
              </a:extLst>
            </p:cNvPr>
            <p:cNvSpPr>
              <a:spLocks noChangeShapeType="1"/>
            </p:cNvSpPr>
            <p:nvPr/>
          </p:nvSpPr>
          <p:spPr bwMode="auto">
            <a:xfrm>
              <a:off x="3888" y="2074"/>
              <a:ext cx="288" cy="0"/>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89101" name="Oval 77">
              <a:extLst>
                <a:ext uri="{FF2B5EF4-FFF2-40B4-BE49-F238E27FC236}">
                  <a16:creationId xmlns:a16="http://schemas.microsoft.com/office/drawing/2014/main" id="{5075E8CF-7450-E0D1-9AA3-AF393B562115}"/>
                </a:ext>
              </a:extLst>
            </p:cNvPr>
            <p:cNvSpPr>
              <a:spLocks noChangeArrowheads="1"/>
            </p:cNvSpPr>
            <p:nvPr/>
          </p:nvSpPr>
          <p:spPr bwMode="auto">
            <a:xfrm>
              <a:off x="3168" y="2640"/>
              <a:ext cx="192" cy="192"/>
            </a:xfrm>
            <a:prstGeom prst="ellipse">
              <a:avLst/>
            </a:prstGeom>
            <a:noFill/>
            <a:ln w="38100" cap="sq">
              <a:solidFill>
                <a:schemeClr val="bg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sp>
          <p:nvSpPr>
            <p:cNvPr id="89102" name="Line 78">
              <a:extLst>
                <a:ext uri="{FF2B5EF4-FFF2-40B4-BE49-F238E27FC236}">
                  <a16:creationId xmlns:a16="http://schemas.microsoft.com/office/drawing/2014/main" id="{321D1412-1E04-8453-4E99-AA4ED92DA374}"/>
                </a:ext>
              </a:extLst>
            </p:cNvPr>
            <p:cNvSpPr>
              <a:spLocks noChangeShapeType="1"/>
            </p:cNvSpPr>
            <p:nvPr/>
          </p:nvSpPr>
          <p:spPr bwMode="auto">
            <a:xfrm>
              <a:off x="3312" y="2832"/>
              <a:ext cx="576" cy="576"/>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grpSp>
      <p:sp>
        <p:nvSpPr>
          <p:cNvPr id="89095" name="Rectangle 79">
            <a:extLst>
              <a:ext uri="{FF2B5EF4-FFF2-40B4-BE49-F238E27FC236}">
                <a16:creationId xmlns:a16="http://schemas.microsoft.com/office/drawing/2014/main" id="{215AA122-9CDE-4FA5-9C5E-AA7C88194928}"/>
              </a:ext>
            </a:extLst>
          </p:cNvPr>
          <p:cNvSpPr>
            <a:spLocks noChangeArrowheads="1"/>
          </p:cNvSpPr>
          <p:nvPr/>
        </p:nvSpPr>
        <p:spPr bwMode="auto">
          <a:xfrm>
            <a:off x="1828800" y="914400"/>
            <a:ext cx="8610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marL="342900" indent="-342900">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20000"/>
              </a:spcBef>
              <a:spcAft>
                <a:spcPct val="0"/>
              </a:spcAft>
              <a:buClr>
                <a:srgbClr val="671739"/>
              </a:buClr>
            </a:pPr>
            <a:r>
              <a:rPr lang="en-US" altLang="en-US" sz="2400">
                <a:solidFill>
                  <a:prstClr val="black"/>
                </a:solidFill>
              </a:rPr>
              <a:t>However, traditional NPV analysis overlooks the option to abandon.</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411658"/>
                                        </p:tgtEl>
                                        <p:attrNameLst>
                                          <p:attrName>style.visibility</p:attrName>
                                        </p:attrNameLst>
                                      </p:cBhvr>
                                      <p:to>
                                        <p:strVal val="visible"/>
                                      </p:to>
                                    </p:set>
                                    <p:anim calcmode="lin" valueType="num">
                                      <p:cBhvr additive="base">
                                        <p:cTn id="22" dur="500" fill="hold"/>
                                        <p:tgtEl>
                                          <p:spTgt spid="411658"/>
                                        </p:tgtEl>
                                        <p:attrNameLst>
                                          <p:attrName>ppt_x</p:attrName>
                                        </p:attrNameLst>
                                      </p:cBhvr>
                                      <p:tavLst>
                                        <p:tav tm="0">
                                          <p:val>
                                            <p:strVal val="0-#ppt_w/2"/>
                                          </p:val>
                                        </p:tav>
                                        <p:tav tm="100000">
                                          <p:val>
                                            <p:strVal val="#ppt_x"/>
                                          </p:val>
                                        </p:tav>
                                      </p:tavLst>
                                    </p:anim>
                                    <p:anim calcmode="lin" valueType="num">
                                      <p:cBhvr additive="base">
                                        <p:cTn id="23" dur="500" fill="hold"/>
                                        <p:tgtEl>
                                          <p:spTgt spid="41165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1658" grpId="0" autoUpdateAnimBg="0"/>
    </p:bldLst>
  </p:timing>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0167A0B1-5727-CF75-82F2-0442790AACFB}"/>
              </a:ext>
            </a:extLst>
          </p:cNvPr>
          <p:cNvSpPr>
            <a:spLocks noGrp="1" noChangeArrowheads="1"/>
          </p:cNvSpPr>
          <p:nvPr>
            <p:ph type="title"/>
          </p:nvPr>
        </p:nvSpPr>
        <p:spPr>
          <a:xfrm>
            <a:off x="1981200" y="228600"/>
            <a:ext cx="8229600" cy="1143000"/>
          </a:xfrm>
        </p:spPr>
        <p:txBody>
          <a:bodyPr/>
          <a:lstStyle/>
          <a:p>
            <a:pPr eaLnBrk="1" fontAlgn="auto" hangingPunct="1">
              <a:spcAft>
                <a:spcPts val="0"/>
              </a:spcAft>
              <a:defRPr/>
            </a:pPr>
            <a:r>
              <a:rPr lang="en-US" altLang="en-US" sz="3400" dirty="0">
                <a:solidFill>
                  <a:schemeClr val="bg2"/>
                </a:solidFill>
                <a:ea typeface="+mj-ea"/>
                <a:cs typeface="+mj-cs"/>
              </a:rPr>
              <a:t>The Option to Abandon: Example </a:t>
            </a:r>
          </a:p>
        </p:txBody>
      </p:sp>
      <p:sp>
        <p:nvSpPr>
          <p:cNvPr id="91139" name="Rectangle 6">
            <a:extLst>
              <a:ext uri="{FF2B5EF4-FFF2-40B4-BE49-F238E27FC236}">
                <a16:creationId xmlns:a16="http://schemas.microsoft.com/office/drawing/2014/main" id="{2DA5AB5F-245F-AB3F-F592-106E53742633}"/>
              </a:ext>
            </a:extLst>
          </p:cNvPr>
          <p:cNvSpPr>
            <a:spLocks noChangeArrowheads="1"/>
          </p:cNvSpPr>
          <p:nvPr/>
        </p:nvSpPr>
        <p:spPr bwMode="auto">
          <a:xfrm>
            <a:off x="2057400" y="1219200"/>
            <a:ext cx="80010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marL="342900" indent="-342900">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20000"/>
              </a:spcBef>
              <a:spcAft>
                <a:spcPct val="0"/>
              </a:spcAft>
              <a:buClr>
                <a:srgbClr val="DEF5FA"/>
              </a:buClr>
              <a:buSzPct val="70000"/>
              <a:buFont typeface="Wingdings" panose="05000000000000000000" pitchFamily="2" charset="2"/>
              <a:buChar char="q"/>
            </a:pPr>
            <a:r>
              <a:rPr lang="en-US" altLang="en-US" sz="2800">
                <a:solidFill>
                  <a:prstClr val="black"/>
                </a:solidFill>
              </a:rPr>
              <a:t>When we include the value of the option to abandon, the drilling project should proceed:</a:t>
            </a:r>
          </a:p>
        </p:txBody>
      </p:sp>
      <p:grpSp>
        <p:nvGrpSpPr>
          <p:cNvPr id="2" name="Group 7">
            <a:extLst>
              <a:ext uri="{FF2B5EF4-FFF2-40B4-BE49-F238E27FC236}">
                <a16:creationId xmlns:a16="http://schemas.microsoft.com/office/drawing/2014/main" id="{49FECAFB-2F64-C251-1AC7-D9D36304C7A7}"/>
              </a:ext>
            </a:extLst>
          </p:cNvPr>
          <p:cNvGrpSpPr>
            <a:grpSpLocks/>
          </p:cNvGrpSpPr>
          <p:nvPr/>
        </p:nvGrpSpPr>
        <p:grpSpPr bwMode="auto">
          <a:xfrm>
            <a:off x="2971800" y="4800601"/>
            <a:ext cx="5867400" cy="1052513"/>
            <a:chOff x="480" y="2256"/>
            <a:chExt cx="3696" cy="663"/>
          </a:xfrm>
        </p:grpSpPr>
        <p:sp>
          <p:nvSpPr>
            <p:cNvPr id="91156" name="Rectangle 8">
              <a:extLst>
                <a:ext uri="{FF2B5EF4-FFF2-40B4-BE49-F238E27FC236}">
                  <a16:creationId xmlns:a16="http://schemas.microsoft.com/office/drawing/2014/main" id="{864B753D-551A-5D66-7703-929C5C76C5D8}"/>
                </a:ext>
              </a:extLst>
            </p:cNvPr>
            <p:cNvSpPr>
              <a:spLocks noChangeArrowheads="1"/>
            </p:cNvSpPr>
            <p:nvPr/>
          </p:nvSpPr>
          <p:spPr bwMode="auto">
            <a:xfrm>
              <a:off x="480" y="2409"/>
              <a:ext cx="74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prstClr val="black"/>
                  </a:solidFill>
                </a:rPr>
                <a:t>NPV =</a:t>
              </a:r>
              <a:endParaRPr lang="en-US" altLang="en-US" sz="2800" i="1" baseline="-25000">
                <a:solidFill>
                  <a:prstClr val="black"/>
                </a:solidFill>
              </a:endParaRPr>
            </a:p>
          </p:txBody>
        </p:sp>
        <p:sp>
          <p:nvSpPr>
            <p:cNvPr id="91157" name="Text Box 9">
              <a:extLst>
                <a:ext uri="{FF2B5EF4-FFF2-40B4-BE49-F238E27FC236}">
                  <a16:creationId xmlns:a16="http://schemas.microsoft.com/office/drawing/2014/main" id="{3310BA98-10C6-667F-A5C7-425034DE7FC6}"/>
                </a:ext>
              </a:extLst>
            </p:cNvPr>
            <p:cNvSpPr txBox="1">
              <a:spLocks noChangeArrowheads="1"/>
            </p:cNvSpPr>
            <p:nvPr/>
          </p:nvSpPr>
          <p:spPr bwMode="auto">
            <a:xfrm>
              <a:off x="3072" y="2400"/>
              <a:ext cx="110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2800">
                  <a:solidFill>
                    <a:prstClr val="black"/>
                  </a:solidFill>
                </a:rPr>
                <a:t>=  </a:t>
              </a:r>
              <a:r>
                <a:rPr lang="en-US" altLang="en-US" sz="2800">
                  <a:solidFill>
                    <a:prstClr val="black"/>
                  </a:solidFill>
                  <a:cs typeface="Times New Roman" panose="02020603050405020304" pitchFamily="18" charset="0"/>
                </a:rPr>
                <a:t>$75.00</a:t>
              </a:r>
            </a:p>
          </p:txBody>
        </p:sp>
        <p:sp>
          <p:nvSpPr>
            <p:cNvPr id="91158" name="Text Box 10">
              <a:extLst>
                <a:ext uri="{FF2B5EF4-FFF2-40B4-BE49-F238E27FC236}">
                  <a16:creationId xmlns:a16="http://schemas.microsoft.com/office/drawing/2014/main" id="{E099AA64-FD37-B22D-1136-96EF4B96CA78}"/>
                </a:ext>
              </a:extLst>
            </p:cNvPr>
            <p:cNvSpPr txBox="1">
              <a:spLocks noChangeArrowheads="1"/>
            </p:cNvSpPr>
            <p:nvPr/>
          </p:nvSpPr>
          <p:spPr bwMode="auto">
            <a:xfrm>
              <a:off x="2232" y="2592"/>
              <a:ext cx="7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fontAlgn="base">
                <a:spcBef>
                  <a:spcPct val="50000"/>
                </a:spcBef>
                <a:spcAft>
                  <a:spcPct val="0"/>
                </a:spcAft>
              </a:pPr>
              <a:r>
                <a:rPr lang="en-US" altLang="en-US" sz="2800">
                  <a:solidFill>
                    <a:prstClr val="black"/>
                  </a:solidFill>
                </a:rPr>
                <a:t>1.10</a:t>
              </a:r>
            </a:p>
          </p:txBody>
        </p:sp>
        <p:sp>
          <p:nvSpPr>
            <p:cNvPr id="91159" name="Text Box 11">
              <a:extLst>
                <a:ext uri="{FF2B5EF4-FFF2-40B4-BE49-F238E27FC236}">
                  <a16:creationId xmlns:a16="http://schemas.microsoft.com/office/drawing/2014/main" id="{F205C933-A7DC-455B-5E61-999A06A3BE6A}"/>
                </a:ext>
              </a:extLst>
            </p:cNvPr>
            <p:cNvSpPr txBox="1">
              <a:spLocks noChangeArrowheads="1"/>
            </p:cNvSpPr>
            <p:nvPr/>
          </p:nvSpPr>
          <p:spPr bwMode="auto">
            <a:xfrm>
              <a:off x="2112" y="2256"/>
              <a:ext cx="96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fontAlgn="base">
                <a:spcBef>
                  <a:spcPct val="50000"/>
                </a:spcBef>
                <a:spcAft>
                  <a:spcPct val="0"/>
                </a:spcAft>
              </a:pPr>
              <a:r>
                <a:rPr lang="en-US" altLang="en-US" sz="2800">
                  <a:solidFill>
                    <a:prstClr val="black"/>
                  </a:solidFill>
                </a:rPr>
                <a:t>$412.50</a:t>
              </a:r>
            </a:p>
          </p:txBody>
        </p:sp>
        <p:sp>
          <p:nvSpPr>
            <p:cNvPr id="67611" name="Line 12">
              <a:extLst>
                <a:ext uri="{FF2B5EF4-FFF2-40B4-BE49-F238E27FC236}">
                  <a16:creationId xmlns:a16="http://schemas.microsoft.com/office/drawing/2014/main" id="{1A0659A4-A8B5-8331-17C3-73CE40A896AE}"/>
                </a:ext>
              </a:extLst>
            </p:cNvPr>
            <p:cNvSpPr>
              <a:spLocks noChangeShapeType="1"/>
            </p:cNvSpPr>
            <p:nvPr/>
          </p:nvSpPr>
          <p:spPr bwMode="auto">
            <a:xfrm>
              <a:off x="2112" y="2592"/>
              <a:ext cx="960" cy="0"/>
            </a:xfrm>
            <a:prstGeom prst="line">
              <a:avLst/>
            </a:prstGeom>
            <a:noFill/>
            <a:ln w="12700" cap="sq">
              <a:solidFill>
                <a:schemeClr val="bg1"/>
              </a:solidFill>
              <a:round/>
              <a:headEnd type="none" w="sm" len="sm"/>
              <a:tailEnd type="none" w="sm" len="sm"/>
            </a:ln>
          </p:spPr>
          <p:txBody>
            <a:bodyPr wrap="none"/>
            <a:lstStyle/>
            <a:p>
              <a:pPr eaLnBrk="0" fontAlgn="base" hangingPunct="0">
                <a:spcBef>
                  <a:spcPct val="0"/>
                </a:spcBef>
                <a:spcAft>
                  <a:spcPct val="0"/>
                </a:spcAft>
                <a:defRPr/>
              </a:pPr>
              <a:endParaRPr lang="en-US" dirty="0">
                <a:ln>
                  <a:solidFill>
                    <a:prstClr val="black"/>
                  </a:solidFill>
                </a:ln>
                <a:solidFill>
                  <a:prstClr val="black"/>
                </a:solidFill>
                <a:latin typeface="Times New Roman" pitchFamily="-1" charset="0"/>
                <a:ea typeface="ＭＳ Ｐゴシック" panose="020B0600070205080204" pitchFamily="34" charset="-128"/>
              </a:endParaRPr>
            </a:p>
          </p:txBody>
        </p:sp>
        <p:sp>
          <p:nvSpPr>
            <p:cNvPr id="91161" name="Text Box 13">
              <a:extLst>
                <a:ext uri="{FF2B5EF4-FFF2-40B4-BE49-F238E27FC236}">
                  <a16:creationId xmlns:a16="http://schemas.microsoft.com/office/drawing/2014/main" id="{C885B9F5-7598-4925-985E-08ED4448070E}"/>
                </a:ext>
              </a:extLst>
            </p:cNvPr>
            <p:cNvSpPr txBox="1">
              <a:spLocks noChangeArrowheads="1"/>
            </p:cNvSpPr>
            <p:nvPr/>
          </p:nvSpPr>
          <p:spPr bwMode="auto">
            <a:xfrm>
              <a:off x="1200" y="2409"/>
              <a:ext cx="110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2800">
                  <a:solidFill>
                    <a:prstClr val="black"/>
                  </a:solidFill>
                  <a:cs typeface="Times New Roman" panose="02020603050405020304" pitchFamily="18" charset="0"/>
                </a:rPr>
                <a:t>–$300 +</a:t>
              </a:r>
            </a:p>
          </p:txBody>
        </p:sp>
      </p:grpSp>
      <p:grpSp>
        <p:nvGrpSpPr>
          <p:cNvPr id="3" name="Group 14">
            <a:extLst>
              <a:ext uri="{FF2B5EF4-FFF2-40B4-BE49-F238E27FC236}">
                <a16:creationId xmlns:a16="http://schemas.microsoft.com/office/drawing/2014/main" id="{E7D28978-0960-2DCE-F580-05F0F899C535}"/>
              </a:ext>
            </a:extLst>
          </p:cNvPr>
          <p:cNvGrpSpPr>
            <a:grpSpLocks/>
          </p:cNvGrpSpPr>
          <p:nvPr/>
        </p:nvGrpSpPr>
        <p:grpSpPr bwMode="auto">
          <a:xfrm>
            <a:off x="1981200" y="3505200"/>
            <a:ext cx="7848600" cy="1136650"/>
            <a:chOff x="480" y="2409"/>
            <a:chExt cx="4656" cy="716"/>
          </a:xfrm>
        </p:grpSpPr>
        <p:sp>
          <p:nvSpPr>
            <p:cNvPr id="91154" name="Rectangle 15">
              <a:extLst>
                <a:ext uri="{FF2B5EF4-FFF2-40B4-BE49-F238E27FC236}">
                  <a16:creationId xmlns:a16="http://schemas.microsoft.com/office/drawing/2014/main" id="{91A8CE94-453D-0FCD-5753-975A615E66D1}"/>
                </a:ext>
              </a:extLst>
            </p:cNvPr>
            <p:cNvSpPr>
              <a:spLocks noChangeArrowheads="1"/>
            </p:cNvSpPr>
            <p:nvPr/>
          </p:nvSpPr>
          <p:spPr bwMode="auto">
            <a:xfrm>
              <a:off x="480" y="2409"/>
              <a:ext cx="1152"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fontAlgn="base">
                <a:spcBef>
                  <a:spcPct val="0"/>
                </a:spcBef>
                <a:spcAft>
                  <a:spcPct val="0"/>
                </a:spcAft>
              </a:pPr>
              <a:r>
                <a:rPr lang="en-US" altLang="en-US" sz="2800">
                  <a:solidFill>
                    <a:prstClr val="black"/>
                  </a:solidFill>
                </a:rPr>
                <a:t>Expected Payoff</a:t>
              </a:r>
              <a:endParaRPr lang="en-US" altLang="en-US" sz="2800" i="1" baseline="-25000">
                <a:solidFill>
                  <a:prstClr val="black"/>
                </a:solidFill>
              </a:endParaRPr>
            </a:p>
          </p:txBody>
        </p:sp>
        <p:sp>
          <p:nvSpPr>
            <p:cNvPr id="91155" name="Text Box 16">
              <a:extLst>
                <a:ext uri="{FF2B5EF4-FFF2-40B4-BE49-F238E27FC236}">
                  <a16:creationId xmlns:a16="http://schemas.microsoft.com/office/drawing/2014/main" id="{B2B31F66-1CC5-6731-3349-9643CB2B7D6E}"/>
                </a:ext>
              </a:extLst>
            </p:cNvPr>
            <p:cNvSpPr txBox="1">
              <a:spLocks noChangeArrowheads="1"/>
            </p:cNvSpPr>
            <p:nvPr/>
          </p:nvSpPr>
          <p:spPr bwMode="auto">
            <a:xfrm>
              <a:off x="1488" y="2524"/>
              <a:ext cx="3648"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2800">
                  <a:solidFill>
                    <a:prstClr val="black"/>
                  </a:solidFill>
                  <a:cs typeface="Times New Roman" panose="02020603050405020304" pitchFamily="18" charset="0"/>
                </a:rPr>
                <a:t>= (0.50×$575) + (0.50×$250) = $412.50</a:t>
              </a:r>
            </a:p>
          </p:txBody>
        </p:sp>
      </p:grpSp>
      <p:grpSp>
        <p:nvGrpSpPr>
          <p:cNvPr id="4" name="Group 17">
            <a:extLst>
              <a:ext uri="{FF2B5EF4-FFF2-40B4-BE49-F238E27FC236}">
                <a16:creationId xmlns:a16="http://schemas.microsoft.com/office/drawing/2014/main" id="{2B3E7D42-4076-C6BC-9168-9BFB710C6A5B}"/>
              </a:ext>
            </a:extLst>
          </p:cNvPr>
          <p:cNvGrpSpPr>
            <a:grpSpLocks/>
          </p:cNvGrpSpPr>
          <p:nvPr/>
        </p:nvGrpSpPr>
        <p:grpSpPr bwMode="auto">
          <a:xfrm>
            <a:off x="1828800" y="2286000"/>
            <a:ext cx="8458200" cy="954088"/>
            <a:chOff x="432" y="1680"/>
            <a:chExt cx="5328" cy="601"/>
          </a:xfrm>
        </p:grpSpPr>
        <p:sp>
          <p:nvSpPr>
            <p:cNvPr id="91143" name="Rectangle 18">
              <a:extLst>
                <a:ext uri="{FF2B5EF4-FFF2-40B4-BE49-F238E27FC236}">
                  <a16:creationId xmlns:a16="http://schemas.microsoft.com/office/drawing/2014/main" id="{3C87E0DD-D826-9CD3-55FD-B7AE84715482}"/>
                </a:ext>
              </a:extLst>
            </p:cNvPr>
            <p:cNvSpPr>
              <a:spLocks noChangeArrowheads="1"/>
            </p:cNvSpPr>
            <p:nvPr/>
          </p:nvSpPr>
          <p:spPr bwMode="auto">
            <a:xfrm>
              <a:off x="1440" y="1763"/>
              <a:ext cx="26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i="1">
                  <a:solidFill>
                    <a:prstClr val="black"/>
                  </a:solidFill>
                </a:rPr>
                <a:t>=</a:t>
              </a:r>
            </a:p>
          </p:txBody>
        </p:sp>
        <p:sp>
          <p:nvSpPr>
            <p:cNvPr id="91144" name="Rectangle 19">
              <a:extLst>
                <a:ext uri="{FF2B5EF4-FFF2-40B4-BE49-F238E27FC236}">
                  <a16:creationId xmlns:a16="http://schemas.microsoft.com/office/drawing/2014/main" id="{5925C404-A252-9BAA-E2E1-327CD62538FB}"/>
                </a:ext>
              </a:extLst>
            </p:cNvPr>
            <p:cNvSpPr>
              <a:spLocks noChangeArrowheads="1"/>
            </p:cNvSpPr>
            <p:nvPr/>
          </p:nvSpPr>
          <p:spPr bwMode="auto">
            <a:xfrm>
              <a:off x="432" y="1680"/>
              <a:ext cx="1152"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fontAlgn="base">
                <a:spcBef>
                  <a:spcPct val="0"/>
                </a:spcBef>
                <a:spcAft>
                  <a:spcPct val="0"/>
                </a:spcAft>
              </a:pPr>
              <a:r>
                <a:rPr lang="en-US" altLang="en-US" sz="2800">
                  <a:solidFill>
                    <a:prstClr val="black"/>
                  </a:solidFill>
                </a:rPr>
                <a:t>Expected Payoff</a:t>
              </a:r>
              <a:endParaRPr lang="en-US" altLang="en-US" sz="2800" i="1" baseline="-25000">
                <a:solidFill>
                  <a:prstClr val="black"/>
                </a:solidFill>
              </a:endParaRPr>
            </a:p>
          </p:txBody>
        </p:sp>
        <p:sp>
          <p:nvSpPr>
            <p:cNvPr id="91145" name="Rectangle 20">
              <a:extLst>
                <a:ext uri="{FF2B5EF4-FFF2-40B4-BE49-F238E27FC236}">
                  <a16:creationId xmlns:a16="http://schemas.microsoft.com/office/drawing/2014/main" id="{44B83267-9E39-BA9C-EE93-FCD835D30AF7}"/>
                </a:ext>
              </a:extLst>
            </p:cNvPr>
            <p:cNvSpPr>
              <a:spLocks noChangeArrowheads="1"/>
            </p:cNvSpPr>
            <p:nvPr/>
          </p:nvSpPr>
          <p:spPr bwMode="auto">
            <a:xfrm>
              <a:off x="1632" y="1680"/>
              <a:ext cx="1152"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fontAlgn="base">
                <a:spcBef>
                  <a:spcPct val="0"/>
                </a:spcBef>
                <a:spcAft>
                  <a:spcPct val="0"/>
                </a:spcAft>
              </a:pPr>
              <a:r>
                <a:rPr lang="en-US" altLang="en-US" sz="2800">
                  <a:solidFill>
                    <a:prstClr val="black"/>
                  </a:solidFill>
                </a:rPr>
                <a:t>Prob. Success</a:t>
              </a:r>
              <a:endParaRPr lang="en-US" altLang="en-US" sz="2800" i="1" baseline="-25000">
                <a:solidFill>
                  <a:prstClr val="black"/>
                </a:solidFill>
              </a:endParaRPr>
            </a:p>
          </p:txBody>
        </p:sp>
        <p:sp>
          <p:nvSpPr>
            <p:cNvPr id="91146" name="Rectangle 21">
              <a:extLst>
                <a:ext uri="{FF2B5EF4-FFF2-40B4-BE49-F238E27FC236}">
                  <a16:creationId xmlns:a16="http://schemas.microsoft.com/office/drawing/2014/main" id="{11685354-8712-38CC-D764-60BAE66F9C49}"/>
                </a:ext>
              </a:extLst>
            </p:cNvPr>
            <p:cNvSpPr>
              <a:spLocks noChangeArrowheads="1"/>
            </p:cNvSpPr>
            <p:nvPr/>
          </p:nvSpPr>
          <p:spPr bwMode="auto">
            <a:xfrm>
              <a:off x="2426" y="1763"/>
              <a:ext cx="45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r" fontAlgn="base">
                <a:spcBef>
                  <a:spcPct val="0"/>
                </a:spcBef>
                <a:spcAft>
                  <a:spcPct val="0"/>
                </a:spcAft>
              </a:pPr>
              <a:r>
                <a:rPr lang="en-US" altLang="en-US" sz="2800">
                  <a:solidFill>
                    <a:prstClr val="black"/>
                  </a:solidFill>
                </a:rPr>
                <a:t>×</a:t>
              </a:r>
              <a:r>
                <a:rPr lang="en-US" altLang="en-US" sz="2800">
                  <a:solidFill>
                    <a:srgbClr val="DEF5FA"/>
                  </a:solidFill>
                </a:rPr>
                <a:t>  </a:t>
              </a:r>
            </a:p>
          </p:txBody>
        </p:sp>
        <p:sp>
          <p:nvSpPr>
            <p:cNvPr id="91147" name="Rectangle 22">
              <a:extLst>
                <a:ext uri="{FF2B5EF4-FFF2-40B4-BE49-F238E27FC236}">
                  <a16:creationId xmlns:a16="http://schemas.microsoft.com/office/drawing/2014/main" id="{BDA3E455-C5EE-919D-2F66-CE9E438BDF90}"/>
                </a:ext>
              </a:extLst>
            </p:cNvPr>
            <p:cNvSpPr>
              <a:spLocks noChangeArrowheads="1"/>
            </p:cNvSpPr>
            <p:nvPr/>
          </p:nvSpPr>
          <p:spPr bwMode="auto">
            <a:xfrm>
              <a:off x="2544" y="1680"/>
              <a:ext cx="1296"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fontAlgn="base">
                <a:spcBef>
                  <a:spcPct val="0"/>
                </a:spcBef>
                <a:spcAft>
                  <a:spcPct val="0"/>
                </a:spcAft>
              </a:pPr>
              <a:r>
                <a:rPr lang="en-US" altLang="en-US" sz="2800">
                  <a:solidFill>
                    <a:srgbClr val="DEF5FA"/>
                  </a:solidFill>
                </a:rPr>
                <a:t>  </a:t>
              </a:r>
              <a:r>
                <a:rPr lang="en-US" altLang="en-US" sz="2800">
                  <a:solidFill>
                    <a:prstClr val="black"/>
                  </a:solidFill>
                </a:rPr>
                <a:t>Successful Payoff</a:t>
              </a:r>
            </a:p>
          </p:txBody>
        </p:sp>
        <p:sp>
          <p:nvSpPr>
            <p:cNvPr id="91148" name="Rectangle 24">
              <a:extLst>
                <a:ext uri="{FF2B5EF4-FFF2-40B4-BE49-F238E27FC236}">
                  <a16:creationId xmlns:a16="http://schemas.microsoft.com/office/drawing/2014/main" id="{8AE78F38-F794-4EEC-8FE4-93A821CFFB00}"/>
                </a:ext>
              </a:extLst>
            </p:cNvPr>
            <p:cNvSpPr>
              <a:spLocks noChangeArrowheads="1"/>
            </p:cNvSpPr>
            <p:nvPr/>
          </p:nvSpPr>
          <p:spPr bwMode="auto">
            <a:xfrm>
              <a:off x="3552" y="1877"/>
              <a:ext cx="1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endParaRPr lang="en-US" altLang="en-US" sz="2800">
                <a:solidFill>
                  <a:srgbClr val="DEF5FA"/>
                </a:solidFill>
              </a:endParaRPr>
            </a:p>
          </p:txBody>
        </p:sp>
        <p:sp>
          <p:nvSpPr>
            <p:cNvPr id="91149" name="Rectangle 25">
              <a:extLst>
                <a:ext uri="{FF2B5EF4-FFF2-40B4-BE49-F238E27FC236}">
                  <a16:creationId xmlns:a16="http://schemas.microsoft.com/office/drawing/2014/main" id="{C182E37A-ED18-3C20-8F76-A722C3385F2B}"/>
                </a:ext>
              </a:extLst>
            </p:cNvPr>
            <p:cNvSpPr>
              <a:spLocks noChangeArrowheads="1"/>
            </p:cNvSpPr>
            <p:nvPr/>
          </p:nvSpPr>
          <p:spPr bwMode="auto">
            <a:xfrm>
              <a:off x="3760" y="1763"/>
              <a:ext cx="24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a:solidFill>
                    <a:prstClr val="black"/>
                  </a:solidFill>
                </a:rPr>
                <a:t>+</a:t>
              </a:r>
            </a:p>
          </p:txBody>
        </p:sp>
        <p:sp>
          <p:nvSpPr>
            <p:cNvPr id="91150" name="Rectangle 26">
              <a:extLst>
                <a:ext uri="{FF2B5EF4-FFF2-40B4-BE49-F238E27FC236}">
                  <a16:creationId xmlns:a16="http://schemas.microsoft.com/office/drawing/2014/main" id="{7ED054EF-7A8B-5F4F-A868-E3CE2808284F}"/>
                </a:ext>
              </a:extLst>
            </p:cNvPr>
            <p:cNvSpPr>
              <a:spLocks noChangeArrowheads="1"/>
            </p:cNvSpPr>
            <p:nvPr/>
          </p:nvSpPr>
          <p:spPr bwMode="auto">
            <a:xfrm>
              <a:off x="3840" y="1680"/>
              <a:ext cx="1008"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fontAlgn="base">
                <a:spcBef>
                  <a:spcPct val="0"/>
                </a:spcBef>
                <a:spcAft>
                  <a:spcPct val="0"/>
                </a:spcAft>
              </a:pPr>
              <a:r>
                <a:rPr lang="en-US" altLang="en-US" sz="2800">
                  <a:solidFill>
                    <a:prstClr val="black"/>
                  </a:solidFill>
                </a:rPr>
                <a:t>Prob. Failure</a:t>
              </a:r>
              <a:endParaRPr lang="en-US" altLang="en-US" sz="2800" i="1" baseline="-25000">
                <a:solidFill>
                  <a:prstClr val="black"/>
                </a:solidFill>
              </a:endParaRPr>
            </a:p>
          </p:txBody>
        </p:sp>
        <p:sp>
          <p:nvSpPr>
            <p:cNvPr id="91151" name="Rectangle 27">
              <a:extLst>
                <a:ext uri="{FF2B5EF4-FFF2-40B4-BE49-F238E27FC236}">
                  <a16:creationId xmlns:a16="http://schemas.microsoft.com/office/drawing/2014/main" id="{FF51D917-EC4C-B49D-D01F-46F34FE7F758}"/>
                </a:ext>
              </a:extLst>
            </p:cNvPr>
            <p:cNvSpPr>
              <a:spLocks noChangeArrowheads="1"/>
            </p:cNvSpPr>
            <p:nvPr/>
          </p:nvSpPr>
          <p:spPr bwMode="auto">
            <a:xfrm>
              <a:off x="4608" y="1763"/>
              <a:ext cx="34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r>
                <a:rPr lang="en-US" altLang="en-US" sz="2800">
                  <a:solidFill>
                    <a:prstClr val="black"/>
                  </a:solidFill>
                </a:rPr>
                <a:t>×</a:t>
              </a:r>
            </a:p>
          </p:txBody>
        </p:sp>
        <p:sp>
          <p:nvSpPr>
            <p:cNvPr id="91152" name="Rectangle 28">
              <a:extLst>
                <a:ext uri="{FF2B5EF4-FFF2-40B4-BE49-F238E27FC236}">
                  <a16:creationId xmlns:a16="http://schemas.microsoft.com/office/drawing/2014/main" id="{F58945C3-01C1-B685-9A10-A5156037E20C}"/>
                </a:ext>
              </a:extLst>
            </p:cNvPr>
            <p:cNvSpPr>
              <a:spLocks noChangeArrowheads="1"/>
            </p:cNvSpPr>
            <p:nvPr/>
          </p:nvSpPr>
          <p:spPr bwMode="auto">
            <a:xfrm>
              <a:off x="4560" y="1680"/>
              <a:ext cx="1200"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fontAlgn="base">
                <a:spcBef>
                  <a:spcPct val="0"/>
                </a:spcBef>
                <a:spcAft>
                  <a:spcPct val="0"/>
                </a:spcAft>
              </a:pPr>
              <a:r>
                <a:rPr lang="en-US" altLang="en-US" sz="2800">
                  <a:solidFill>
                    <a:prstClr val="black"/>
                  </a:solidFill>
                </a:rPr>
                <a:t>Failure Payoff</a:t>
              </a:r>
            </a:p>
          </p:txBody>
        </p:sp>
        <p:sp>
          <p:nvSpPr>
            <p:cNvPr id="91153" name="Rectangle 30">
              <a:extLst>
                <a:ext uri="{FF2B5EF4-FFF2-40B4-BE49-F238E27FC236}">
                  <a16:creationId xmlns:a16="http://schemas.microsoft.com/office/drawing/2014/main" id="{669DB54E-6B3C-80D9-71A3-A62293F7AC58}"/>
                </a:ext>
              </a:extLst>
            </p:cNvPr>
            <p:cNvSpPr>
              <a:spLocks noChangeArrowheads="1"/>
            </p:cNvSpPr>
            <p:nvPr/>
          </p:nvSpPr>
          <p:spPr bwMode="auto">
            <a:xfrm>
              <a:off x="5424" y="1877"/>
              <a:ext cx="1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0"/>
                </a:spcBef>
                <a:spcAft>
                  <a:spcPct val="0"/>
                </a:spcAft>
              </a:pPr>
              <a:endParaRPr lang="en-US" altLang="en-US" sz="2800">
                <a:solidFill>
                  <a:srgbClr val="DEF5FA"/>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1000"/>
                                        <p:tgtEl>
                                          <p:spTgt spid="2"/>
                                        </p:tgtEl>
                                      </p:cBhvr>
                                    </p:animEffect>
                                    <p:anim calcmode="lin" valueType="num">
                                      <p:cBhvr>
                                        <p:cTn id="22" dur="1000" fill="hold"/>
                                        <p:tgtEl>
                                          <p:spTgt spid="2"/>
                                        </p:tgtEl>
                                        <p:attrNameLst>
                                          <p:attrName>ppt_x</p:attrName>
                                        </p:attrNameLst>
                                      </p:cBhvr>
                                      <p:tavLst>
                                        <p:tav tm="0">
                                          <p:val>
                                            <p:strVal val="#ppt_x"/>
                                          </p:val>
                                        </p:tav>
                                        <p:tav tm="100000">
                                          <p:val>
                                            <p:strVal val="#ppt_x"/>
                                          </p:val>
                                        </p:tav>
                                      </p:tavLst>
                                    </p:anim>
                                    <p:anim calcmode="lin" valueType="num">
                                      <p:cBhvr>
                                        <p:cTn id="2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6771" name="Rectangle 3">
            <a:extLst>
              <a:ext uri="{FF2B5EF4-FFF2-40B4-BE49-F238E27FC236}">
                <a16:creationId xmlns:a16="http://schemas.microsoft.com/office/drawing/2014/main" id="{88ECF72E-5617-4DF2-84B7-6D8EB5D7DF94}"/>
              </a:ext>
            </a:extLst>
          </p:cNvPr>
          <p:cNvSpPr>
            <a:spLocks noGrp="1"/>
          </p:cNvSpPr>
          <p:nvPr>
            <p:ph idx="1"/>
          </p:nvPr>
        </p:nvSpPr>
        <p:spPr>
          <a:xfrm>
            <a:off x="1981200" y="1371600"/>
            <a:ext cx="8229600" cy="4173538"/>
          </a:xfrm>
        </p:spPr>
        <p:txBody>
          <a:bodyPr/>
          <a:lstStyle/>
          <a:p>
            <a:pPr eaLnBrk="1" hangingPunct="1">
              <a:lnSpc>
                <a:spcPct val="90000"/>
              </a:lnSpc>
            </a:pPr>
            <a:r>
              <a:rPr lang="en-US" altLang="en-US" sz="2800">
                <a:latin typeface="Times New Roman" panose="02020603050405020304" pitchFamily="18" charset="0"/>
                <a:ea typeface="ＭＳ Ｐゴシック" panose="020B0600070205080204" pitchFamily="34" charset="-128"/>
              </a:rPr>
              <a:t>Recall that we can calculate the market value of a project as the sum of the NPV of the project without options and the value of the managerial options implicit in the project.</a:t>
            </a:r>
          </a:p>
          <a:p>
            <a:pPr eaLnBrk="1" hangingPunct="1">
              <a:lnSpc>
                <a:spcPct val="90000"/>
              </a:lnSpc>
            </a:pPr>
            <a:endParaRPr lang="en-US" altLang="en-US" sz="2800">
              <a:latin typeface="Times New Roman" panose="02020603050405020304" pitchFamily="18" charset="0"/>
              <a:ea typeface="ＭＳ Ｐゴシック" panose="020B0600070205080204" pitchFamily="34" charset="-128"/>
            </a:endParaRPr>
          </a:p>
          <a:p>
            <a:pPr algn="ctr" eaLnBrk="1" hangingPunct="1">
              <a:lnSpc>
                <a:spcPct val="90000"/>
              </a:lnSpc>
              <a:buFont typeface="Wingdings" panose="05000000000000000000" pitchFamily="2" charset="2"/>
              <a:buNone/>
            </a:pPr>
            <a:r>
              <a:rPr lang="en-US" altLang="en-US" sz="2800" i="1">
                <a:latin typeface="Times New Roman" panose="02020603050405020304" pitchFamily="18" charset="0"/>
                <a:ea typeface="ＭＳ Ｐゴシック" panose="020B0600070205080204" pitchFamily="34" charset="-128"/>
              </a:rPr>
              <a:t>M</a:t>
            </a:r>
            <a:r>
              <a:rPr lang="en-US" altLang="en-US" sz="2800">
                <a:latin typeface="Times New Roman" panose="02020603050405020304" pitchFamily="18" charset="0"/>
                <a:ea typeface="ＭＳ Ｐゴシック" panose="020B0600070205080204" pitchFamily="34" charset="-128"/>
              </a:rPr>
              <a:t> = </a:t>
            </a:r>
            <a:r>
              <a:rPr lang="en-US" altLang="en-US" sz="2800" i="1">
                <a:latin typeface="Times New Roman" panose="02020603050405020304" pitchFamily="18" charset="0"/>
                <a:ea typeface="ＭＳ Ｐゴシック" panose="020B0600070205080204" pitchFamily="34" charset="-128"/>
              </a:rPr>
              <a:t>NPV</a:t>
            </a:r>
            <a:r>
              <a:rPr lang="en-US" altLang="en-US" sz="2800">
                <a:latin typeface="Times New Roman" panose="02020603050405020304" pitchFamily="18" charset="0"/>
                <a:ea typeface="ＭＳ Ｐゴシック" panose="020B0600070205080204" pitchFamily="34" charset="-128"/>
              </a:rPr>
              <a:t> + </a:t>
            </a:r>
            <a:r>
              <a:rPr lang="en-US" altLang="en-US" sz="2800" i="1">
                <a:latin typeface="Times New Roman" panose="02020603050405020304" pitchFamily="18" charset="0"/>
                <a:ea typeface="ＭＳ Ｐゴシック" panose="020B0600070205080204" pitchFamily="34" charset="-128"/>
              </a:rPr>
              <a:t>Opt</a:t>
            </a:r>
          </a:p>
          <a:p>
            <a:pPr algn="ctr" eaLnBrk="1" hangingPunct="1">
              <a:lnSpc>
                <a:spcPct val="90000"/>
              </a:lnSpc>
              <a:buFont typeface="Wingdings" panose="05000000000000000000" pitchFamily="2" charset="2"/>
              <a:buNone/>
            </a:pPr>
            <a:r>
              <a:rPr lang="en-US" altLang="en-US" sz="2800">
                <a:latin typeface="Times New Roman" panose="02020603050405020304" pitchFamily="18" charset="0"/>
                <a:ea typeface="ＭＳ Ｐゴシック" panose="020B0600070205080204" pitchFamily="34" charset="-128"/>
              </a:rPr>
              <a:t>$75.00 = </a:t>
            </a:r>
            <a:r>
              <a:rPr lang="en-US" altLang="en-US" sz="2800">
                <a:latin typeface="Times New Roman" panose="02020603050405020304" pitchFamily="18" charset="0"/>
                <a:ea typeface="ＭＳ Ｐゴシック" panose="020B0600070205080204" pitchFamily="34" charset="-128"/>
                <a:cs typeface="Times New Roman" panose="02020603050405020304" pitchFamily="18" charset="0"/>
              </a:rPr>
              <a:t>–</a:t>
            </a:r>
            <a:r>
              <a:rPr lang="en-US" altLang="en-US" sz="2800">
                <a:latin typeface="Times New Roman" panose="02020603050405020304" pitchFamily="18" charset="0"/>
                <a:ea typeface="ＭＳ Ｐゴシック" panose="020B0600070205080204" pitchFamily="34" charset="-128"/>
              </a:rPr>
              <a:t>$38.64  + </a:t>
            </a:r>
            <a:r>
              <a:rPr lang="en-US" altLang="en-US" sz="2800" i="1">
                <a:latin typeface="Times New Roman" panose="02020603050405020304" pitchFamily="18" charset="0"/>
                <a:ea typeface="ＭＳ Ｐゴシック" panose="020B0600070205080204" pitchFamily="34" charset="-128"/>
              </a:rPr>
              <a:t>Opt</a:t>
            </a:r>
          </a:p>
          <a:p>
            <a:pPr algn="ctr" eaLnBrk="1" hangingPunct="1">
              <a:lnSpc>
                <a:spcPct val="90000"/>
              </a:lnSpc>
              <a:buFont typeface="Wingdings" panose="05000000000000000000" pitchFamily="2" charset="2"/>
              <a:buNone/>
            </a:pPr>
            <a:r>
              <a:rPr lang="en-US" altLang="en-US" sz="2800">
                <a:latin typeface="Times New Roman" panose="02020603050405020304" pitchFamily="18" charset="0"/>
                <a:ea typeface="ＭＳ Ｐゴシック" panose="020B0600070205080204" pitchFamily="34" charset="-128"/>
              </a:rPr>
              <a:t>$75.00  + $38.64  = </a:t>
            </a:r>
            <a:r>
              <a:rPr lang="en-US" altLang="en-US" sz="2800" i="1">
                <a:latin typeface="Times New Roman" panose="02020603050405020304" pitchFamily="18" charset="0"/>
                <a:ea typeface="ＭＳ Ｐゴシック" panose="020B0600070205080204" pitchFamily="34" charset="-128"/>
              </a:rPr>
              <a:t>Opt</a:t>
            </a:r>
          </a:p>
          <a:p>
            <a:pPr algn="ctr" eaLnBrk="1" hangingPunct="1">
              <a:lnSpc>
                <a:spcPct val="90000"/>
              </a:lnSpc>
              <a:spcBef>
                <a:spcPct val="0"/>
              </a:spcBef>
              <a:buClrTx/>
              <a:buFontTx/>
              <a:buNone/>
            </a:pPr>
            <a:endParaRPr lang="en-US" altLang="en-US" sz="2800" i="1">
              <a:latin typeface="Times New Roman" panose="02020603050405020304" pitchFamily="18" charset="0"/>
              <a:ea typeface="ＭＳ Ｐゴシック" panose="020B0600070205080204" pitchFamily="34" charset="-128"/>
            </a:endParaRPr>
          </a:p>
          <a:p>
            <a:pPr algn="ctr" eaLnBrk="1" hangingPunct="1">
              <a:lnSpc>
                <a:spcPct val="90000"/>
              </a:lnSpc>
              <a:spcBef>
                <a:spcPct val="0"/>
              </a:spcBef>
              <a:buClrTx/>
              <a:buFontTx/>
              <a:buNone/>
            </a:pPr>
            <a:r>
              <a:rPr lang="en-US" altLang="en-US" sz="2800" i="1">
                <a:latin typeface="Times New Roman" panose="02020603050405020304" pitchFamily="18" charset="0"/>
                <a:ea typeface="ＭＳ Ｐゴシック" panose="020B0600070205080204" pitchFamily="34" charset="-128"/>
              </a:rPr>
              <a:t>Opt </a:t>
            </a:r>
            <a:r>
              <a:rPr lang="en-US" altLang="en-US" sz="2800">
                <a:latin typeface="Times New Roman" panose="02020603050405020304" pitchFamily="18" charset="0"/>
                <a:ea typeface="ＭＳ Ｐゴシック" panose="020B0600070205080204" pitchFamily="34" charset="-128"/>
              </a:rPr>
              <a:t>= $113.64</a:t>
            </a:r>
          </a:p>
        </p:txBody>
      </p:sp>
      <p:sp>
        <p:nvSpPr>
          <p:cNvPr id="58370" name="Rectangle 2">
            <a:extLst>
              <a:ext uri="{FF2B5EF4-FFF2-40B4-BE49-F238E27FC236}">
                <a16:creationId xmlns:a16="http://schemas.microsoft.com/office/drawing/2014/main" id="{ECAA324D-7F28-331A-C1C2-2D7AF855B4E4}"/>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Valuing the Option to Abandon</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16771">
                                            <p:txEl>
                                              <p:pRg st="0" end="0"/>
                                            </p:txEl>
                                          </p:spTgt>
                                        </p:tgtEl>
                                        <p:attrNameLst>
                                          <p:attrName>style.visibility</p:attrName>
                                        </p:attrNameLst>
                                      </p:cBhvr>
                                      <p:to>
                                        <p:strVal val="visible"/>
                                      </p:to>
                                    </p:set>
                                    <p:animEffect transition="in" filter="fade">
                                      <p:cBhvr>
                                        <p:cTn id="7" dur="1000"/>
                                        <p:tgtEl>
                                          <p:spTgt spid="416771">
                                            <p:txEl>
                                              <p:pRg st="0" end="0"/>
                                            </p:txEl>
                                          </p:spTgt>
                                        </p:tgtEl>
                                      </p:cBhvr>
                                    </p:animEffect>
                                    <p:anim calcmode="lin" valueType="num">
                                      <p:cBhvr>
                                        <p:cTn id="8" dur="1000" fill="hold"/>
                                        <p:tgtEl>
                                          <p:spTgt spid="41677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1677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16771">
                                            <p:txEl>
                                              <p:pRg st="2" end="2"/>
                                            </p:txEl>
                                          </p:spTgt>
                                        </p:tgtEl>
                                        <p:attrNameLst>
                                          <p:attrName>style.visibility</p:attrName>
                                        </p:attrNameLst>
                                      </p:cBhvr>
                                      <p:to>
                                        <p:strVal val="visible"/>
                                      </p:to>
                                    </p:set>
                                    <p:animEffect transition="in" filter="fade">
                                      <p:cBhvr>
                                        <p:cTn id="14" dur="1000"/>
                                        <p:tgtEl>
                                          <p:spTgt spid="416771">
                                            <p:txEl>
                                              <p:pRg st="2" end="2"/>
                                            </p:txEl>
                                          </p:spTgt>
                                        </p:tgtEl>
                                      </p:cBhvr>
                                    </p:animEffect>
                                    <p:anim calcmode="lin" valueType="num">
                                      <p:cBhvr>
                                        <p:cTn id="15" dur="1000" fill="hold"/>
                                        <p:tgtEl>
                                          <p:spTgt spid="416771">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41677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16771">
                                            <p:txEl>
                                              <p:pRg st="3" end="3"/>
                                            </p:txEl>
                                          </p:spTgt>
                                        </p:tgtEl>
                                        <p:attrNameLst>
                                          <p:attrName>style.visibility</p:attrName>
                                        </p:attrNameLst>
                                      </p:cBhvr>
                                      <p:to>
                                        <p:strVal val="visible"/>
                                      </p:to>
                                    </p:set>
                                    <p:animEffect transition="in" filter="fade">
                                      <p:cBhvr>
                                        <p:cTn id="21" dur="1000"/>
                                        <p:tgtEl>
                                          <p:spTgt spid="416771">
                                            <p:txEl>
                                              <p:pRg st="3" end="3"/>
                                            </p:txEl>
                                          </p:spTgt>
                                        </p:tgtEl>
                                      </p:cBhvr>
                                    </p:animEffect>
                                    <p:anim calcmode="lin" valueType="num">
                                      <p:cBhvr>
                                        <p:cTn id="22" dur="1000" fill="hold"/>
                                        <p:tgtEl>
                                          <p:spTgt spid="416771">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41677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16771">
                                            <p:txEl>
                                              <p:pRg st="4" end="4"/>
                                            </p:txEl>
                                          </p:spTgt>
                                        </p:tgtEl>
                                        <p:attrNameLst>
                                          <p:attrName>style.visibility</p:attrName>
                                        </p:attrNameLst>
                                      </p:cBhvr>
                                      <p:to>
                                        <p:strVal val="visible"/>
                                      </p:to>
                                    </p:set>
                                    <p:animEffect transition="in" filter="fade">
                                      <p:cBhvr>
                                        <p:cTn id="28" dur="1000"/>
                                        <p:tgtEl>
                                          <p:spTgt spid="416771">
                                            <p:txEl>
                                              <p:pRg st="4" end="4"/>
                                            </p:txEl>
                                          </p:spTgt>
                                        </p:tgtEl>
                                      </p:cBhvr>
                                    </p:animEffect>
                                    <p:anim calcmode="lin" valueType="num">
                                      <p:cBhvr>
                                        <p:cTn id="29" dur="1000" fill="hold"/>
                                        <p:tgtEl>
                                          <p:spTgt spid="416771">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41677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16771">
                                            <p:txEl>
                                              <p:pRg st="6" end="6"/>
                                            </p:txEl>
                                          </p:spTgt>
                                        </p:tgtEl>
                                        <p:attrNameLst>
                                          <p:attrName>style.visibility</p:attrName>
                                        </p:attrNameLst>
                                      </p:cBhvr>
                                      <p:to>
                                        <p:strVal val="visible"/>
                                      </p:to>
                                    </p:set>
                                    <p:animEffect transition="in" filter="fade">
                                      <p:cBhvr>
                                        <p:cTn id="35" dur="1000"/>
                                        <p:tgtEl>
                                          <p:spTgt spid="416771">
                                            <p:txEl>
                                              <p:pRg st="6" end="6"/>
                                            </p:txEl>
                                          </p:spTgt>
                                        </p:tgtEl>
                                      </p:cBhvr>
                                    </p:animEffect>
                                    <p:anim calcmode="lin" valueType="num">
                                      <p:cBhvr>
                                        <p:cTn id="36" dur="1000" fill="hold"/>
                                        <p:tgtEl>
                                          <p:spTgt spid="416771">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416771">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6771" grpId="0" build="p"/>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9" name="Rectangle 3">
            <a:extLst>
              <a:ext uri="{FF2B5EF4-FFF2-40B4-BE49-F238E27FC236}">
                <a16:creationId xmlns:a16="http://schemas.microsoft.com/office/drawing/2014/main" id="{1B797C1B-819D-7C9B-5B11-E9FC725580D2}"/>
              </a:ext>
            </a:extLst>
          </p:cNvPr>
          <p:cNvSpPr>
            <a:spLocks noGrp="1"/>
          </p:cNvSpPr>
          <p:nvPr>
            <p:ph idx="1"/>
          </p:nvPr>
        </p:nvSpPr>
        <p:spPr>
          <a:xfrm>
            <a:off x="1905000" y="3657600"/>
            <a:ext cx="8229600" cy="2439988"/>
          </a:xfrm>
        </p:spPr>
        <p:txBody>
          <a:bodyPr/>
          <a:lstStyle/>
          <a:p>
            <a:pPr eaLnBrk="1" hangingPunct="1"/>
            <a:r>
              <a:rPr lang="en-US" altLang="en-US" sz="2200">
                <a:latin typeface="Times New Roman" panose="02020603050405020304" pitchFamily="18" charset="0"/>
                <a:ea typeface="ＭＳ Ｐゴシック" panose="020B0600070205080204" pitchFamily="34" charset="-128"/>
              </a:rPr>
              <a:t>Consider the above project, which can be undertaken in any of the next 4 years. The discount rate is 10 percent. The present value of the benefits at the time the project is launched remains constant at $25,000, but since costs are declining, the NPV at the time of launch steadily rises.</a:t>
            </a:r>
          </a:p>
          <a:p>
            <a:pPr eaLnBrk="1" hangingPunct="1"/>
            <a:r>
              <a:rPr lang="en-US" altLang="en-US" sz="2200">
                <a:latin typeface="Times New Roman" panose="02020603050405020304" pitchFamily="18" charset="0"/>
                <a:ea typeface="ＭＳ Ｐゴシック" panose="020B0600070205080204" pitchFamily="34" charset="-128"/>
              </a:rPr>
              <a:t>The best time to launch the project is in year 2—this schedule yields the highest NPV when judged today.</a:t>
            </a:r>
          </a:p>
        </p:txBody>
      </p:sp>
      <p:sp>
        <p:nvSpPr>
          <p:cNvPr id="60418" name="Rectangle 2">
            <a:extLst>
              <a:ext uri="{FF2B5EF4-FFF2-40B4-BE49-F238E27FC236}">
                <a16:creationId xmlns:a16="http://schemas.microsoft.com/office/drawing/2014/main" id="{9D540BAB-453A-C48B-AED6-C55DC197D2D6}"/>
              </a:ext>
            </a:extLst>
          </p:cNvPr>
          <p:cNvSpPr>
            <a:spLocks noGrp="1" noChangeArrowheads="1"/>
          </p:cNvSpPr>
          <p:nvPr>
            <p:ph type="title"/>
          </p:nvPr>
        </p:nvSpPr>
        <p:spPr>
          <a:xfrm>
            <a:off x="1981200" y="0"/>
            <a:ext cx="8229600" cy="1143000"/>
          </a:xfrm>
        </p:spPr>
        <p:txBody>
          <a:bodyPr/>
          <a:lstStyle/>
          <a:p>
            <a:pPr eaLnBrk="1" fontAlgn="auto" hangingPunct="1">
              <a:spcAft>
                <a:spcPts val="0"/>
              </a:spcAft>
              <a:defRPr/>
            </a:pPr>
            <a:r>
              <a:rPr lang="en-US" altLang="en-US" sz="3400" dirty="0">
                <a:ea typeface="+mj-ea"/>
                <a:cs typeface="+mj-cs"/>
              </a:rPr>
              <a:t>The Option to Delay: Example</a:t>
            </a:r>
          </a:p>
        </p:txBody>
      </p:sp>
      <p:graphicFrame>
        <p:nvGraphicFramePr>
          <p:cNvPr id="95236" name="Object 6">
            <a:extLst>
              <a:ext uri="{FF2B5EF4-FFF2-40B4-BE49-F238E27FC236}">
                <a16:creationId xmlns:a16="http://schemas.microsoft.com/office/drawing/2014/main" id="{694C4EC4-C34A-B6CF-71FA-E0F1BF0E7A84}"/>
              </a:ext>
            </a:extLst>
          </p:cNvPr>
          <p:cNvGraphicFramePr>
            <a:graphicFrameLocks noChangeAspect="1"/>
          </p:cNvGraphicFramePr>
          <p:nvPr/>
        </p:nvGraphicFramePr>
        <p:xfrm>
          <a:off x="2438400" y="1066800"/>
          <a:ext cx="4629150" cy="2351088"/>
        </p:xfrm>
        <a:graphic>
          <a:graphicData uri="http://schemas.openxmlformats.org/presentationml/2006/ole">
            <mc:AlternateContent xmlns:mc="http://schemas.openxmlformats.org/markup-compatibility/2006">
              <mc:Choice xmlns:v="urn:schemas-microsoft-com:vml" Requires="v">
                <p:oleObj name="Worksheet" r:id="rId3" imgW="4724400" imgH="2428951" progId="Excel.Sheet.8">
                  <p:embed/>
                </p:oleObj>
              </mc:Choice>
              <mc:Fallback>
                <p:oleObj name="Worksheet" r:id="rId3" imgW="4724400" imgH="2428951" progId="Excel.Sheet.8">
                  <p:embed/>
                  <p:pic>
                    <p:nvPicPr>
                      <p:cNvPr id="95236" name="Object 6">
                        <a:extLst>
                          <a:ext uri="{FF2B5EF4-FFF2-40B4-BE49-F238E27FC236}">
                            <a16:creationId xmlns:a16="http://schemas.microsoft.com/office/drawing/2014/main" id="{694C4EC4-C34A-B6CF-71FA-E0F1BF0E7A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1066800"/>
                        <a:ext cx="4629150" cy="2351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3463" name="Object 7">
            <a:extLst>
              <a:ext uri="{FF2B5EF4-FFF2-40B4-BE49-F238E27FC236}">
                <a16:creationId xmlns:a16="http://schemas.microsoft.com/office/drawing/2014/main" id="{9EF94017-A9AD-BC52-FEA6-5997B6E8DE06}"/>
              </a:ext>
            </a:extLst>
          </p:cNvPr>
          <p:cNvGraphicFramePr>
            <a:graphicFrameLocks noChangeAspect="1"/>
          </p:cNvGraphicFramePr>
          <p:nvPr/>
        </p:nvGraphicFramePr>
        <p:xfrm>
          <a:off x="8140700" y="1692276"/>
          <a:ext cx="2082800" cy="784225"/>
        </p:xfrm>
        <a:graphic>
          <a:graphicData uri="http://schemas.openxmlformats.org/presentationml/2006/ole">
            <mc:AlternateContent xmlns:mc="http://schemas.openxmlformats.org/markup-compatibility/2006">
              <mc:Choice xmlns:v="urn:schemas-microsoft-com:vml" Requires="v">
                <p:oleObj name="Equation" r:id="rId5" imgW="997061" imgH="336557" progId="Equation.3">
                  <p:embed/>
                </p:oleObj>
              </mc:Choice>
              <mc:Fallback>
                <p:oleObj name="Equation" r:id="rId5" imgW="997061" imgH="336557" progId="Equation.3">
                  <p:embed/>
                  <p:pic>
                    <p:nvPicPr>
                      <p:cNvPr id="403463" name="Object 7">
                        <a:extLst>
                          <a:ext uri="{FF2B5EF4-FFF2-40B4-BE49-F238E27FC236}">
                            <a16:creationId xmlns:a16="http://schemas.microsoft.com/office/drawing/2014/main" id="{9EF94017-A9AD-BC52-FEA6-5997B6E8DE0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40700" y="1692276"/>
                        <a:ext cx="2082800" cy="784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3464" name="Object 8">
            <a:extLst>
              <a:ext uri="{FF2B5EF4-FFF2-40B4-BE49-F238E27FC236}">
                <a16:creationId xmlns:a16="http://schemas.microsoft.com/office/drawing/2014/main" id="{3D7A7DB0-E942-AB12-B99C-1C52145A354E}"/>
              </a:ext>
            </a:extLst>
          </p:cNvPr>
          <p:cNvGraphicFramePr>
            <a:graphicFrameLocks noChangeAspect="1"/>
          </p:cNvGraphicFramePr>
          <p:nvPr/>
        </p:nvGraphicFramePr>
        <p:xfrm>
          <a:off x="2057400" y="990601"/>
          <a:ext cx="5772150" cy="2428875"/>
        </p:xfrm>
        <a:graphic>
          <a:graphicData uri="http://schemas.openxmlformats.org/presentationml/2006/ole">
            <mc:AlternateContent xmlns:mc="http://schemas.openxmlformats.org/markup-compatibility/2006">
              <mc:Choice xmlns:v="urn:schemas-microsoft-com:vml" Requires="v">
                <p:oleObj name="Worksheet" r:id="rId7" imgW="5914949" imgH="2428951" progId="Excel.Sheet.8">
                  <p:embed/>
                </p:oleObj>
              </mc:Choice>
              <mc:Fallback>
                <p:oleObj name="Worksheet" r:id="rId7" imgW="5914949" imgH="2428951" progId="Excel.Sheet.8">
                  <p:embed/>
                  <p:pic>
                    <p:nvPicPr>
                      <p:cNvPr id="403464" name="Object 8">
                        <a:extLst>
                          <a:ext uri="{FF2B5EF4-FFF2-40B4-BE49-F238E27FC236}">
                            <a16:creationId xmlns:a16="http://schemas.microsoft.com/office/drawing/2014/main" id="{3D7A7DB0-E942-AB12-B99C-1C52145A354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7400" y="990601"/>
                        <a:ext cx="5772150" cy="242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403459">
                                            <p:txEl>
                                              <p:pRg st="0" end="0"/>
                                            </p:txEl>
                                          </p:spTgt>
                                        </p:tgtEl>
                                        <p:attrNameLst>
                                          <p:attrName>style.visibility</p:attrName>
                                        </p:attrNameLst>
                                      </p:cBhvr>
                                      <p:to>
                                        <p:strVal val="visible"/>
                                      </p:to>
                                    </p:set>
                                    <p:animEffect transition="in" filter="fade">
                                      <p:cBhvr>
                                        <p:cTn id="7" dur="1000"/>
                                        <p:tgtEl>
                                          <p:spTgt spid="403459">
                                            <p:txEl>
                                              <p:pRg st="0" end="0"/>
                                            </p:txEl>
                                          </p:spTgt>
                                        </p:tgtEl>
                                      </p:cBhvr>
                                    </p:animEffect>
                                    <p:anim calcmode="lin" valueType="num">
                                      <p:cBhvr>
                                        <p:cTn id="8" dur="1000" fill="hold"/>
                                        <p:tgtEl>
                                          <p:spTgt spid="40345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0345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0"/>
                                          </p:stCondLst>
                                        </p:cTn>
                                        <p:tgtEl>
                                          <p:spTgt spid="403464"/>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42" presetClass="entr" presetSubtype="0" fill="hold" nodeType="clickEffect">
                                  <p:stCondLst>
                                    <p:cond delay="0"/>
                                  </p:stCondLst>
                                  <p:childTnLst>
                                    <p:set>
                                      <p:cBhvr>
                                        <p:cTn id="17" dur="1" fill="hold">
                                          <p:stCondLst>
                                            <p:cond delay="0"/>
                                          </p:stCondLst>
                                        </p:cTn>
                                        <p:tgtEl>
                                          <p:spTgt spid="403459">
                                            <p:txEl>
                                              <p:pRg st="1" end="1"/>
                                            </p:txEl>
                                          </p:spTgt>
                                        </p:tgtEl>
                                        <p:attrNameLst>
                                          <p:attrName>style.visibility</p:attrName>
                                        </p:attrNameLst>
                                      </p:cBhvr>
                                      <p:to>
                                        <p:strVal val="visible"/>
                                      </p:to>
                                    </p:set>
                                    <p:animEffect transition="in" filter="fade">
                                      <p:cBhvr>
                                        <p:cTn id="18" dur="1000"/>
                                        <p:tgtEl>
                                          <p:spTgt spid="403459">
                                            <p:txEl>
                                              <p:pRg st="1" end="1"/>
                                            </p:txEl>
                                          </p:spTgt>
                                        </p:tgtEl>
                                      </p:cBhvr>
                                    </p:animEffect>
                                    <p:anim calcmode="lin" valueType="num">
                                      <p:cBhvr>
                                        <p:cTn id="19" dur="1000" fill="hold"/>
                                        <p:tgtEl>
                                          <p:spTgt spid="403459">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40345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42" presetClass="entr" presetSubtype="0" fill="hold" nodeType="clickEffect">
                                  <p:stCondLst>
                                    <p:cond delay="0"/>
                                  </p:stCondLst>
                                  <p:childTnLst>
                                    <p:set>
                                      <p:cBhvr>
                                        <p:cTn id="24" dur="1" fill="hold">
                                          <p:stCondLst>
                                            <p:cond delay="0"/>
                                          </p:stCondLst>
                                        </p:cTn>
                                        <p:tgtEl>
                                          <p:spTgt spid="403463"/>
                                        </p:tgtEl>
                                        <p:attrNameLst>
                                          <p:attrName>style.visibility</p:attrName>
                                        </p:attrNameLst>
                                      </p:cBhvr>
                                      <p:to>
                                        <p:strVal val="visible"/>
                                      </p:to>
                                    </p:set>
                                    <p:animEffect transition="in" filter="fade">
                                      <p:cBhvr>
                                        <p:cTn id="25" dur="1000"/>
                                        <p:tgtEl>
                                          <p:spTgt spid="403463"/>
                                        </p:tgtEl>
                                      </p:cBhvr>
                                    </p:animEffect>
                                    <p:anim calcmode="lin" valueType="num">
                                      <p:cBhvr>
                                        <p:cTn id="26" dur="1000" fill="hold"/>
                                        <p:tgtEl>
                                          <p:spTgt spid="403463"/>
                                        </p:tgtEl>
                                        <p:attrNameLst>
                                          <p:attrName>ppt_x</p:attrName>
                                        </p:attrNameLst>
                                      </p:cBhvr>
                                      <p:tavLst>
                                        <p:tav tm="0">
                                          <p:val>
                                            <p:strVal val="#ppt_x"/>
                                          </p:val>
                                        </p:tav>
                                        <p:tav tm="100000">
                                          <p:val>
                                            <p:strVal val="#ppt_x"/>
                                          </p:val>
                                        </p:tav>
                                      </p:tavLst>
                                    </p:anim>
                                    <p:anim calcmode="lin" valueType="num">
                                      <p:cBhvr>
                                        <p:cTn id="27" dur="1000" fill="hold"/>
                                        <p:tgtEl>
                                          <p:spTgt spid="40346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7123" name="Rectangle 3">
            <a:extLst>
              <a:ext uri="{FF2B5EF4-FFF2-40B4-BE49-F238E27FC236}">
                <a16:creationId xmlns:a16="http://schemas.microsoft.com/office/drawing/2014/main" id="{9DFD317C-A41B-1E0A-5E74-60ABBB8D0A7C}"/>
              </a:ext>
            </a:extLst>
          </p:cNvPr>
          <p:cNvSpPr>
            <a:spLocks noGrp="1"/>
          </p:cNvSpPr>
          <p:nvPr>
            <p:ph idx="1"/>
          </p:nvPr>
        </p:nvSpPr>
        <p:spPr>
          <a:xfrm>
            <a:off x="1981200" y="1481138"/>
            <a:ext cx="8229600" cy="4081462"/>
          </a:xfrm>
        </p:spPr>
        <p:txBody>
          <a:bodyPr/>
          <a:lstStyle/>
          <a:p>
            <a:pPr eaLnBrk="1" hangingPunct="1"/>
            <a:r>
              <a:rPr lang="en-US" altLang="en-US" sz="2800">
                <a:latin typeface="Times New Roman" panose="02020603050405020304" pitchFamily="18" charset="0"/>
                <a:ea typeface="ＭＳ Ｐゴシック" panose="020B0600070205080204" pitchFamily="34" charset="-128"/>
              </a:rPr>
              <a:t>Allow us to graphically represent the alternatives available to us in each period and the likely consequences of our actions</a:t>
            </a:r>
          </a:p>
          <a:p>
            <a:pPr eaLnBrk="1" hangingPunct="1"/>
            <a:r>
              <a:rPr lang="en-US" altLang="en-US" sz="2800">
                <a:latin typeface="Times New Roman" panose="02020603050405020304" pitchFamily="18" charset="0"/>
                <a:ea typeface="ＭＳ Ｐゴシック" panose="020B0600070205080204" pitchFamily="34" charset="-128"/>
              </a:rPr>
              <a:t>This graphical representation helps to identify the best course of action.</a:t>
            </a:r>
          </a:p>
        </p:txBody>
      </p:sp>
      <p:sp>
        <p:nvSpPr>
          <p:cNvPr id="62466" name="Rectangle 2">
            <a:extLst>
              <a:ext uri="{FF2B5EF4-FFF2-40B4-BE49-F238E27FC236}">
                <a16:creationId xmlns:a16="http://schemas.microsoft.com/office/drawing/2014/main" id="{F63D99A7-DAAD-3C5F-D3E8-4F7B24DC8476}"/>
              </a:ext>
            </a:extLst>
          </p:cNvPr>
          <p:cNvSpPr>
            <a:spLocks noGrp="1" noChangeArrowheads="1"/>
          </p:cNvSpPr>
          <p:nvPr>
            <p:ph type="title"/>
          </p:nvPr>
        </p:nvSpPr>
        <p:spPr/>
        <p:txBody>
          <a:bodyPr/>
          <a:lstStyle/>
          <a:p>
            <a:pPr algn="just" eaLnBrk="1" fontAlgn="auto" hangingPunct="1">
              <a:spcAft>
                <a:spcPts val="600"/>
              </a:spcAft>
              <a:defRPr/>
            </a:pPr>
            <a:r>
              <a:rPr lang="en-US" altLang="en-US" sz="3400" dirty="0">
                <a:ea typeface="+mj-ea"/>
                <a:cs typeface="+mj-cs"/>
              </a:rPr>
              <a:t>Decision Trees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17123">
                                            <p:txEl>
                                              <p:pRg st="0" end="0"/>
                                            </p:txEl>
                                          </p:spTgt>
                                        </p:tgtEl>
                                        <p:attrNameLst>
                                          <p:attrName>style.visibility</p:attrName>
                                        </p:attrNameLst>
                                      </p:cBhvr>
                                      <p:to>
                                        <p:strVal val="visible"/>
                                      </p:to>
                                    </p:set>
                                    <p:animEffect transition="in" filter="fade">
                                      <p:cBhvr>
                                        <p:cTn id="7" dur="1000"/>
                                        <p:tgtEl>
                                          <p:spTgt spid="517123">
                                            <p:txEl>
                                              <p:pRg st="0" end="0"/>
                                            </p:txEl>
                                          </p:spTgt>
                                        </p:tgtEl>
                                      </p:cBhvr>
                                    </p:animEffect>
                                    <p:anim calcmode="lin" valueType="num">
                                      <p:cBhvr>
                                        <p:cTn id="8" dur="1000" fill="hold"/>
                                        <p:tgtEl>
                                          <p:spTgt spid="51712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1712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17123">
                                            <p:txEl>
                                              <p:pRg st="1" end="1"/>
                                            </p:txEl>
                                          </p:spTgt>
                                        </p:tgtEl>
                                        <p:attrNameLst>
                                          <p:attrName>style.visibility</p:attrName>
                                        </p:attrNameLst>
                                      </p:cBhvr>
                                      <p:to>
                                        <p:strVal val="visible"/>
                                      </p:to>
                                    </p:set>
                                    <p:animEffect transition="in" filter="fade">
                                      <p:cBhvr>
                                        <p:cTn id="14" dur="1000"/>
                                        <p:tgtEl>
                                          <p:spTgt spid="517123">
                                            <p:txEl>
                                              <p:pRg st="1" end="1"/>
                                            </p:txEl>
                                          </p:spTgt>
                                        </p:tgtEl>
                                      </p:cBhvr>
                                    </p:animEffect>
                                    <p:anim calcmode="lin" valueType="num">
                                      <p:cBhvr>
                                        <p:cTn id="15" dur="1000" fill="hold"/>
                                        <p:tgtEl>
                                          <p:spTgt spid="51712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51712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123" grpId="0" build="p" autoUpdateAnimBg="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7F7A99E9-03A2-CB6D-0063-B3E89D569DE7}"/>
              </a:ext>
            </a:extLst>
          </p:cNvPr>
          <p:cNvSpPr>
            <a:spLocks noGrp="1" noChangeArrowheads="1"/>
          </p:cNvSpPr>
          <p:nvPr>
            <p:ph type="title"/>
          </p:nvPr>
        </p:nvSpPr>
        <p:spPr/>
        <p:txBody>
          <a:bodyPr/>
          <a:lstStyle/>
          <a:p>
            <a:pPr eaLnBrk="1" fontAlgn="auto" hangingPunct="1">
              <a:spcAft>
                <a:spcPts val="0"/>
              </a:spcAft>
              <a:defRPr/>
            </a:pPr>
            <a:r>
              <a:rPr lang="en-US" altLang="en-US" sz="3400" dirty="0">
                <a:ea typeface="+mj-ea"/>
                <a:cs typeface="+mj-cs"/>
              </a:rPr>
              <a:t>Example of a Decision Tree</a:t>
            </a:r>
          </a:p>
        </p:txBody>
      </p:sp>
      <p:sp>
        <p:nvSpPr>
          <p:cNvPr id="386051" name="Line 3">
            <a:extLst>
              <a:ext uri="{FF2B5EF4-FFF2-40B4-BE49-F238E27FC236}">
                <a16:creationId xmlns:a16="http://schemas.microsoft.com/office/drawing/2014/main" id="{EF6A8FA2-B30C-74FD-88E6-26145A97C0EA}"/>
              </a:ext>
            </a:extLst>
          </p:cNvPr>
          <p:cNvSpPr>
            <a:spLocks noChangeShapeType="1"/>
          </p:cNvSpPr>
          <p:nvPr/>
        </p:nvSpPr>
        <p:spPr bwMode="auto">
          <a:xfrm flipV="1">
            <a:off x="3238500" y="3124200"/>
            <a:ext cx="914400" cy="914400"/>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386052" name="Line 4">
            <a:extLst>
              <a:ext uri="{FF2B5EF4-FFF2-40B4-BE49-F238E27FC236}">
                <a16:creationId xmlns:a16="http://schemas.microsoft.com/office/drawing/2014/main" id="{E2AD9FEB-6D03-B28A-A724-B40E5072D104}"/>
              </a:ext>
            </a:extLst>
          </p:cNvPr>
          <p:cNvSpPr>
            <a:spLocks noChangeShapeType="1"/>
          </p:cNvSpPr>
          <p:nvPr/>
        </p:nvSpPr>
        <p:spPr bwMode="auto">
          <a:xfrm>
            <a:off x="3238500" y="4343400"/>
            <a:ext cx="914400" cy="914400"/>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386054" name="Line 6">
            <a:extLst>
              <a:ext uri="{FF2B5EF4-FFF2-40B4-BE49-F238E27FC236}">
                <a16:creationId xmlns:a16="http://schemas.microsoft.com/office/drawing/2014/main" id="{AD3DFD2B-8138-C259-0EA1-591EA070455E}"/>
              </a:ext>
            </a:extLst>
          </p:cNvPr>
          <p:cNvSpPr>
            <a:spLocks noChangeShapeType="1"/>
          </p:cNvSpPr>
          <p:nvPr/>
        </p:nvSpPr>
        <p:spPr bwMode="auto">
          <a:xfrm>
            <a:off x="4152900" y="5257800"/>
            <a:ext cx="1066800" cy="0"/>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386055" name="Text Box 7">
            <a:extLst>
              <a:ext uri="{FF2B5EF4-FFF2-40B4-BE49-F238E27FC236}">
                <a16:creationId xmlns:a16="http://schemas.microsoft.com/office/drawing/2014/main" id="{BC770094-ADD1-7EB3-5E9D-23A7A7C570CA}"/>
              </a:ext>
            </a:extLst>
          </p:cNvPr>
          <p:cNvSpPr txBox="1">
            <a:spLocks noChangeArrowheads="1"/>
          </p:cNvSpPr>
          <p:nvPr/>
        </p:nvSpPr>
        <p:spPr bwMode="auto">
          <a:xfrm>
            <a:off x="4076700" y="4816476"/>
            <a:ext cx="10668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eaLnBrk="0" fontAlgn="base" hangingPunct="0">
              <a:spcBef>
                <a:spcPct val="50000"/>
              </a:spcBef>
              <a:spcAft>
                <a:spcPct val="0"/>
              </a:spcAft>
            </a:pPr>
            <a:r>
              <a:rPr lang="en-US" altLang="en-US" sz="2400">
                <a:solidFill>
                  <a:prstClr val="black"/>
                </a:solidFill>
              </a:rPr>
              <a:t>Do not study</a:t>
            </a:r>
          </a:p>
        </p:txBody>
      </p:sp>
      <p:sp>
        <p:nvSpPr>
          <p:cNvPr id="386056" name="Line 8">
            <a:extLst>
              <a:ext uri="{FF2B5EF4-FFF2-40B4-BE49-F238E27FC236}">
                <a16:creationId xmlns:a16="http://schemas.microsoft.com/office/drawing/2014/main" id="{C25B4DF8-AE7C-623A-D49E-530D39F27D53}"/>
              </a:ext>
            </a:extLst>
          </p:cNvPr>
          <p:cNvSpPr>
            <a:spLocks noChangeShapeType="1"/>
          </p:cNvSpPr>
          <p:nvPr/>
        </p:nvSpPr>
        <p:spPr bwMode="auto">
          <a:xfrm>
            <a:off x="4152900" y="3124200"/>
            <a:ext cx="1066800" cy="0"/>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386057" name="Text Box 9">
            <a:extLst>
              <a:ext uri="{FF2B5EF4-FFF2-40B4-BE49-F238E27FC236}">
                <a16:creationId xmlns:a16="http://schemas.microsoft.com/office/drawing/2014/main" id="{B3E382F0-03E8-BDA4-1CB6-81A887B35129}"/>
              </a:ext>
            </a:extLst>
          </p:cNvPr>
          <p:cNvSpPr txBox="1">
            <a:spLocks noChangeArrowheads="1"/>
          </p:cNvSpPr>
          <p:nvPr/>
        </p:nvSpPr>
        <p:spPr bwMode="auto">
          <a:xfrm>
            <a:off x="4000500" y="2667001"/>
            <a:ext cx="1219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eaLnBrk="0" fontAlgn="base" hangingPunct="0">
              <a:spcBef>
                <a:spcPct val="50000"/>
              </a:spcBef>
              <a:spcAft>
                <a:spcPct val="0"/>
              </a:spcAft>
            </a:pPr>
            <a:r>
              <a:rPr lang="en-US" altLang="en-US" sz="2400">
                <a:solidFill>
                  <a:prstClr val="black"/>
                </a:solidFill>
              </a:rPr>
              <a:t>Study finance</a:t>
            </a:r>
          </a:p>
        </p:txBody>
      </p:sp>
      <p:sp>
        <p:nvSpPr>
          <p:cNvPr id="386058" name="Text Box 10">
            <a:extLst>
              <a:ext uri="{FF2B5EF4-FFF2-40B4-BE49-F238E27FC236}">
                <a16:creationId xmlns:a16="http://schemas.microsoft.com/office/drawing/2014/main" id="{CED5E31B-51E6-BDE0-4B57-C61B31D67452}"/>
              </a:ext>
            </a:extLst>
          </p:cNvPr>
          <p:cNvSpPr txBox="1">
            <a:spLocks noChangeArrowheads="1"/>
          </p:cNvSpPr>
          <p:nvPr/>
        </p:nvSpPr>
        <p:spPr bwMode="auto">
          <a:xfrm>
            <a:off x="1676400" y="1371600"/>
            <a:ext cx="579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50000"/>
              </a:spcBef>
              <a:spcAft>
                <a:spcPct val="0"/>
              </a:spcAft>
            </a:pPr>
            <a:r>
              <a:rPr lang="en-US" altLang="en-US" sz="2400">
                <a:solidFill>
                  <a:prstClr val="black"/>
                </a:solidFill>
              </a:rPr>
              <a:t>Squares represent decisions to be made.</a:t>
            </a:r>
          </a:p>
        </p:txBody>
      </p:sp>
      <p:sp>
        <p:nvSpPr>
          <p:cNvPr id="386059" name="Text Box 11">
            <a:extLst>
              <a:ext uri="{FF2B5EF4-FFF2-40B4-BE49-F238E27FC236}">
                <a16:creationId xmlns:a16="http://schemas.microsoft.com/office/drawing/2014/main" id="{9B129C11-BF57-38B8-12F2-AB6A316EDF89}"/>
              </a:ext>
            </a:extLst>
          </p:cNvPr>
          <p:cNvSpPr txBox="1">
            <a:spLocks noChangeArrowheads="1"/>
          </p:cNvSpPr>
          <p:nvPr/>
        </p:nvSpPr>
        <p:spPr bwMode="auto">
          <a:xfrm>
            <a:off x="7543800" y="1447801"/>
            <a:ext cx="29718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50000"/>
              </a:spcBef>
              <a:spcAft>
                <a:spcPct val="0"/>
              </a:spcAft>
            </a:pPr>
            <a:r>
              <a:rPr lang="en-US" altLang="en-US" sz="2400">
                <a:solidFill>
                  <a:prstClr val="black"/>
                </a:solidFill>
              </a:rPr>
              <a:t>Circles represent receipt of information, </a:t>
            </a:r>
            <a:r>
              <a:rPr lang="en-US" altLang="en-US" sz="2400" i="1">
                <a:solidFill>
                  <a:prstClr val="black"/>
                </a:solidFill>
              </a:rPr>
              <a:t>e.g</a:t>
            </a:r>
            <a:r>
              <a:rPr lang="en-US" altLang="en-US" sz="2400">
                <a:solidFill>
                  <a:prstClr val="black"/>
                </a:solidFill>
              </a:rPr>
              <a:t>., a test score.</a:t>
            </a:r>
          </a:p>
        </p:txBody>
      </p:sp>
      <p:sp>
        <p:nvSpPr>
          <p:cNvPr id="386060" name="Text Box 12">
            <a:extLst>
              <a:ext uri="{FF2B5EF4-FFF2-40B4-BE49-F238E27FC236}">
                <a16:creationId xmlns:a16="http://schemas.microsoft.com/office/drawing/2014/main" id="{0E7298EF-3681-0183-E59C-C1E679BC3243}"/>
              </a:ext>
            </a:extLst>
          </p:cNvPr>
          <p:cNvSpPr txBox="1">
            <a:spLocks noChangeArrowheads="1"/>
          </p:cNvSpPr>
          <p:nvPr/>
        </p:nvSpPr>
        <p:spPr bwMode="auto">
          <a:xfrm>
            <a:off x="7315200" y="4267201"/>
            <a:ext cx="33528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50000"/>
              </a:spcBef>
              <a:spcAft>
                <a:spcPct val="0"/>
              </a:spcAft>
            </a:pPr>
            <a:r>
              <a:rPr lang="en-US" altLang="en-US" sz="2400">
                <a:solidFill>
                  <a:prstClr val="black"/>
                </a:solidFill>
              </a:rPr>
              <a:t>The lines leading away from the squares represent the alternatives.</a:t>
            </a:r>
          </a:p>
        </p:txBody>
      </p:sp>
      <p:grpSp>
        <p:nvGrpSpPr>
          <p:cNvPr id="2" name="Group 13">
            <a:extLst>
              <a:ext uri="{FF2B5EF4-FFF2-40B4-BE49-F238E27FC236}">
                <a16:creationId xmlns:a16="http://schemas.microsoft.com/office/drawing/2014/main" id="{F8439106-BF18-E267-CB64-023435550449}"/>
              </a:ext>
            </a:extLst>
          </p:cNvPr>
          <p:cNvGrpSpPr>
            <a:grpSpLocks/>
          </p:cNvGrpSpPr>
          <p:nvPr/>
        </p:nvGrpSpPr>
        <p:grpSpPr bwMode="auto">
          <a:xfrm>
            <a:off x="5105400" y="1752600"/>
            <a:ext cx="2247900" cy="4724400"/>
            <a:chOff x="2136" y="1200"/>
            <a:chExt cx="1416" cy="2976"/>
          </a:xfrm>
        </p:grpSpPr>
        <p:sp>
          <p:nvSpPr>
            <p:cNvPr id="99342" name="Oval 14">
              <a:extLst>
                <a:ext uri="{FF2B5EF4-FFF2-40B4-BE49-F238E27FC236}">
                  <a16:creationId xmlns:a16="http://schemas.microsoft.com/office/drawing/2014/main" id="{295401BB-E106-F9DA-96D7-E08900333859}"/>
                </a:ext>
              </a:extLst>
            </p:cNvPr>
            <p:cNvSpPr>
              <a:spLocks noChangeArrowheads="1"/>
            </p:cNvSpPr>
            <p:nvPr/>
          </p:nvSpPr>
          <p:spPr bwMode="auto">
            <a:xfrm>
              <a:off x="2136" y="1968"/>
              <a:ext cx="192" cy="192"/>
            </a:xfrm>
            <a:prstGeom prst="ellipse">
              <a:avLst/>
            </a:prstGeom>
            <a:solidFill>
              <a:schemeClr val="bg2"/>
            </a:solidFill>
            <a:ln w="38100">
              <a:solidFill>
                <a:schemeClr val="bg2"/>
              </a:solidFill>
              <a:round/>
              <a:headEnd type="none" w="sm" len="sm"/>
              <a:tailEnd type="none" w="sm" len="sm"/>
            </a:ln>
          </p:spPr>
          <p:txBody>
            <a:bodyPr wrap="none" anchor="ct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sp>
          <p:nvSpPr>
            <p:cNvPr id="99343" name="Line 15">
              <a:extLst>
                <a:ext uri="{FF2B5EF4-FFF2-40B4-BE49-F238E27FC236}">
                  <a16:creationId xmlns:a16="http://schemas.microsoft.com/office/drawing/2014/main" id="{247AEEDC-EF57-8C18-BCDD-DCDED37A5A27}"/>
                </a:ext>
              </a:extLst>
            </p:cNvPr>
            <p:cNvSpPr>
              <a:spLocks noChangeShapeType="1"/>
            </p:cNvSpPr>
            <p:nvPr/>
          </p:nvSpPr>
          <p:spPr bwMode="auto">
            <a:xfrm flipV="1">
              <a:off x="2256" y="1392"/>
              <a:ext cx="576" cy="576"/>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99344" name="Line 16">
              <a:extLst>
                <a:ext uri="{FF2B5EF4-FFF2-40B4-BE49-F238E27FC236}">
                  <a16:creationId xmlns:a16="http://schemas.microsoft.com/office/drawing/2014/main" id="{60D01420-4588-E0D6-7D8E-07D9634ECEB6}"/>
                </a:ext>
              </a:extLst>
            </p:cNvPr>
            <p:cNvSpPr>
              <a:spLocks noChangeShapeType="1"/>
            </p:cNvSpPr>
            <p:nvPr/>
          </p:nvSpPr>
          <p:spPr bwMode="auto">
            <a:xfrm>
              <a:off x="2256" y="2160"/>
              <a:ext cx="576" cy="576"/>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99345" name="Text Box 17">
              <a:extLst>
                <a:ext uri="{FF2B5EF4-FFF2-40B4-BE49-F238E27FC236}">
                  <a16:creationId xmlns:a16="http://schemas.microsoft.com/office/drawing/2014/main" id="{0FE2D9E6-8B23-6B95-2FD8-15B13F50404A}"/>
                </a:ext>
              </a:extLst>
            </p:cNvPr>
            <p:cNvSpPr txBox="1">
              <a:spLocks noChangeArrowheads="1"/>
            </p:cNvSpPr>
            <p:nvPr/>
          </p:nvSpPr>
          <p:spPr bwMode="auto">
            <a:xfrm>
              <a:off x="3096" y="254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eaLnBrk="0" fontAlgn="base" hangingPunct="0">
                <a:spcBef>
                  <a:spcPct val="50000"/>
                </a:spcBef>
                <a:spcAft>
                  <a:spcPct val="0"/>
                </a:spcAft>
              </a:pPr>
              <a:r>
                <a:rPr lang="en-US" altLang="en-US" sz="2400">
                  <a:solidFill>
                    <a:prstClr val="black"/>
                  </a:solidFill>
                </a:rPr>
                <a:t>“C”</a:t>
              </a:r>
            </a:p>
          </p:txBody>
        </p:sp>
        <p:sp>
          <p:nvSpPr>
            <p:cNvPr id="99346" name="Text Box 18">
              <a:extLst>
                <a:ext uri="{FF2B5EF4-FFF2-40B4-BE49-F238E27FC236}">
                  <a16:creationId xmlns:a16="http://schemas.microsoft.com/office/drawing/2014/main" id="{3D25A6F4-6A2B-4819-A0EA-EDE3201E780D}"/>
                </a:ext>
              </a:extLst>
            </p:cNvPr>
            <p:cNvSpPr txBox="1">
              <a:spLocks noChangeArrowheads="1"/>
            </p:cNvSpPr>
            <p:nvPr/>
          </p:nvSpPr>
          <p:spPr bwMode="auto">
            <a:xfrm>
              <a:off x="3072" y="1200"/>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eaLnBrk="0" fontAlgn="base" hangingPunct="0">
                <a:spcBef>
                  <a:spcPct val="50000"/>
                </a:spcBef>
                <a:spcAft>
                  <a:spcPct val="0"/>
                </a:spcAft>
              </a:pPr>
              <a:r>
                <a:rPr lang="en-US" altLang="en-US" sz="2400">
                  <a:solidFill>
                    <a:prstClr val="black"/>
                  </a:solidFill>
                </a:rPr>
                <a:t>“A”</a:t>
              </a:r>
            </a:p>
          </p:txBody>
        </p:sp>
        <p:sp>
          <p:nvSpPr>
            <p:cNvPr id="99347" name="Text Box 19">
              <a:extLst>
                <a:ext uri="{FF2B5EF4-FFF2-40B4-BE49-F238E27FC236}">
                  <a16:creationId xmlns:a16="http://schemas.microsoft.com/office/drawing/2014/main" id="{31080647-6C56-F7E6-1339-4E86A8418AF8}"/>
                </a:ext>
              </a:extLst>
            </p:cNvPr>
            <p:cNvSpPr txBox="1">
              <a:spLocks noChangeArrowheads="1"/>
            </p:cNvSpPr>
            <p:nvPr/>
          </p:nvSpPr>
          <p:spPr bwMode="auto">
            <a:xfrm>
              <a:off x="3072" y="1872"/>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eaLnBrk="0" fontAlgn="base" hangingPunct="0">
                <a:spcBef>
                  <a:spcPct val="50000"/>
                </a:spcBef>
                <a:spcAft>
                  <a:spcPct val="0"/>
                </a:spcAft>
              </a:pPr>
              <a:r>
                <a:rPr lang="en-US" altLang="en-US" sz="2400">
                  <a:solidFill>
                    <a:prstClr val="black"/>
                  </a:solidFill>
                </a:rPr>
                <a:t>“B”</a:t>
              </a:r>
            </a:p>
          </p:txBody>
        </p:sp>
        <p:sp>
          <p:nvSpPr>
            <p:cNvPr id="99348" name="Oval 20">
              <a:extLst>
                <a:ext uri="{FF2B5EF4-FFF2-40B4-BE49-F238E27FC236}">
                  <a16:creationId xmlns:a16="http://schemas.microsoft.com/office/drawing/2014/main" id="{82C2CB20-D20E-C285-ECA9-EE1924F8A5BB}"/>
                </a:ext>
              </a:extLst>
            </p:cNvPr>
            <p:cNvSpPr>
              <a:spLocks noChangeArrowheads="1"/>
            </p:cNvSpPr>
            <p:nvPr/>
          </p:nvSpPr>
          <p:spPr bwMode="auto">
            <a:xfrm>
              <a:off x="2136" y="3312"/>
              <a:ext cx="192" cy="192"/>
            </a:xfrm>
            <a:prstGeom prst="ellipse">
              <a:avLst/>
            </a:prstGeom>
            <a:solidFill>
              <a:schemeClr val="bg2"/>
            </a:solidFill>
            <a:ln w="38100">
              <a:solidFill>
                <a:schemeClr val="bg2"/>
              </a:solidFill>
              <a:round/>
              <a:headEnd type="none" w="sm" len="sm"/>
              <a:tailEnd type="none" w="sm" len="sm"/>
            </a:ln>
          </p:spPr>
          <p:txBody>
            <a:bodyPr wrap="none" anchor="ct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sp>
          <p:nvSpPr>
            <p:cNvPr id="99349" name="Line 21">
              <a:extLst>
                <a:ext uri="{FF2B5EF4-FFF2-40B4-BE49-F238E27FC236}">
                  <a16:creationId xmlns:a16="http://schemas.microsoft.com/office/drawing/2014/main" id="{C7C89C54-72AD-F568-E732-43C39C7F022A}"/>
                </a:ext>
              </a:extLst>
            </p:cNvPr>
            <p:cNvSpPr>
              <a:spLocks noChangeShapeType="1"/>
            </p:cNvSpPr>
            <p:nvPr/>
          </p:nvSpPr>
          <p:spPr bwMode="auto">
            <a:xfrm>
              <a:off x="2256" y="3504"/>
              <a:ext cx="576" cy="576"/>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99350" name="Line 22">
              <a:extLst>
                <a:ext uri="{FF2B5EF4-FFF2-40B4-BE49-F238E27FC236}">
                  <a16:creationId xmlns:a16="http://schemas.microsoft.com/office/drawing/2014/main" id="{E67339E9-85F1-F42C-300F-0391F2A34EF5}"/>
                </a:ext>
              </a:extLst>
            </p:cNvPr>
            <p:cNvSpPr>
              <a:spLocks noChangeShapeType="1"/>
            </p:cNvSpPr>
            <p:nvPr/>
          </p:nvSpPr>
          <p:spPr bwMode="auto">
            <a:xfrm>
              <a:off x="2832" y="2736"/>
              <a:ext cx="288" cy="0"/>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99351" name="Line 23">
              <a:extLst>
                <a:ext uri="{FF2B5EF4-FFF2-40B4-BE49-F238E27FC236}">
                  <a16:creationId xmlns:a16="http://schemas.microsoft.com/office/drawing/2014/main" id="{52814541-E3B1-40F5-CBD5-0820866F809F}"/>
                </a:ext>
              </a:extLst>
            </p:cNvPr>
            <p:cNvSpPr>
              <a:spLocks noChangeShapeType="1"/>
            </p:cNvSpPr>
            <p:nvPr/>
          </p:nvSpPr>
          <p:spPr bwMode="auto">
            <a:xfrm>
              <a:off x="2832" y="4080"/>
              <a:ext cx="288" cy="0"/>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99352" name="Text Box 24">
              <a:extLst>
                <a:ext uri="{FF2B5EF4-FFF2-40B4-BE49-F238E27FC236}">
                  <a16:creationId xmlns:a16="http://schemas.microsoft.com/office/drawing/2014/main" id="{F4E299D8-4610-BF10-83BF-B720B80C8F89}"/>
                </a:ext>
              </a:extLst>
            </p:cNvPr>
            <p:cNvSpPr txBox="1">
              <a:spLocks noChangeArrowheads="1"/>
            </p:cNvSpPr>
            <p:nvPr/>
          </p:nvSpPr>
          <p:spPr bwMode="auto">
            <a:xfrm>
              <a:off x="3096" y="388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eaLnBrk="0" fontAlgn="base" hangingPunct="0">
                <a:spcBef>
                  <a:spcPct val="50000"/>
                </a:spcBef>
                <a:spcAft>
                  <a:spcPct val="0"/>
                </a:spcAft>
              </a:pPr>
              <a:r>
                <a:rPr lang="en-US" altLang="en-US" sz="2400">
                  <a:solidFill>
                    <a:prstClr val="black"/>
                  </a:solidFill>
                </a:rPr>
                <a:t>“F”</a:t>
              </a:r>
            </a:p>
          </p:txBody>
        </p:sp>
        <p:sp>
          <p:nvSpPr>
            <p:cNvPr id="99353" name="Line 25">
              <a:extLst>
                <a:ext uri="{FF2B5EF4-FFF2-40B4-BE49-F238E27FC236}">
                  <a16:creationId xmlns:a16="http://schemas.microsoft.com/office/drawing/2014/main" id="{B557F72D-9258-ADB1-FD66-206F0243128B}"/>
                </a:ext>
              </a:extLst>
            </p:cNvPr>
            <p:cNvSpPr>
              <a:spLocks noChangeShapeType="1"/>
            </p:cNvSpPr>
            <p:nvPr/>
          </p:nvSpPr>
          <p:spPr bwMode="auto">
            <a:xfrm>
              <a:off x="2304" y="3408"/>
              <a:ext cx="816" cy="0"/>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99354" name="Text Box 26">
              <a:extLst>
                <a:ext uri="{FF2B5EF4-FFF2-40B4-BE49-F238E27FC236}">
                  <a16:creationId xmlns:a16="http://schemas.microsoft.com/office/drawing/2014/main" id="{370FC68E-0C47-9896-7C9A-7D87D31A49E0}"/>
                </a:ext>
              </a:extLst>
            </p:cNvPr>
            <p:cNvSpPr txBox="1">
              <a:spLocks noChangeArrowheads="1"/>
            </p:cNvSpPr>
            <p:nvPr/>
          </p:nvSpPr>
          <p:spPr bwMode="auto">
            <a:xfrm>
              <a:off x="3072" y="3216"/>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eaLnBrk="0" fontAlgn="base" hangingPunct="0">
                <a:spcBef>
                  <a:spcPct val="50000"/>
                </a:spcBef>
                <a:spcAft>
                  <a:spcPct val="0"/>
                </a:spcAft>
              </a:pPr>
              <a:r>
                <a:rPr lang="en-US" altLang="en-US" sz="2400">
                  <a:solidFill>
                    <a:prstClr val="black"/>
                  </a:solidFill>
                </a:rPr>
                <a:t>“D”</a:t>
              </a:r>
            </a:p>
          </p:txBody>
        </p:sp>
        <p:sp>
          <p:nvSpPr>
            <p:cNvPr id="99355" name="Line 27">
              <a:extLst>
                <a:ext uri="{FF2B5EF4-FFF2-40B4-BE49-F238E27FC236}">
                  <a16:creationId xmlns:a16="http://schemas.microsoft.com/office/drawing/2014/main" id="{444AB144-3BE1-CF57-4850-F88739C2F4DF}"/>
                </a:ext>
              </a:extLst>
            </p:cNvPr>
            <p:cNvSpPr>
              <a:spLocks noChangeShapeType="1"/>
            </p:cNvSpPr>
            <p:nvPr/>
          </p:nvSpPr>
          <p:spPr bwMode="auto">
            <a:xfrm>
              <a:off x="2304" y="2064"/>
              <a:ext cx="816" cy="0"/>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sp>
          <p:nvSpPr>
            <p:cNvPr id="99356" name="Line 28">
              <a:extLst>
                <a:ext uri="{FF2B5EF4-FFF2-40B4-BE49-F238E27FC236}">
                  <a16:creationId xmlns:a16="http://schemas.microsoft.com/office/drawing/2014/main" id="{AF545F1F-C054-4DB9-70F6-D25A5DF623B4}"/>
                </a:ext>
              </a:extLst>
            </p:cNvPr>
            <p:cNvSpPr>
              <a:spLocks noChangeShapeType="1"/>
            </p:cNvSpPr>
            <p:nvPr/>
          </p:nvSpPr>
          <p:spPr bwMode="auto">
            <a:xfrm>
              <a:off x="2832" y="1392"/>
              <a:ext cx="288" cy="0"/>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Times New Roman" panose="02020603050405020304" pitchFamily="18" charset="0"/>
                <a:ea typeface="ＭＳ Ｐゴシック" panose="020B0600070205080204" pitchFamily="34" charset="-128"/>
              </a:endParaRPr>
            </a:p>
          </p:txBody>
        </p:sp>
      </p:grpSp>
      <p:sp>
        <p:nvSpPr>
          <p:cNvPr id="99341" name="Rectangle 29">
            <a:extLst>
              <a:ext uri="{FF2B5EF4-FFF2-40B4-BE49-F238E27FC236}">
                <a16:creationId xmlns:a16="http://schemas.microsoft.com/office/drawing/2014/main" id="{6AC4CEE2-122F-04A3-312F-A4FF7DFA8EA1}"/>
              </a:ext>
            </a:extLst>
          </p:cNvPr>
          <p:cNvSpPr>
            <a:spLocks noChangeArrowheads="1"/>
          </p:cNvSpPr>
          <p:nvPr/>
        </p:nvSpPr>
        <p:spPr bwMode="auto">
          <a:xfrm>
            <a:off x="2933700" y="4038600"/>
            <a:ext cx="304800" cy="304800"/>
          </a:xfrm>
          <a:prstGeom prst="rect">
            <a:avLst/>
          </a:prstGeom>
          <a:solidFill>
            <a:schemeClr val="bg2"/>
          </a:solidFill>
          <a:ln w="38100" cap="sq">
            <a:solidFill>
              <a:schemeClr val="bg2"/>
            </a:solidFill>
            <a:miter lim="800000"/>
            <a:headEnd type="none" w="sm" len="sm"/>
            <a:tailEnd type="none" w="sm" len="sm"/>
          </a:ln>
        </p:spPr>
        <p:txBody>
          <a:bodyPr wrap="none" anchor="ct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black"/>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86058"/>
                                        </p:tgtEl>
                                        <p:attrNameLst>
                                          <p:attrName>style.visibility</p:attrName>
                                        </p:attrNameLst>
                                      </p:cBhvr>
                                      <p:to>
                                        <p:strVal val="visible"/>
                                      </p:to>
                                    </p:set>
                                    <p:animEffect transition="in" filter="fade">
                                      <p:cBhvr>
                                        <p:cTn id="7" dur="1000"/>
                                        <p:tgtEl>
                                          <p:spTgt spid="386058"/>
                                        </p:tgtEl>
                                      </p:cBhvr>
                                    </p:animEffect>
                                    <p:anim calcmode="lin" valueType="num">
                                      <p:cBhvr>
                                        <p:cTn id="8" dur="1000" fill="hold"/>
                                        <p:tgtEl>
                                          <p:spTgt spid="386058"/>
                                        </p:tgtEl>
                                        <p:attrNameLst>
                                          <p:attrName>ppt_x</p:attrName>
                                        </p:attrNameLst>
                                      </p:cBhvr>
                                      <p:tavLst>
                                        <p:tav tm="0">
                                          <p:val>
                                            <p:strVal val="#ppt_x"/>
                                          </p:val>
                                        </p:tav>
                                        <p:tav tm="100000">
                                          <p:val>
                                            <p:strVal val="#ppt_x"/>
                                          </p:val>
                                        </p:tav>
                                      </p:tavLst>
                                    </p:anim>
                                    <p:anim calcmode="lin" valueType="num">
                                      <p:cBhvr>
                                        <p:cTn id="9" dur="1000" fill="hold"/>
                                        <p:tgtEl>
                                          <p:spTgt spid="386058"/>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86060"/>
                                        </p:tgtEl>
                                        <p:attrNameLst>
                                          <p:attrName>style.visibility</p:attrName>
                                        </p:attrNameLst>
                                      </p:cBhvr>
                                      <p:to>
                                        <p:strVal val="visible"/>
                                      </p:to>
                                    </p:set>
                                    <p:animEffect transition="in" filter="fade">
                                      <p:cBhvr>
                                        <p:cTn id="14" dur="1000"/>
                                        <p:tgtEl>
                                          <p:spTgt spid="386060"/>
                                        </p:tgtEl>
                                      </p:cBhvr>
                                    </p:animEffect>
                                    <p:anim calcmode="lin" valueType="num">
                                      <p:cBhvr>
                                        <p:cTn id="15" dur="1000" fill="hold"/>
                                        <p:tgtEl>
                                          <p:spTgt spid="386060"/>
                                        </p:tgtEl>
                                        <p:attrNameLst>
                                          <p:attrName>ppt_x</p:attrName>
                                        </p:attrNameLst>
                                      </p:cBhvr>
                                      <p:tavLst>
                                        <p:tav tm="0">
                                          <p:val>
                                            <p:strVal val="#ppt_x"/>
                                          </p:val>
                                        </p:tav>
                                        <p:tav tm="100000">
                                          <p:val>
                                            <p:strVal val="#ppt_x"/>
                                          </p:val>
                                        </p:tav>
                                      </p:tavLst>
                                    </p:anim>
                                    <p:anim calcmode="lin" valueType="num">
                                      <p:cBhvr>
                                        <p:cTn id="16" dur="1000" fill="hold"/>
                                        <p:tgtEl>
                                          <p:spTgt spid="386060"/>
                                        </p:tgtEl>
                                        <p:attrNameLst>
                                          <p:attrName>ppt_y</p:attrName>
                                        </p:attrNameLst>
                                      </p:cBhvr>
                                      <p:tavLst>
                                        <p:tav tm="0">
                                          <p:val>
                                            <p:strVal val="#ppt_y+.1"/>
                                          </p:val>
                                        </p:tav>
                                        <p:tav tm="100000">
                                          <p:val>
                                            <p:strVal val="#ppt_y"/>
                                          </p:val>
                                        </p:tav>
                                      </p:tavLst>
                                    </p:anim>
                                  </p:childTnLst>
                                </p:cTn>
                              </p:par>
                            </p:childTnLst>
                          </p:cTn>
                        </p:par>
                        <p:par>
                          <p:cTn id="17" fill="hold" nodeType="afterGroup">
                            <p:stCondLst>
                              <p:cond delay="1000"/>
                            </p:stCondLst>
                            <p:childTnLst>
                              <p:par>
                                <p:cTn id="18" presetID="22" presetClass="entr" presetSubtype="4" fill="hold" nodeType="afterEffect">
                                  <p:stCondLst>
                                    <p:cond delay="0"/>
                                  </p:stCondLst>
                                  <p:childTnLst>
                                    <p:set>
                                      <p:cBhvr>
                                        <p:cTn id="19" dur="1" fill="hold">
                                          <p:stCondLst>
                                            <p:cond delay="0"/>
                                          </p:stCondLst>
                                        </p:cTn>
                                        <p:tgtEl>
                                          <p:spTgt spid="386051"/>
                                        </p:tgtEl>
                                        <p:attrNameLst>
                                          <p:attrName>style.visibility</p:attrName>
                                        </p:attrNameLst>
                                      </p:cBhvr>
                                      <p:to>
                                        <p:strVal val="visible"/>
                                      </p:to>
                                    </p:set>
                                    <p:animEffect transition="in" filter="wipe(down)">
                                      <p:cBhvr>
                                        <p:cTn id="20" dur="500"/>
                                        <p:tgtEl>
                                          <p:spTgt spid="386051"/>
                                        </p:tgtEl>
                                      </p:cBhvr>
                                    </p:animEffect>
                                  </p:childTnLst>
                                </p:cTn>
                              </p:par>
                            </p:childTnLst>
                          </p:cTn>
                        </p:par>
                        <p:par>
                          <p:cTn id="21" fill="hold" nodeType="afterGroup">
                            <p:stCondLst>
                              <p:cond delay="1500"/>
                            </p:stCondLst>
                            <p:childTnLst>
                              <p:par>
                                <p:cTn id="22" presetID="22" presetClass="entr" presetSubtype="1" fill="hold" nodeType="afterEffect">
                                  <p:stCondLst>
                                    <p:cond delay="0"/>
                                  </p:stCondLst>
                                  <p:childTnLst>
                                    <p:set>
                                      <p:cBhvr>
                                        <p:cTn id="23" dur="1" fill="hold">
                                          <p:stCondLst>
                                            <p:cond delay="0"/>
                                          </p:stCondLst>
                                        </p:cTn>
                                        <p:tgtEl>
                                          <p:spTgt spid="386052"/>
                                        </p:tgtEl>
                                        <p:attrNameLst>
                                          <p:attrName>style.visibility</p:attrName>
                                        </p:attrNameLst>
                                      </p:cBhvr>
                                      <p:to>
                                        <p:strVal val="visible"/>
                                      </p:to>
                                    </p:set>
                                    <p:animEffect transition="in" filter="wipe(up)">
                                      <p:cBhvr>
                                        <p:cTn id="24" dur="500"/>
                                        <p:tgtEl>
                                          <p:spTgt spid="386052"/>
                                        </p:tgtEl>
                                      </p:cBhvr>
                                    </p:animEffect>
                                  </p:childTnLst>
                                </p:cTn>
                              </p:par>
                            </p:childTnLst>
                          </p:cTn>
                        </p:par>
                        <p:par>
                          <p:cTn id="25" fill="hold" nodeType="afterGroup">
                            <p:stCondLst>
                              <p:cond delay="2000"/>
                            </p:stCondLst>
                            <p:childTnLst>
                              <p:par>
                                <p:cTn id="26" presetID="22" presetClass="entr" presetSubtype="8" fill="hold" nodeType="afterEffect">
                                  <p:stCondLst>
                                    <p:cond delay="0"/>
                                  </p:stCondLst>
                                  <p:childTnLst>
                                    <p:set>
                                      <p:cBhvr>
                                        <p:cTn id="27" dur="1" fill="hold">
                                          <p:stCondLst>
                                            <p:cond delay="0"/>
                                          </p:stCondLst>
                                        </p:cTn>
                                        <p:tgtEl>
                                          <p:spTgt spid="386054"/>
                                        </p:tgtEl>
                                        <p:attrNameLst>
                                          <p:attrName>style.visibility</p:attrName>
                                        </p:attrNameLst>
                                      </p:cBhvr>
                                      <p:to>
                                        <p:strVal val="visible"/>
                                      </p:to>
                                    </p:set>
                                    <p:animEffect transition="in" filter="wipe(left)">
                                      <p:cBhvr>
                                        <p:cTn id="28" dur="500"/>
                                        <p:tgtEl>
                                          <p:spTgt spid="386054"/>
                                        </p:tgtEl>
                                      </p:cBhvr>
                                    </p:animEffect>
                                  </p:childTnLst>
                                </p:cTn>
                              </p:par>
                            </p:childTnLst>
                          </p:cTn>
                        </p:par>
                        <p:par>
                          <p:cTn id="29" fill="hold" nodeType="afterGroup">
                            <p:stCondLst>
                              <p:cond delay="2500"/>
                            </p:stCondLst>
                            <p:childTnLst>
                              <p:par>
                                <p:cTn id="30" presetID="1" presetClass="entr" presetSubtype="0" fill="hold" grpId="0" nodeType="afterEffect">
                                  <p:stCondLst>
                                    <p:cond delay="0"/>
                                  </p:stCondLst>
                                  <p:childTnLst>
                                    <p:set>
                                      <p:cBhvr>
                                        <p:cTn id="31" dur="1" fill="hold">
                                          <p:stCondLst>
                                            <p:cond delay="499"/>
                                          </p:stCondLst>
                                        </p:cTn>
                                        <p:tgtEl>
                                          <p:spTgt spid="386055"/>
                                        </p:tgtEl>
                                        <p:attrNameLst>
                                          <p:attrName>style.visibility</p:attrName>
                                        </p:attrNameLst>
                                      </p:cBhvr>
                                      <p:to>
                                        <p:strVal val="visible"/>
                                      </p:to>
                                    </p:set>
                                  </p:childTnLst>
                                </p:cTn>
                              </p:par>
                            </p:childTnLst>
                          </p:cTn>
                        </p:par>
                        <p:par>
                          <p:cTn id="32" fill="hold" nodeType="afterGroup">
                            <p:stCondLst>
                              <p:cond delay="3000"/>
                            </p:stCondLst>
                            <p:childTnLst>
                              <p:par>
                                <p:cTn id="33" presetID="22" presetClass="entr" presetSubtype="8" fill="hold" nodeType="afterEffect">
                                  <p:stCondLst>
                                    <p:cond delay="0"/>
                                  </p:stCondLst>
                                  <p:childTnLst>
                                    <p:set>
                                      <p:cBhvr>
                                        <p:cTn id="34" dur="1" fill="hold">
                                          <p:stCondLst>
                                            <p:cond delay="0"/>
                                          </p:stCondLst>
                                        </p:cTn>
                                        <p:tgtEl>
                                          <p:spTgt spid="386056"/>
                                        </p:tgtEl>
                                        <p:attrNameLst>
                                          <p:attrName>style.visibility</p:attrName>
                                        </p:attrNameLst>
                                      </p:cBhvr>
                                      <p:to>
                                        <p:strVal val="visible"/>
                                      </p:to>
                                    </p:set>
                                    <p:animEffect transition="in" filter="wipe(left)">
                                      <p:cBhvr>
                                        <p:cTn id="35" dur="500"/>
                                        <p:tgtEl>
                                          <p:spTgt spid="386056"/>
                                        </p:tgtEl>
                                      </p:cBhvr>
                                    </p:animEffect>
                                  </p:childTnLst>
                                </p:cTn>
                              </p:par>
                            </p:childTnLst>
                          </p:cTn>
                        </p:par>
                        <p:par>
                          <p:cTn id="36" fill="hold" nodeType="afterGroup">
                            <p:stCondLst>
                              <p:cond delay="3500"/>
                            </p:stCondLst>
                            <p:childTnLst>
                              <p:par>
                                <p:cTn id="37" presetID="1" presetClass="entr" presetSubtype="0" fill="hold" grpId="0" nodeType="afterEffect">
                                  <p:stCondLst>
                                    <p:cond delay="0"/>
                                  </p:stCondLst>
                                  <p:childTnLst>
                                    <p:set>
                                      <p:cBhvr>
                                        <p:cTn id="38" dur="1" fill="hold">
                                          <p:stCondLst>
                                            <p:cond delay="499"/>
                                          </p:stCondLst>
                                        </p:cTn>
                                        <p:tgtEl>
                                          <p:spTgt spid="386057"/>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386059"/>
                                        </p:tgtEl>
                                        <p:attrNameLst>
                                          <p:attrName>style.visibility</p:attrName>
                                        </p:attrNameLst>
                                      </p:cBhvr>
                                      <p:to>
                                        <p:strVal val="visible"/>
                                      </p:to>
                                    </p:set>
                                    <p:animEffect transition="in" filter="fade">
                                      <p:cBhvr>
                                        <p:cTn id="43" dur="1000"/>
                                        <p:tgtEl>
                                          <p:spTgt spid="386059"/>
                                        </p:tgtEl>
                                      </p:cBhvr>
                                    </p:animEffect>
                                    <p:anim calcmode="lin" valueType="num">
                                      <p:cBhvr>
                                        <p:cTn id="44" dur="1000" fill="hold"/>
                                        <p:tgtEl>
                                          <p:spTgt spid="386059"/>
                                        </p:tgtEl>
                                        <p:attrNameLst>
                                          <p:attrName>ppt_x</p:attrName>
                                        </p:attrNameLst>
                                      </p:cBhvr>
                                      <p:tavLst>
                                        <p:tav tm="0">
                                          <p:val>
                                            <p:strVal val="#ppt_x"/>
                                          </p:val>
                                        </p:tav>
                                        <p:tav tm="100000">
                                          <p:val>
                                            <p:strVal val="#ppt_x"/>
                                          </p:val>
                                        </p:tav>
                                      </p:tavLst>
                                    </p:anim>
                                    <p:anim calcmode="lin" valueType="num">
                                      <p:cBhvr>
                                        <p:cTn id="45" dur="1000" fill="hold"/>
                                        <p:tgtEl>
                                          <p:spTgt spid="386059"/>
                                        </p:tgtEl>
                                        <p:attrNameLst>
                                          <p:attrName>ppt_y</p:attrName>
                                        </p:attrNameLst>
                                      </p:cBhvr>
                                      <p:tavLst>
                                        <p:tav tm="0">
                                          <p:val>
                                            <p:strVal val="#ppt_y+.1"/>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2"/>
                                        </p:tgtEl>
                                        <p:attrNameLst>
                                          <p:attrName>style.visibility</p:attrName>
                                        </p:attrNameLst>
                                      </p:cBhvr>
                                      <p:to>
                                        <p:strVal val="visible"/>
                                      </p:to>
                                    </p:set>
                                    <p:animEffect transition="in" filter="wipe(left)">
                                      <p:cBhvr>
                                        <p:cTn id="5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55" grpId="0" autoUpdateAnimBg="0"/>
      <p:bldP spid="386057" grpId="0" autoUpdateAnimBg="0"/>
      <p:bldP spid="386058" grpId="0" autoUpdateAnimBg="0"/>
      <p:bldP spid="386059" grpId="0" autoUpdateAnimBg="0"/>
      <p:bldP spid="386060" grpId="0" autoUpdateAnimBg="0"/>
    </p:bldLst>
  </p:timing>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818D476E-B91D-D73D-C800-5610B4FA1EAD}"/>
              </a:ext>
            </a:extLst>
          </p:cNvPr>
          <p:cNvSpPr>
            <a:spLocks noGrp="1" noChangeArrowheads="1"/>
          </p:cNvSpPr>
          <p:nvPr>
            <p:ph type="title"/>
          </p:nvPr>
        </p:nvSpPr>
        <p:spPr/>
        <p:txBody>
          <a:bodyPr/>
          <a:lstStyle/>
          <a:p>
            <a:pPr eaLnBrk="1" fontAlgn="auto" hangingPunct="1">
              <a:spcAft>
                <a:spcPts val="0"/>
              </a:spcAft>
              <a:defRPr/>
            </a:pPr>
            <a:r>
              <a:rPr lang="en-US" altLang="en-US" sz="3400" dirty="0">
                <a:solidFill>
                  <a:schemeClr val="bg2"/>
                </a:solidFill>
                <a:ea typeface="+mj-ea"/>
                <a:cs typeface="+mj-cs"/>
              </a:rPr>
              <a:t>Decision Tree for Stewart</a:t>
            </a:r>
          </a:p>
        </p:txBody>
      </p:sp>
      <p:sp>
        <p:nvSpPr>
          <p:cNvPr id="389126" name="Line 6">
            <a:extLst>
              <a:ext uri="{FF2B5EF4-FFF2-40B4-BE49-F238E27FC236}">
                <a16:creationId xmlns:a16="http://schemas.microsoft.com/office/drawing/2014/main" id="{C017BFE1-3B45-8457-F796-4AE85777950C}"/>
              </a:ext>
            </a:extLst>
          </p:cNvPr>
          <p:cNvSpPr>
            <a:spLocks noChangeShapeType="1"/>
          </p:cNvSpPr>
          <p:nvPr/>
        </p:nvSpPr>
        <p:spPr bwMode="auto">
          <a:xfrm>
            <a:off x="3657600" y="5715000"/>
            <a:ext cx="1066800" cy="1588"/>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389127" name="Text Box 7">
            <a:extLst>
              <a:ext uri="{FF2B5EF4-FFF2-40B4-BE49-F238E27FC236}">
                <a16:creationId xmlns:a16="http://schemas.microsoft.com/office/drawing/2014/main" id="{3393BD4C-9465-18BF-75ED-56B11C1463A8}"/>
              </a:ext>
            </a:extLst>
          </p:cNvPr>
          <p:cNvSpPr txBox="1">
            <a:spLocks noChangeArrowheads="1"/>
          </p:cNvSpPr>
          <p:nvPr/>
        </p:nvSpPr>
        <p:spPr bwMode="auto">
          <a:xfrm>
            <a:off x="3581400" y="4876801"/>
            <a:ext cx="1066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eaLnBrk="0" fontAlgn="base" hangingPunct="0">
              <a:spcBef>
                <a:spcPct val="50000"/>
              </a:spcBef>
              <a:spcAft>
                <a:spcPct val="0"/>
              </a:spcAft>
            </a:pPr>
            <a:r>
              <a:rPr lang="en-US" altLang="en-US" sz="2400">
                <a:solidFill>
                  <a:prstClr val="black"/>
                </a:solidFill>
              </a:rPr>
              <a:t>Do not test</a:t>
            </a:r>
          </a:p>
        </p:txBody>
      </p:sp>
      <p:sp>
        <p:nvSpPr>
          <p:cNvPr id="389128" name="Line 8">
            <a:extLst>
              <a:ext uri="{FF2B5EF4-FFF2-40B4-BE49-F238E27FC236}">
                <a16:creationId xmlns:a16="http://schemas.microsoft.com/office/drawing/2014/main" id="{5AE5B50D-522F-F312-E5FD-05EE2A4A513A}"/>
              </a:ext>
            </a:extLst>
          </p:cNvPr>
          <p:cNvSpPr>
            <a:spLocks noChangeShapeType="1"/>
          </p:cNvSpPr>
          <p:nvPr/>
        </p:nvSpPr>
        <p:spPr bwMode="auto">
          <a:xfrm flipV="1">
            <a:off x="4724400" y="5486400"/>
            <a:ext cx="1588" cy="457200"/>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389129" name="Line 9">
            <a:extLst>
              <a:ext uri="{FF2B5EF4-FFF2-40B4-BE49-F238E27FC236}">
                <a16:creationId xmlns:a16="http://schemas.microsoft.com/office/drawing/2014/main" id="{48D09418-AC48-CAE5-F5A2-0ADE87E93A1E}"/>
              </a:ext>
            </a:extLst>
          </p:cNvPr>
          <p:cNvSpPr>
            <a:spLocks noChangeShapeType="1"/>
          </p:cNvSpPr>
          <p:nvPr/>
        </p:nvSpPr>
        <p:spPr bwMode="auto">
          <a:xfrm>
            <a:off x="3657600" y="3581400"/>
            <a:ext cx="1066800" cy="1588"/>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389130" name="Text Box 10">
            <a:extLst>
              <a:ext uri="{FF2B5EF4-FFF2-40B4-BE49-F238E27FC236}">
                <a16:creationId xmlns:a16="http://schemas.microsoft.com/office/drawing/2014/main" id="{FFD110E8-62FF-AD04-F61C-BE8C7C0D0665}"/>
              </a:ext>
            </a:extLst>
          </p:cNvPr>
          <p:cNvSpPr txBox="1">
            <a:spLocks noChangeArrowheads="1"/>
          </p:cNvSpPr>
          <p:nvPr/>
        </p:nvSpPr>
        <p:spPr bwMode="auto">
          <a:xfrm>
            <a:off x="3733800" y="3124200"/>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eaLnBrk="0" fontAlgn="base" hangingPunct="0">
              <a:spcBef>
                <a:spcPct val="50000"/>
              </a:spcBef>
              <a:spcAft>
                <a:spcPct val="0"/>
              </a:spcAft>
            </a:pPr>
            <a:r>
              <a:rPr lang="en-US" altLang="en-US" sz="2400">
                <a:solidFill>
                  <a:prstClr val="black"/>
                </a:solidFill>
              </a:rPr>
              <a:t>Test</a:t>
            </a:r>
          </a:p>
        </p:txBody>
      </p:sp>
      <p:sp>
        <p:nvSpPr>
          <p:cNvPr id="389131" name="Line 11">
            <a:extLst>
              <a:ext uri="{FF2B5EF4-FFF2-40B4-BE49-F238E27FC236}">
                <a16:creationId xmlns:a16="http://schemas.microsoft.com/office/drawing/2014/main" id="{0D102A15-EC99-2E65-EF61-6C572CE27C01}"/>
              </a:ext>
            </a:extLst>
          </p:cNvPr>
          <p:cNvSpPr>
            <a:spLocks noChangeShapeType="1"/>
          </p:cNvSpPr>
          <p:nvPr/>
        </p:nvSpPr>
        <p:spPr bwMode="auto">
          <a:xfrm flipV="1">
            <a:off x="4791075" y="2530475"/>
            <a:ext cx="914400" cy="914400"/>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389132" name="Line 12">
            <a:extLst>
              <a:ext uri="{FF2B5EF4-FFF2-40B4-BE49-F238E27FC236}">
                <a16:creationId xmlns:a16="http://schemas.microsoft.com/office/drawing/2014/main" id="{FF3B6F17-4201-A00B-74DA-E96FD4173C61}"/>
              </a:ext>
            </a:extLst>
          </p:cNvPr>
          <p:cNvSpPr>
            <a:spLocks noChangeShapeType="1"/>
          </p:cNvSpPr>
          <p:nvPr/>
        </p:nvSpPr>
        <p:spPr bwMode="auto">
          <a:xfrm>
            <a:off x="4800600" y="3749675"/>
            <a:ext cx="914400" cy="914400"/>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389133" name="Oval 13">
            <a:extLst>
              <a:ext uri="{FF2B5EF4-FFF2-40B4-BE49-F238E27FC236}">
                <a16:creationId xmlns:a16="http://schemas.microsoft.com/office/drawing/2014/main" id="{30A3328C-2BA6-52E4-8B55-CAAA2B7EECE5}"/>
              </a:ext>
            </a:extLst>
          </p:cNvPr>
          <p:cNvSpPr>
            <a:spLocks noChangeArrowheads="1"/>
          </p:cNvSpPr>
          <p:nvPr/>
        </p:nvSpPr>
        <p:spPr bwMode="auto">
          <a:xfrm>
            <a:off x="4572000" y="3429000"/>
            <a:ext cx="304800" cy="304800"/>
          </a:xfrm>
          <a:prstGeom prst="ellipse">
            <a:avLst/>
          </a:prstGeom>
          <a:solidFill>
            <a:schemeClr val="bg2"/>
          </a:solidFill>
          <a:ln w="38100">
            <a:solidFill>
              <a:schemeClr val="bg2"/>
            </a:solidFill>
            <a:round/>
            <a:headEnd type="none" w="sm" len="sm"/>
            <a:tailEnd type="none" w="sm" len="sm"/>
          </a:ln>
        </p:spPr>
        <p:txBody>
          <a:bodyPr wrap="none" anchor="ct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white"/>
              </a:solidFill>
            </a:endParaRPr>
          </a:p>
        </p:txBody>
      </p:sp>
      <p:sp>
        <p:nvSpPr>
          <p:cNvPr id="389134" name="Line 14">
            <a:extLst>
              <a:ext uri="{FF2B5EF4-FFF2-40B4-BE49-F238E27FC236}">
                <a16:creationId xmlns:a16="http://schemas.microsoft.com/office/drawing/2014/main" id="{1D739181-7782-1EC6-99A2-6F031DD79F3A}"/>
              </a:ext>
            </a:extLst>
          </p:cNvPr>
          <p:cNvSpPr>
            <a:spLocks noChangeShapeType="1"/>
          </p:cNvSpPr>
          <p:nvPr/>
        </p:nvSpPr>
        <p:spPr bwMode="auto">
          <a:xfrm>
            <a:off x="5715000" y="2514600"/>
            <a:ext cx="838200" cy="1588"/>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389135" name="Line 15">
            <a:extLst>
              <a:ext uri="{FF2B5EF4-FFF2-40B4-BE49-F238E27FC236}">
                <a16:creationId xmlns:a16="http://schemas.microsoft.com/office/drawing/2014/main" id="{2F4C73D5-FDCF-623D-D6C5-95A5940720B9}"/>
              </a:ext>
            </a:extLst>
          </p:cNvPr>
          <p:cNvSpPr>
            <a:spLocks noChangeShapeType="1"/>
          </p:cNvSpPr>
          <p:nvPr/>
        </p:nvSpPr>
        <p:spPr bwMode="auto">
          <a:xfrm>
            <a:off x="5715000" y="4648200"/>
            <a:ext cx="838200" cy="1588"/>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389136" name="Text Box 16">
            <a:extLst>
              <a:ext uri="{FF2B5EF4-FFF2-40B4-BE49-F238E27FC236}">
                <a16:creationId xmlns:a16="http://schemas.microsoft.com/office/drawing/2014/main" id="{044010B5-9EE2-A8A6-20E1-95F1258625ED}"/>
              </a:ext>
            </a:extLst>
          </p:cNvPr>
          <p:cNvSpPr txBox="1">
            <a:spLocks noChangeArrowheads="1"/>
          </p:cNvSpPr>
          <p:nvPr/>
        </p:nvSpPr>
        <p:spPr bwMode="auto">
          <a:xfrm>
            <a:off x="5462588" y="4114800"/>
            <a:ext cx="121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eaLnBrk="0" fontAlgn="base" hangingPunct="0">
              <a:spcBef>
                <a:spcPct val="50000"/>
              </a:spcBef>
              <a:spcAft>
                <a:spcPct val="0"/>
              </a:spcAft>
            </a:pPr>
            <a:r>
              <a:rPr lang="en-US" altLang="en-US" sz="2400">
                <a:solidFill>
                  <a:prstClr val="black"/>
                </a:solidFill>
              </a:rPr>
              <a:t>Failure</a:t>
            </a:r>
          </a:p>
        </p:txBody>
      </p:sp>
      <p:sp>
        <p:nvSpPr>
          <p:cNvPr id="389137" name="Text Box 17">
            <a:extLst>
              <a:ext uri="{FF2B5EF4-FFF2-40B4-BE49-F238E27FC236}">
                <a16:creationId xmlns:a16="http://schemas.microsoft.com/office/drawing/2014/main" id="{F1962065-1F77-6BF3-7EAD-BE57D28F519A}"/>
              </a:ext>
            </a:extLst>
          </p:cNvPr>
          <p:cNvSpPr txBox="1">
            <a:spLocks noChangeArrowheads="1"/>
          </p:cNvSpPr>
          <p:nvPr/>
        </p:nvSpPr>
        <p:spPr bwMode="auto">
          <a:xfrm>
            <a:off x="5286375" y="2147888"/>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eaLnBrk="0" fontAlgn="base" hangingPunct="0">
              <a:spcBef>
                <a:spcPct val="50000"/>
              </a:spcBef>
              <a:spcAft>
                <a:spcPct val="0"/>
              </a:spcAft>
            </a:pPr>
            <a:r>
              <a:rPr lang="en-US" altLang="en-US" sz="2400">
                <a:solidFill>
                  <a:prstClr val="black"/>
                </a:solidFill>
              </a:rPr>
              <a:t>Success</a:t>
            </a:r>
          </a:p>
        </p:txBody>
      </p:sp>
      <p:sp>
        <p:nvSpPr>
          <p:cNvPr id="389138" name="Line 18">
            <a:extLst>
              <a:ext uri="{FF2B5EF4-FFF2-40B4-BE49-F238E27FC236}">
                <a16:creationId xmlns:a16="http://schemas.microsoft.com/office/drawing/2014/main" id="{A9CF4FC3-9D6D-5F71-F0FC-32F123294EB8}"/>
              </a:ext>
            </a:extLst>
          </p:cNvPr>
          <p:cNvSpPr>
            <a:spLocks noChangeShapeType="1"/>
          </p:cNvSpPr>
          <p:nvPr/>
        </p:nvSpPr>
        <p:spPr bwMode="auto">
          <a:xfrm flipV="1">
            <a:off x="6781800" y="1614488"/>
            <a:ext cx="914400" cy="914400"/>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389140" name="Line 20">
            <a:extLst>
              <a:ext uri="{FF2B5EF4-FFF2-40B4-BE49-F238E27FC236}">
                <a16:creationId xmlns:a16="http://schemas.microsoft.com/office/drawing/2014/main" id="{7451F484-F08C-13EE-BAEC-51B6CA723F05}"/>
              </a:ext>
            </a:extLst>
          </p:cNvPr>
          <p:cNvSpPr>
            <a:spLocks noChangeShapeType="1"/>
          </p:cNvSpPr>
          <p:nvPr/>
        </p:nvSpPr>
        <p:spPr bwMode="auto">
          <a:xfrm>
            <a:off x="7696200" y="1614489"/>
            <a:ext cx="1219200" cy="1587"/>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389142" name="Text Box 22">
            <a:extLst>
              <a:ext uri="{FF2B5EF4-FFF2-40B4-BE49-F238E27FC236}">
                <a16:creationId xmlns:a16="http://schemas.microsoft.com/office/drawing/2014/main" id="{F4840C11-4D91-F4EA-3157-C6AD97D8872A}"/>
              </a:ext>
            </a:extLst>
          </p:cNvPr>
          <p:cNvSpPr txBox="1">
            <a:spLocks noChangeArrowheads="1"/>
          </p:cNvSpPr>
          <p:nvPr/>
        </p:nvSpPr>
        <p:spPr bwMode="auto">
          <a:xfrm>
            <a:off x="7653338" y="2833688"/>
            <a:ext cx="12192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eaLnBrk="0" fontAlgn="base" hangingPunct="0">
              <a:spcBef>
                <a:spcPct val="50000"/>
              </a:spcBef>
              <a:spcAft>
                <a:spcPct val="0"/>
              </a:spcAft>
            </a:pPr>
            <a:r>
              <a:rPr lang="en-US" altLang="en-US" sz="2400">
                <a:solidFill>
                  <a:prstClr val="black"/>
                </a:solidFill>
              </a:rPr>
              <a:t>Do not invest</a:t>
            </a:r>
          </a:p>
        </p:txBody>
      </p:sp>
      <p:sp>
        <p:nvSpPr>
          <p:cNvPr id="389143" name="Text Box 23">
            <a:extLst>
              <a:ext uri="{FF2B5EF4-FFF2-40B4-BE49-F238E27FC236}">
                <a16:creationId xmlns:a16="http://schemas.microsoft.com/office/drawing/2014/main" id="{39D152AD-64C9-D020-510A-F0824CAA3AFD}"/>
              </a:ext>
            </a:extLst>
          </p:cNvPr>
          <p:cNvSpPr txBox="1">
            <a:spLocks noChangeArrowheads="1"/>
          </p:cNvSpPr>
          <p:nvPr/>
        </p:nvSpPr>
        <p:spPr bwMode="auto">
          <a:xfrm>
            <a:off x="7620000" y="1219200"/>
            <a:ext cx="121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eaLnBrk="0" fontAlgn="base" hangingPunct="0">
              <a:spcBef>
                <a:spcPct val="50000"/>
              </a:spcBef>
              <a:spcAft>
                <a:spcPct val="0"/>
              </a:spcAft>
            </a:pPr>
            <a:r>
              <a:rPr lang="en-US" altLang="en-US" sz="2400">
                <a:solidFill>
                  <a:prstClr val="black"/>
                </a:solidFill>
              </a:rPr>
              <a:t>Invest</a:t>
            </a:r>
          </a:p>
        </p:txBody>
      </p:sp>
      <p:grpSp>
        <p:nvGrpSpPr>
          <p:cNvPr id="2" name="Group 24">
            <a:extLst>
              <a:ext uri="{FF2B5EF4-FFF2-40B4-BE49-F238E27FC236}">
                <a16:creationId xmlns:a16="http://schemas.microsoft.com/office/drawing/2014/main" id="{983ED865-4740-C630-A149-7172ABB3FE91}"/>
              </a:ext>
            </a:extLst>
          </p:cNvPr>
          <p:cNvGrpSpPr>
            <a:grpSpLocks/>
          </p:cNvGrpSpPr>
          <p:nvPr/>
        </p:nvGrpSpPr>
        <p:grpSpPr bwMode="auto">
          <a:xfrm>
            <a:off x="6775450" y="2682875"/>
            <a:ext cx="914400" cy="1828800"/>
            <a:chOff x="3360" y="1824"/>
            <a:chExt cx="576" cy="1152"/>
          </a:xfrm>
        </p:grpSpPr>
        <p:sp>
          <p:nvSpPr>
            <p:cNvPr id="101418" name="Line 25">
              <a:extLst>
                <a:ext uri="{FF2B5EF4-FFF2-40B4-BE49-F238E27FC236}">
                  <a16:creationId xmlns:a16="http://schemas.microsoft.com/office/drawing/2014/main" id="{8FE1DF2B-AB36-A824-ED25-C5CA8F054A00}"/>
                </a:ext>
              </a:extLst>
            </p:cNvPr>
            <p:cNvSpPr>
              <a:spLocks noChangeShapeType="1"/>
            </p:cNvSpPr>
            <p:nvPr/>
          </p:nvSpPr>
          <p:spPr bwMode="auto">
            <a:xfrm>
              <a:off x="3360" y="1824"/>
              <a:ext cx="576" cy="576"/>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101419" name="Line 26">
              <a:extLst>
                <a:ext uri="{FF2B5EF4-FFF2-40B4-BE49-F238E27FC236}">
                  <a16:creationId xmlns:a16="http://schemas.microsoft.com/office/drawing/2014/main" id="{086207B8-6D34-9B6C-0B7F-B3734F04881A}"/>
                </a:ext>
              </a:extLst>
            </p:cNvPr>
            <p:cNvSpPr>
              <a:spLocks noChangeShapeType="1"/>
            </p:cNvSpPr>
            <p:nvPr/>
          </p:nvSpPr>
          <p:spPr bwMode="auto">
            <a:xfrm flipV="1">
              <a:off x="3360" y="2400"/>
              <a:ext cx="576" cy="576"/>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grpSp>
      <p:sp>
        <p:nvSpPr>
          <p:cNvPr id="389148" name="Line 28">
            <a:extLst>
              <a:ext uri="{FF2B5EF4-FFF2-40B4-BE49-F238E27FC236}">
                <a16:creationId xmlns:a16="http://schemas.microsoft.com/office/drawing/2014/main" id="{FA9C7FCD-6861-9814-447B-49D3FB6D4DAB}"/>
              </a:ext>
            </a:extLst>
          </p:cNvPr>
          <p:cNvSpPr>
            <a:spLocks noChangeShapeType="1"/>
          </p:cNvSpPr>
          <p:nvPr/>
        </p:nvSpPr>
        <p:spPr bwMode="auto">
          <a:xfrm>
            <a:off x="7686675" y="3598864"/>
            <a:ext cx="1219200" cy="1587"/>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389149" name="Oval 29">
            <a:extLst>
              <a:ext uri="{FF2B5EF4-FFF2-40B4-BE49-F238E27FC236}">
                <a16:creationId xmlns:a16="http://schemas.microsoft.com/office/drawing/2014/main" id="{D144E89C-E622-E024-BBE1-970FC904DE35}"/>
              </a:ext>
            </a:extLst>
          </p:cNvPr>
          <p:cNvSpPr>
            <a:spLocks noChangeArrowheads="1"/>
          </p:cNvSpPr>
          <p:nvPr/>
        </p:nvSpPr>
        <p:spPr bwMode="auto">
          <a:xfrm>
            <a:off x="8839200" y="1462088"/>
            <a:ext cx="304800" cy="304800"/>
          </a:xfrm>
          <a:prstGeom prst="ellipse">
            <a:avLst/>
          </a:prstGeom>
          <a:solidFill>
            <a:schemeClr val="bg2"/>
          </a:solidFill>
          <a:ln w="38100">
            <a:solidFill>
              <a:schemeClr val="bg2"/>
            </a:solidFill>
            <a:round/>
            <a:headEnd type="none" w="sm" len="sm"/>
            <a:tailEnd type="none" w="sm" len="sm"/>
          </a:ln>
        </p:spPr>
        <p:txBody>
          <a:bodyPr wrap="none" anchor="ct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white"/>
              </a:solidFill>
            </a:endParaRPr>
          </a:p>
        </p:txBody>
      </p:sp>
      <p:grpSp>
        <p:nvGrpSpPr>
          <p:cNvPr id="3" name="Group 30">
            <a:extLst>
              <a:ext uri="{FF2B5EF4-FFF2-40B4-BE49-F238E27FC236}">
                <a16:creationId xmlns:a16="http://schemas.microsoft.com/office/drawing/2014/main" id="{26BA5084-A63E-EE38-172C-2E01EBBC9B76}"/>
              </a:ext>
            </a:extLst>
          </p:cNvPr>
          <p:cNvGrpSpPr>
            <a:grpSpLocks/>
          </p:cNvGrpSpPr>
          <p:nvPr/>
        </p:nvGrpSpPr>
        <p:grpSpPr bwMode="auto">
          <a:xfrm>
            <a:off x="6784975" y="4814888"/>
            <a:ext cx="2730500" cy="1585912"/>
            <a:chOff x="3360" y="3168"/>
            <a:chExt cx="1720" cy="999"/>
          </a:xfrm>
        </p:grpSpPr>
        <p:sp>
          <p:nvSpPr>
            <p:cNvPr id="101413" name="Line 31">
              <a:extLst>
                <a:ext uri="{FF2B5EF4-FFF2-40B4-BE49-F238E27FC236}">
                  <a16:creationId xmlns:a16="http://schemas.microsoft.com/office/drawing/2014/main" id="{19DF0402-AD00-004F-1E1D-660568335846}"/>
                </a:ext>
              </a:extLst>
            </p:cNvPr>
            <p:cNvSpPr>
              <a:spLocks noChangeShapeType="1"/>
            </p:cNvSpPr>
            <p:nvPr/>
          </p:nvSpPr>
          <p:spPr bwMode="auto">
            <a:xfrm>
              <a:off x="3360" y="3168"/>
              <a:ext cx="576" cy="576"/>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101414" name="Line 32">
              <a:extLst>
                <a:ext uri="{FF2B5EF4-FFF2-40B4-BE49-F238E27FC236}">
                  <a16:creationId xmlns:a16="http://schemas.microsoft.com/office/drawing/2014/main" id="{1B7488DB-6D2F-1BC7-DEAB-656FD374C946}"/>
                </a:ext>
              </a:extLst>
            </p:cNvPr>
            <p:cNvSpPr>
              <a:spLocks noChangeShapeType="1"/>
            </p:cNvSpPr>
            <p:nvPr/>
          </p:nvSpPr>
          <p:spPr bwMode="auto">
            <a:xfrm>
              <a:off x="3936" y="3744"/>
              <a:ext cx="720" cy="0"/>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101415" name="Text Box 33">
              <a:extLst>
                <a:ext uri="{FF2B5EF4-FFF2-40B4-BE49-F238E27FC236}">
                  <a16:creationId xmlns:a16="http://schemas.microsoft.com/office/drawing/2014/main" id="{02D1D78E-DE6A-2D18-DDD1-AEA3566269F3}"/>
                </a:ext>
              </a:extLst>
            </p:cNvPr>
            <p:cNvSpPr txBox="1">
              <a:spLocks noChangeArrowheads="1"/>
            </p:cNvSpPr>
            <p:nvPr/>
          </p:nvSpPr>
          <p:spPr bwMode="auto">
            <a:xfrm>
              <a:off x="3888" y="3466"/>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lgn="ctr" eaLnBrk="0" fontAlgn="base" hangingPunct="0">
                <a:spcBef>
                  <a:spcPct val="50000"/>
                </a:spcBef>
                <a:spcAft>
                  <a:spcPct val="0"/>
                </a:spcAft>
              </a:pPr>
              <a:r>
                <a:rPr lang="en-US" altLang="en-US" sz="2400">
                  <a:solidFill>
                    <a:prstClr val="black"/>
                  </a:solidFill>
                </a:rPr>
                <a:t>Invest</a:t>
              </a:r>
            </a:p>
          </p:txBody>
        </p:sp>
        <p:sp>
          <p:nvSpPr>
            <p:cNvPr id="101416" name="Oval 34">
              <a:extLst>
                <a:ext uri="{FF2B5EF4-FFF2-40B4-BE49-F238E27FC236}">
                  <a16:creationId xmlns:a16="http://schemas.microsoft.com/office/drawing/2014/main" id="{A1F0EBF8-69B4-755F-90DB-38E7881BA546}"/>
                </a:ext>
              </a:extLst>
            </p:cNvPr>
            <p:cNvSpPr>
              <a:spLocks noChangeArrowheads="1"/>
            </p:cNvSpPr>
            <p:nvPr/>
          </p:nvSpPr>
          <p:spPr bwMode="auto">
            <a:xfrm>
              <a:off x="4656" y="3648"/>
              <a:ext cx="192" cy="192"/>
            </a:xfrm>
            <a:prstGeom prst="ellipse">
              <a:avLst/>
            </a:prstGeom>
            <a:solidFill>
              <a:schemeClr val="bg2"/>
            </a:solidFill>
            <a:ln w="38100">
              <a:solidFill>
                <a:schemeClr val="bg2"/>
              </a:solidFill>
              <a:round/>
              <a:headEnd type="none" w="sm" len="sm"/>
              <a:tailEnd type="none" w="sm" len="sm"/>
            </a:ln>
          </p:spPr>
          <p:txBody>
            <a:bodyPr wrap="none" anchor="ct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white"/>
                </a:solidFill>
              </a:endParaRPr>
            </a:p>
          </p:txBody>
        </p:sp>
        <p:graphicFrame>
          <p:nvGraphicFramePr>
            <p:cNvPr id="101417" name="Object 35">
              <a:extLst>
                <a:ext uri="{FF2B5EF4-FFF2-40B4-BE49-F238E27FC236}">
                  <a16:creationId xmlns:a16="http://schemas.microsoft.com/office/drawing/2014/main" id="{1EF4EEDC-A48E-BC86-5A7F-35661BED3BC2}"/>
                </a:ext>
              </a:extLst>
            </p:cNvPr>
            <p:cNvGraphicFramePr>
              <a:graphicFrameLocks noChangeAspect="1"/>
            </p:cNvGraphicFramePr>
            <p:nvPr/>
          </p:nvGraphicFramePr>
          <p:xfrm>
            <a:off x="4954" y="3929"/>
            <a:ext cx="126" cy="238"/>
          </p:xfrm>
          <a:graphic>
            <a:graphicData uri="http://schemas.openxmlformats.org/presentationml/2006/ole">
              <mc:AlternateContent xmlns:mc="http://schemas.openxmlformats.org/markup-compatibility/2006">
                <mc:Choice xmlns:v="urn:schemas-microsoft-com:vml" Requires="v">
                  <p:oleObj name="Equation" r:id="rId3" imgW="38273" imgH="145881" progId="Equation.3">
                    <p:embed/>
                  </p:oleObj>
                </mc:Choice>
                <mc:Fallback>
                  <p:oleObj name="Equation" r:id="rId3" imgW="38273" imgH="145881" progId="Equation.3">
                    <p:embed/>
                    <p:pic>
                      <p:nvPicPr>
                        <p:cNvPr id="101417" name="Object 35">
                          <a:extLst>
                            <a:ext uri="{FF2B5EF4-FFF2-40B4-BE49-F238E27FC236}">
                              <a16:creationId xmlns:a16="http://schemas.microsoft.com/office/drawing/2014/main" id="{1EF4EEDC-A48E-BC86-5A7F-35661BED3B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4" y="3929"/>
                          <a:ext cx="126" cy="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89157" name="Text Box 37">
            <a:extLst>
              <a:ext uri="{FF2B5EF4-FFF2-40B4-BE49-F238E27FC236}">
                <a16:creationId xmlns:a16="http://schemas.microsoft.com/office/drawing/2014/main" id="{F304DA77-581F-2B10-B9F0-F8A2C5BF2469}"/>
              </a:ext>
            </a:extLst>
          </p:cNvPr>
          <p:cNvSpPr txBox="1">
            <a:spLocks noChangeArrowheads="1"/>
          </p:cNvSpPr>
          <p:nvPr/>
        </p:nvSpPr>
        <p:spPr bwMode="auto">
          <a:xfrm>
            <a:off x="1828800" y="1447800"/>
            <a:ext cx="487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50000"/>
              </a:spcBef>
              <a:spcAft>
                <a:spcPct val="0"/>
              </a:spcAft>
            </a:pPr>
            <a:r>
              <a:rPr lang="en-US" altLang="en-US" sz="2400">
                <a:solidFill>
                  <a:prstClr val="black"/>
                </a:solidFill>
              </a:rPr>
              <a:t>The firm has two decisions to make:</a:t>
            </a:r>
          </a:p>
        </p:txBody>
      </p:sp>
      <p:sp>
        <p:nvSpPr>
          <p:cNvPr id="389158" name="Text Box 38">
            <a:extLst>
              <a:ext uri="{FF2B5EF4-FFF2-40B4-BE49-F238E27FC236}">
                <a16:creationId xmlns:a16="http://schemas.microsoft.com/office/drawing/2014/main" id="{12CC5A79-1D81-9398-AD51-E4795EE88D40}"/>
              </a:ext>
            </a:extLst>
          </p:cNvPr>
          <p:cNvSpPr txBox="1">
            <a:spLocks noChangeArrowheads="1"/>
          </p:cNvSpPr>
          <p:nvPr/>
        </p:nvSpPr>
        <p:spPr bwMode="auto">
          <a:xfrm>
            <a:off x="1828800" y="19050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50000"/>
              </a:spcBef>
              <a:spcAft>
                <a:spcPct val="0"/>
              </a:spcAft>
            </a:pPr>
            <a:r>
              <a:rPr lang="en-US" altLang="en-US" sz="2400">
                <a:solidFill>
                  <a:prstClr val="black"/>
                </a:solidFill>
              </a:rPr>
              <a:t>To test or not to test.</a:t>
            </a:r>
          </a:p>
        </p:txBody>
      </p:sp>
      <p:sp>
        <p:nvSpPr>
          <p:cNvPr id="389159" name="Text Box 39">
            <a:extLst>
              <a:ext uri="{FF2B5EF4-FFF2-40B4-BE49-F238E27FC236}">
                <a16:creationId xmlns:a16="http://schemas.microsoft.com/office/drawing/2014/main" id="{9F03A59D-DDC0-6E8B-8699-05AD9CCAFD68}"/>
              </a:ext>
            </a:extLst>
          </p:cNvPr>
          <p:cNvSpPr txBox="1">
            <a:spLocks noChangeArrowheads="1"/>
          </p:cNvSpPr>
          <p:nvPr/>
        </p:nvSpPr>
        <p:spPr bwMode="auto">
          <a:xfrm>
            <a:off x="1828800" y="2362200"/>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50000"/>
              </a:spcBef>
              <a:spcAft>
                <a:spcPct val="0"/>
              </a:spcAft>
            </a:pPr>
            <a:r>
              <a:rPr lang="en-US" altLang="en-US" sz="2400">
                <a:solidFill>
                  <a:prstClr val="black"/>
                </a:solidFill>
              </a:rPr>
              <a:t>To invest or not to invest.</a:t>
            </a:r>
          </a:p>
        </p:txBody>
      </p:sp>
      <p:sp>
        <p:nvSpPr>
          <p:cNvPr id="389161" name="Oval 41">
            <a:extLst>
              <a:ext uri="{FF2B5EF4-FFF2-40B4-BE49-F238E27FC236}">
                <a16:creationId xmlns:a16="http://schemas.microsoft.com/office/drawing/2014/main" id="{F9CDACE5-5973-606A-C73F-88ED335CF840}"/>
              </a:ext>
            </a:extLst>
          </p:cNvPr>
          <p:cNvSpPr>
            <a:spLocks noChangeArrowheads="1"/>
          </p:cNvSpPr>
          <p:nvPr/>
        </p:nvSpPr>
        <p:spPr bwMode="auto">
          <a:xfrm>
            <a:off x="8891588" y="3446463"/>
            <a:ext cx="304800" cy="304800"/>
          </a:xfrm>
          <a:prstGeom prst="ellipse">
            <a:avLst/>
          </a:prstGeom>
          <a:solidFill>
            <a:schemeClr val="bg2"/>
          </a:solidFill>
          <a:ln w="38100">
            <a:solidFill>
              <a:schemeClr val="bg2"/>
            </a:solidFill>
            <a:round/>
            <a:headEnd type="none" w="sm" len="sm"/>
            <a:tailEnd type="none" w="sm" len="sm"/>
          </a:ln>
        </p:spPr>
        <p:txBody>
          <a:bodyPr wrap="none" anchor="ct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white"/>
              </a:solidFill>
            </a:endParaRPr>
          </a:p>
        </p:txBody>
      </p:sp>
      <p:graphicFrame>
        <p:nvGraphicFramePr>
          <p:cNvPr id="389162" name="Object 42">
            <a:extLst>
              <a:ext uri="{FF2B5EF4-FFF2-40B4-BE49-F238E27FC236}">
                <a16:creationId xmlns:a16="http://schemas.microsoft.com/office/drawing/2014/main" id="{A03AE7F9-74B1-9A7F-765C-53204CA382CC}"/>
              </a:ext>
            </a:extLst>
          </p:cNvPr>
          <p:cNvGraphicFramePr>
            <a:graphicFrameLocks noChangeAspect="1"/>
          </p:cNvGraphicFramePr>
          <p:nvPr/>
        </p:nvGraphicFramePr>
        <p:xfrm>
          <a:off x="4849814" y="5562600"/>
          <a:ext cx="1184275" cy="311150"/>
        </p:xfrm>
        <a:graphic>
          <a:graphicData uri="http://schemas.openxmlformats.org/presentationml/2006/ole">
            <mc:AlternateContent xmlns:mc="http://schemas.openxmlformats.org/markup-compatibility/2006">
              <mc:Choice xmlns:v="urn:schemas-microsoft-com:vml" Requires="v">
                <p:oleObj name="Equation" r:id="rId5" imgW="603287" imgH="107825" progId="Equation.3">
                  <p:embed/>
                </p:oleObj>
              </mc:Choice>
              <mc:Fallback>
                <p:oleObj name="Equation" r:id="rId5" imgW="603287" imgH="107825" progId="Equation.3">
                  <p:embed/>
                  <p:pic>
                    <p:nvPicPr>
                      <p:cNvPr id="389162" name="Object 42">
                        <a:extLst>
                          <a:ext uri="{FF2B5EF4-FFF2-40B4-BE49-F238E27FC236}">
                            <a16:creationId xmlns:a16="http://schemas.microsoft.com/office/drawing/2014/main" id="{A03AE7F9-74B1-9A7F-765C-53204CA382C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49814" y="5562600"/>
                        <a:ext cx="1184275" cy="311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1404" name="Group 1">
            <a:extLst>
              <a:ext uri="{FF2B5EF4-FFF2-40B4-BE49-F238E27FC236}">
                <a16:creationId xmlns:a16="http://schemas.microsoft.com/office/drawing/2014/main" id="{2BF4757E-551F-5DFF-93BD-7602E0797A80}"/>
              </a:ext>
            </a:extLst>
          </p:cNvPr>
          <p:cNvGrpSpPr>
            <a:grpSpLocks/>
          </p:cNvGrpSpPr>
          <p:nvPr/>
        </p:nvGrpSpPr>
        <p:grpSpPr bwMode="auto">
          <a:xfrm>
            <a:off x="2438400" y="3578225"/>
            <a:ext cx="1219200" cy="2133600"/>
            <a:chOff x="914400" y="4205288"/>
            <a:chExt cx="1219200" cy="2133600"/>
          </a:xfrm>
        </p:grpSpPr>
        <p:sp>
          <p:nvSpPr>
            <p:cNvPr id="101410" name="Line 3">
              <a:extLst>
                <a:ext uri="{FF2B5EF4-FFF2-40B4-BE49-F238E27FC236}">
                  <a16:creationId xmlns:a16="http://schemas.microsoft.com/office/drawing/2014/main" id="{AB38C2E9-38DB-DB58-30EE-68296F0D70A7}"/>
                </a:ext>
              </a:extLst>
            </p:cNvPr>
            <p:cNvSpPr>
              <a:spLocks noChangeShapeType="1"/>
            </p:cNvSpPr>
            <p:nvPr/>
          </p:nvSpPr>
          <p:spPr bwMode="auto">
            <a:xfrm flipV="1">
              <a:off x="1219200" y="4205288"/>
              <a:ext cx="914400" cy="914400"/>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101411" name="Line 4">
              <a:extLst>
                <a:ext uri="{FF2B5EF4-FFF2-40B4-BE49-F238E27FC236}">
                  <a16:creationId xmlns:a16="http://schemas.microsoft.com/office/drawing/2014/main" id="{D326874A-B260-9E3A-5C1E-ED4CA600BA5F}"/>
                </a:ext>
              </a:extLst>
            </p:cNvPr>
            <p:cNvSpPr>
              <a:spLocks noChangeShapeType="1"/>
            </p:cNvSpPr>
            <p:nvPr/>
          </p:nvSpPr>
          <p:spPr bwMode="auto">
            <a:xfrm>
              <a:off x="1219200" y="5424488"/>
              <a:ext cx="914400" cy="914400"/>
            </a:xfrm>
            <a:prstGeom prst="line">
              <a:avLst/>
            </a:prstGeom>
            <a:noFill/>
            <a:ln w="381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white"/>
                </a:solidFill>
                <a:latin typeface="Times New Roman" panose="02020603050405020304" pitchFamily="18" charset="0"/>
                <a:ea typeface="ＭＳ Ｐゴシック" panose="020B0600070205080204" pitchFamily="34" charset="-128"/>
              </a:endParaRPr>
            </a:p>
          </p:txBody>
        </p:sp>
        <p:sp>
          <p:nvSpPr>
            <p:cNvPr id="101412" name="Rectangle 44">
              <a:extLst>
                <a:ext uri="{FF2B5EF4-FFF2-40B4-BE49-F238E27FC236}">
                  <a16:creationId xmlns:a16="http://schemas.microsoft.com/office/drawing/2014/main" id="{0A3AF4EC-C0DE-CE2A-EF87-AF74D7B8EEE4}"/>
                </a:ext>
              </a:extLst>
            </p:cNvPr>
            <p:cNvSpPr>
              <a:spLocks noChangeArrowheads="1"/>
            </p:cNvSpPr>
            <p:nvPr/>
          </p:nvSpPr>
          <p:spPr bwMode="auto">
            <a:xfrm>
              <a:off x="914400" y="5119688"/>
              <a:ext cx="304800" cy="304800"/>
            </a:xfrm>
            <a:prstGeom prst="rect">
              <a:avLst/>
            </a:prstGeom>
            <a:solidFill>
              <a:schemeClr val="bg2"/>
            </a:solidFill>
            <a:ln w="38100" cap="sq">
              <a:solidFill>
                <a:schemeClr val="bg2"/>
              </a:solidFill>
              <a:miter lim="800000"/>
              <a:headEnd type="none" w="sm" len="sm"/>
              <a:tailEnd type="none" w="sm" len="sm"/>
            </a:ln>
          </p:spPr>
          <p:txBody>
            <a:bodyPr wrap="none" anchor="ct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white"/>
                </a:solidFill>
              </a:endParaRPr>
            </a:p>
          </p:txBody>
        </p:sp>
      </p:grpSp>
      <p:sp>
        <p:nvSpPr>
          <p:cNvPr id="389165" name="Rectangle 45">
            <a:extLst>
              <a:ext uri="{FF2B5EF4-FFF2-40B4-BE49-F238E27FC236}">
                <a16:creationId xmlns:a16="http://schemas.microsoft.com/office/drawing/2014/main" id="{C565CCD5-6558-A3B8-408C-993451A76AD1}"/>
              </a:ext>
            </a:extLst>
          </p:cNvPr>
          <p:cNvSpPr>
            <a:spLocks noChangeArrowheads="1"/>
          </p:cNvSpPr>
          <p:nvPr/>
        </p:nvSpPr>
        <p:spPr bwMode="auto">
          <a:xfrm>
            <a:off x="6477000" y="4495800"/>
            <a:ext cx="304800" cy="304800"/>
          </a:xfrm>
          <a:prstGeom prst="rect">
            <a:avLst/>
          </a:prstGeom>
          <a:solidFill>
            <a:schemeClr val="bg2"/>
          </a:solidFill>
          <a:ln w="38100" cap="sq">
            <a:solidFill>
              <a:schemeClr val="bg2"/>
            </a:solidFill>
            <a:miter lim="800000"/>
            <a:headEnd type="none" w="sm" len="sm"/>
            <a:tailEnd type="none" w="sm" len="sm"/>
          </a:ln>
        </p:spPr>
        <p:txBody>
          <a:bodyPr wrap="none" anchor="ct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white"/>
              </a:solidFill>
            </a:endParaRPr>
          </a:p>
        </p:txBody>
      </p:sp>
      <p:sp>
        <p:nvSpPr>
          <p:cNvPr id="389166" name="Rectangle 46">
            <a:extLst>
              <a:ext uri="{FF2B5EF4-FFF2-40B4-BE49-F238E27FC236}">
                <a16:creationId xmlns:a16="http://schemas.microsoft.com/office/drawing/2014/main" id="{CFD9EC6C-7F57-D4DB-6227-DDAA20EB1B1D}"/>
              </a:ext>
            </a:extLst>
          </p:cNvPr>
          <p:cNvSpPr>
            <a:spLocks noChangeArrowheads="1"/>
          </p:cNvSpPr>
          <p:nvPr/>
        </p:nvSpPr>
        <p:spPr bwMode="auto">
          <a:xfrm>
            <a:off x="6477000" y="2362200"/>
            <a:ext cx="304800" cy="304800"/>
          </a:xfrm>
          <a:prstGeom prst="rect">
            <a:avLst/>
          </a:prstGeom>
          <a:solidFill>
            <a:schemeClr val="bg2"/>
          </a:solidFill>
          <a:ln w="38100" cap="sq">
            <a:solidFill>
              <a:schemeClr val="bg2"/>
            </a:solidFill>
            <a:miter lim="800000"/>
            <a:headEnd type="none" w="sm" len="sm"/>
            <a:tailEnd type="none" w="sm" len="sm"/>
          </a:ln>
        </p:spPr>
        <p:txBody>
          <a:bodyPr wrap="none" anchor="ct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0" fontAlgn="base" hangingPunct="0">
              <a:spcBef>
                <a:spcPct val="0"/>
              </a:spcBef>
              <a:spcAft>
                <a:spcPct val="0"/>
              </a:spcAft>
            </a:pPr>
            <a:endParaRPr lang="en-US" altLang="en-US">
              <a:solidFill>
                <a:prstClr val="white"/>
              </a:solidFill>
            </a:endParaRPr>
          </a:p>
        </p:txBody>
      </p:sp>
      <p:sp>
        <p:nvSpPr>
          <p:cNvPr id="389168" name="Text Box 48">
            <a:extLst>
              <a:ext uri="{FF2B5EF4-FFF2-40B4-BE49-F238E27FC236}">
                <a16:creationId xmlns:a16="http://schemas.microsoft.com/office/drawing/2014/main" id="{22F9807A-5184-12D2-5BA7-BFEF53A67D25}"/>
              </a:ext>
            </a:extLst>
          </p:cNvPr>
          <p:cNvSpPr txBox="1">
            <a:spLocks noChangeArrowheads="1"/>
          </p:cNvSpPr>
          <p:nvPr/>
        </p:nvSpPr>
        <p:spPr bwMode="auto">
          <a:xfrm>
            <a:off x="8534400" y="167640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2400" i="1">
                <a:solidFill>
                  <a:prstClr val="black"/>
                </a:solidFill>
              </a:rPr>
              <a:t>NPV</a:t>
            </a:r>
            <a:r>
              <a:rPr lang="en-US" altLang="en-US" sz="2400">
                <a:solidFill>
                  <a:prstClr val="black"/>
                </a:solidFill>
              </a:rPr>
              <a:t> = $3.4 b</a:t>
            </a:r>
          </a:p>
        </p:txBody>
      </p:sp>
      <p:sp>
        <p:nvSpPr>
          <p:cNvPr id="389169" name="Text Box 49">
            <a:extLst>
              <a:ext uri="{FF2B5EF4-FFF2-40B4-BE49-F238E27FC236}">
                <a16:creationId xmlns:a16="http://schemas.microsoft.com/office/drawing/2014/main" id="{A0B10336-459C-9CF4-90AB-0F8ADE27DC7D}"/>
              </a:ext>
            </a:extLst>
          </p:cNvPr>
          <p:cNvSpPr txBox="1">
            <a:spLocks noChangeArrowheads="1"/>
          </p:cNvSpPr>
          <p:nvPr/>
        </p:nvSpPr>
        <p:spPr bwMode="auto">
          <a:xfrm>
            <a:off x="9144000" y="3352800"/>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2400" i="1">
                <a:solidFill>
                  <a:prstClr val="black"/>
                </a:solidFill>
              </a:rPr>
              <a:t>NPV</a:t>
            </a:r>
            <a:r>
              <a:rPr lang="en-US" altLang="en-US" sz="2400">
                <a:solidFill>
                  <a:prstClr val="black"/>
                </a:solidFill>
              </a:rPr>
              <a:t> = $0</a:t>
            </a:r>
          </a:p>
        </p:txBody>
      </p:sp>
      <p:sp>
        <p:nvSpPr>
          <p:cNvPr id="389170" name="Text Box 50">
            <a:extLst>
              <a:ext uri="{FF2B5EF4-FFF2-40B4-BE49-F238E27FC236}">
                <a16:creationId xmlns:a16="http://schemas.microsoft.com/office/drawing/2014/main" id="{7C303CA9-9F25-C502-7133-B8E6516EFE55}"/>
              </a:ext>
            </a:extLst>
          </p:cNvPr>
          <p:cNvSpPr txBox="1">
            <a:spLocks noChangeArrowheads="1"/>
          </p:cNvSpPr>
          <p:nvPr/>
        </p:nvSpPr>
        <p:spPr bwMode="auto">
          <a:xfrm>
            <a:off x="7848600" y="5943600"/>
            <a:ext cx="243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fontAlgn="base">
              <a:spcBef>
                <a:spcPct val="50000"/>
              </a:spcBef>
              <a:spcAft>
                <a:spcPct val="0"/>
              </a:spcAft>
            </a:pPr>
            <a:r>
              <a:rPr lang="en-US" altLang="en-US" sz="2400" i="1">
                <a:solidFill>
                  <a:prstClr val="black"/>
                </a:solidFill>
              </a:rPr>
              <a:t>NPV</a:t>
            </a:r>
            <a:r>
              <a:rPr lang="en-US" altLang="en-US" sz="2400">
                <a:solidFill>
                  <a:prstClr val="black"/>
                </a:solidFill>
              </a:rPr>
              <a:t> = </a:t>
            </a:r>
            <a:r>
              <a:rPr lang="en-US" altLang="en-US" sz="2400">
                <a:solidFill>
                  <a:prstClr val="black"/>
                </a:solidFill>
                <a:cs typeface="Times New Roman" panose="02020603050405020304" pitchFamily="18" charset="0"/>
              </a:rPr>
              <a:t>–$91.46 m</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89126"/>
                                        </p:tgtEl>
                                        <p:attrNameLst>
                                          <p:attrName>style.visibility</p:attrName>
                                        </p:attrNameLst>
                                      </p:cBhvr>
                                      <p:to>
                                        <p:strVal val="visible"/>
                                      </p:to>
                                    </p:set>
                                    <p:animEffect transition="in" filter="wipe(left)">
                                      <p:cBhvr>
                                        <p:cTn id="7" dur="500"/>
                                        <p:tgtEl>
                                          <p:spTgt spid="389126"/>
                                        </p:tgtEl>
                                      </p:cBhvr>
                                    </p:animEffect>
                                  </p:childTnLst>
                                </p:cTn>
                              </p:par>
                            </p:childTnLst>
                          </p:cTn>
                        </p:par>
                        <p:par>
                          <p:cTn id="8" fill="hold" nodeType="afterGroup">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389127"/>
                                        </p:tgtEl>
                                        <p:attrNameLst>
                                          <p:attrName>style.visibility</p:attrName>
                                        </p:attrNameLst>
                                      </p:cBhvr>
                                      <p:to>
                                        <p:strVal val="visible"/>
                                      </p:to>
                                    </p:set>
                                  </p:childTnLst>
                                </p:cTn>
                              </p:par>
                            </p:childTnLst>
                          </p:cTn>
                        </p:par>
                        <p:par>
                          <p:cTn id="11" fill="hold" nodeType="afterGroup">
                            <p:stCondLst>
                              <p:cond delay="1000"/>
                            </p:stCondLst>
                            <p:childTnLst>
                              <p:par>
                                <p:cTn id="12" presetID="22" presetClass="entr" presetSubtype="8" fill="hold" nodeType="afterEffect">
                                  <p:stCondLst>
                                    <p:cond delay="0"/>
                                  </p:stCondLst>
                                  <p:childTnLst>
                                    <p:set>
                                      <p:cBhvr>
                                        <p:cTn id="13" dur="1" fill="hold">
                                          <p:stCondLst>
                                            <p:cond delay="0"/>
                                          </p:stCondLst>
                                        </p:cTn>
                                        <p:tgtEl>
                                          <p:spTgt spid="389128"/>
                                        </p:tgtEl>
                                        <p:attrNameLst>
                                          <p:attrName>style.visibility</p:attrName>
                                        </p:attrNameLst>
                                      </p:cBhvr>
                                      <p:to>
                                        <p:strVal val="visible"/>
                                      </p:to>
                                    </p:set>
                                    <p:animEffect transition="in" filter="wipe(left)">
                                      <p:cBhvr>
                                        <p:cTn id="14" dur="500"/>
                                        <p:tgtEl>
                                          <p:spTgt spid="389128"/>
                                        </p:tgtEl>
                                      </p:cBhvr>
                                    </p:animEffect>
                                  </p:childTnLst>
                                </p:cTn>
                              </p:par>
                            </p:childTnLst>
                          </p:cTn>
                        </p:par>
                        <p:par>
                          <p:cTn id="15" fill="hold" nodeType="afterGroup">
                            <p:stCondLst>
                              <p:cond delay="1500"/>
                            </p:stCondLst>
                            <p:childTnLst>
                              <p:par>
                                <p:cTn id="16" presetID="1" presetClass="entr" presetSubtype="0" fill="hold" nodeType="afterEffect">
                                  <p:stCondLst>
                                    <p:cond delay="0"/>
                                  </p:stCondLst>
                                  <p:childTnLst>
                                    <p:set>
                                      <p:cBhvr>
                                        <p:cTn id="17" dur="1" fill="hold">
                                          <p:stCondLst>
                                            <p:cond delay="499"/>
                                          </p:stCondLst>
                                        </p:cTn>
                                        <p:tgtEl>
                                          <p:spTgt spid="389162"/>
                                        </p:tgtEl>
                                        <p:attrNameLst>
                                          <p:attrName>style.visibility</p:attrName>
                                        </p:attrNameLst>
                                      </p:cBhvr>
                                      <p:to>
                                        <p:strVal val="visible"/>
                                      </p:to>
                                    </p:set>
                                  </p:childTnLst>
                                </p:cTn>
                              </p:par>
                            </p:childTnLst>
                          </p:cTn>
                        </p:par>
                        <p:par>
                          <p:cTn id="18" fill="hold" nodeType="afterGroup">
                            <p:stCondLst>
                              <p:cond delay="2000"/>
                            </p:stCondLst>
                            <p:childTnLst>
                              <p:par>
                                <p:cTn id="19" presetID="22" presetClass="entr" presetSubtype="8" fill="hold" nodeType="afterEffect">
                                  <p:stCondLst>
                                    <p:cond delay="0"/>
                                  </p:stCondLst>
                                  <p:childTnLst>
                                    <p:set>
                                      <p:cBhvr>
                                        <p:cTn id="20" dur="1" fill="hold">
                                          <p:stCondLst>
                                            <p:cond delay="0"/>
                                          </p:stCondLst>
                                        </p:cTn>
                                        <p:tgtEl>
                                          <p:spTgt spid="389129"/>
                                        </p:tgtEl>
                                        <p:attrNameLst>
                                          <p:attrName>style.visibility</p:attrName>
                                        </p:attrNameLst>
                                      </p:cBhvr>
                                      <p:to>
                                        <p:strVal val="visible"/>
                                      </p:to>
                                    </p:set>
                                    <p:animEffect transition="in" filter="wipe(left)">
                                      <p:cBhvr>
                                        <p:cTn id="21" dur="500"/>
                                        <p:tgtEl>
                                          <p:spTgt spid="389129"/>
                                        </p:tgtEl>
                                      </p:cBhvr>
                                    </p:animEffect>
                                  </p:childTnLst>
                                </p:cTn>
                              </p:par>
                            </p:childTnLst>
                          </p:cTn>
                        </p:par>
                        <p:par>
                          <p:cTn id="22" fill="hold" nodeType="afterGroup">
                            <p:stCondLst>
                              <p:cond delay="2500"/>
                            </p:stCondLst>
                            <p:childTnLst>
                              <p:par>
                                <p:cTn id="23" presetID="1" presetClass="entr" presetSubtype="0" fill="hold" grpId="0" nodeType="afterEffect">
                                  <p:stCondLst>
                                    <p:cond delay="0"/>
                                  </p:stCondLst>
                                  <p:childTnLst>
                                    <p:set>
                                      <p:cBhvr>
                                        <p:cTn id="24" dur="1" fill="hold">
                                          <p:stCondLst>
                                            <p:cond delay="499"/>
                                          </p:stCondLst>
                                        </p:cTn>
                                        <p:tgtEl>
                                          <p:spTgt spid="389130"/>
                                        </p:tgtEl>
                                        <p:attrNameLst>
                                          <p:attrName>style.visibility</p:attrName>
                                        </p:attrNameLst>
                                      </p:cBhvr>
                                      <p:to>
                                        <p:strVal val="visible"/>
                                      </p:to>
                                    </p:set>
                                  </p:childTnLst>
                                </p:cTn>
                              </p:par>
                            </p:childTnLst>
                          </p:cTn>
                        </p:par>
                        <p:par>
                          <p:cTn id="25" fill="hold" nodeType="afterGroup">
                            <p:stCondLst>
                              <p:cond delay="3000"/>
                            </p:stCondLst>
                            <p:childTnLst>
                              <p:par>
                                <p:cTn id="26" presetID="1" presetClass="entr" presetSubtype="0" fill="hold" grpId="0" nodeType="afterEffect">
                                  <p:stCondLst>
                                    <p:cond delay="0"/>
                                  </p:stCondLst>
                                  <p:childTnLst>
                                    <p:set>
                                      <p:cBhvr>
                                        <p:cTn id="27" dur="1" fill="hold">
                                          <p:stCondLst>
                                            <p:cond delay="499"/>
                                          </p:stCondLst>
                                        </p:cTn>
                                        <p:tgtEl>
                                          <p:spTgt spid="389133"/>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389132"/>
                                        </p:tgtEl>
                                        <p:attrNameLst>
                                          <p:attrName>style.visibility</p:attrName>
                                        </p:attrNameLst>
                                      </p:cBhvr>
                                      <p:to>
                                        <p:strVal val="visible"/>
                                      </p:to>
                                    </p:set>
                                    <p:animEffect transition="in" filter="wipe(up)">
                                      <p:cBhvr>
                                        <p:cTn id="32" dur="500"/>
                                        <p:tgtEl>
                                          <p:spTgt spid="389132"/>
                                        </p:tgtEl>
                                      </p:cBhvr>
                                    </p:animEffect>
                                  </p:childTnLst>
                                </p:cTn>
                              </p:par>
                            </p:childTnLst>
                          </p:cTn>
                        </p:par>
                        <p:par>
                          <p:cTn id="33" fill="hold" nodeType="afterGroup">
                            <p:stCondLst>
                              <p:cond delay="500"/>
                            </p:stCondLst>
                            <p:childTnLst>
                              <p:par>
                                <p:cTn id="34" presetID="22" presetClass="entr" presetSubtype="8" fill="hold" nodeType="afterEffect">
                                  <p:stCondLst>
                                    <p:cond delay="0"/>
                                  </p:stCondLst>
                                  <p:childTnLst>
                                    <p:set>
                                      <p:cBhvr>
                                        <p:cTn id="35" dur="1" fill="hold">
                                          <p:stCondLst>
                                            <p:cond delay="0"/>
                                          </p:stCondLst>
                                        </p:cTn>
                                        <p:tgtEl>
                                          <p:spTgt spid="389135"/>
                                        </p:tgtEl>
                                        <p:attrNameLst>
                                          <p:attrName>style.visibility</p:attrName>
                                        </p:attrNameLst>
                                      </p:cBhvr>
                                      <p:to>
                                        <p:strVal val="visible"/>
                                      </p:to>
                                    </p:set>
                                    <p:animEffect transition="in" filter="wipe(left)">
                                      <p:cBhvr>
                                        <p:cTn id="36" dur="500"/>
                                        <p:tgtEl>
                                          <p:spTgt spid="389135"/>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89165"/>
                                        </p:tgtEl>
                                        <p:attrNameLst>
                                          <p:attrName>style.visibility</p:attrName>
                                        </p:attrNameLst>
                                      </p:cBhvr>
                                      <p:to>
                                        <p:strVal val="visible"/>
                                      </p:to>
                                    </p:set>
                                  </p:childTnLst>
                                </p:cTn>
                              </p:par>
                            </p:childTnLst>
                          </p:cTn>
                        </p:par>
                        <p:par>
                          <p:cTn id="41" fill="hold" nodeType="afterGroup">
                            <p:stCondLst>
                              <p:cond delay="0"/>
                            </p:stCondLst>
                            <p:childTnLst>
                              <p:par>
                                <p:cTn id="42" presetID="1" presetClass="entr" presetSubtype="0" fill="hold" grpId="0" nodeType="afterEffect">
                                  <p:stCondLst>
                                    <p:cond delay="0"/>
                                  </p:stCondLst>
                                  <p:childTnLst>
                                    <p:set>
                                      <p:cBhvr>
                                        <p:cTn id="43" dur="1" fill="hold">
                                          <p:stCondLst>
                                            <p:cond delay="499"/>
                                          </p:stCondLst>
                                        </p:cTn>
                                        <p:tgtEl>
                                          <p:spTgt spid="389136"/>
                                        </p:tgtEl>
                                        <p:attrNameLst>
                                          <p:attrName>style.visibility</p:attrName>
                                        </p:attrNameLst>
                                      </p:cBhvr>
                                      <p:to>
                                        <p:strVal val="visible"/>
                                      </p:to>
                                    </p:set>
                                  </p:childTnLst>
                                </p:cTn>
                              </p:par>
                            </p:childTnLst>
                          </p:cTn>
                        </p:par>
                        <p:par>
                          <p:cTn id="44" fill="hold" nodeType="afterGroup">
                            <p:stCondLst>
                              <p:cond delay="500"/>
                            </p:stCondLst>
                            <p:childTnLst>
                              <p:par>
                                <p:cTn id="45" presetID="22" presetClass="entr" presetSubtype="4" fill="hold" nodeType="afterEffect">
                                  <p:stCondLst>
                                    <p:cond delay="0"/>
                                  </p:stCondLst>
                                  <p:childTnLst>
                                    <p:set>
                                      <p:cBhvr>
                                        <p:cTn id="46" dur="1" fill="hold">
                                          <p:stCondLst>
                                            <p:cond delay="0"/>
                                          </p:stCondLst>
                                        </p:cTn>
                                        <p:tgtEl>
                                          <p:spTgt spid="389131"/>
                                        </p:tgtEl>
                                        <p:attrNameLst>
                                          <p:attrName>style.visibility</p:attrName>
                                        </p:attrNameLst>
                                      </p:cBhvr>
                                      <p:to>
                                        <p:strVal val="visible"/>
                                      </p:to>
                                    </p:set>
                                    <p:animEffect transition="in" filter="wipe(down)">
                                      <p:cBhvr>
                                        <p:cTn id="47" dur="500"/>
                                        <p:tgtEl>
                                          <p:spTgt spid="389131"/>
                                        </p:tgtEl>
                                      </p:cBhvr>
                                    </p:animEffect>
                                  </p:childTnLst>
                                </p:cTn>
                              </p:par>
                            </p:childTnLst>
                          </p:cTn>
                        </p:par>
                        <p:par>
                          <p:cTn id="48" fill="hold" nodeType="afterGroup">
                            <p:stCondLst>
                              <p:cond delay="1000"/>
                            </p:stCondLst>
                            <p:childTnLst>
                              <p:par>
                                <p:cTn id="49" presetID="22" presetClass="entr" presetSubtype="8" fill="hold" nodeType="afterEffect">
                                  <p:stCondLst>
                                    <p:cond delay="0"/>
                                  </p:stCondLst>
                                  <p:childTnLst>
                                    <p:set>
                                      <p:cBhvr>
                                        <p:cTn id="50" dur="1" fill="hold">
                                          <p:stCondLst>
                                            <p:cond delay="0"/>
                                          </p:stCondLst>
                                        </p:cTn>
                                        <p:tgtEl>
                                          <p:spTgt spid="389134"/>
                                        </p:tgtEl>
                                        <p:attrNameLst>
                                          <p:attrName>style.visibility</p:attrName>
                                        </p:attrNameLst>
                                      </p:cBhvr>
                                      <p:to>
                                        <p:strVal val="visible"/>
                                      </p:to>
                                    </p:set>
                                    <p:animEffect transition="in" filter="wipe(left)">
                                      <p:cBhvr>
                                        <p:cTn id="51" dur="500"/>
                                        <p:tgtEl>
                                          <p:spTgt spid="389134"/>
                                        </p:tgtEl>
                                      </p:cBhvr>
                                    </p:animEffect>
                                  </p:childTnLst>
                                </p:cTn>
                              </p:par>
                            </p:childTnLst>
                          </p:cTn>
                        </p:par>
                        <p:par>
                          <p:cTn id="52" fill="hold" nodeType="afterGroup">
                            <p:stCondLst>
                              <p:cond delay="1500"/>
                            </p:stCondLst>
                            <p:childTnLst>
                              <p:par>
                                <p:cTn id="53" presetID="1" presetClass="entr" presetSubtype="0" fill="hold" grpId="0" nodeType="afterEffect">
                                  <p:stCondLst>
                                    <p:cond delay="0"/>
                                  </p:stCondLst>
                                  <p:childTnLst>
                                    <p:set>
                                      <p:cBhvr>
                                        <p:cTn id="54" dur="1" fill="hold">
                                          <p:stCondLst>
                                            <p:cond delay="499"/>
                                          </p:stCondLst>
                                        </p:cTn>
                                        <p:tgtEl>
                                          <p:spTgt spid="389137"/>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89166"/>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4" fill="hold" nodeType="clickEffect">
                                  <p:stCondLst>
                                    <p:cond delay="0"/>
                                  </p:stCondLst>
                                  <p:childTnLst>
                                    <p:set>
                                      <p:cBhvr>
                                        <p:cTn id="62" dur="1" fill="hold">
                                          <p:stCondLst>
                                            <p:cond delay="0"/>
                                          </p:stCondLst>
                                        </p:cTn>
                                        <p:tgtEl>
                                          <p:spTgt spid="389138"/>
                                        </p:tgtEl>
                                        <p:attrNameLst>
                                          <p:attrName>style.visibility</p:attrName>
                                        </p:attrNameLst>
                                      </p:cBhvr>
                                      <p:to>
                                        <p:strVal val="visible"/>
                                      </p:to>
                                    </p:set>
                                    <p:animEffect transition="in" filter="wipe(down)">
                                      <p:cBhvr>
                                        <p:cTn id="63" dur="500"/>
                                        <p:tgtEl>
                                          <p:spTgt spid="389138"/>
                                        </p:tgtEl>
                                      </p:cBhvr>
                                    </p:animEffect>
                                  </p:childTnLst>
                                </p:cTn>
                              </p:par>
                            </p:childTnLst>
                          </p:cTn>
                        </p:par>
                        <p:par>
                          <p:cTn id="64" fill="hold" nodeType="afterGroup">
                            <p:stCondLst>
                              <p:cond delay="500"/>
                            </p:stCondLst>
                            <p:childTnLst>
                              <p:par>
                                <p:cTn id="65" presetID="22" presetClass="entr" presetSubtype="8" fill="hold" nodeType="afterEffect">
                                  <p:stCondLst>
                                    <p:cond delay="0"/>
                                  </p:stCondLst>
                                  <p:childTnLst>
                                    <p:set>
                                      <p:cBhvr>
                                        <p:cTn id="66" dur="1" fill="hold">
                                          <p:stCondLst>
                                            <p:cond delay="0"/>
                                          </p:stCondLst>
                                        </p:cTn>
                                        <p:tgtEl>
                                          <p:spTgt spid="389140"/>
                                        </p:tgtEl>
                                        <p:attrNameLst>
                                          <p:attrName>style.visibility</p:attrName>
                                        </p:attrNameLst>
                                      </p:cBhvr>
                                      <p:to>
                                        <p:strVal val="visible"/>
                                      </p:to>
                                    </p:set>
                                    <p:animEffect transition="in" filter="wipe(left)">
                                      <p:cBhvr>
                                        <p:cTn id="67" dur="500"/>
                                        <p:tgtEl>
                                          <p:spTgt spid="389140"/>
                                        </p:tgtEl>
                                      </p:cBhvr>
                                    </p:animEffect>
                                  </p:childTnLst>
                                </p:cTn>
                              </p:par>
                            </p:childTnLst>
                          </p:cTn>
                        </p:par>
                        <p:par>
                          <p:cTn id="68" fill="hold" nodeType="afterGroup">
                            <p:stCondLst>
                              <p:cond delay="1000"/>
                            </p:stCondLst>
                            <p:childTnLst>
                              <p:par>
                                <p:cTn id="69" presetID="1" presetClass="entr" presetSubtype="0" fill="hold" grpId="0" nodeType="afterEffect">
                                  <p:stCondLst>
                                    <p:cond delay="0"/>
                                  </p:stCondLst>
                                  <p:childTnLst>
                                    <p:set>
                                      <p:cBhvr>
                                        <p:cTn id="70" dur="1" fill="hold">
                                          <p:stCondLst>
                                            <p:cond delay="499"/>
                                          </p:stCondLst>
                                        </p:cTn>
                                        <p:tgtEl>
                                          <p:spTgt spid="389143"/>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89168"/>
                                        </p:tgtEl>
                                        <p:attrNameLst>
                                          <p:attrName>style.visibility</p:attrName>
                                        </p:attrNameLst>
                                      </p:cBhvr>
                                      <p:to>
                                        <p:strVal val="visible"/>
                                      </p:to>
                                    </p:set>
                                  </p:childTnLst>
                                </p:cTn>
                              </p:par>
                            </p:childTnLst>
                          </p:cTn>
                        </p:par>
                        <p:par>
                          <p:cTn id="75" fill="hold" nodeType="afterGroup">
                            <p:stCondLst>
                              <p:cond delay="0"/>
                            </p:stCondLst>
                            <p:childTnLst>
                              <p:par>
                                <p:cTn id="76" presetID="1" presetClass="entr" presetSubtype="0" fill="hold" grpId="0" nodeType="afterEffect">
                                  <p:stCondLst>
                                    <p:cond delay="0"/>
                                  </p:stCondLst>
                                  <p:childTnLst>
                                    <p:set>
                                      <p:cBhvr>
                                        <p:cTn id="77" dur="1" fill="hold">
                                          <p:stCondLst>
                                            <p:cond delay="499"/>
                                          </p:stCondLst>
                                        </p:cTn>
                                        <p:tgtEl>
                                          <p:spTgt spid="389149"/>
                                        </p:tgtEl>
                                        <p:attrNameLst>
                                          <p:attrName>style.visibility</p:attrName>
                                        </p:attrNameLst>
                                      </p:cBhvr>
                                      <p:to>
                                        <p:strVal val="visible"/>
                                      </p:to>
                                    </p:se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2"/>
                                        </p:tgtEl>
                                        <p:attrNameLst>
                                          <p:attrName>style.visibility</p:attrName>
                                        </p:attrNameLst>
                                      </p:cBhvr>
                                      <p:to>
                                        <p:strVal val="visible"/>
                                      </p:to>
                                    </p:set>
                                    <p:animEffect transition="in" filter="wipe(left)">
                                      <p:cBhvr>
                                        <p:cTn id="82" dur="500"/>
                                        <p:tgtEl>
                                          <p:spTgt spid="2"/>
                                        </p:tgtEl>
                                      </p:cBhvr>
                                    </p:animEffect>
                                  </p:childTnLst>
                                </p:cTn>
                              </p:par>
                            </p:childTnLst>
                          </p:cTn>
                        </p:par>
                        <p:par>
                          <p:cTn id="83" fill="hold" nodeType="afterGroup">
                            <p:stCondLst>
                              <p:cond delay="500"/>
                            </p:stCondLst>
                            <p:childTnLst>
                              <p:par>
                                <p:cTn id="84" presetID="22" presetClass="entr" presetSubtype="8" fill="hold" nodeType="afterEffect">
                                  <p:stCondLst>
                                    <p:cond delay="0"/>
                                  </p:stCondLst>
                                  <p:childTnLst>
                                    <p:set>
                                      <p:cBhvr>
                                        <p:cTn id="85" dur="1" fill="hold">
                                          <p:stCondLst>
                                            <p:cond delay="0"/>
                                          </p:stCondLst>
                                        </p:cTn>
                                        <p:tgtEl>
                                          <p:spTgt spid="389148"/>
                                        </p:tgtEl>
                                        <p:attrNameLst>
                                          <p:attrName>style.visibility</p:attrName>
                                        </p:attrNameLst>
                                      </p:cBhvr>
                                      <p:to>
                                        <p:strVal val="visible"/>
                                      </p:to>
                                    </p:set>
                                    <p:animEffect transition="in" filter="wipe(left)">
                                      <p:cBhvr>
                                        <p:cTn id="86" dur="500"/>
                                        <p:tgtEl>
                                          <p:spTgt spid="389148"/>
                                        </p:tgtEl>
                                      </p:cBhvr>
                                    </p:animEffect>
                                  </p:childTnLst>
                                </p:cTn>
                              </p:par>
                            </p:childTnLst>
                          </p:cTn>
                        </p:par>
                        <p:par>
                          <p:cTn id="87" fill="hold" nodeType="afterGroup">
                            <p:stCondLst>
                              <p:cond delay="1000"/>
                            </p:stCondLst>
                            <p:childTnLst>
                              <p:par>
                                <p:cTn id="88" presetID="1" presetClass="entr" presetSubtype="0" fill="hold" grpId="0" nodeType="afterEffect">
                                  <p:stCondLst>
                                    <p:cond delay="0"/>
                                  </p:stCondLst>
                                  <p:childTnLst>
                                    <p:set>
                                      <p:cBhvr>
                                        <p:cTn id="89" dur="1" fill="hold">
                                          <p:stCondLst>
                                            <p:cond delay="499"/>
                                          </p:stCondLst>
                                        </p:cTn>
                                        <p:tgtEl>
                                          <p:spTgt spid="389142"/>
                                        </p:tgtEl>
                                        <p:attrNameLst>
                                          <p:attrName>style.visibility</p:attrName>
                                        </p:attrNameLst>
                                      </p:cBhvr>
                                      <p:to>
                                        <p:strVal val="visible"/>
                                      </p:to>
                                    </p:set>
                                  </p:childTnLst>
                                </p:cTn>
                              </p:par>
                            </p:childTnLst>
                          </p:cTn>
                        </p:par>
                        <p:par>
                          <p:cTn id="90" fill="hold" nodeType="afterGroup">
                            <p:stCondLst>
                              <p:cond delay="1500"/>
                            </p:stCondLst>
                            <p:childTnLst>
                              <p:par>
                                <p:cTn id="91" presetID="1" presetClass="entr" presetSubtype="0" fill="hold" grpId="0" nodeType="afterEffect">
                                  <p:stCondLst>
                                    <p:cond delay="0"/>
                                  </p:stCondLst>
                                  <p:childTnLst>
                                    <p:set>
                                      <p:cBhvr>
                                        <p:cTn id="92" dur="1" fill="hold">
                                          <p:stCondLst>
                                            <p:cond delay="499"/>
                                          </p:stCondLst>
                                        </p:cTn>
                                        <p:tgtEl>
                                          <p:spTgt spid="389161"/>
                                        </p:tgtEl>
                                        <p:attrNameLst>
                                          <p:attrName>style.visibility</p:attrName>
                                        </p:attrNameLst>
                                      </p:cBhvr>
                                      <p:to>
                                        <p:strVal val="visible"/>
                                      </p:to>
                                    </p:set>
                                  </p:childTnLst>
                                </p:cTn>
                              </p:par>
                            </p:childTnLst>
                          </p:cTn>
                        </p:par>
                      </p:childTnLst>
                    </p:cTn>
                  </p:par>
                  <p:par>
                    <p:cTn id="93" fill="hold" nodeType="clickPar">
                      <p:stCondLst>
                        <p:cond delay="indefinite"/>
                      </p:stCondLst>
                      <p:childTnLst>
                        <p:par>
                          <p:cTn id="94" fill="hold" nodeType="withGroup">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389169"/>
                                        </p:tgtEl>
                                        <p:attrNameLst>
                                          <p:attrName>style.visibility</p:attrName>
                                        </p:attrNameLst>
                                      </p:cBhvr>
                                      <p:to>
                                        <p:strVal val="visible"/>
                                      </p:to>
                                    </p:set>
                                  </p:childTnLst>
                                </p:cTn>
                              </p:par>
                            </p:childTnLst>
                          </p:cTn>
                        </p:par>
                        <p:par>
                          <p:cTn id="97" fill="hold" nodeType="afterGroup">
                            <p:stCondLst>
                              <p:cond delay="0"/>
                            </p:stCondLst>
                            <p:childTnLst>
                              <p:par>
                                <p:cTn id="98" presetID="22" presetClass="entr" presetSubtype="8" fill="hold" nodeType="afterEffect">
                                  <p:stCondLst>
                                    <p:cond delay="0"/>
                                  </p:stCondLst>
                                  <p:childTnLst>
                                    <p:set>
                                      <p:cBhvr>
                                        <p:cTn id="99" dur="1" fill="hold">
                                          <p:stCondLst>
                                            <p:cond delay="0"/>
                                          </p:stCondLst>
                                        </p:cTn>
                                        <p:tgtEl>
                                          <p:spTgt spid="3"/>
                                        </p:tgtEl>
                                        <p:attrNameLst>
                                          <p:attrName>style.visibility</p:attrName>
                                        </p:attrNameLst>
                                      </p:cBhvr>
                                      <p:to>
                                        <p:strVal val="visible"/>
                                      </p:to>
                                    </p:set>
                                    <p:animEffect transition="in" filter="wipe(left)">
                                      <p:cBhvr>
                                        <p:cTn id="100" dur="500"/>
                                        <p:tgtEl>
                                          <p:spTgt spid="3"/>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389170"/>
                                        </p:tgtEl>
                                        <p:attrNameLst>
                                          <p:attrName>style.visibility</p:attrName>
                                        </p:attrNameLst>
                                      </p:cBhvr>
                                      <p:to>
                                        <p:strVal val="visible"/>
                                      </p:to>
                                    </p:se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42" presetClass="entr" presetSubtype="0" fill="hold" grpId="0" nodeType="clickEffect">
                                  <p:stCondLst>
                                    <p:cond delay="0"/>
                                  </p:stCondLst>
                                  <p:childTnLst>
                                    <p:set>
                                      <p:cBhvr>
                                        <p:cTn id="108" dur="1" fill="hold">
                                          <p:stCondLst>
                                            <p:cond delay="0"/>
                                          </p:stCondLst>
                                        </p:cTn>
                                        <p:tgtEl>
                                          <p:spTgt spid="389157"/>
                                        </p:tgtEl>
                                        <p:attrNameLst>
                                          <p:attrName>style.visibility</p:attrName>
                                        </p:attrNameLst>
                                      </p:cBhvr>
                                      <p:to>
                                        <p:strVal val="visible"/>
                                      </p:to>
                                    </p:set>
                                    <p:animEffect transition="in" filter="fade">
                                      <p:cBhvr>
                                        <p:cTn id="109" dur="1000"/>
                                        <p:tgtEl>
                                          <p:spTgt spid="389157"/>
                                        </p:tgtEl>
                                      </p:cBhvr>
                                    </p:animEffect>
                                    <p:anim calcmode="lin" valueType="num">
                                      <p:cBhvr>
                                        <p:cTn id="110" dur="1000" fill="hold"/>
                                        <p:tgtEl>
                                          <p:spTgt spid="389157"/>
                                        </p:tgtEl>
                                        <p:attrNameLst>
                                          <p:attrName>ppt_x</p:attrName>
                                        </p:attrNameLst>
                                      </p:cBhvr>
                                      <p:tavLst>
                                        <p:tav tm="0">
                                          <p:val>
                                            <p:strVal val="#ppt_x"/>
                                          </p:val>
                                        </p:tav>
                                        <p:tav tm="100000">
                                          <p:val>
                                            <p:strVal val="#ppt_x"/>
                                          </p:val>
                                        </p:tav>
                                      </p:tavLst>
                                    </p:anim>
                                    <p:anim calcmode="lin" valueType="num">
                                      <p:cBhvr>
                                        <p:cTn id="111" dur="1000" fill="hold"/>
                                        <p:tgtEl>
                                          <p:spTgt spid="389157"/>
                                        </p:tgtEl>
                                        <p:attrNameLst>
                                          <p:attrName>ppt_y</p:attrName>
                                        </p:attrNameLst>
                                      </p:cBhvr>
                                      <p:tavLst>
                                        <p:tav tm="0">
                                          <p:val>
                                            <p:strVal val="#ppt_y+.1"/>
                                          </p:val>
                                        </p:tav>
                                        <p:tav tm="100000">
                                          <p:val>
                                            <p:strVal val="#ppt_y"/>
                                          </p:val>
                                        </p:tav>
                                      </p:tavLst>
                                    </p:anim>
                                  </p:childTnLst>
                                </p:cTn>
                              </p:par>
                            </p:childTnLst>
                          </p:cTn>
                        </p:par>
                      </p:childTnLst>
                    </p:cTn>
                  </p:par>
                  <p:par>
                    <p:cTn id="112" fill="hold" nodeType="clickPar">
                      <p:stCondLst>
                        <p:cond delay="indefinite"/>
                      </p:stCondLst>
                      <p:childTnLst>
                        <p:par>
                          <p:cTn id="113" fill="hold" nodeType="withGroup">
                            <p:stCondLst>
                              <p:cond delay="0"/>
                            </p:stCondLst>
                            <p:childTnLst>
                              <p:par>
                                <p:cTn id="114" presetID="42" presetClass="entr" presetSubtype="0" fill="hold" grpId="0" nodeType="clickEffect">
                                  <p:stCondLst>
                                    <p:cond delay="0"/>
                                  </p:stCondLst>
                                  <p:childTnLst>
                                    <p:set>
                                      <p:cBhvr>
                                        <p:cTn id="115" dur="1" fill="hold">
                                          <p:stCondLst>
                                            <p:cond delay="0"/>
                                          </p:stCondLst>
                                        </p:cTn>
                                        <p:tgtEl>
                                          <p:spTgt spid="389158"/>
                                        </p:tgtEl>
                                        <p:attrNameLst>
                                          <p:attrName>style.visibility</p:attrName>
                                        </p:attrNameLst>
                                      </p:cBhvr>
                                      <p:to>
                                        <p:strVal val="visible"/>
                                      </p:to>
                                    </p:set>
                                    <p:animEffect transition="in" filter="fade">
                                      <p:cBhvr>
                                        <p:cTn id="116" dur="1000"/>
                                        <p:tgtEl>
                                          <p:spTgt spid="389158"/>
                                        </p:tgtEl>
                                      </p:cBhvr>
                                    </p:animEffect>
                                    <p:anim calcmode="lin" valueType="num">
                                      <p:cBhvr>
                                        <p:cTn id="117" dur="1000" fill="hold"/>
                                        <p:tgtEl>
                                          <p:spTgt spid="389158"/>
                                        </p:tgtEl>
                                        <p:attrNameLst>
                                          <p:attrName>ppt_x</p:attrName>
                                        </p:attrNameLst>
                                      </p:cBhvr>
                                      <p:tavLst>
                                        <p:tav tm="0">
                                          <p:val>
                                            <p:strVal val="#ppt_x"/>
                                          </p:val>
                                        </p:tav>
                                        <p:tav tm="100000">
                                          <p:val>
                                            <p:strVal val="#ppt_x"/>
                                          </p:val>
                                        </p:tav>
                                      </p:tavLst>
                                    </p:anim>
                                    <p:anim calcmode="lin" valueType="num">
                                      <p:cBhvr>
                                        <p:cTn id="118" dur="1000" fill="hold"/>
                                        <p:tgtEl>
                                          <p:spTgt spid="389158"/>
                                        </p:tgtEl>
                                        <p:attrNameLst>
                                          <p:attrName>ppt_y</p:attrName>
                                        </p:attrNameLst>
                                      </p:cBhvr>
                                      <p:tavLst>
                                        <p:tav tm="0">
                                          <p:val>
                                            <p:strVal val="#ppt_y+.1"/>
                                          </p:val>
                                        </p:tav>
                                        <p:tav tm="100000">
                                          <p:val>
                                            <p:strVal val="#ppt_y"/>
                                          </p:val>
                                        </p:tav>
                                      </p:tavLst>
                                    </p:anim>
                                  </p:childTnLst>
                                </p:cTn>
                              </p:par>
                            </p:childTnLst>
                          </p:cTn>
                        </p:par>
                      </p:childTnLst>
                    </p:cTn>
                  </p:par>
                  <p:par>
                    <p:cTn id="119" fill="hold" nodeType="clickPar">
                      <p:stCondLst>
                        <p:cond delay="indefinite"/>
                      </p:stCondLst>
                      <p:childTnLst>
                        <p:par>
                          <p:cTn id="120" fill="hold" nodeType="withGroup">
                            <p:stCondLst>
                              <p:cond delay="0"/>
                            </p:stCondLst>
                            <p:childTnLst>
                              <p:par>
                                <p:cTn id="121" presetID="42" presetClass="entr" presetSubtype="0" fill="hold" grpId="0" nodeType="clickEffect">
                                  <p:stCondLst>
                                    <p:cond delay="0"/>
                                  </p:stCondLst>
                                  <p:childTnLst>
                                    <p:set>
                                      <p:cBhvr>
                                        <p:cTn id="122" dur="1" fill="hold">
                                          <p:stCondLst>
                                            <p:cond delay="0"/>
                                          </p:stCondLst>
                                        </p:cTn>
                                        <p:tgtEl>
                                          <p:spTgt spid="389159"/>
                                        </p:tgtEl>
                                        <p:attrNameLst>
                                          <p:attrName>style.visibility</p:attrName>
                                        </p:attrNameLst>
                                      </p:cBhvr>
                                      <p:to>
                                        <p:strVal val="visible"/>
                                      </p:to>
                                    </p:set>
                                    <p:animEffect transition="in" filter="fade">
                                      <p:cBhvr>
                                        <p:cTn id="123" dur="1000"/>
                                        <p:tgtEl>
                                          <p:spTgt spid="389159"/>
                                        </p:tgtEl>
                                      </p:cBhvr>
                                    </p:animEffect>
                                    <p:anim calcmode="lin" valueType="num">
                                      <p:cBhvr>
                                        <p:cTn id="124" dur="1000" fill="hold"/>
                                        <p:tgtEl>
                                          <p:spTgt spid="389159"/>
                                        </p:tgtEl>
                                        <p:attrNameLst>
                                          <p:attrName>ppt_x</p:attrName>
                                        </p:attrNameLst>
                                      </p:cBhvr>
                                      <p:tavLst>
                                        <p:tav tm="0">
                                          <p:val>
                                            <p:strVal val="#ppt_x"/>
                                          </p:val>
                                        </p:tav>
                                        <p:tav tm="100000">
                                          <p:val>
                                            <p:strVal val="#ppt_x"/>
                                          </p:val>
                                        </p:tav>
                                      </p:tavLst>
                                    </p:anim>
                                    <p:anim calcmode="lin" valueType="num">
                                      <p:cBhvr>
                                        <p:cTn id="125" dur="1000" fill="hold"/>
                                        <p:tgtEl>
                                          <p:spTgt spid="38915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27" grpId="0" autoUpdateAnimBg="0"/>
      <p:bldP spid="389130" grpId="0" autoUpdateAnimBg="0"/>
      <p:bldP spid="389133" grpId="0" animBg="1"/>
      <p:bldP spid="389136" grpId="0" autoUpdateAnimBg="0"/>
      <p:bldP spid="389137" grpId="0" autoUpdateAnimBg="0"/>
      <p:bldP spid="389142" grpId="0" autoUpdateAnimBg="0"/>
      <p:bldP spid="389143" grpId="0" autoUpdateAnimBg="0"/>
      <p:bldP spid="389149" grpId="0" animBg="1"/>
      <p:bldP spid="389157" grpId="0" autoUpdateAnimBg="0"/>
      <p:bldP spid="389158" grpId="0" autoUpdateAnimBg="0"/>
      <p:bldP spid="389159" grpId="0" autoUpdateAnimBg="0"/>
      <p:bldP spid="389161" grpId="0" animBg="1"/>
      <p:bldP spid="389165" grpId="0" animBg="1"/>
      <p:bldP spid="389166" grpId="0" animBg="1"/>
      <p:bldP spid="389168" grpId="0"/>
      <p:bldP spid="389169" grpId="0"/>
      <p:bldP spid="389170"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1_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5.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6.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7.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8.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otalTime>27</TotalTime>
  <Words>8063</Words>
  <Application>Microsoft Office PowerPoint</Application>
  <PresentationFormat>宽屏</PresentationFormat>
  <Paragraphs>1063</Paragraphs>
  <Slides>114</Slides>
  <Notes>114</Notes>
  <HiddenSlides>0</HiddenSlides>
  <MMClips>0</MMClips>
  <ScaleCrop>false</ScaleCrop>
  <HeadingPairs>
    <vt:vector size="8" baseType="variant">
      <vt:variant>
        <vt:lpstr>已用的字体</vt:lpstr>
      </vt:variant>
      <vt:variant>
        <vt:i4>11</vt:i4>
      </vt:variant>
      <vt:variant>
        <vt:lpstr>主题</vt:lpstr>
      </vt:variant>
      <vt:variant>
        <vt:i4>2</vt:i4>
      </vt:variant>
      <vt:variant>
        <vt:lpstr>嵌入 OLE 服务器</vt:lpstr>
      </vt:variant>
      <vt:variant>
        <vt:i4>7</vt:i4>
      </vt:variant>
      <vt:variant>
        <vt:lpstr>幻灯片标题</vt:lpstr>
      </vt:variant>
      <vt:variant>
        <vt:i4>114</vt:i4>
      </vt:variant>
    </vt:vector>
  </HeadingPairs>
  <TitlesOfParts>
    <vt:vector size="134" baseType="lpstr">
      <vt:lpstr>ＭＳ Ｐゴシック</vt:lpstr>
      <vt:lpstr>等线</vt:lpstr>
      <vt:lpstr>Arial</vt:lpstr>
      <vt:lpstr>Book Antiqua</vt:lpstr>
      <vt:lpstr>Lucida Sans Unicode</vt:lpstr>
      <vt:lpstr>Symbol</vt:lpstr>
      <vt:lpstr>Times New Roman</vt:lpstr>
      <vt:lpstr>Verdana</vt:lpstr>
      <vt:lpstr>Wingdings</vt:lpstr>
      <vt:lpstr>Wingdings 2</vt:lpstr>
      <vt:lpstr>Wingdings 3</vt:lpstr>
      <vt:lpstr>Concourse</vt:lpstr>
      <vt:lpstr>1_Concourse</vt:lpstr>
      <vt:lpstr>Microsoft Equation</vt:lpstr>
      <vt:lpstr>Microsoft Equation 3.0</vt:lpstr>
      <vt:lpstr>Microsoft Excel 97-2003 工作表</vt:lpstr>
      <vt:lpstr>Equation</vt:lpstr>
      <vt:lpstr>Worksheet</vt:lpstr>
      <vt:lpstr>Chart</vt:lpstr>
      <vt:lpstr>Microsoft Excel Worksheet</vt:lpstr>
      <vt:lpstr>PowerPoint 演示文稿</vt:lpstr>
      <vt:lpstr>The One-Period Case</vt:lpstr>
      <vt:lpstr>Future Value</vt:lpstr>
      <vt:lpstr>Present Value</vt:lpstr>
      <vt:lpstr>Present Value</vt:lpstr>
      <vt:lpstr>Net Present Value</vt:lpstr>
      <vt:lpstr>Net Present Value</vt:lpstr>
      <vt:lpstr>Net Present Value</vt:lpstr>
      <vt:lpstr> The Multiperiod Case</vt:lpstr>
      <vt:lpstr>Future Value</vt:lpstr>
      <vt:lpstr>Future Value and Compounding</vt:lpstr>
      <vt:lpstr>Future Value and Compounding</vt:lpstr>
      <vt:lpstr>Present Value and Discounting</vt:lpstr>
      <vt:lpstr> Finding the Number of Periods</vt:lpstr>
      <vt:lpstr>What Rate Is Enough?</vt:lpstr>
      <vt:lpstr>Multiple Cash Flows </vt:lpstr>
      <vt:lpstr>Multiple Cash Flows</vt:lpstr>
      <vt:lpstr> Compounding Periods</vt:lpstr>
      <vt:lpstr>Compounding Periods</vt:lpstr>
      <vt:lpstr>Effective Annual Rates of Interest</vt:lpstr>
      <vt:lpstr>Effective Annual Rates of Interest</vt:lpstr>
      <vt:lpstr>Effective Annual Rates of Interest</vt:lpstr>
      <vt:lpstr>Continuous Compounding</vt:lpstr>
      <vt:lpstr> Simplifications</vt:lpstr>
      <vt:lpstr>Perpetuity</vt:lpstr>
      <vt:lpstr>Perpetuity: Example</vt:lpstr>
      <vt:lpstr>Growing Perpetuity</vt:lpstr>
      <vt:lpstr>Growing Perpetuity: Example</vt:lpstr>
      <vt:lpstr>Annuity</vt:lpstr>
      <vt:lpstr>Annuity: Example</vt:lpstr>
      <vt:lpstr>PowerPoint 演示文稿</vt:lpstr>
      <vt:lpstr>Growing Annuity</vt:lpstr>
      <vt:lpstr>Growing Annuity: Example</vt:lpstr>
      <vt:lpstr>Growing Annuity: Example</vt:lpstr>
      <vt:lpstr>Loan Amortization</vt:lpstr>
      <vt:lpstr>Pure Discount Loans</vt:lpstr>
      <vt:lpstr>Interest-Only Loan</vt:lpstr>
      <vt:lpstr>What Is a Firm Worth?</vt:lpstr>
      <vt:lpstr>PowerPoint 演示文稿</vt:lpstr>
      <vt:lpstr>Why Use Net Present Value?</vt:lpstr>
      <vt:lpstr>The Net Present Value (NPV) Rule</vt:lpstr>
      <vt:lpstr>Calculating NPV with Spreadsheets</vt:lpstr>
      <vt:lpstr>The Payback Period Method</vt:lpstr>
      <vt:lpstr>The Payback Period Method</vt:lpstr>
      <vt:lpstr>The Discounted Payback Period</vt:lpstr>
      <vt:lpstr> The Internal Rate of Return</vt:lpstr>
      <vt:lpstr>Internal Rate of Return (IRR)</vt:lpstr>
      <vt:lpstr>IRR: Example</vt:lpstr>
      <vt:lpstr>NPV Payoff Profile</vt:lpstr>
      <vt:lpstr>Calculating IRR with Spreadsheets</vt:lpstr>
      <vt:lpstr>Problems with IRR</vt:lpstr>
      <vt:lpstr>Mutually Exclusive vs. Independent</vt:lpstr>
      <vt:lpstr>Multiple IRRs</vt:lpstr>
      <vt:lpstr>Modified IRR</vt:lpstr>
      <vt:lpstr>The Scale Problem</vt:lpstr>
      <vt:lpstr>The Timing Problem</vt:lpstr>
      <vt:lpstr>The Timing Problem</vt:lpstr>
      <vt:lpstr>Calculating the Crossover Rate</vt:lpstr>
      <vt:lpstr>NPV versus IRR</vt:lpstr>
      <vt:lpstr>The Profitability Index (PI)</vt:lpstr>
      <vt:lpstr>The Profitability Index</vt:lpstr>
      <vt:lpstr>The Practice of Capital Budgeting</vt:lpstr>
      <vt:lpstr>Example of Investment Rules</vt:lpstr>
      <vt:lpstr>Example of Investment Rules</vt:lpstr>
      <vt:lpstr>Example of Investment Rules</vt:lpstr>
      <vt:lpstr>NPV and IRR Relationship</vt:lpstr>
      <vt:lpstr>NPV Profiles</vt:lpstr>
      <vt:lpstr>Summary – Discounted Cash Flow</vt:lpstr>
      <vt:lpstr>Summary – Payback Criteria</vt:lpstr>
      <vt:lpstr>PowerPoint 演示文稿</vt:lpstr>
      <vt:lpstr>Incremental Cash Flows</vt:lpstr>
      <vt:lpstr>Cash Flows—Not Accounting Income</vt:lpstr>
      <vt:lpstr>Incremental Cash Flows</vt:lpstr>
      <vt:lpstr>Incremental Cash Flows</vt:lpstr>
      <vt:lpstr>Estimating Cash Flows</vt:lpstr>
      <vt:lpstr>Interest Expense</vt:lpstr>
      <vt:lpstr>Case study: The Baldwin Company</vt:lpstr>
      <vt:lpstr>The Baldwin Company</vt:lpstr>
      <vt:lpstr>The Baldwin Company</vt:lpstr>
      <vt:lpstr>The Baldwin Company</vt:lpstr>
      <vt:lpstr>The Baldwin Company</vt:lpstr>
      <vt:lpstr>The Baldwin Company</vt:lpstr>
      <vt:lpstr>The Baldwin Company</vt:lpstr>
      <vt:lpstr>The Baldwin Company</vt:lpstr>
      <vt:lpstr>Incremental After Tax Cash Flows </vt:lpstr>
      <vt:lpstr>PowerPoint 演示文稿</vt:lpstr>
      <vt:lpstr>Key Concepts and Skills</vt:lpstr>
      <vt:lpstr>Sensitivity, Scenario, and Break-Even</vt:lpstr>
      <vt:lpstr>Example: Stewart Pharmaceuticals </vt:lpstr>
      <vt:lpstr>NPV Following Successful Test</vt:lpstr>
      <vt:lpstr>NPV Following Unsuccessful Test</vt:lpstr>
      <vt:lpstr>Decision to Test</vt:lpstr>
      <vt:lpstr>Sensitivity Analysis: Stewart</vt:lpstr>
      <vt:lpstr>Scenario Analysis: Stewart</vt:lpstr>
      <vt:lpstr>Break-Even Analysis</vt:lpstr>
      <vt:lpstr>Break-Even Analysis: Stewart</vt:lpstr>
      <vt:lpstr>Break-Even Analysis: Stewart</vt:lpstr>
      <vt:lpstr>Break-Even Revenue: Stewart</vt:lpstr>
      <vt:lpstr>Break-Even Analysis: PBE</vt:lpstr>
      <vt:lpstr>Monte Carlo Simulation</vt:lpstr>
      <vt:lpstr>Monte Carlo Simulation</vt:lpstr>
      <vt:lpstr>Monte Carlo Simulation</vt:lpstr>
      <vt:lpstr>Real Options</vt:lpstr>
      <vt:lpstr>Real Options</vt:lpstr>
      <vt:lpstr>Discounted CF and Options</vt:lpstr>
      <vt:lpstr>The Option to Abandon: Example</vt:lpstr>
      <vt:lpstr>The Option to Abandon: Example </vt:lpstr>
      <vt:lpstr>The Option to Abandon: Example</vt:lpstr>
      <vt:lpstr>The Option to Abandon: Example </vt:lpstr>
      <vt:lpstr>Valuing the Option to Abandon</vt:lpstr>
      <vt:lpstr>The Option to Delay: Example</vt:lpstr>
      <vt:lpstr>Decision Trees</vt:lpstr>
      <vt:lpstr>Example of a Decision Tree</vt:lpstr>
      <vt:lpstr>Decision Tree for Stewart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Jun Lu</dc:creator>
  <cp:lastModifiedBy>Jun Lu</cp:lastModifiedBy>
  <cp:revision>2</cp:revision>
  <dcterms:created xsi:type="dcterms:W3CDTF">2025-04-15T20:08:06Z</dcterms:created>
  <dcterms:modified xsi:type="dcterms:W3CDTF">2025-04-15T20:35:25Z</dcterms:modified>
</cp:coreProperties>
</file>